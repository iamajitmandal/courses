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Montserra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Tribikram Panthi"/>
  <p:cmAuthor clrIdx="1" id="1" initials="" lastIdx="6" name="Anil Kumar S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3.xml"/><Relationship Id="rId41" Type="http://schemas.openxmlformats.org/officeDocument/2006/relationships/font" Target="fonts/Montserrat-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Montserrat-bold.fntdata"/><Relationship Id="rId16" Type="http://schemas.openxmlformats.org/officeDocument/2006/relationships/slide" Target="slides/slide9.xml"/><Relationship Id="rId38" Type="http://schemas.openxmlformats.org/officeDocument/2006/relationships/font" Target="fonts/Montserrat-regular.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1-03-03T08:40:01.227">
    <p:pos x="6000" y="0"/>
    <p:text>BEfore we start with python if statement, we can given a real-life scenerio of how we perform specific task. For example, consider going to office from home. The steps we take while going from home to office depends on different situations like time, day of week.For example, if it's a very early morning, we may need to take taxy because public vehicle might not be available at the moment. 
We can think of some better example than that I have mentioned above.</p:text>
  </p:cm>
  <p:cm authorId="1" idx="1" dt="2021-03-03T08:40:01.227">
    <p:pos x="6000" y="0"/>
    <p:text>fixed</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1-03-03T08:41:13.369">
    <p:pos x="6000" y="0"/>
    <p:text>start with simple real life example of if statement. Extend that example with new constraint to explain about if-else and if-elif-else statements too. That example may come just on script or on slide too. Please check.</p:text>
  </p:cm>
  <p:cm authorId="1" idx="2" dt="2021-03-03T08:41:13.369">
    <p:pos x="6000" y="0"/>
    <p:text>fixed</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1-03-02T11:14:48.787">
    <p:pos x="6000" y="0"/>
    <p:text>Do we need a separate chapter for this. The video of this chapter won't be longer than 1 minute. What if we more it with other chpater. Please verify with rojesh daai.</p:text>
  </p:cm>
  <p:cm authorId="1" idx="3" dt="2021-03-02T11:14:48.787">
    <p:pos x="6000" y="0"/>
    <p:text>since, this concept is on second priority, so needed to make a separate  one.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1-03-03T11:26:28.255">
    <p:pos x="6000" y="0"/>
    <p:text>I personally liked the explanation of a loop. It would be more exciting if we give the real life use case/example of use of loops. 
General guideline: While explaining anything, it would be better if we begin with the motivation of something being in existence. For instance, if there is a term loop, we need to give example of case we can't solve without loop.</p:text>
  </p:cm>
  <p:cm authorId="1" idx="4" dt="2021-03-03T11:26:28.255">
    <p:pos x="6000" y="0"/>
    <p:text>fixed</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1-03-02T11:24:33.208">
    <p:pos x="6000" y="0"/>
    <p:text>The while loop is executed at least once no matter the test condition is. I had learned concept something like that. Please mention that too.</p:text>
  </p:cm>
  <p:cm authorId="1" idx="5" dt="2021-03-02T11:24:33.208">
    <p:pos x="6000" y="0"/>
    <p:text>i think it is in case of do while loop. but python doesn't have do while loop.</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1-03-02T11:35:29.168">
    <p:pos x="3044" y="1187"/>
    <p:text>please remove the part of function. If relevant specify in "if" statement. We haven't introduced function yet. Just specify that we can use pass statement in function too, which we will discuss in the upcoming chapter.</p:text>
  </p:cm>
  <p:cm authorId="1" idx="6" dt="2021-03-02T11:35:29.168">
    <p:pos x="3044" y="1187"/>
    <p:text>fixed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bc939dadd0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bc939dadd0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Hello and welcome back. In this video, we will talk about control flow statements in python . So, let's get started.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bc939dadd0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bc939dadd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Before talking about the control flow statement, let's talk about statements.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statements are the basic unit of instruction that is executed by the python interpreter.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here, x equals 1 is a simple example of a single-line assignment statement.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statement can also be multi lines, as shown here.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Statements in Python can be extended to more lines by using continuation character backward slash.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basically, the program's control flow is the order in which the program is executed.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Depending on the task specified, program can be executed in a sequence or can take an alternate path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 For that, </a:t>
            </a:r>
            <a:r>
              <a:rPr lang="en-GB">
                <a:solidFill>
                  <a:schemeClr val="dk1"/>
                </a:solidFill>
              </a:rPr>
              <a:t>we have conditional and loops, </a:t>
            </a:r>
            <a:r>
              <a:rPr lang="en-GB">
                <a:solidFill>
                  <a:schemeClr val="dk1"/>
                </a:solidFill>
              </a:rPr>
              <a:t>to control the flow of the given instructions</a:t>
            </a:r>
            <a:r>
              <a:rPr lang="en-GB">
                <a:solidFill>
                  <a:schemeClr val="dk1"/>
                </a:solidFill>
              </a:rPr>
              <a:t>. We will talk about each one of them in detail.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c020a1813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c020a1813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this video, we will talk about python conditional statements like if, if else, if elif else. These statements which are used to decide whether a certain statement or block of statements will be executed or not.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bd09146b7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bd09146b7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 if statement is used to decide whether a certain statement or block of statements will be executed or not. Think of an if statement as a locked room. If the given expression is true, you can enter the room and your program can perform some predefined task. If the statement is false, your program will skip the task.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basic syntax and the flowchart of an if statements are shown here. Here, flowchart simply refers to a graphical representation of steps.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Assume</a:t>
            </a:r>
            <a:r>
              <a:rPr lang="en-GB">
                <a:solidFill>
                  <a:schemeClr val="dk1"/>
                </a:solidFill>
              </a:rPr>
              <a:t> a party has been organized where an individual having age greater than 18 is allowed to enter.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the test condition of the if statement is the </a:t>
            </a:r>
            <a:r>
              <a:rPr lang="en-GB">
                <a:solidFill>
                  <a:schemeClr val="dk1"/>
                </a:solidFill>
              </a:rPr>
              <a:t>boolean</a:t>
            </a:r>
            <a:r>
              <a:rPr lang="en-GB">
                <a:solidFill>
                  <a:schemeClr val="dk1"/>
                </a:solidFill>
              </a:rPr>
              <a:t> expression which results in a boolean value. In this case, test expression is age is greater than 18.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Inside the if statement, there will be one or more statements with the same level of </a:t>
            </a:r>
            <a:r>
              <a:rPr lang="en-GB">
                <a:solidFill>
                  <a:schemeClr val="dk1"/>
                </a:solidFill>
              </a:rPr>
              <a:t>indent</a:t>
            </a:r>
            <a:r>
              <a:rPr lang="en-GB">
                <a:solidFill>
                  <a:schemeClr val="dk1"/>
                </a:solidFill>
              </a:rPr>
              <a:t>, which is also considered as a body of if statement. Python uses [click] indentation to indicate a block of code. Generally, four whitespaces are used for indentation. In this case, we have two print statements inside if statement.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age is 19, the test condition evaluates to True,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then the statements written with the same indent level inside the if statement is executed.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bd09146b7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bd09146b7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 If age is 17 then, </a:t>
            </a:r>
            <a:r>
              <a:rPr lang="en-GB">
                <a:solidFill>
                  <a:schemeClr val="dk1"/>
                </a:solidFill>
              </a:rPr>
              <a:t>[click] </a:t>
            </a:r>
            <a:r>
              <a:rPr lang="en-GB">
                <a:solidFill>
                  <a:schemeClr val="dk1"/>
                </a:solidFill>
              </a:rPr>
              <a:t>the test condition evaluates to false.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a result, </a:t>
            </a:r>
            <a:r>
              <a:rPr lang="en-GB">
                <a:solidFill>
                  <a:schemeClr val="dk1"/>
                </a:solidFill>
              </a:rPr>
              <a:t>it skips the body of if statement.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c939dadd0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c939dadd0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talk about the if-else statement. if-else statement is used when you want to control the flow of execution of a program where the condition have both true part and the false part.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basic syntax and the flowchart of an if-else statement are shown here.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Assume a party has been organized where an individual having age greater than 18 is allowed to enter.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we have a test </a:t>
            </a:r>
            <a:r>
              <a:rPr lang="en-GB">
                <a:solidFill>
                  <a:schemeClr val="dk1"/>
                </a:solidFill>
              </a:rPr>
              <a:t>condition</a:t>
            </a:r>
            <a:r>
              <a:rPr lang="en-GB">
                <a:solidFill>
                  <a:schemeClr val="dk1"/>
                </a:solidFill>
              </a:rPr>
              <a:t> age is greater than 18.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the age of a person is 19, then test condition of if statement evaluates to True.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statements with the same level of indent inside the body of if statement will be executed. In this case, the given two print statements are executed.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any individual having age less than 18, in this case age is 17 then, the test condition evaluates to false,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statement with the same level of indent inside the body of the else statement will be executed. In this case, ‘move on’ will be printed.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3ef897ee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3ef897ee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Now let’s talk about if elif else statement. The elif is short for else if. It is used in the cases where we want to check for multiple expressions.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basic syntax and the flowchart of a python if elif else statement are shown here.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Assume a party has been organized where an individual having [click] age greater than 18 is allowed to enter. We also have cases which checks if the age of an individual is [click] exactly equal to 18, or less than 18.</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c3ef897ee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c3ef897ee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if the age is 19 then, [click] the first test condition evaluates is True,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statements with [click] the same level of indent inside the body of if statement will be executed. In this case, the two print commands are executed.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c3ef897ee2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c3ef897ee2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the age is 18 then, the first test condition evaluates false, it then [click] checks the condition of the next elif statement. [click] If that condition for elif is true,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The statements with the same level of indent inside the body of elif statement will be executed.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can have multiple elif block depending on the test we want to performed 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c3ef897ee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c3ef897ee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If all the conditions are False, the body of else is executed at last. There might be the case where the age of an individual is less than 18.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this case, age is 17, [click] this will print ‘move 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fa5b78b6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fa5b78b6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chemeClr val="dk1"/>
                </a:solidFill>
              </a:rPr>
              <a:t>We can define if statement in the following ways.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Let's create variables x and y and assign them with some random values. In this case, x is equal to 100, and y is equal to 20.</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The syntax contains a word if, a condition statement or test expression, and a colon at the end. In this case, we have if test expression as x is greater than y, which will be used to compare the value of x and 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The lines of code after the colon and with an indent will only be executed when the if statement is True.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Here, the given test expression becomes true, as the assigned value of x is 100, which is greater than the assigned value of b that is 20. So, the print command will be executed, and prints out x is greater than 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can define if else statement in the following ways. As we mentioned earlier, the else statement is combined with the if statement to make an if-else statement.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So, we create two variables; x, and y, and assign them with values 100 and 200, respectively. In this case, we have chosen the value of y to be greater than x to execute the else block.</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have defined the same test condition as before to compare the value of x and 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Here, else block will be executed if the given test expression is false.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By running this block of code allows executing the else block.  As we can see, the assigned value of y is 200, which is greater than the assigned value of x that is 100. So, in this case, it prints out y is greater than x.</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can define if statement in the following ways. As we mentioned earlier, the elif statement is combined with the if-else statement to make if elif else statement.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So, we create two variables, x and y, and assign them with values 100 and 100, respectively. In this case, we have chosen the value of y to be greater than x to execute the else block.</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We test a condition as before to compare the value of x and 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 We defined a test case where the value of x is equal to the value of y.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GB">
                <a:solidFill>
                  <a:schemeClr val="dk1"/>
                </a:solidFill>
              </a:rPr>
              <a:t>Here, else block will be executed if the given test expression is false.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By running this block of code allows executing the elif block.  As we can see the assigned value of x is 100 and also, the assigned value of y is 100. So, in this case, it prints out x is equal to y.</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e8e47990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e8e47990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talk about another additional decision-making entity supported in Python called ternary operator. It simply allows testing a condition in a single line replacing the multiline if-else.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be8e47990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be8e47990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Python, the ternary operator is also known as a conditional expression that evaluates something based on a condition being true or false. The basic syntax to define the ternary operator is shown here.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Ternary operator most often used for conditional variable assignment.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the name ternary suggests, this operator consists of three operands.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first one is a condition which is a </a:t>
            </a:r>
            <a:r>
              <a:rPr lang="en-GB">
                <a:solidFill>
                  <a:schemeClr val="dk1"/>
                </a:solidFill>
              </a:rPr>
              <a:t> expression</a:t>
            </a:r>
            <a:r>
              <a:rPr lang="en-GB">
                <a:solidFill>
                  <a:schemeClr val="dk1"/>
                </a:solidFill>
              </a:rPr>
              <a:t> that evaluates to either true or false.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second one is a value to be assigned if the expression is evaluated to true.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And the third one is a value to be assigned if the expression is evaluated to false.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bfa5b78b6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bfa5b78b6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Let's create a program to demonstrate conditional operator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First, let's create two variables, x, and y and assign them with values 100 and 200, respectively.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we mentioned earlier, the ternary operator is mostly used for conditional variable assignment and consists of three operands.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line of code copies the value of x in a variable min if x is less than y else, copy the value of 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can print the assigned value of min by using the print command. This prints out the value 100 as the value of x is less than the value of 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c020a1813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c020a1813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Now let’s talk about python loop. Loops enable programmers to repeatedly execute a block of code. Python supports 2 types of loop:  for loop and while loop. Let’s discuss them one by one.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bc939dadd0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bc939dadd0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for loop in Python is used to iterate over a sequence like a list, tuple, string, or other iterable objects. The Iteration over a sequence is also called traversal.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basic syntax and the flowchart of a python for loop are shown here.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There might a case where we want to check the grade of every student in the class. For this we can use for loop to iterate over a sequence from first student to the last student of the class. So, the same task like checking the grade of student, can be performed in a sequence for each student using for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as shown in the syntax of for loop, x is the variable that takes the value of the item inside the sequence on each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Loop continues until the last item in the sequence is reached.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body of for loop, consisting of one or more statements having the same level of indent, is separated from the rest of the code, and this body of for loop is executed.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the last item in the sequence is reached, the for loop is exited and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 the statement after the for loop is executed.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e3920e86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e3920e86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talk about Python while loop. In Python, the while loop is used to iterate over a block of code as long as the test expression is true. </a:t>
            </a:r>
            <a:r>
              <a:rPr lang="en-GB">
                <a:solidFill>
                  <a:schemeClr val="dk1"/>
                </a:solidFill>
              </a:rPr>
              <a:t>In general, we usually use this loop when we don't know the number of times to iterate beforehand.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the test expression is checked first. If the test expression evaluates to True,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then, only the body of the while loop is entered.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Then,  after one iteration,  the given test expression is checked again. So, this process continues until the test expression evaluates to False.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bfa5b78b6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bfa5b78b6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example of for loop, let's create a program to find the sum of all numbers stored in a list.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For this first, let's create a list having 10 numbers..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After that, we create a variable to store the sum of the numbers in a list and assigned with value zero as an initial sum value.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we mentioned earlier, we iterate over the list.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val is the variable that takes the value of the item inside the list 'numbers' on each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And the value of sum is added with each value of the item taken from the list in a sequence and assigned to the variable sum on each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print the total sum.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this block of code prints out Total sum is 40.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example of the while loop, let's create a program to find the sum of all natural numbers up to 100.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Let's initialize a variable num to 100 as we want to find a sum up to 100.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After that, let's initialize a variable sum to add the value and the counter to count the number of iterations reached.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we define a test condition that compares the value of 'i' with num. Here, the test condition will be True as long as our counter variable i is less than or equal to num.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while the test expression evaluates to true.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add the value of sum with the value of 'i' and assign that value to sum.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update the counter on each iteration.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by running this block of code prints out Total sum is 5050.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be3920e86d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be3920e86d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talk about python break and continue statements. In Python, the break and continue statements can alter the flow of a normal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mentioned </a:t>
            </a:r>
            <a:r>
              <a:rPr lang="en-GB">
                <a:solidFill>
                  <a:schemeClr val="dk1"/>
                </a:solidFill>
              </a:rPr>
              <a:t>earlier, loops iterate over a block of code until the test expression is false, </a:t>
            </a:r>
            <a:r>
              <a:rPr lang="en-GB">
                <a:solidFill>
                  <a:schemeClr val="dk1"/>
                </a:solidFill>
              </a:rPr>
              <a:t>but there might be a case where we wish</a:t>
            </a:r>
            <a:r>
              <a:rPr lang="en-GB">
                <a:solidFill>
                  <a:schemeClr val="dk1"/>
                </a:solidFill>
              </a:rPr>
              <a:t> to terminate the current iteration or even the whole loop without checking the test expression. So, for such cases, we use break and continue statements.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be3920e86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be3920e86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Python, the break statement terminates the current loop and resumes execution at the next statement out of the while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can define a break inside the loop using keyword break. The break statement can be used in both while and for loops.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shown here, when the program finds keyword break,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 control of the program flows to the statement immediately after the body of the loop.</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be3920e86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be3920e86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In Python, the continue statement skips all the remaining statements in the current iteration of the loop and moves the control back to the top of the </a:t>
            </a:r>
            <a:r>
              <a:rPr lang="en-GB">
                <a:solidFill>
                  <a:schemeClr val="dk1"/>
                </a:solidFill>
              </a:rPr>
              <a:t>loop</a:t>
            </a:r>
            <a:r>
              <a:rPr lang="en-GB">
                <a:solidFill>
                  <a:schemeClr val="dk1"/>
                </a:solidFill>
              </a:rPr>
              <a:t>. After that loop resume from the next iterable item</a:t>
            </a:r>
            <a:r>
              <a:rPr lang="en-GB">
                <a:solidFill>
                  <a:schemeClr val="dk1"/>
                </a:solidFill>
              </a:rPr>
              <a:t>. The continue statement can be used in both while and for loops.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can define continue inside the loop using the keyword continue.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shown here, when the program finds keyword continue,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it immediately skips the current loop iteration.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Execution jumps to the top of the loop, and the controlling test expression is re-evaluated to determine whether the loop will execute again or terminate.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bfa5b78b6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bfa5b78b6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Now let's talk about the pass statement. So, a pass is a null statement that acts as a placeholder for future code. To understand this, let's take an example.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Suppose, we have a loop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or a if conditional that is not implemented yet, but we want to implement them in the future.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for this, we'll put in a pass keyword as shown here. When the pass statement is executed, nothing happens, but this avoids getting an error when the empty code is not allowed. We can use pass statement in function too, which will be discussed in the upcoming chapter.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fa5b78b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bfa5b78b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example of python break, let's create a program that prints number less than 5 and breaks any numbers greater than 5.</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i is the variable that takes the value of the item from a sequence of numbers, starting from 0 on each iteration up to one less than the input number. In this case, the input number is 10.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test a condition to break any number greater than 5.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block of code prints out each number which numbers from zero to five.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example of Python continue, let's create a program that skips the current iteration of the loop but continues with the next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i is the variable that takes the value of the item from a sequence of numbers, starting from 0 on each iteration up to one less than the input number. In this case, the input number is 10.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defined a test condition that skips the current iteration if the test condition evaluates to true. In this case, we check if the value of i is equal to 5. If it matches, it skips that current iteration and continues with the next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By running this block of code prints out numbers from zero to nine, excluding 5. When the value of 'i' reaches 5, the test condition evaluates to true and hence skips that iteration and continues with the next iteration.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example of python pass, let's create a for loop where we don't want to do anything but wants to implement them in the future.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We simply create a for loop, and inside for loop we put a pass keyword.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Here, we print x to prove that we indeed looped.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c020a1813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c020a1813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Now let’s talk about the nested loop.</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be3920e86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be3920e86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a nested loop is a loop inside another loop. In a nested loop, the inner loop will be executed </a:t>
            </a:r>
            <a:r>
              <a:rPr lang="en-GB">
                <a:solidFill>
                  <a:schemeClr val="dk1"/>
                </a:solidFill>
              </a:rPr>
              <a:t>entirely </a:t>
            </a:r>
            <a:r>
              <a:rPr lang="en-GB">
                <a:solidFill>
                  <a:schemeClr val="dk1"/>
                </a:solidFill>
              </a:rPr>
              <a:t>for each iteration of the outer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basic syntax and flowchart of a nested loop are shown here.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As shown here, the program flow checks if the current item is the last item of the sequence of the outer loop.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[click]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If it returns false, it enters the inner loop. The program flow again checks if the current item is the last item of the sequence of the inner loop. If it returns false, the body of the inner loop is executed.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So, in a nested loop, the inner loop will be executed entirely for each iteration of the outer loop.</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bfa5b78b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bfa5b78b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To demonstrate the Python nested loop, let's take an example that prints the value of 'i' and j in both inner loop and outer loop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 We define an outer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And inside that outer loop, we define an inner loop. As mentioned earlier, the inner loop will be executed entirely for each iteration of the outer loop.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prints out the value of both 'i' and 'j' of the outer and the inner loop,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prints out if the inner loop is exited for each iteration of the outer loop.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This prints out after we have done with the outer loop.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bf68ed3373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bf68ed3373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bf68ed3373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bf68ed3373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Python’s </a:t>
            </a:r>
            <a:r>
              <a:rPr lang="en-GB"/>
              <a:t>zip is useful when we like to iterate over multiple iterables simultaneously. To explain this let’s take an example. Assume, [click] we have two lists; list A and list B having different indices.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zip function combines similar type iterators like list to list or dictionary to dictionary. [click] In this case list A and list B.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Here, for loop iterates over two lists in parallel. </a:t>
            </a:r>
            <a:endParaRPr/>
          </a:p>
          <a:p>
            <a:pPr indent="0" lvl="0" marL="0" rtl="0" algn="l">
              <a:spcBef>
                <a:spcPts val="0"/>
              </a:spcBef>
              <a:spcAft>
                <a:spcPts val="0"/>
              </a:spcAft>
              <a:buNone/>
            </a:pPr>
            <a:r>
              <a:rPr lang="en-GB"/>
              <a:t>So, in first iteration, [click] it takes first item from both list and [click] prints them and again in the next iteration, [click] it takes second item from both list and [click] prints them.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It uses the shortest length of the input iterators. In </a:t>
            </a:r>
            <a:r>
              <a:rPr lang="en-GB"/>
              <a:t>this case list A has shortest length  and </a:t>
            </a:r>
            <a:r>
              <a:rPr lang="en-GB"/>
              <a:t>Other items of larger length iterators are skipped. In this case list B is largest length iterator so, the items upto indices one from both lists will be printed and item at indices 2 of list B will be skipped. So, here for loop is executed only two time as the list A has </a:t>
            </a:r>
            <a:r>
              <a:rPr lang="en-GB"/>
              <a:t>shortest</a:t>
            </a:r>
            <a:r>
              <a:rPr lang="en-GB"/>
              <a:t> length 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c4cc9a58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c4cc9a58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There might be some cases where we need to use the count and an item in a loop or  want to assign index to each item in an iterable object that can be used to reference the item later. For such cases we can use, function enumerate.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To understand this let’s take an example. [click] Assume we have a list named my list. [click] Here, the enumerate function increments the count by one on every iteration of the for loop. So, in the first iteration, [click] it takes item from the list named my list and [click] prints out tuple containing indices and item at that indices. In this case, first tuple contains index zero and its item list1 . And similarly, [click] we continue the next iteration and [click] it prints out next tuple and [click] so 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c4d2c13a8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c4d2c13a8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To demonstrate the python zip function, let's take an example . Assume we have two list list_A and list_B and we create a for loop to iterate using the zip function in the following way. here the arguments of the zip function takes the given two lists.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Now we run the for loop and prints out the content of a, and b.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 After running this code it prints out each item from both lists simultaneously; list_A and list_B. As you can see the loop only iterates for 2 times as the length of the shortest iterator is 2. so loop is executed only for 2 times.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To demonstrate the python enumerate function, let's take an example . Assume we have a list name my_list and we create a for loop to iterate using the enumerate function in the following way. here the arguments of the enumerate function takes the given list.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Now we run the for loop and prints out the content of item.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After running this code you can see it prints out a tuple containing index and data at that index in the iterator sequence.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400"/>
              <a:buNone/>
              <a:defRPr b="1" sz="3400">
                <a:solidFill>
                  <a:srgbClr val="FFFFFF"/>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2600"/>
              <a:buNone/>
              <a:defRPr sz="2600">
                <a:solidFill>
                  <a:srgbClr val="FFFFFF"/>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TITLE_1">
    <p:bg>
      <p:bgPr>
        <a:blipFill>
          <a:blip r:embed="rId2">
            <a:alphaModFix/>
          </a:blip>
          <a:stretch>
            <a:fillRect/>
          </a:stretch>
        </a:blipFill>
      </p:bgPr>
    </p:bg>
    <p:spTree>
      <p:nvGrpSpPr>
        <p:cNvPr id="58" name="Shape 58"/>
        <p:cNvGrpSpPr/>
        <p:nvPr/>
      </p:nvGrpSpPr>
      <p:grpSpPr>
        <a:xfrm>
          <a:off x="0" y="0"/>
          <a:ext cx="0" cy="0"/>
          <a:chOff x="0" y="0"/>
          <a:chExt cx="0" cy="0"/>
        </a:xfrm>
      </p:grpSpPr>
      <p:sp>
        <p:nvSpPr>
          <p:cNvPr id="59" name="Google Shape;5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60" name="Google Shape;60;p15"/>
          <p:cNvSpPr txBox="1"/>
          <p:nvPr/>
        </p:nvSpPr>
        <p:spPr>
          <a:xfrm>
            <a:off x="661475" y="322225"/>
            <a:ext cx="27513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chemeClr val="lt1"/>
                </a:solidFill>
                <a:latin typeface="Montserrat"/>
                <a:ea typeface="Montserrat"/>
                <a:cs typeface="Montserrat"/>
                <a:sym typeface="Montserrat"/>
              </a:rPr>
              <a:t>Credits: </a:t>
            </a:r>
            <a:endParaRPr b="1" sz="2400">
              <a:solidFill>
                <a:schemeClr val="lt1"/>
              </a:solidFill>
              <a:latin typeface="Montserrat"/>
              <a:ea typeface="Montserrat"/>
              <a:cs typeface="Montserrat"/>
              <a:sym typeface="Montserrat"/>
            </a:endParaRPr>
          </a:p>
        </p:txBody>
      </p:sp>
      <p:sp>
        <p:nvSpPr>
          <p:cNvPr id="61" name="Google Shape;61;p15"/>
          <p:cNvSpPr txBox="1"/>
          <p:nvPr>
            <p:ph idx="1" type="body"/>
          </p:nvPr>
        </p:nvSpPr>
        <p:spPr>
          <a:xfrm>
            <a:off x="661475" y="1152475"/>
            <a:ext cx="81708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Char char="●"/>
              <a:defRPr>
                <a:solidFill>
                  <a:srgbClr val="FFFFFF"/>
                </a:solidFill>
              </a:defRPr>
            </a:lvl1pPr>
            <a:lvl2pPr indent="-317500" lvl="1" marL="914400" rtl="0">
              <a:spcBef>
                <a:spcPts val="1600"/>
              </a:spcBef>
              <a:spcAft>
                <a:spcPts val="0"/>
              </a:spcAft>
              <a:buClr>
                <a:srgbClr val="FFFFFF"/>
              </a:buClr>
              <a:buSzPts val="1400"/>
              <a:buChar char="○"/>
              <a:defRPr>
                <a:solidFill>
                  <a:srgbClr val="FFFFFF"/>
                </a:solidFill>
              </a:defRPr>
            </a:lvl2pPr>
            <a:lvl3pPr indent="-317500" lvl="2" marL="1371600" rtl="0">
              <a:spcBef>
                <a:spcPts val="1600"/>
              </a:spcBef>
              <a:spcAft>
                <a:spcPts val="0"/>
              </a:spcAft>
              <a:buClr>
                <a:srgbClr val="FFFFFF"/>
              </a:buClr>
              <a:buSzPts val="1400"/>
              <a:buChar char="■"/>
              <a:defRPr>
                <a:solidFill>
                  <a:srgbClr val="FFFFFF"/>
                </a:solidFill>
              </a:defRPr>
            </a:lvl3pPr>
            <a:lvl4pPr indent="-317500" lvl="3" marL="1828800" rtl="0">
              <a:spcBef>
                <a:spcPts val="1600"/>
              </a:spcBef>
              <a:spcAft>
                <a:spcPts val="0"/>
              </a:spcAft>
              <a:buClr>
                <a:srgbClr val="FFFFFF"/>
              </a:buClr>
              <a:buSzPts val="1400"/>
              <a:buChar char="●"/>
              <a:defRPr>
                <a:solidFill>
                  <a:srgbClr val="FFFFFF"/>
                </a:solidFill>
              </a:defRPr>
            </a:lvl4pPr>
            <a:lvl5pPr indent="-317500" lvl="4" marL="2286000" rtl="0">
              <a:spcBef>
                <a:spcPts val="1600"/>
              </a:spcBef>
              <a:spcAft>
                <a:spcPts val="0"/>
              </a:spcAft>
              <a:buClr>
                <a:srgbClr val="FFFFFF"/>
              </a:buClr>
              <a:buSzPts val="1400"/>
              <a:buChar char="○"/>
              <a:defRPr>
                <a:solidFill>
                  <a:srgbClr val="FFFFFF"/>
                </a:solidFill>
              </a:defRPr>
            </a:lvl5pPr>
            <a:lvl6pPr indent="-317500" lvl="5" marL="2743200" rtl="0">
              <a:spcBef>
                <a:spcPts val="1600"/>
              </a:spcBef>
              <a:spcAft>
                <a:spcPts val="0"/>
              </a:spcAft>
              <a:buClr>
                <a:srgbClr val="FFFFFF"/>
              </a:buClr>
              <a:buSzPts val="1400"/>
              <a:buChar char="■"/>
              <a:defRPr>
                <a:solidFill>
                  <a:srgbClr val="FFFFFF"/>
                </a:solidFill>
              </a:defRPr>
            </a:lvl6pPr>
            <a:lvl7pPr indent="-317500" lvl="6" marL="3200400" rtl="0">
              <a:spcBef>
                <a:spcPts val="1600"/>
              </a:spcBef>
              <a:spcAft>
                <a:spcPts val="0"/>
              </a:spcAft>
              <a:buClr>
                <a:srgbClr val="FFFFFF"/>
              </a:buClr>
              <a:buSzPts val="1400"/>
              <a:buChar char="●"/>
              <a:defRPr>
                <a:solidFill>
                  <a:srgbClr val="FFFFFF"/>
                </a:solidFill>
              </a:defRPr>
            </a:lvl7pPr>
            <a:lvl8pPr indent="-317500" lvl="7" marL="3657600" rtl="0">
              <a:spcBef>
                <a:spcPts val="1600"/>
              </a:spcBef>
              <a:spcAft>
                <a:spcPts val="0"/>
              </a:spcAft>
              <a:buClr>
                <a:srgbClr val="FFFFFF"/>
              </a:buClr>
              <a:buSzPts val="1400"/>
              <a:buChar char="○"/>
              <a:defRPr>
                <a:solidFill>
                  <a:srgbClr val="FFFFFF"/>
                </a:solidFill>
              </a:defRPr>
            </a:lvl8pPr>
            <a:lvl9pPr indent="-317500" lvl="8" marL="4114800" rtl="0">
              <a:spcBef>
                <a:spcPts val="1600"/>
              </a:spcBef>
              <a:spcAft>
                <a:spcPts val="1600"/>
              </a:spcAft>
              <a:buClr>
                <a:srgbClr val="FFFFFF"/>
              </a:buClr>
              <a:buSzPts val="1400"/>
              <a:buChar char="■"/>
              <a:defRPr>
                <a:solidFill>
                  <a:srgbClr val="FFFF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58A4E2"/>
        </a:solid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FFFFF"/>
              </a:buClr>
              <a:buSzPts val="2800"/>
              <a:buNone/>
              <a:defRPr b="1" sz="28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7" name="Google Shape;67;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69" name="Google Shape;69;p17"/>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70" name="Google Shape;70;p1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Heading-Body">
  <p:cSld name="TITLE_AND_BODY_2">
    <p:spTree>
      <p:nvGrpSpPr>
        <p:cNvPr id="71" name="Shape 71"/>
        <p:cNvGrpSpPr/>
        <p:nvPr/>
      </p:nvGrpSpPr>
      <p:grpSpPr>
        <a:xfrm>
          <a:off x="0" y="0"/>
          <a:ext cx="0" cy="0"/>
          <a:chOff x="0" y="0"/>
          <a:chExt cx="0" cy="0"/>
        </a:xfrm>
      </p:grpSpPr>
      <p:sp>
        <p:nvSpPr>
          <p:cNvPr id="72" name="Google Shape;72;p18"/>
          <p:cNvSpPr txBox="1"/>
          <p:nvPr>
            <p:ph type="title"/>
          </p:nvPr>
        </p:nvSpPr>
        <p:spPr>
          <a:xfrm>
            <a:off x="311700" y="28650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3" name="Google Shape;73;p18"/>
          <p:cNvSpPr txBox="1"/>
          <p:nvPr>
            <p:ph idx="1" type="body"/>
          </p:nvPr>
        </p:nvSpPr>
        <p:spPr>
          <a:xfrm>
            <a:off x="311700" y="1283150"/>
            <a:ext cx="8520600" cy="3285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75" name="Google Shape;75;p18"/>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76" name="Google Shape;76;p1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p:cSld name="TITLE_AND_BODY_1">
    <p:spTree>
      <p:nvGrpSpPr>
        <p:cNvPr id="77" name="Shape 77"/>
        <p:cNvGrpSpPr/>
        <p:nvPr/>
      </p:nvGrpSpPr>
      <p:grpSpPr>
        <a:xfrm>
          <a:off x="0" y="0"/>
          <a:ext cx="0" cy="0"/>
          <a:chOff x="0" y="0"/>
          <a:chExt cx="0" cy="0"/>
        </a:xfrm>
      </p:grpSpPr>
      <p:sp>
        <p:nvSpPr>
          <p:cNvPr id="78" name="Google Shape;78;p19"/>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9" name="Google Shape;79;p19"/>
          <p:cNvSpPr txBox="1"/>
          <p:nvPr>
            <p:ph idx="1" type="body"/>
          </p:nvPr>
        </p:nvSpPr>
        <p:spPr>
          <a:xfrm>
            <a:off x="311700" y="1405125"/>
            <a:ext cx="8520600" cy="3163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0" name="Google Shape;8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81" name="Google Shape;81;p19"/>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82" name="Google Shape;82;p19"/>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1">
  <p:cSld name="TITLE_AND_BODY_1_1">
    <p:spTree>
      <p:nvGrpSpPr>
        <p:cNvPr id="83" name="Shape 83"/>
        <p:cNvGrpSpPr/>
        <p:nvPr/>
      </p:nvGrpSpPr>
      <p:grpSpPr>
        <a:xfrm>
          <a:off x="0" y="0"/>
          <a:ext cx="0" cy="0"/>
          <a:chOff x="0" y="0"/>
          <a:chExt cx="0" cy="0"/>
        </a:xfrm>
      </p:grpSpPr>
      <p:sp>
        <p:nvSpPr>
          <p:cNvPr id="84" name="Google Shape;84;p20"/>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20"/>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87" name="Google Shape;87;p20"/>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corner">
  <p:cSld name="TITLE_AND_BODY_1_1_3">
    <p:spTree>
      <p:nvGrpSpPr>
        <p:cNvPr id="88" name="Shape 88"/>
        <p:cNvGrpSpPr/>
        <p:nvPr/>
      </p:nvGrpSpPr>
      <p:grpSpPr>
        <a:xfrm>
          <a:off x="0" y="0"/>
          <a:ext cx="0" cy="0"/>
          <a:chOff x="0" y="0"/>
          <a:chExt cx="0" cy="0"/>
        </a:xfrm>
      </p:grpSpPr>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21"/>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lection Spot">
  <p:cSld name="TITLE_AND_BODY_1_1_2">
    <p:spTree>
      <p:nvGrpSpPr>
        <p:cNvPr id="91" name="Shape 91"/>
        <p:cNvGrpSpPr/>
        <p:nvPr/>
      </p:nvGrpSpPr>
      <p:grpSpPr>
        <a:xfrm>
          <a:off x="0" y="0"/>
          <a:ext cx="0" cy="0"/>
          <a:chOff x="0" y="0"/>
          <a:chExt cx="0" cy="0"/>
        </a:xfrm>
      </p:grpSpPr>
      <p:sp>
        <p:nvSpPr>
          <p:cNvPr id="92" name="Google Shape;92;p22"/>
          <p:cNvSpPr txBox="1"/>
          <p:nvPr>
            <p:ph type="title"/>
          </p:nvPr>
        </p:nvSpPr>
        <p:spPr>
          <a:xfrm>
            <a:off x="1456750" y="390550"/>
            <a:ext cx="73623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93" name="Google Shape;9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94" name="Google Shape;94;p22"/>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95" name="Google Shape;95;p22"/>
          <p:cNvGrpSpPr/>
          <p:nvPr/>
        </p:nvGrpSpPr>
        <p:grpSpPr>
          <a:xfrm>
            <a:off x="275437" y="298844"/>
            <a:ext cx="934800" cy="934800"/>
            <a:chOff x="170337" y="194819"/>
            <a:chExt cx="934800" cy="934800"/>
          </a:xfrm>
        </p:grpSpPr>
        <p:sp>
          <p:nvSpPr>
            <p:cNvPr id="96" name="Google Shape;96;p22"/>
            <p:cNvSpPr/>
            <p:nvPr/>
          </p:nvSpPr>
          <p:spPr>
            <a:xfrm>
              <a:off x="170337" y="194819"/>
              <a:ext cx="934800" cy="934800"/>
            </a:xfrm>
            <a:prstGeom prst="ellipse">
              <a:avLst/>
            </a:prstGeom>
            <a:solidFill>
              <a:srgbClr val="2074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2"/>
            <p:cNvSpPr/>
            <p:nvPr/>
          </p:nvSpPr>
          <p:spPr>
            <a:xfrm>
              <a:off x="44732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98" name="Google Shape;98;p22"/>
            <p:cNvSpPr/>
            <p:nvPr/>
          </p:nvSpPr>
          <p:spPr>
            <a:xfrm>
              <a:off x="68937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grpSp>
      <p:sp>
        <p:nvSpPr>
          <p:cNvPr id="99" name="Google Shape;99;p22"/>
          <p:cNvSpPr txBox="1"/>
          <p:nvPr>
            <p:ph idx="1" type="body"/>
          </p:nvPr>
        </p:nvSpPr>
        <p:spPr>
          <a:xfrm>
            <a:off x="905400" y="1537450"/>
            <a:ext cx="7333200" cy="29403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ipped Assertion-Evidence">
  <p:cSld name="TITLE_AND_BODY_1_1_1">
    <p:spTree>
      <p:nvGrpSpPr>
        <p:cNvPr id="100" name="Shape 100"/>
        <p:cNvGrpSpPr/>
        <p:nvPr/>
      </p:nvGrpSpPr>
      <p:grpSpPr>
        <a:xfrm>
          <a:off x="0" y="0"/>
          <a:ext cx="0" cy="0"/>
          <a:chOff x="0" y="0"/>
          <a:chExt cx="0" cy="0"/>
        </a:xfrm>
      </p:grpSpPr>
      <p:sp>
        <p:nvSpPr>
          <p:cNvPr id="101" name="Google Shape;101;p23"/>
          <p:cNvSpPr txBox="1"/>
          <p:nvPr>
            <p:ph type="title"/>
          </p:nvPr>
        </p:nvSpPr>
        <p:spPr>
          <a:xfrm>
            <a:off x="311700" y="402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02" name="Google Shape;10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03" name="Google Shape;103;p23"/>
          <p:cNvSpPr/>
          <p:nvPr/>
        </p:nvSpPr>
        <p:spPr>
          <a:xfrm>
            <a:off x="0" y="402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04" name="Google Shape;104;p23"/>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5" name="Shape 105"/>
        <p:cNvGrpSpPr/>
        <p:nvPr/>
      </p:nvGrpSpPr>
      <p:grpSpPr>
        <a:xfrm>
          <a:off x="0" y="0"/>
          <a:ext cx="0" cy="0"/>
          <a:chOff x="0" y="0"/>
          <a:chExt cx="0" cy="0"/>
        </a:xfrm>
      </p:grpSpPr>
      <p:sp>
        <p:nvSpPr>
          <p:cNvPr id="106" name="Google Shape;106;p24"/>
          <p:cNvSpPr txBox="1"/>
          <p:nvPr>
            <p:ph idx="1" type="body"/>
          </p:nvPr>
        </p:nvSpPr>
        <p:spPr>
          <a:xfrm>
            <a:off x="311700" y="1275238"/>
            <a:ext cx="3999900" cy="3293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7" name="Google Shape;107;p24"/>
          <p:cNvSpPr txBox="1"/>
          <p:nvPr>
            <p:ph idx="2" type="body"/>
          </p:nvPr>
        </p:nvSpPr>
        <p:spPr>
          <a:xfrm>
            <a:off x="4832400" y="1275238"/>
            <a:ext cx="3999900" cy="3293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8" name="Google Shape;10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09" name="Google Shape;109;p24"/>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0" name="Google Shape;110;p24"/>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11" name="Google Shape;111;p24"/>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25"/>
          <p:cNvSpPr txBox="1"/>
          <p:nvPr>
            <p:ph type="title"/>
          </p:nvPr>
        </p:nvSpPr>
        <p:spPr>
          <a:xfrm>
            <a:off x="311700" y="216425"/>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15" name="Google Shape;115;p25"/>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16" name="Google Shape;116;p25"/>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7" name="Shape 117"/>
        <p:cNvGrpSpPr/>
        <p:nvPr/>
      </p:nvGrpSpPr>
      <p:grpSpPr>
        <a:xfrm>
          <a:off x="0" y="0"/>
          <a:ext cx="0" cy="0"/>
          <a:chOff x="0" y="0"/>
          <a:chExt cx="0" cy="0"/>
        </a:xfrm>
      </p:grpSpPr>
      <p:sp>
        <p:nvSpPr>
          <p:cNvPr id="118" name="Google Shape;118;p26"/>
          <p:cNvSpPr txBox="1"/>
          <p:nvPr>
            <p:ph idx="1" type="body"/>
          </p:nvPr>
        </p:nvSpPr>
        <p:spPr>
          <a:xfrm>
            <a:off x="311700" y="1228775"/>
            <a:ext cx="2808000" cy="3340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9" name="Google Shape;11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20" name="Google Shape;120;p26"/>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21" name="Google Shape;121;p26"/>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22" name="Google Shape;122;p26"/>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3" name="Shape 123"/>
        <p:cNvGrpSpPr/>
        <p:nvPr/>
      </p:nvGrpSpPr>
      <p:grpSpPr>
        <a:xfrm>
          <a:off x="0" y="0"/>
          <a:ext cx="0" cy="0"/>
          <a:chOff x="0" y="0"/>
          <a:chExt cx="0" cy="0"/>
        </a:xfrm>
      </p:grpSpPr>
      <p:sp>
        <p:nvSpPr>
          <p:cNvPr id="124" name="Google Shape;124;p2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5" name="Google Shape;125;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9" name="Google Shape;129;p2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0" name="Google Shape;130;p2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1" name="Google Shape;13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p2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4" name="Google Shape;134;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35" name="Google Shape;135;p29"/>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6" name="Shape 136"/>
        <p:cNvGrpSpPr/>
        <p:nvPr/>
      </p:nvGrpSpPr>
      <p:grpSpPr>
        <a:xfrm>
          <a:off x="0" y="0"/>
          <a:ext cx="0" cy="0"/>
          <a:chOff x="0" y="0"/>
          <a:chExt cx="0" cy="0"/>
        </a:xfrm>
      </p:grpSpPr>
      <p:sp>
        <p:nvSpPr>
          <p:cNvPr id="137" name="Google Shape;137;p3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8" name="Google Shape;138;p3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9" name="Google Shape;139;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40" name="Google Shape;140;p30"/>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1" name="Shape 141"/>
        <p:cNvGrpSpPr/>
        <p:nvPr/>
      </p:nvGrpSpPr>
      <p:grpSpPr>
        <a:xfrm>
          <a:off x="0" y="0"/>
          <a:ext cx="0" cy="0"/>
          <a:chOff x="0" y="0"/>
          <a:chExt cx="0" cy="0"/>
        </a:xfrm>
      </p:grpSpPr>
      <p:sp>
        <p:nvSpPr>
          <p:cNvPr id="142" name="Google Shape;142;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143" name="Shape 143"/>
        <p:cNvGrpSpPr/>
        <p:nvPr/>
      </p:nvGrpSpPr>
      <p:grpSpPr>
        <a:xfrm>
          <a:off x="0" y="0"/>
          <a:ext cx="0" cy="0"/>
          <a:chOff x="0" y="0"/>
          <a:chExt cx="0" cy="0"/>
        </a:xfrm>
      </p:grpSpPr>
      <p:sp>
        <p:nvSpPr>
          <p:cNvPr id="144" name="Google Shape;144;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45" name="Google Shape;145;p32"/>
          <p:cNvSpPr/>
          <p:nvPr/>
        </p:nvSpPr>
        <p:spPr>
          <a:xfrm>
            <a:off x="3408394"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46" name="Google Shape;146;p32"/>
          <p:cNvSpPr txBox="1"/>
          <p:nvPr>
            <p:ph type="title"/>
          </p:nvPr>
        </p:nvSpPr>
        <p:spPr>
          <a:xfrm>
            <a:off x="3764000" y="32845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147" name="Shape 147"/>
        <p:cNvGrpSpPr/>
        <p:nvPr/>
      </p:nvGrpSpPr>
      <p:grpSpPr>
        <a:xfrm>
          <a:off x="0" y="0"/>
          <a:ext cx="0" cy="0"/>
          <a:chOff x="0" y="0"/>
          <a:chExt cx="0" cy="0"/>
        </a:xfrm>
      </p:grpSpPr>
      <p:sp>
        <p:nvSpPr>
          <p:cNvPr id="148" name="Google Shape;148;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2074B9"/>
        </a:solidFill>
      </p:bgPr>
    </p:bg>
    <p:spTree>
      <p:nvGrpSpPr>
        <p:cNvPr id="149" name="Shape 149"/>
        <p:cNvGrpSpPr/>
        <p:nvPr/>
      </p:nvGrpSpPr>
      <p:grpSpPr>
        <a:xfrm>
          <a:off x="0" y="0"/>
          <a:ext cx="0" cy="0"/>
          <a:chOff x="0" y="0"/>
          <a:chExt cx="0" cy="0"/>
        </a:xfrm>
      </p:grpSpPr>
      <p:sp>
        <p:nvSpPr>
          <p:cNvPr id="150" name="Google Shape;150;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1">
    <p:bg>
      <p:bgPr>
        <a:solidFill>
          <a:srgbClr val="2074B9"/>
        </a:solidFill>
      </p:bgPr>
    </p:bg>
    <p:spTree>
      <p:nvGrpSpPr>
        <p:cNvPr id="151" name="Shape 151"/>
        <p:cNvGrpSpPr/>
        <p:nvPr/>
      </p:nvGrpSpPr>
      <p:grpSpPr>
        <a:xfrm>
          <a:off x="0" y="0"/>
          <a:ext cx="0" cy="0"/>
          <a:chOff x="0" y="0"/>
          <a:chExt cx="0" cy="0"/>
        </a:xfrm>
      </p:grpSpPr>
      <p:sp>
        <p:nvSpPr>
          <p:cNvPr id="152" name="Google Shape;152;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64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1pPr>
            <a:lvl2pPr lvl="1"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2pPr>
            <a:lvl3pPr lvl="2"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3pPr>
            <a:lvl4pPr lvl="3"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4pPr>
            <a:lvl5pPr lvl="4"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5pPr>
            <a:lvl6pPr lvl="5"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6pPr>
            <a:lvl7pPr lvl="6"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7pPr>
            <a:lvl8pPr lvl="7"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8pPr>
            <a:lvl9pPr lvl="8" rt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rtl="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rtl="0">
              <a:lnSpc>
                <a:spcPct val="115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comments" Target="../comments/commen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comments" Target="../comments/commen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comments" Target="../comments/comment5.xml"/><Relationship Id="rId4" Type="http://schemas.openxmlformats.org/officeDocument/2006/relationships/image" Target="../media/image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comments" Target="../comments/commen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Control Flow Statements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7"/>
          <p:cNvSpPr txBox="1"/>
          <p:nvPr>
            <p:ph type="title"/>
          </p:nvPr>
        </p:nvSpPr>
        <p:spPr>
          <a:xfrm>
            <a:off x="311700" y="286500"/>
            <a:ext cx="8520600" cy="5727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a:t>Control flow statement in Python</a:t>
            </a:r>
            <a:endParaRPr/>
          </a:p>
        </p:txBody>
      </p:sp>
      <p:sp>
        <p:nvSpPr>
          <p:cNvPr id="163" name="Google Shape;163;p37"/>
          <p:cNvSpPr txBox="1"/>
          <p:nvPr/>
        </p:nvSpPr>
        <p:spPr>
          <a:xfrm>
            <a:off x="962025" y="1804075"/>
            <a:ext cx="6500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E.g, 	</a:t>
            </a:r>
            <a:r>
              <a:rPr b="1" i="1" lang="en-GB">
                <a:latin typeface="Courier New"/>
                <a:ea typeface="Courier New"/>
                <a:cs typeface="Courier New"/>
                <a:sym typeface="Courier New"/>
              </a:rPr>
              <a:t>X = 1  </a:t>
            </a:r>
            <a:r>
              <a:rPr i="1" lang="en-GB">
                <a:solidFill>
                  <a:srgbClr val="38761D"/>
                </a:solidFill>
                <a:latin typeface="Courier New"/>
                <a:ea typeface="Courier New"/>
                <a:cs typeface="Courier New"/>
                <a:sym typeface="Courier New"/>
              </a:rPr>
              <a:t># single line</a:t>
            </a:r>
            <a:endParaRPr i="1">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i="1">
              <a:latin typeface="Courier New"/>
              <a:ea typeface="Courier New"/>
              <a:cs typeface="Courier New"/>
              <a:sym typeface="Courier New"/>
            </a:endParaRPr>
          </a:p>
          <a:p>
            <a:pPr indent="457200" lvl="0" marL="457200" rtl="0" algn="l">
              <a:spcBef>
                <a:spcPts val="0"/>
              </a:spcBef>
              <a:spcAft>
                <a:spcPts val="0"/>
              </a:spcAft>
              <a:buClr>
                <a:schemeClr val="dk1"/>
              </a:buClr>
              <a:buSzPts val="1100"/>
              <a:buFont typeface="Arial"/>
              <a:buNone/>
            </a:pPr>
            <a:r>
              <a:rPr b="1" i="1" lang="en-GB">
                <a:latin typeface="Courier New"/>
                <a:ea typeface="Courier New"/>
                <a:cs typeface="Courier New"/>
                <a:sym typeface="Courier New"/>
              </a:rPr>
              <a:t>total_sum =	i</a:t>
            </a:r>
            <a:r>
              <a:rPr b="1" lang="en-GB">
                <a:latin typeface="Courier New"/>
                <a:ea typeface="Courier New"/>
                <a:cs typeface="Courier New"/>
                <a:sym typeface="Courier New"/>
              </a:rPr>
              <a:t>tem_one + \   </a:t>
            </a:r>
            <a:r>
              <a:rPr lang="en-GB">
                <a:solidFill>
                  <a:srgbClr val="6AA84F"/>
                </a:solidFill>
                <a:latin typeface="Courier New"/>
                <a:ea typeface="Courier New"/>
                <a:cs typeface="Courier New"/>
                <a:sym typeface="Courier New"/>
              </a:rPr>
              <a:t>#multilines statements</a:t>
            </a:r>
            <a:endParaRPr>
              <a:solidFill>
                <a:srgbClr val="6AA84F"/>
              </a:solidFill>
              <a:latin typeface="Courier New"/>
              <a:ea typeface="Courier New"/>
              <a:cs typeface="Courier New"/>
              <a:sym typeface="Courier New"/>
            </a:endParaRPr>
          </a:p>
          <a:p>
            <a:pPr indent="0" lvl="0" marL="914400" rtl="0" algn="l">
              <a:spcBef>
                <a:spcPts val="0"/>
              </a:spcBef>
              <a:spcAft>
                <a:spcPts val="0"/>
              </a:spcAft>
              <a:buClr>
                <a:schemeClr val="dk1"/>
              </a:buClr>
              <a:buSzPts val="1100"/>
              <a:buFont typeface="Arial"/>
              <a:buNone/>
            </a:pPr>
            <a:r>
              <a:rPr b="1" lang="en-GB">
                <a:latin typeface="Courier New"/>
                <a:ea typeface="Courier New"/>
                <a:cs typeface="Courier New"/>
                <a:sym typeface="Courier New"/>
              </a:rPr>
              <a:t>   			item_two + \</a:t>
            </a:r>
            <a:endParaRPr b="1">
              <a:latin typeface="Courier New"/>
              <a:ea typeface="Courier New"/>
              <a:cs typeface="Courier New"/>
              <a:sym typeface="Courier New"/>
            </a:endParaRPr>
          </a:p>
          <a:p>
            <a:pPr indent="0" lvl="0" marL="457200" rtl="0" algn="l">
              <a:spcBef>
                <a:spcPts val="0"/>
              </a:spcBef>
              <a:spcAft>
                <a:spcPts val="0"/>
              </a:spcAft>
              <a:buClr>
                <a:schemeClr val="dk1"/>
              </a:buClr>
              <a:buSzPts val="1100"/>
              <a:buFont typeface="Arial"/>
              <a:buNone/>
            </a:pPr>
            <a:r>
              <a:rPr b="1" lang="en-GB">
                <a:latin typeface="Courier New"/>
                <a:ea typeface="Courier New"/>
                <a:cs typeface="Courier New"/>
                <a:sym typeface="Courier New"/>
              </a:rPr>
              <a:t>   				item_three</a:t>
            </a:r>
            <a:endParaRPr i="1">
              <a:latin typeface="Courier New"/>
              <a:ea typeface="Courier New"/>
              <a:cs typeface="Courier New"/>
              <a:sym typeface="Courier New"/>
            </a:endParaRPr>
          </a:p>
        </p:txBody>
      </p:sp>
      <p:sp>
        <p:nvSpPr>
          <p:cNvPr id="164" name="Google Shape;164;p37"/>
          <p:cNvSpPr txBox="1"/>
          <p:nvPr/>
        </p:nvSpPr>
        <p:spPr>
          <a:xfrm>
            <a:off x="1800225" y="3461350"/>
            <a:ext cx="6325200" cy="1176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434343"/>
              </a:buClr>
              <a:buSzPts val="2000"/>
              <a:buFont typeface="Montserrat"/>
              <a:buChar char="●"/>
            </a:pPr>
            <a:r>
              <a:rPr b="1" lang="en-GB" sz="2000">
                <a:solidFill>
                  <a:srgbClr val="434343"/>
                </a:solidFill>
                <a:latin typeface="Montserrat"/>
                <a:ea typeface="Montserrat"/>
                <a:cs typeface="Montserrat"/>
                <a:sym typeface="Montserrat"/>
              </a:rPr>
              <a:t>Conditionals: if, if..else, if..elif..else</a:t>
            </a:r>
            <a:endParaRPr b="1" sz="2000">
              <a:solidFill>
                <a:srgbClr val="434343"/>
              </a:solidFill>
              <a:latin typeface="Montserrat"/>
              <a:ea typeface="Montserrat"/>
              <a:cs typeface="Montserrat"/>
              <a:sym typeface="Montserrat"/>
            </a:endParaRPr>
          </a:p>
          <a:p>
            <a:pPr indent="-355600" lvl="0" marL="457200" rtl="0" algn="l">
              <a:spcBef>
                <a:spcPts val="0"/>
              </a:spcBef>
              <a:spcAft>
                <a:spcPts val="0"/>
              </a:spcAft>
              <a:buClr>
                <a:srgbClr val="434343"/>
              </a:buClr>
              <a:buSzPts val="2000"/>
              <a:buFont typeface="Montserrat"/>
              <a:buChar char="●"/>
            </a:pPr>
            <a:r>
              <a:rPr b="1" lang="en-GB" sz="2000">
                <a:solidFill>
                  <a:srgbClr val="434343"/>
                </a:solidFill>
                <a:latin typeface="Montserrat"/>
                <a:ea typeface="Montserrat"/>
                <a:cs typeface="Montserrat"/>
                <a:sym typeface="Montserrat"/>
              </a:rPr>
              <a:t> Loops: for, while</a:t>
            </a:r>
            <a:endParaRPr b="1" sz="2000">
              <a:solidFill>
                <a:srgbClr val="434343"/>
              </a:solidFill>
              <a:latin typeface="Montserrat"/>
              <a:ea typeface="Montserrat"/>
              <a:cs typeface="Montserrat"/>
              <a:sym typeface="Montserrat"/>
            </a:endParaRPr>
          </a:p>
        </p:txBody>
      </p:sp>
      <p:sp>
        <p:nvSpPr>
          <p:cNvPr id="165" name="Google Shape;165;p37"/>
          <p:cNvSpPr/>
          <p:nvPr/>
        </p:nvSpPr>
        <p:spPr>
          <a:xfrm>
            <a:off x="1792225" y="1867625"/>
            <a:ext cx="2790300" cy="295800"/>
          </a:xfrm>
          <a:prstGeom prst="rect">
            <a:avLst/>
          </a:prstGeom>
          <a:noFill/>
          <a:ln cap="flat" cmpd="sng" w="28575">
            <a:solidFill>
              <a:srgbClr val="2074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urier New"/>
              <a:ea typeface="Courier New"/>
              <a:cs typeface="Courier New"/>
              <a:sym typeface="Courier New"/>
            </a:endParaRPr>
          </a:p>
        </p:txBody>
      </p:sp>
      <p:sp>
        <p:nvSpPr>
          <p:cNvPr id="166" name="Google Shape;166;p37"/>
          <p:cNvSpPr/>
          <p:nvPr/>
        </p:nvSpPr>
        <p:spPr>
          <a:xfrm>
            <a:off x="1811500" y="2206250"/>
            <a:ext cx="5540100" cy="780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urier New"/>
              <a:ea typeface="Courier New"/>
              <a:cs typeface="Courier New"/>
              <a:sym typeface="Courier New"/>
            </a:endParaRPr>
          </a:p>
        </p:txBody>
      </p:sp>
      <p:sp>
        <p:nvSpPr>
          <p:cNvPr id="167" name="Google Shape;167;p37"/>
          <p:cNvSpPr txBox="1"/>
          <p:nvPr/>
        </p:nvSpPr>
        <p:spPr>
          <a:xfrm>
            <a:off x="4472825" y="2296650"/>
            <a:ext cx="243300" cy="5118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2000"/>
                                        <p:tgtEl>
                                          <p:spTgt spid="167"/>
                                        </p:tgtEl>
                                      </p:cBhvr>
                                    </p:animEffect>
                                  </p:childTnLst>
                                </p:cTn>
                              </p:par>
                              <p:par>
                                <p:cTn fill="hold" nodeType="withEffect" presetClass="exit" presetID="10" presetSubtype="0">
                                  <p:stCondLst>
                                    <p:cond delay="0"/>
                                  </p:stCondLst>
                                  <p:childTnLst>
                                    <p:animEffect filter="fade" transition="out">
                                      <p:cBhvr>
                                        <p:cTn dur="1000"/>
                                        <p:tgtEl>
                                          <p:spTgt spid="166"/>
                                        </p:tgtEl>
                                      </p:cBhvr>
                                    </p:animEffect>
                                    <p:set>
                                      <p:cBhvr>
                                        <p:cTn dur="1" fill="hold">
                                          <p:stCondLst>
                                            <p:cond delay="1000"/>
                                          </p:stCondLst>
                                        </p:cTn>
                                        <p:tgtEl>
                                          <p:spTgt spid="1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7"/>
                                        </p:tgtEl>
                                      </p:cBhvr>
                                    </p:animEffect>
                                    <p:set>
                                      <p:cBhvr>
                                        <p:cTn dur="1" fill="hold">
                                          <p:stCondLst>
                                            <p:cond delay="1000"/>
                                          </p:stCondLst>
                                        </p:cTn>
                                        <p:tgtEl>
                                          <p:spTgt spid="1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8"/>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lang="en-GB"/>
              <a:t>conditional statements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a:t>
            </a:r>
            <a:r>
              <a:rPr b="1" lang="en-GB"/>
              <a:t> </a:t>
            </a:r>
            <a:r>
              <a:rPr lang="en-GB"/>
              <a:t>statement</a:t>
            </a:r>
            <a:endParaRPr/>
          </a:p>
        </p:txBody>
      </p:sp>
      <p:grpSp>
        <p:nvGrpSpPr>
          <p:cNvPr id="178" name="Google Shape;178;p39"/>
          <p:cNvGrpSpPr/>
          <p:nvPr/>
        </p:nvGrpSpPr>
        <p:grpSpPr>
          <a:xfrm>
            <a:off x="4222425" y="2312500"/>
            <a:ext cx="1282686" cy="1119914"/>
            <a:chOff x="2114732" y="2489157"/>
            <a:chExt cx="3613200" cy="986100"/>
          </a:xfrm>
        </p:grpSpPr>
        <p:sp>
          <p:nvSpPr>
            <p:cNvPr id="179" name="Google Shape;179;p39"/>
            <p:cNvSpPr/>
            <p:nvPr/>
          </p:nvSpPr>
          <p:spPr>
            <a:xfrm>
              <a:off x="2114732" y="2489157"/>
              <a:ext cx="801600" cy="946200"/>
            </a:xfrm>
            <a:prstGeom prst="rightBrace">
              <a:avLst>
                <a:gd fmla="val 50000" name="adj1"/>
                <a:gd fmla="val 50000" name="adj2"/>
              </a:avLst>
            </a:prstGeom>
            <a:noFill/>
            <a:ln cap="flat" cmpd="sng" w="28575">
              <a:solidFill>
                <a:srgbClr val="2074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 name="Google Shape;180;p39"/>
            <p:cNvCxnSpPr>
              <a:stCxn id="179" idx="1"/>
            </p:cNvCxnSpPr>
            <p:nvPr/>
          </p:nvCxnSpPr>
          <p:spPr>
            <a:xfrm>
              <a:off x="2916332" y="2962257"/>
              <a:ext cx="2811600" cy="513000"/>
            </a:xfrm>
            <a:prstGeom prst="straightConnector1">
              <a:avLst/>
            </a:prstGeom>
            <a:noFill/>
            <a:ln cap="flat" cmpd="sng" w="38100">
              <a:solidFill>
                <a:srgbClr val="2074B9"/>
              </a:solidFill>
              <a:prstDash val="solid"/>
              <a:round/>
              <a:headEnd len="med" w="med" type="stealth"/>
              <a:tailEnd len="med" w="med" type="none"/>
            </a:ln>
          </p:spPr>
        </p:cxnSp>
      </p:grpSp>
      <p:grpSp>
        <p:nvGrpSpPr>
          <p:cNvPr id="181" name="Google Shape;181;p39"/>
          <p:cNvGrpSpPr/>
          <p:nvPr/>
        </p:nvGrpSpPr>
        <p:grpSpPr>
          <a:xfrm>
            <a:off x="304800" y="1178614"/>
            <a:ext cx="7945010" cy="3595886"/>
            <a:chOff x="304800" y="1178614"/>
            <a:chExt cx="7945010" cy="3595886"/>
          </a:xfrm>
        </p:grpSpPr>
        <p:grpSp>
          <p:nvGrpSpPr>
            <p:cNvPr id="182" name="Google Shape;182;p39"/>
            <p:cNvGrpSpPr/>
            <p:nvPr/>
          </p:nvGrpSpPr>
          <p:grpSpPr>
            <a:xfrm>
              <a:off x="304800" y="1178614"/>
              <a:ext cx="7945010" cy="3191790"/>
              <a:chOff x="304800" y="1178614"/>
              <a:chExt cx="7945010" cy="3191790"/>
            </a:xfrm>
          </p:grpSpPr>
          <p:grpSp>
            <p:nvGrpSpPr>
              <p:cNvPr id="183" name="Google Shape;183;p39"/>
              <p:cNvGrpSpPr/>
              <p:nvPr/>
            </p:nvGrpSpPr>
            <p:grpSpPr>
              <a:xfrm>
                <a:off x="5603210" y="1178614"/>
                <a:ext cx="2646600" cy="3191790"/>
                <a:chOff x="40610" y="1178614"/>
                <a:chExt cx="2646600" cy="3191790"/>
              </a:xfrm>
            </p:grpSpPr>
            <p:sp>
              <p:nvSpPr>
                <p:cNvPr id="184" name="Google Shape;184;p39"/>
                <p:cNvSpPr/>
                <p:nvPr/>
              </p:nvSpPr>
              <p:spPr>
                <a:xfrm>
                  <a:off x="40610" y="1629214"/>
                  <a:ext cx="1632000" cy="1338600"/>
                </a:xfrm>
                <a:prstGeom prst="diamond">
                  <a:avLst/>
                </a:prstGeom>
                <a:solidFill>
                  <a:srgbClr val="CC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1200">
                      <a:latin typeface="Montserrat"/>
                      <a:ea typeface="Montserrat"/>
                      <a:cs typeface="Montserrat"/>
                      <a:sym typeface="Montserrat"/>
                    </a:rPr>
                    <a:t>Test Condition </a:t>
                  </a:r>
                  <a:endParaRPr b="1" sz="1200">
                    <a:latin typeface="Montserrat"/>
                    <a:ea typeface="Montserrat"/>
                    <a:cs typeface="Montserrat"/>
                    <a:sym typeface="Montserrat"/>
                  </a:endParaRPr>
                </a:p>
              </p:txBody>
            </p:sp>
            <p:cxnSp>
              <p:nvCxnSpPr>
                <p:cNvPr id="185" name="Google Shape;185;p39"/>
                <p:cNvCxnSpPr>
                  <a:endCxn id="184" idx="0"/>
                </p:cNvCxnSpPr>
                <p:nvPr/>
              </p:nvCxnSpPr>
              <p:spPr>
                <a:xfrm>
                  <a:off x="856610" y="1178614"/>
                  <a:ext cx="0" cy="450600"/>
                </a:xfrm>
                <a:prstGeom prst="straightConnector1">
                  <a:avLst/>
                </a:prstGeom>
                <a:noFill/>
                <a:ln cap="flat" cmpd="sng" w="28575">
                  <a:solidFill>
                    <a:schemeClr val="dk2"/>
                  </a:solidFill>
                  <a:prstDash val="solid"/>
                  <a:round/>
                  <a:headEnd len="med" w="med" type="none"/>
                  <a:tailEnd len="med" w="med" type="stealth"/>
                </a:ln>
              </p:spPr>
            </p:cxnSp>
            <p:sp>
              <p:nvSpPr>
                <p:cNvPr id="186" name="Google Shape;186;p39"/>
                <p:cNvSpPr/>
                <p:nvPr/>
              </p:nvSpPr>
              <p:spPr>
                <a:xfrm>
                  <a:off x="40610" y="3437704"/>
                  <a:ext cx="1632000" cy="3819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latin typeface="Montserrat"/>
                      <a:ea typeface="Montserrat"/>
                      <a:cs typeface="Montserrat"/>
                      <a:sym typeface="Montserrat"/>
                    </a:rPr>
                    <a:t>Body of if</a:t>
                  </a:r>
                  <a:endParaRPr b="1" sz="1300">
                    <a:latin typeface="Montserrat"/>
                    <a:ea typeface="Montserrat"/>
                    <a:cs typeface="Montserrat"/>
                    <a:sym typeface="Montserrat"/>
                  </a:endParaRPr>
                </a:p>
              </p:txBody>
            </p:sp>
            <p:cxnSp>
              <p:nvCxnSpPr>
                <p:cNvPr id="187" name="Google Shape;187;p39"/>
                <p:cNvCxnSpPr>
                  <a:stCxn id="184" idx="3"/>
                </p:cNvCxnSpPr>
                <p:nvPr/>
              </p:nvCxnSpPr>
              <p:spPr>
                <a:xfrm>
                  <a:off x="1672610" y="2298514"/>
                  <a:ext cx="1014600" cy="1716600"/>
                </a:xfrm>
                <a:prstGeom prst="bentConnector2">
                  <a:avLst/>
                </a:prstGeom>
                <a:noFill/>
                <a:ln cap="flat" cmpd="sng" w="28575">
                  <a:solidFill>
                    <a:schemeClr val="dk2"/>
                  </a:solidFill>
                  <a:prstDash val="solid"/>
                  <a:round/>
                  <a:headEnd len="med" w="med" type="none"/>
                  <a:tailEnd len="med" w="med" type="none"/>
                </a:ln>
              </p:spPr>
            </p:cxnSp>
            <p:cxnSp>
              <p:nvCxnSpPr>
                <p:cNvPr id="188" name="Google Shape;188;p39"/>
                <p:cNvCxnSpPr/>
                <p:nvPr/>
              </p:nvCxnSpPr>
              <p:spPr>
                <a:xfrm flipH="1">
                  <a:off x="897845" y="4025914"/>
                  <a:ext cx="1789200" cy="10800"/>
                </a:xfrm>
                <a:prstGeom prst="straightConnector1">
                  <a:avLst/>
                </a:prstGeom>
                <a:noFill/>
                <a:ln cap="flat" cmpd="sng" w="28575">
                  <a:solidFill>
                    <a:schemeClr val="dk2"/>
                  </a:solidFill>
                  <a:prstDash val="solid"/>
                  <a:round/>
                  <a:headEnd len="med" w="med" type="none"/>
                  <a:tailEnd len="med" w="med" type="stealth"/>
                </a:ln>
              </p:spPr>
            </p:cxnSp>
            <p:sp>
              <p:nvSpPr>
                <p:cNvPr id="189" name="Google Shape;189;p39"/>
                <p:cNvSpPr txBox="1"/>
                <p:nvPr/>
              </p:nvSpPr>
              <p:spPr>
                <a:xfrm>
                  <a:off x="1879737" y="1985827"/>
                  <a:ext cx="7308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latin typeface="Montserrat"/>
                      <a:ea typeface="Montserrat"/>
                      <a:cs typeface="Montserrat"/>
                      <a:sym typeface="Montserrat"/>
                    </a:rPr>
                    <a:t>False</a:t>
                  </a:r>
                  <a:endParaRPr b="1" sz="1300">
                    <a:latin typeface="Montserrat"/>
                    <a:ea typeface="Montserrat"/>
                    <a:cs typeface="Montserrat"/>
                    <a:sym typeface="Montserrat"/>
                  </a:endParaRPr>
                </a:p>
              </p:txBody>
            </p:sp>
            <p:sp>
              <p:nvSpPr>
                <p:cNvPr id="190" name="Google Shape;190;p39"/>
                <p:cNvSpPr txBox="1"/>
                <p:nvPr/>
              </p:nvSpPr>
              <p:spPr>
                <a:xfrm>
                  <a:off x="961634" y="2986361"/>
                  <a:ext cx="6057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latin typeface="Montserrat"/>
                      <a:ea typeface="Montserrat"/>
                      <a:cs typeface="Montserrat"/>
                      <a:sym typeface="Montserrat"/>
                    </a:rPr>
                    <a:t>True</a:t>
                  </a:r>
                  <a:endParaRPr b="1" sz="1300">
                    <a:latin typeface="Montserrat"/>
                    <a:ea typeface="Montserrat"/>
                    <a:cs typeface="Montserrat"/>
                    <a:sym typeface="Montserrat"/>
                  </a:endParaRPr>
                </a:p>
              </p:txBody>
            </p:sp>
            <p:cxnSp>
              <p:nvCxnSpPr>
                <p:cNvPr id="191" name="Google Shape;191;p39"/>
                <p:cNvCxnSpPr>
                  <a:stCxn id="184" idx="2"/>
                </p:cNvCxnSpPr>
                <p:nvPr/>
              </p:nvCxnSpPr>
              <p:spPr>
                <a:xfrm>
                  <a:off x="856610" y="2967814"/>
                  <a:ext cx="0" cy="469800"/>
                </a:xfrm>
                <a:prstGeom prst="straightConnector1">
                  <a:avLst/>
                </a:prstGeom>
                <a:noFill/>
                <a:ln cap="flat" cmpd="sng" w="28575">
                  <a:solidFill>
                    <a:schemeClr val="dk2"/>
                  </a:solidFill>
                  <a:prstDash val="solid"/>
                  <a:round/>
                  <a:headEnd len="med" w="med" type="none"/>
                  <a:tailEnd len="med" w="med" type="stealth"/>
                </a:ln>
              </p:spPr>
            </p:cxnSp>
            <p:cxnSp>
              <p:nvCxnSpPr>
                <p:cNvPr id="192" name="Google Shape;192;p39"/>
                <p:cNvCxnSpPr>
                  <a:stCxn id="186" idx="2"/>
                </p:cNvCxnSpPr>
                <p:nvPr/>
              </p:nvCxnSpPr>
              <p:spPr>
                <a:xfrm>
                  <a:off x="856610" y="3819604"/>
                  <a:ext cx="0" cy="550800"/>
                </a:xfrm>
                <a:prstGeom prst="straightConnector1">
                  <a:avLst/>
                </a:prstGeom>
                <a:noFill/>
                <a:ln cap="flat" cmpd="sng" w="28575">
                  <a:solidFill>
                    <a:schemeClr val="dk2"/>
                  </a:solidFill>
                  <a:prstDash val="solid"/>
                  <a:round/>
                  <a:headEnd len="med" w="med" type="none"/>
                  <a:tailEnd len="med" w="med" type="stealth"/>
                </a:ln>
              </p:spPr>
            </p:cxnSp>
          </p:grpSp>
          <p:sp>
            <p:nvSpPr>
              <p:cNvPr id="193" name="Google Shape;193;p39"/>
              <p:cNvSpPr txBox="1"/>
              <p:nvPr/>
            </p:nvSpPr>
            <p:spPr>
              <a:xfrm>
                <a:off x="304800" y="1600200"/>
                <a:ext cx="4333800" cy="1965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GB" sz="1800">
                    <a:solidFill>
                      <a:schemeClr val="dk1"/>
                    </a:solidFill>
                    <a:highlight>
                      <a:srgbClr val="FFFFFE"/>
                    </a:highlight>
                    <a:latin typeface="Montserrat"/>
                    <a:ea typeface="Montserrat"/>
                    <a:cs typeface="Montserrat"/>
                    <a:sym typeface="Montserrat"/>
                  </a:rPr>
                  <a:t>Syntax</a:t>
                </a:r>
                <a:endParaRPr b="1" sz="1800">
                  <a:solidFill>
                    <a:schemeClr val="dk1"/>
                  </a:solidFill>
                  <a:highlight>
                    <a:srgbClr val="FFFFFE"/>
                  </a:highlight>
                  <a:latin typeface="Montserrat"/>
                  <a:ea typeface="Montserrat"/>
                  <a:cs typeface="Montserrat"/>
                  <a:sym typeface="Montserrat"/>
                </a:endParaRPr>
              </a:p>
              <a:p>
                <a:pPr indent="0" lvl="0" marL="0" rtl="0" algn="l">
                  <a:lnSpc>
                    <a:spcPct val="135714"/>
                  </a:lnSpc>
                  <a:spcBef>
                    <a:spcPts val="0"/>
                  </a:spcBef>
                  <a:spcAft>
                    <a:spcPts val="0"/>
                  </a:spcAft>
                  <a:buNone/>
                </a:pPr>
                <a:r>
                  <a:rPr lang="en-GB" sz="1800">
                    <a:solidFill>
                      <a:srgbClr val="AF00DB"/>
                    </a:solidFill>
                    <a:highlight>
                      <a:srgbClr val="FFFFFE"/>
                    </a:highlight>
                    <a:latin typeface="Courier New"/>
                    <a:ea typeface="Courier New"/>
                    <a:cs typeface="Courier New"/>
                    <a:sym typeface="Courier New"/>
                  </a:rPr>
                  <a:t>if</a:t>
                </a:r>
                <a:r>
                  <a:rPr lang="en-GB" sz="1800">
                    <a:solidFill>
                      <a:schemeClr val="dk1"/>
                    </a:solidFill>
                    <a:highlight>
                      <a:srgbClr val="FFFFFE"/>
                    </a:highlight>
                    <a:latin typeface="Courier New"/>
                    <a:ea typeface="Courier New"/>
                    <a:cs typeface="Courier New"/>
                    <a:sym typeface="Courier New"/>
                  </a:rPr>
                  <a:t> age &gt; 18:</a:t>
                </a:r>
                <a:endParaRPr sz="1800">
                  <a:solidFill>
                    <a:schemeClr val="dk1"/>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“you can enter”</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“Enjoy your party”</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800">
                  <a:solidFill>
                    <a:srgbClr val="795E26"/>
                  </a:solidFill>
                  <a:highlight>
                    <a:srgbClr val="FFFFFE"/>
                  </a:highlight>
                  <a:latin typeface="Courier New"/>
                  <a:ea typeface="Courier New"/>
                  <a:cs typeface="Courier New"/>
                  <a:sym typeface="Courier New"/>
                </a:endParaRPr>
              </a:p>
            </p:txBody>
          </p:sp>
        </p:grpSp>
        <p:sp>
          <p:nvSpPr>
            <p:cNvPr id="194" name="Google Shape;194;p39"/>
            <p:cNvSpPr txBox="1"/>
            <p:nvPr/>
          </p:nvSpPr>
          <p:spPr>
            <a:xfrm>
              <a:off x="5003975" y="4312800"/>
              <a:ext cx="316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latin typeface="Montserrat"/>
                  <a:ea typeface="Montserrat"/>
                  <a:cs typeface="Montserrat"/>
                  <a:sym typeface="Montserrat"/>
                </a:rPr>
                <a:t>Flowchart</a:t>
              </a:r>
              <a:endParaRPr b="1" sz="1800">
                <a:latin typeface="Montserrat"/>
                <a:ea typeface="Montserrat"/>
                <a:cs typeface="Montserrat"/>
                <a:sym typeface="Montserrat"/>
              </a:endParaRPr>
            </a:p>
          </p:txBody>
        </p:sp>
      </p:grpSp>
      <p:grpSp>
        <p:nvGrpSpPr>
          <p:cNvPr id="195" name="Google Shape;195;p39"/>
          <p:cNvGrpSpPr/>
          <p:nvPr/>
        </p:nvGrpSpPr>
        <p:grpSpPr>
          <a:xfrm>
            <a:off x="740050" y="1625650"/>
            <a:ext cx="5127044" cy="812375"/>
            <a:chOff x="740058" y="1625650"/>
            <a:chExt cx="5133204" cy="812375"/>
          </a:xfrm>
        </p:grpSpPr>
        <p:sp>
          <p:nvSpPr>
            <p:cNvPr id="196" name="Google Shape;196;p39"/>
            <p:cNvSpPr txBox="1"/>
            <p:nvPr/>
          </p:nvSpPr>
          <p:spPr>
            <a:xfrm>
              <a:off x="740058" y="2037825"/>
              <a:ext cx="1365300" cy="4002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97" name="Google Shape;197;p39"/>
            <p:cNvSpPr/>
            <p:nvPr/>
          </p:nvSpPr>
          <p:spPr>
            <a:xfrm>
              <a:off x="2035487" y="1625650"/>
              <a:ext cx="3837775" cy="368075"/>
            </a:xfrm>
            <a:custGeom>
              <a:rect b="b" l="l" r="r" t="t"/>
              <a:pathLst>
                <a:path extrusionOk="0" h="14723" w="153511">
                  <a:moveTo>
                    <a:pt x="0" y="14723"/>
                  </a:moveTo>
                  <a:lnTo>
                    <a:pt x="13715" y="0"/>
                  </a:lnTo>
                  <a:lnTo>
                    <a:pt x="127795" y="660"/>
                  </a:lnTo>
                  <a:lnTo>
                    <a:pt x="153511" y="11870"/>
                  </a:lnTo>
                </a:path>
              </a:pathLst>
            </a:custGeom>
            <a:noFill/>
            <a:ln cap="flat" cmpd="sng" w="28575">
              <a:solidFill>
                <a:schemeClr val="accent3"/>
              </a:solidFill>
              <a:prstDash val="solid"/>
              <a:round/>
              <a:headEnd len="med" w="med" type="stealth"/>
              <a:tailEnd len="med" w="med" type="none"/>
            </a:ln>
          </p:spPr>
        </p:sp>
      </p:grpSp>
      <p:sp>
        <p:nvSpPr>
          <p:cNvPr id="198" name="Google Shape;198;p39"/>
          <p:cNvSpPr txBox="1"/>
          <p:nvPr/>
        </p:nvSpPr>
        <p:spPr>
          <a:xfrm>
            <a:off x="2500600" y="1102850"/>
            <a:ext cx="1476300" cy="471600"/>
          </a:xfrm>
          <a:prstGeom prst="rect">
            <a:avLst/>
          </a:prstGeom>
          <a:noFill/>
          <a:ln>
            <a:noFill/>
          </a:ln>
        </p:spPr>
        <p:txBody>
          <a:bodyPr anchorCtr="0" anchor="t" bIns="0" lIns="54000" spcFirstLastPara="1" rIns="91425" wrap="square" tIns="0">
            <a:noAutofit/>
          </a:bodyPr>
          <a:lstStyle/>
          <a:p>
            <a:pPr indent="0" lvl="0" marL="0" rtl="0" algn="l">
              <a:spcBef>
                <a:spcPts val="0"/>
              </a:spcBef>
              <a:spcAft>
                <a:spcPts val="0"/>
              </a:spcAft>
              <a:buNone/>
            </a:pPr>
            <a:r>
              <a:rPr b="1" lang="en-GB" sz="1500">
                <a:latin typeface="Montserrat"/>
                <a:ea typeface="Montserrat"/>
                <a:cs typeface="Montserrat"/>
                <a:sym typeface="Montserrat"/>
              </a:rPr>
              <a:t>Age = 19</a:t>
            </a:r>
            <a:endParaRPr b="1" sz="1500">
              <a:latin typeface="Montserrat"/>
              <a:ea typeface="Montserrat"/>
              <a:cs typeface="Montserrat"/>
              <a:sym typeface="Montserrat"/>
            </a:endParaRPr>
          </a:p>
          <a:p>
            <a:pPr indent="0" lvl="0" marL="0" rtl="0" algn="l">
              <a:spcBef>
                <a:spcPts val="0"/>
              </a:spcBef>
              <a:spcAft>
                <a:spcPts val="0"/>
              </a:spcAft>
              <a:buNone/>
            </a:pPr>
            <a:r>
              <a:rPr b="1" lang="en-GB" sz="1500">
                <a:solidFill>
                  <a:schemeClr val="accent3"/>
                </a:solidFill>
                <a:latin typeface="Montserrat"/>
                <a:ea typeface="Montserrat"/>
                <a:cs typeface="Montserrat"/>
                <a:sym typeface="Montserrat"/>
              </a:rPr>
              <a:t>True</a:t>
            </a:r>
            <a:endParaRPr b="1" sz="1500">
              <a:solidFill>
                <a:schemeClr val="accent3"/>
              </a:solidFill>
              <a:latin typeface="Montserrat"/>
              <a:ea typeface="Montserrat"/>
              <a:cs typeface="Montserrat"/>
              <a:sym typeface="Montserrat"/>
            </a:endParaRPr>
          </a:p>
        </p:txBody>
      </p:sp>
      <p:grpSp>
        <p:nvGrpSpPr>
          <p:cNvPr id="199" name="Google Shape;199;p39"/>
          <p:cNvGrpSpPr/>
          <p:nvPr/>
        </p:nvGrpSpPr>
        <p:grpSpPr>
          <a:xfrm>
            <a:off x="191675" y="3203900"/>
            <a:ext cx="891000" cy="492075"/>
            <a:chOff x="191675" y="3203900"/>
            <a:chExt cx="891000" cy="492075"/>
          </a:xfrm>
        </p:grpSpPr>
        <p:sp>
          <p:nvSpPr>
            <p:cNvPr id="200" name="Google Shape;200;p39"/>
            <p:cNvSpPr/>
            <p:nvPr/>
          </p:nvSpPr>
          <p:spPr>
            <a:xfrm rot="5400000">
              <a:off x="470000" y="3010700"/>
              <a:ext cx="117900" cy="504300"/>
            </a:xfrm>
            <a:prstGeom prst="rightBrace">
              <a:avLst>
                <a:gd fmla="val 50000" name="adj1"/>
                <a:gd fmla="val 50000" name="adj2"/>
              </a:avLst>
            </a:prstGeom>
            <a:noFill/>
            <a:ln cap="flat" cmpd="sng" w="38100">
              <a:solidFill>
                <a:srgbClr val="0000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9"/>
            <p:cNvSpPr txBox="1"/>
            <p:nvPr/>
          </p:nvSpPr>
          <p:spPr>
            <a:xfrm>
              <a:off x="191675" y="3295775"/>
              <a:ext cx="89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Montserrat"/>
                  <a:ea typeface="Montserrat"/>
                  <a:cs typeface="Montserrat"/>
                  <a:sym typeface="Montserrat"/>
                </a:rPr>
                <a:t>Indent</a:t>
              </a:r>
              <a:endParaRPr b="1">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95"/>
                                        </p:tgtEl>
                                      </p:cBhvr>
                                    </p:animEffect>
                                    <p:set>
                                      <p:cBhvr>
                                        <p:cTn dur="1" fill="hold">
                                          <p:stCondLst>
                                            <p:cond delay="1000"/>
                                          </p:stCondLst>
                                        </p:cTn>
                                        <p:tgtEl>
                                          <p:spTgt spid="19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78"/>
                                        </p:tgtEl>
                                      </p:cBhvr>
                                    </p:animEffect>
                                    <p:set>
                                      <p:cBhvr>
                                        <p:cTn dur="1" fill="hold">
                                          <p:stCondLst>
                                            <p:cond delay="1000"/>
                                          </p:stCondLst>
                                        </p:cTn>
                                        <p:tgtEl>
                                          <p:spTgt spid="17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xit" presetID="10" presetSubtype="0">
                                  <p:stCondLst>
                                    <p:cond delay="0"/>
                                  </p:stCondLst>
                                  <p:childTnLst>
                                    <p:animEffect filter="fade" transition="out">
                                      <p:cBhvr>
                                        <p:cTn dur="1000"/>
                                        <p:tgtEl>
                                          <p:spTgt spid="199"/>
                                        </p:tgtEl>
                                      </p:cBhvr>
                                    </p:animEffect>
                                    <p:set>
                                      <p:cBhvr>
                                        <p:cTn dur="1" fill="hold">
                                          <p:stCondLst>
                                            <p:cond delay="1000"/>
                                          </p:stCondLst>
                                        </p:cTn>
                                        <p:tgtEl>
                                          <p:spTgt spid="1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0"/>
          <p:cNvSpPr txBox="1"/>
          <p:nvPr/>
        </p:nvSpPr>
        <p:spPr>
          <a:xfrm>
            <a:off x="3212925" y="1181325"/>
            <a:ext cx="142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accent3"/>
                </a:solidFill>
                <a:latin typeface="Courier New"/>
                <a:ea typeface="Courier New"/>
                <a:cs typeface="Courier New"/>
                <a:sym typeface="Courier New"/>
              </a:rPr>
              <a:t>False</a:t>
            </a:r>
            <a:endParaRPr b="1" sz="1600">
              <a:solidFill>
                <a:schemeClr val="accent3"/>
              </a:solidFill>
              <a:latin typeface="Courier New"/>
              <a:ea typeface="Courier New"/>
              <a:cs typeface="Courier New"/>
              <a:sym typeface="Courier New"/>
            </a:endParaRPr>
          </a:p>
        </p:txBody>
      </p:sp>
      <p:grpSp>
        <p:nvGrpSpPr>
          <p:cNvPr id="207" name="Google Shape;207;p40"/>
          <p:cNvGrpSpPr/>
          <p:nvPr/>
        </p:nvGrpSpPr>
        <p:grpSpPr>
          <a:xfrm>
            <a:off x="5603200" y="1186002"/>
            <a:ext cx="2646600" cy="3177011"/>
            <a:chOff x="6343100" y="1178714"/>
            <a:chExt cx="2646600" cy="3177011"/>
          </a:xfrm>
        </p:grpSpPr>
        <p:grpSp>
          <p:nvGrpSpPr>
            <p:cNvPr id="208" name="Google Shape;208;p40"/>
            <p:cNvGrpSpPr/>
            <p:nvPr/>
          </p:nvGrpSpPr>
          <p:grpSpPr>
            <a:xfrm>
              <a:off x="6343100" y="1178714"/>
              <a:ext cx="2646600" cy="3177011"/>
              <a:chOff x="6354450" y="1178614"/>
              <a:chExt cx="2646600" cy="3177011"/>
            </a:xfrm>
          </p:grpSpPr>
          <p:grpSp>
            <p:nvGrpSpPr>
              <p:cNvPr id="209" name="Google Shape;209;p40"/>
              <p:cNvGrpSpPr/>
              <p:nvPr/>
            </p:nvGrpSpPr>
            <p:grpSpPr>
              <a:xfrm>
                <a:off x="6354450" y="1178614"/>
                <a:ext cx="2646600" cy="3177011"/>
                <a:chOff x="6354450" y="1483414"/>
                <a:chExt cx="2646600" cy="3177011"/>
              </a:xfrm>
            </p:grpSpPr>
            <p:sp>
              <p:nvSpPr>
                <p:cNvPr id="210" name="Google Shape;210;p40"/>
                <p:cNvSpPr/>
                <p:nvPr/>
              </p:nvSpPr>
              <p:spPr>
                <a:xfrm>
                  <a:off x="6354450" y="1934014"/>
                  <a:ext cx="1632000" cy="1338600"/>
                </a:xfrm>
                <a:prstGeom prst="diamond">
                  <a:avLst/>
                </a:prstGeom>
                <a:solidFill>
                  <a:srgbClr val="2074B9"/>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sz="1200">
                      <a:latin typeface="Montserrat"/>
                      <a:ea typeface="Montserrat"/>
                      <a:cs typeface="Montserrat"/>
                      <a:sym typeface="Montserrat"/>
                    </a:rPr>
                    <a:t>Test</a:t>
                  </a:r>
                  <a:r>
                    <a:rPr b="1" lang="en-GB" sz="1200">
                      <a:latin typeface="Montserrat"/>
                      <a:ea typeface="Montserrat"/>
                      <a:cs typeface="Montserrat"/>
                      <a:sym typeface="Montserrat"/>
                    </a:rPr>
                    <a:t> Condition </a:t>
                  </a:r>
                  <a:endParaRPr b="1" sz="1200">
                    <a:latin typeface="Montserrat"/>
                    <a:ea typeface="Montserrat"/>
                    <a:cs typeface="Montserrat"/>
                    <a:sym typeface="Montserrat"/>
                  </a:endParaRPr>
                </a:p>
              </p:txBody>
            </p:sp>
            <p:cxnSp>
              <p:nvCxnSpPr>
                <p:cNvPr id="211" name="Google Shape;211;p40"/>
                <p:cNvCxnSpPr>
                  <a:endCxn id="210" idx="0"/>
                </p:cNvCxnSpPr>
                <p:nvPr/>
              </p:nvCxnSpPr>
              <p:spPr>
                <a:xfrm>
                  <a:off x="7170450" y="1483414"/>
                  <a:ext cx="0" cy="450600"/>
                </a:xfrm>
                <a:prstGeom prst="straightConnector1">
                  <a:avLst/>
                </a:prstGeom>
                <a:noFill/>
                <a:ln cap="flat" cmpd="sng" w="28575">
                  <a:solidFill>
                    <a:schemeClr val="accent1"/>
                  </a:solidFill>
                  <a:prstDash val="solid"/>
                  <a:round/>
                  <a:headEnd len="med" w="med" type="none"/>
                  <a:tailEnd len="med" w="med" type="stealth"/>
                </a:ln>
              </p:spPr>
            </p:cxnSp>
            <p:sp>
              <p:nvSpPr>
                <p:cNvPr id="212" name="Google Shape;212;p40"/>
                <p:cNvSpPr/>
                <p:nvPr/>
              </p:nvSpPr>
              <p:spPr>
                <a:xfrm>
                  <a:off x="6354450" y="3742504"/>
                  <a:ext cx="1632000" cy="381900"/>
                </a:xfrm>
                <a:prstGeom prst="rect">
                  <a:avLst/>
                </a:prstGeom>
                <a:solidFill>
                  <a:srgbClr val="EFEFE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latin typeface="Montserrat"/>
                      <a:ea typeface="Montserrat"/>
                      <a:cs typeface="Montserrat"/>
                      <a:sym typeface="Montserrat"/>
                    </a:rPr>
                    <a:t>Body of if</a:t>
                  </a:r>
                  <a:endParaRPr b="1" sz="1300">
                    <a:latin typeface="Montserrat"/>
                    <a:ea typeface="Montserrat"/>
                    <a:cs typeface="Montserrat"/>
                    <a:sym typeface="Montserrat"/>
                  </a:endParaRPr>
                </a:p>
              </p:txBody>
            </p:sp>
            <p:cxnSp>
              <p:nvCxnSpPr>
                <p:cNvPr id="213" name="Google Shape;213;p40"/>
                <p:cNvCxnSpPr>
                  <a:stCxn id="210" idx="3"/>
                </p:cNvCxnSpPr>
                <p:nvPr/>
              </p:nvCxnSpPr>
              <p:spPr>
                <a:xfrm>
                  <a:off x="7986450" y="2603314"/>
                  <a:ext cx="1014600" cy="1716600"/>
                </a:xfrm>
                <a:prstGeom prst="bentConnector2">
                  <a:avLst/>
                </a:prstGeom>
                <a:noFill/>
                <a:ln cap="flat" cmpd="sng" w="28575">
                  <a:solidFill>
                    <a:schemeClr val="accent1"/>
                  </a:solidFill>
                  <a:prstDash val="solid"/>
                  <a:round/>
                  <a:headEnd len="med" w="med" type="none"/>
                  <a:tailEnd len="med" w="med" type="none"/>
                </a:ln>
              </p:spPr>
            </p:cxnSp>
            <p:cxnSp>
              <p:nvCxnSpPr>
                <p:cNvPr id="214" name="Google Shape;214;p40"/>
                <p:cNvCxnSpPr/>
                <p:nvPr/>
              </p:nvCxnSpPr>
              <p:spPr>
                <a:xfrm rot="10800000">
                  <a:off x="7163385" y="4319614"/>
                  <a:ext cx="1837500" cy="11100"/>
                </a:xfrm>
                <a:prstGeom prst="straightConnector1">
                  <a:avLst/>
                </a:prstGeom>
                <a:noFill/>
                <a:ln cap="flat" cmpd="sng" w="28575">
                  <a:solidFill>
                    <a:schemeClr val="accent1"/>
                  </a:solidFill>
                  <a:prstDash val="solid"/>
                  <a:round/>
                  <a:headEnd len="med" w="med" type="none"/>
                  <a:tailEnd len="med" w="med" type="stealth"/>
                </a:ln>
              </p:spPr>
            </p:cxnSp>
            <p:sp>
              <p:nvSpPr>
                <p:cNvPr id="215" name="Google Shape;215;p40"/>
                <p:cNvSpPr txBox="1"/>
                <p:nvPr/>
              </p:nvSpPr>
              <p:spPr>
                <a:xfrm>
                  <a:off x="8193577" y="2290627"/>
                  <a:ext cx="7308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latin typeface="Montserrat"/>
                      <a:ea typeface="Montserrat"/>
                      <a:cs typeface="Montserrat"/>
                      <a:sym typeface="Montserrat"/>
                    </a:rPr>
                    <a:t>False</a:t>
                  </a:r>
                  <a:endParaRPr b="1" sz="1300">
                    <a:latin typeface="Montserrat"/>
                    <a:ea typeface="Montserrat"/>
                    <a:cs typeface="Montserrat"/>
                    <a:sym typeface="Montserrat"/>
                  </a:endParaRPr>
                </a:p>
              </p:txBody>
            </p:sp>
            <p:sp>
              <p:nvSpPr>
                <p:cNvPr id="216" name="Google Shape;216;p40"/>
                <p:cNvSpPr txBox="1"/>
                <p:nvPr/>
              </p:nvSpPr>
              <p:spPr>
                <a:xfrm>
                  <a:off x="7275473" y="3291161"/>
                  <a:ext cx="6057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latin typeface="Montserrat"/>
                      <a:ea typeface="Montserrat"/>
                      <a:cs typeface="Montserrat"/>
                      <a:sym typeface="Montserrat"/>
                    </a:rPr>
                    <a:t>True</a:t>
                  </a:r>
                  <a:endParaRPr b="1" sz="1300">
                    <a:latin typeface="Montserrat"/>
                    <a:ea typeface="Montserrat"/>
                    <a:cs typeface="Montserrat"/>
                    <a:sym typeface="Montserrat"/>
                  </a:endParaRPr>
                </a:p>
              </p:txBody>
            </p:sp>
            <p:cxnSp>
              <p:nvCxnSpPr>
                <p:cNvPr id="217" name="Google Shape;217;p40"/>
                <p:cNvCxnSpPr>
                  <a:stCxn id="210" idx="2"/>
                </p:cNvCxnSpPr>
                <p:nvPr/>
              </p:nvCxnSpPr>
              <p:spPr>
                <a:xfrm>
                  <a:off x="7170450" y="3272614"/>
                  <a:ext cx="0" cy="469800"/>
                </a:xfrm>
                <a:prstGeom prst="straightConnector1">
                  <a:avLst/>
                </a:prstGeom>
                <a:noFill/>
                <a:ln cap="flat" cmpd="sng" w="28575">
                  <a:solidFill>
                    <a:srgbClr val="CCCCCC"/>
                  </a:solidFill>
                  <a:prstDash val="solid"/>
                  <a:round/>
                  <a:headEnd len="med" w="med" type="none"/>
                  <a:tailEnd len="med" w="med" type="stealth"/>
                </a:ln>
              </p:spPr>
            </p:cxnSp>
            <p:cxnSp>
              <p:nvCxnSpPr>
                <p:cNvPr id="218" name="Google Shape;218;p40"/>
                <p:cNvCxnSpPr/>
                <p:nvPr/>
              </p:nvCxnSpPr>
              <p:spPr>
                <a:xfrm flipH="1">
                  <a:off x="7174650" y="4319925"/>
                  <a:ext cx="3600" cy="340500"/>
                </a:xfrm>
                <a:prstGeom prst="straightConnector1">
                  <a:avLst/>
                </a:prstGeom>
                <a:noFill/>
                <a:ln cap="flat" cmpd="sng" w="28575">
                  <a:solidFill>
                    <a:schemeClr val="accent1"/>
                  </a:solidFill>
                  <a:prstDash val="solid"/>
                  <a:round/>
                  <a:headEnd len="med" w="med" type="none"/>
                  <a:tailEnd len="med" w="med" type="stealth"/>
                </a:ln>
              </p:spPr>
            </p:cxnSp>
          </p:grpSp>
          <p:sp>
            <p:nvSpPr>
              <p:cNvPr id="219" name="Google Shape;219;p40"/>
              <p:cNvSpPr txBox="1"/>
              <p:nvPr/>
            </p:nvSpPr>
            <p:spPr>
              <a:xfrm>
                <a:off x="6968781" y="2933325"/>
                <a:ext cx="605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300">
                    <a:solidFill>
                      <a:srgbClr val="CC0000"/>
                    </a:solidFill>
                    <a:latin typeface="Montserrat"/>
                    <a:ea typeface="Montserrat"/>
                    <a:cs typeface="Montserrat"/>
                    <a:sym typeface="Montserrat"/>
                  </a:rPr>
                  <a:t>❌</a:t>
                </a:r>
                <a:endParaRPr>
                  <a:solidFill>
                    <a:srgbClr val="CC0000"/>
                  </a:solidFill>
                  <a:latin typeface="Montserrat"/>
                  <a:ea typeface="Montserrat"/>
                  <a:cs typeface="Montserrat"/>
                  <a:sym typeface="Montserrat"/>
                </a:endParaRPr>
              </a:p>
            </p:txBody>
          </p:sp>
        </p:grpSp>
        <p:cxnSp>
          <p:nvCxnSpPr>
            <p:cNvPr id="220" name="Google Shape;220;p40"/>
            <p:cNvCxnSpPr>
              <a:stCxn id="212" idx="2"/>
            </p:cNvCxnSpPr>
            <p:nvPr/>
          </p:nvCxnSpPr>
          <p:spPr>
            <a:xfrm>
              <a:off x="7159100" y="3819704"/>
              <a:ext cx="4200" cy="195300"/>
            </a:xfrm>
            <a:prstGeom prst="straightConnector1">
              <a:avLst/>
            </a:prstGeom>
            <a:noFill/>
            <a:ln cap="flat" cmpd="sng" w="28575">
              <a:solidFill>
                <a:srgbClr val="CCCCCC"/>
              </a:solidFill>
              <a:prstDash val="solid"/>
              <a:round/>
              <a:headEnd len="med" w="med" type="none"/>
              <a:tailEnd len="med" w="med" type="none"/>
            </a:ln>
          </p:spPr>
        </p:cxnSp>
      </p:grpSp>
      <p:sp>
        <p:nvSpPr>
          <p:cNvPr id="221" name="Google Shape;221;p40"/>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a:t>
            </a:r>
            <a:r>
              <a:rPr b="1" lang="en-GB"/>
              <a:t> </a:t>
            </a:r>
            <a:r>
              <a:rPr lang="en-GB"/>
              <a:t>statement</a:t>
            </a:r>
            <a:endParaRPr b="1" i="1"/>
          </a:p>
        </p:txBody>
      </p:sp>
      <p:sp>
        <p:nvSpPr>
          <p:cNvPr id="222" name="Google Shape;222;p40"/>
          <p:cNvSpPr txBox="1"/>
          <p:nvPr/>
        </p:nvSpPr>
        <p:spPr>
          <a:xfrm>
            <a:off x="304800" y="1600200"/>
            <a:ext cx="4333800" cy="2341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b="1" lang="en-GB" sz="1800">
                <a:solidFill>
                  <a:schemeClr val="dk1"/>
                </a:solidFill>
                <a:highlight>
                  <a:srgbClr val="FFFFFE"/>
                </a:highlight>
                <a:latin typeface="Montserrat"/>
                <a:ea typeface="Montserrat"/>
                <a:cs typeface="Montserrat"/>
                <a:sym typeface="Montserrat"/>
              </a:rPr>
              <a:t>Syntax</a:t>
            </a:r>
            <a:endParaRPr b="1" sz="1800">
              <a:solidFill>
                <a:schemeClr val="dk1"/>
              </a:solidFill>
              <a:highlight>
                <a:srgbClr val="FFFFFE"/>
              </a:highlight>
              <a:latin typeface="Montserrat"/>
              <a:ea typeface="Montserrat"/>
              <a:cs typeface="Montserrat"/>
              <a:sym typeface="Montserrat"/>
            </a:endParaRPr>
          </a:p>
          <a:p>
            <a:pPr indent="0" lvl="0" marL="0" rtl="0" algn="l">
              <a:lnSpc>
                <a:spcPct val="135714"/>
              </a:lnSpc>
              <a:spcBef>
                <a:spcPts val="0"/>
              </a:spcBef>
              <a:spcAft>
                <a:spcPts val="0"/>
              </a:spcAft>
              <a:buClr>
                <a:schemeClr val="dk1"/>
              </a:buClr>
              <a:buSzPts val="1100"/>
              <a:buFont typeface="Arial"/>
              <a:buNone/>
            </a:pPr>
            <a:r>
              <a:rPr lang="en-GB" sz="1800">
                <a:solidFill>
                  <a:srgbClr val="AF00DB"/>
                </a:solidFill>
                <a:highlight>
                  <a:srgbClr val="FFFFFE"/>
                </a:highlight>
                <a:latin typeface="Courier New"/>
                <a:ea typeface="Courier New"/>
                <a:cs typeface="Courier New"/>
                <a:sym typeface="Courier New"/>
              </a:rPr>
              <a:t>if</a:t>
            </a:r>
            <a:r>
              <a:rPr lang="en-GB" sz="1800">
                <a:solidFill>
                  <a:schemeClr val="dk1"/>
                </a:solidFill>
                <a:highlight>
                  <a:srgbClr val="FFFFFE"/>
                </a:highlight>
                <a:latin typeface="Courier New"/>
                <a:ea typeface="Courier New"/>
                <a:cs typeface="Courier New"/>
                <a:sym typeface="Courier New"/>
              </a:rPr>
              <a:t> age &gt; 18:</a:t>
            </a:r>
            <a:endParaRPr sz="1800">
              <a:solidFill>
                <a:schemeClr val="dk1"/>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Clr>
                <a:schemeClr val="dk1"/>
              </a:buClr>
              <a:buSzPts val="1100"/>
              <a:buFont typeface="Arial"/>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“you can enter”</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Clr>
                <a:schemeClr val="dk1"/>
              </a:buClr>
              <a:buSzPts val="1100"/>
              <a:buFont typeface="Arial"/>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“Enjoy your party”</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800">
              <a:solidFill>
                <a:srgbClr val="795E26"/>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800">
              <a:solidFill>
                <a:schemeClr val="dk1"/>
              </a:solidFill>
              <a:highlight>
                <a:srgbClr val="FFFFFE"/>
              </a:highlight>
              <a:latin typeface="Montserrat"/>
              <a:ea typeface="Montserrat"/>
              <a:cs typeface="Montserrat"/>
              <a:sym typeface="Montserrat"/>
            </a:endParaRPr>
          </a:p>
        </p:txBody>
      </p:sp>
      <p:grpSp>
        <p:nvGrpSpPr>
          <p:cNvPr id="223" name="Google Shape;223;p40"/>
          <p:cNvGrpSpPr/>
          <p:nvPr/>
        </p:nvGrpSpPr>
        <p:grpSpPr>
          <a:xfrm>
            <a:off x="740046" y="1625650"/>
            <a:ext cx="5127062" cy="812375"/>
            <a:chOff x="740054" y="1625650"/>
            <a:chExt cx="5133222" cy="812375"/>
          </a:xfrm>
        </p:grpSpPr>
        <p:sp>
          <p:nvSpPr>
            <p:cNvPr id="224" name="Google Shape;224;p40"/>
            <p:cNvSpPr txBox="1"/>
            <p:nvPr/>
          </p:nvSpPr>
          <p:spPr>
            <a:xfrm>
              <a:off x="740054" y="2037825"/>
              <a:ext cx="1314900" cy="4002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25" name="Google Shape;225;p40"/>
            <p:cNvSpPr/>
            <p:nvPr/>
          </p:nvSpPr>
          <p:spPr>
            <a:xfrm>
              <a:off x="1900851" y="1625650"/>
              <a:ext cx="3972425" cy="317700"/>
            </a:xfrm>
            <a:custGeom>
              <a:rect b="b" l="l" r="r" t="t"/>
              <a:pathLst>
                <a:path extrusionOk="0" h="12708" w="158897">
                  <a:moveTo>
                    <a:pt x="0" y="12708"/>
                  </a:moveTo>
                  <a:lnTo>
                    <a:pt x="19101" y="0"/>
                  </a:lnTo>
                  <a:lnTo>
                    <a:pt x="133181" y="660"/>
                  </a:lnTo>
                  <a:lnTo>
                    <a:pt x="158897" y="11870"/>
                  </a:lnTo>
                </a:path>
              </a:pathLst>
            </a:custGeom>
            <a:noFill/>
            <a:ln cap="flat" cmpd="sng" w="28575">
              <a:solidFill>
                <a:schemeClr val="accent3"/>
              </a:solidFill>
              <a:prstDash val="solid"/>
              <a:round/>
              <a:headEnd len="med" w="med" type="stealth"/>
              <a:tailEnd len="med" w="med" type="none"/>
            </a:ln>
          </p:spPr>
        </p:sp>
      </p:grpSp>
      <p:grpSp>
        <p:nvGrpSpPr>
          <p:cNvPr id="226" name="Google Shape;226;p40"/>
          <p:cNvGrpSpPr/>
          <p:nvPr/>
        </p:nvGrpSpPr>
        <p:grpSpPr>
          <a:xfrm>
            <a:off x="4571905" y="2489169"/>
            <a:ext cx="896900" cy="1142032"/>
            <a:chOff x="2743654" y="2489150"/>
            <a:chExt cx="737400" cy="937244"/>
          </a:xfrm>
        </p:grpSpPr>
        <p:sp>
          <p:nvSpPr>
            <p:cNvPr id="227" name="Google Shape;227;p40"/>
            <p:cNvSpPr/>
            <p:nvPr/>
          </p:nvSpPr>
          <p:spPr>
            <a:xfrm>
              <a:off x="2743654" y="2489150"/>
              <a:ext cx="172500" cy="812400"/>
            </a:xfrm>
            <a:prstGeom prst="rightBrace">
              <a:avLst>
                <a:gd fmla="val 50000" name="adj1"/>
                <a:gd fmla="val 54326"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8" name="Google Shape;228;p40"/>
            <p:cNvCxnSpPr>
              <a:stCxn id="227" idx="1"/>
            </p:cNvCxnSpPr>
            <p:nvPr/>
          </p:nvCxnSpPr>
          <p:spPr>
            <a:xfrm>
              <a:off x="2916154" y="2930494"/>
              <a:ext cx="564900" cy="495900"/>
            </a:xfrm>
            <a:prstGeom prst="straightConnector1">
              <a:avLst/>
            </a:prstGeom>
            <a:noFill/>
            <a:ln cap="flat" cmpd="sng" w="38100">
              <a:solidFill>
                <a:srgbClr val="666666"/>
              </a:solidFill>
              <a:prstDash val="solid"/>
              <a:round/>
              <a:headEnd len="med" w="med" type="stealth"/>
              <a:tailEnd len="med" w="med" type="none"/>
            </a:ln>
          </p:spPr>
        </p:cxnSp>
      </p:grpSp>
      <p:sp>
        <p:nvSpPr>
          <p:cNvPr id="229" name="Google Shape;229;p40"/>
          <p:cNvSpPr txBox="1"/>
          <p:nvPr/>
        </p:nvSpPr>
        <p:spPr>
          <a:xfrm>
            <a:off x="1981200" y="1143000"/>
            <a:ext cx="1128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dk1"/>
                </a:solidFill>
                <a:latin typeface="Montserrat"/>
                <a:ea typeface="Montserrat"/>
                <a:cs typeface="Montserrat"/>
                <a:sym typeface="Montserrat"/>
              </a:rPr>
              <a:t>Age = 17</a:t>
            </a:r>
            <a:endParaRPr b="1" sz="15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grpSp>
        <p:nvGrpSpPr>
          <p:cNvPr id="234" name="Google Shape;234;p41"/>
          <p:cNvGrpSpPr/>
          <p:nvPr/>
        </p:nvGrpSpPr>
        <p:grpSpPr>
          <a:xfrm>
            <a:off x="5135250" y="1140150"/>
            <a:ext cx="3848125" cy="3594900"/>
            <a:chOff x="4754250" y="911550"/>
            <a:chExt cx="3848125" cy="3594900"/>
          </a:xfrm>
        </p:grpSpPr>
        <p:sp>
          <p:nvSpPr>
            <p:cNvPr id="235" name="Google Shape;235;p41"/>
            <p:cNvSpPr/>
            <p:nvPr/>
          </p:nvSpPr>
          <p:spPr>
            <a:xfrm>
              <a:off x="4754250" y="14596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rPr>
                <a:t>Test Condition</a:t>
              </a:r>
              <a:r>
                <a:rPr b="1" lang="en-GB" sz="1100"/>
                <a:t> </a:t>
              </a:r>
              <a:endParaRPr b="1" sz="1100"/>
            </a:p>
          </p:txBody>
        </p:sp>
        <p:cxnSp>
          <p:nvCxnSpPr>
            <p:cNvPr id="236" name="Google Shape;236;p41"/>
            <p:cNvCxnSpPr>
              <a:endCxn id="235" idx="0"/>
            </p:cNvCxnSpPr>
            <p:nvPr/>
          </p:nvCxnSpPr>
          <p:spPr>
            <a:xfrm>
              <a:off x="5604150" y="911550"/>
              <a:ext cx="16500" cy="548100"/>
            </a:xfrm>
            <a:prstGeom prst="straightConnector1">
              <a:avLst/>
            </a:prstGeom>
            <a:noFill/>
            <a:ln cap="flat" cmpd="sng" w="28575">
              <a:solidFill>
                <a:schemeClr val="dk2"/>
              </a:solidFill>
              <a:prstDash val="solid"/>
              <a:round/>
              <a:headEnd len="med" w="med" type="none"/>
              <a:tailEnd len="med" w="med" type="triangle"/>
            </a:ln>
          </p:spPr>
        </p:cxnSp>
        <p:cxnSp>
          <p:nvCxnSpPr>
            <p:cNvPr id="237" name="Google Shape;237;p41"/>
            <p:cNvCxnSpPr/>
            <p:nvPr/>
          </p:nvCxnSpPr>
          <p:spPr>
            <a:xfrm flipH="1">
              <a:off x="5617350" y="2881050"/>
              <a:ext cx="6600" cy="536400"/>
            </a:xfrm>
            <a:prstGeom prst="straightConnector1">
              <a:avLst/>
            </a:prstGeom>
            <a:noFill/>
            <a:ln cap="flat" cmpd="sng" w="28575">
              <a:solidFill>
                <a:schemeClr val="dk2"/>
              </a:solidFill>
              <a:prstDash val="solid"/>
              <a:round/>
              <a:headEnd len="med" w="med" type="none"/>
              <a:tailEnd len="med" w="med" type="triangle"/>
            </a:ln>
          </p:spPr>
        </p:cxnSp>
        <p:sp>
          <p:nvSpPr>
            <p:cNvPr id="238" name="Google Shape;238;p41"/>
            <p:cNvSpPr/>
            <p:nvPr/>
          </p:nvSpPr>
          <p:spPr>
            <a:xfrm>
              <a:off x="4812175" y="3417450"/>
              <a:ext cx="1732800" cy="405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if</a:t>
              </a:r>
              <a:endParaRPr b="1" i="1">
                <a:solidFill>
                  <a:srgbClr val="FFFFFF"/>
                </a:solidFill>
              </a:endParaRPr>
            </a:p>
          </p:txBody>
        </p:sp>
        <p:cxnSp>
          <p:nvCxnSpPr>
            <p:cNvPr id="239" name="Google Shape;239;p41"/>
            <p:cNvCxnSpPr/>
            <p:nvPr/>
          </p:nvCxnSpPr>
          <p:spPr>
            <a:xfrm>
              <a:off x="5680350" y="3807150"/>
              <a:ext cx="18900" cy="699300"/>
            </a:xfrm>
            <a:prstGeom prst="straightConnector1">
              <a:avLst/>
            </a:prstGeom>
            <a:noFill/>
            <a:ln cap="flat" cmpd="sng" w="28575">
              <a:solidFill>
                <a:schemeClr val="dk2"/>
              </a:solidFill>
              <a:prstDash val="solid"/>
              <a:round/>
              <a:headEnd len="med" w="med" type="none"/>
              <a:tailEnd len="med" w="med" type="triangle"/>
            </a:ln>
          </p:spPr>
        </p:cxnSp>
        <p:cxnSp>
          <p:nvCxnSpPr>
            <p:cNvPr id="240" name="Google Shape;240;p41"/>
            <p:cNvCxnSpPr>
              <a:stCxn id="235" idx="3"/>
              <a:endCxn id="241" idx="0"/>
            </p:cNvCxnSpPr>
            <p:nvPr/>
          </p:nvCxnSpPr>
          <p:spPr>
            <a:xfrm>
              <a:off x="6487050" y="2170350"/>
              <a:ext cx="1248900" cy="1247100"/>
            </a:xfrm>
            <a:prstGeom prst="bentConnector2">
              <a:avLst/>
            </a:prstGeom>
            <a:noFill/>
            <a:ln cap="flat" cmpd="sng" w="28575">
              <a:solidFill>
                <a:schemeClr val="dk2"/>
              </a:solidFill>
              <a:prstDash val="solid"/>
              <a:round/>
              <a:headEnd len="med" w="med" type="none"/>
              <a:tailEnd len="med" w="med" type="none"/>
            </a:ln>
          </p:spPr>
        </p:cxnSp>
        <p:cxnSp>
          <p:nvCxnSpPr>
            <p:cNvPr id="242" name="Google Shape;242;p41"/>
            <p:cNvCxnSpPr/>
            <p:nvPr/>
          </p:nvCxnSpPr>
          <p:spPr>
            <a:xfrm flipH="1">
              <a:off x="5664500" y="4157025"/>
              <a:ext cx="1899900" cy="11700"/>
            </a:xfrm>
            <a:prstGeom prst="straightConnector1">
              <a:avLst/>
            </a:prstGeom>
            <a:noFill/>
            <a:ln cap="flat" cmpd="sng" w="28575">
              <a:solidFill>
                <a:schemeClr val="dk2"/>
              </a:solidFill>
              <a:prstDash val="solid"/>
              <a:round/>
              <a:headEnd len="med" w="med" type="none"/>
              <a:tailEnd len="med" w="med" type="triangle"/>
            </a:ln>
          </p:spPr>
        </p:cxnSp>
        <p:sp>
          <p:nvSpPr>
            <p:cNvPr id="243" name="Google Shape;243;p41"/>
            <p:cNvSpPr txBox="1"/>
            <p:nvPr/>
          </p:nvSpPr>
          <p:spPr>
            <a:xfrm>
              <a:off x="6707150" y="18383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244" name="Google Shape;244;p41"/>
            <p:cNvSpPr txBox="1"/>
            <p:nvPr/>
          </p:nvSpPr>
          <p:spPr>
            <a:xfrm>
              <a:off x="5640350" y="2828925"/>
              <a:ext cx="6432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241" name="Google Shape;241;p41"/>
            <p:cNvSpPr/>
            <p:nvPr/>
          </p:nvSpPr>
          <p:spPr>
            <a:xfrm>
              <a:off x="6869575" y="3417450"/>
              <a:ext cx="1732800" cy="405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else</a:t>
              </a:r>
              <a:endParaRPr b="1" i="1">
                <a:solidFill>
                  <a:srgbClr val="FFFFFF"/>
                </a:solidFill>
              </a:endParaRPr>
            </a:p>
          </p:txBody>
        </p:sp>
        <p:cxnSp>
          <p:nvCxnSpPr>
            <p:cNvPr id="245" name="Google Shape;245;p41"/>
            <p:cNvCxnSpPr/>
            <p:nvPr/>
          </p:nvCxnSpPr>
          <p:spPr>
            <a:xfrm rot="5400000">
              <a:off x="7494950" y="3892500"/>
              <a:ext cx="336000" cy="197100"/>
            </a:xfrm>
            <a:prstGeom prst="bentConnector3">
              <a:avLst>
                <a:gd fmla="val 99985" name="adj1"/>
              </a:avLst>
            </a:prstGeom>
            <a:noFill/>
            <a:ln cap="flat" cmpd="sng" w="28575">
              <a:solidFill>
                <a:schemeClr val="dk2"/>
              </a:solidFill>
              <a:prstDash val="solid"/>
              <a:round/>
              <a:headEnd len="med" w="med" type="none"/>
              <a:tailEnd len="med" w="med" type="none"/>
            </a:ln>
          </p:spPr>
        </p:cxnSp>
      </p:grpSp>
      <p:grpSp>
        <p:nvGrpSpPr>
          <p:cNvPr id="246" name="Google Shape;246;p41"/>
          <p:cNvGrpSpPr/>
          <p:nvPr/>
        </p:nvGrpSpPr>
        <p:grpSpPr>
          <a:xfrm>
            <a:off x="5135250" y="1140150"/>
            <a:ext cx="3848125" cy="3594900"/>
            <a:chOff x="4754250" y="911550"/>
            <a:chExt cx="3848125" cy="3594900"/>
          </a:xfrm>
        </p:grpSpPr>
        <p:sp>
          <p:nvSpPr>
            <p:cNvPr id="247" name="Google Shape;247;p41"/>
            <p:cNvSpPr/>
            <p:nvPr/>
          </p:nvSpPr>
          <p:spPr>
            <a:xfrm>
              <a:off x="4754250" y="14596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rPr>
                <a:t>Test Condition</a:t>
              </a:r>
              <a:r>
                <a:rPr b="1" lang="en-GB" sz="1100"/>
                <a:t> </a:t>
              </a:r>
              <a:endParaRPr b="1" sz="1100"/>
            </a:p>
          </p:txBody>
        </p:sp>
        <p:cxnSp>
          <p:nvCxnSpPr>
            <p:cNvPr id="248" name="Google Shape;248;p41"/>
            <p:cNvCxnSpPr>
              <a:endCxn id="247" idx="0"/>
            </p:cNvCxnSpPr>
            <p:nvPr/>
          </p:nvCxnSpPr>
          <p:spPr>
            <a:xfrm>
              <a:off x="5604150" y="911550"/>
              <a:ext cx="16500" cy="548100"/>
            </a:xfrm>
            <a:prstGeom prst="straightConnector1">
              <a:avLst/>
            </a:prstGeom>
            <a:noFill/>
            <a:ln cap="flat" cmpd="sng" w="28575">
              <a:solidFill>
                <a:schemeClr val="dk2"/>
              </a:solidFill>
              <a:prstDash val="solid"/>
              <a:round/>
              <a:headEnd len="med" w="med" type="none"/>
              <a:tailEnd len="med" w="med" type="triangle"/>
            </a:ln>
          </p:spPr>
        </p:cxnSp>
        <p:cxnSp>
          <p:nvCxnSpPr>
            <p:cNvPr id="249" name="Google Shape;249;p41"/>
            <p:cNvCxnSpPr/>
            <p:nvPr/>
          </p:nvCxnSpPr>
          <p:spPr>
            <a:xfrm flipH="1">
              <a:off x="5617350" y="2881050"/>
              <a:ext cx="6600" cy="536400"/>
            </a:xfrm>
            <a:prstGeom prst="straightConnector1">
              <a:avLst/>
            </a:prstGeom>
            <a:noFill/>
            <a:ln cap="flat" cmpd="sng" w="28575">
              <a:solidFill>
                <a:schemeClr val="dk2"/>
              </a:solidFill>
              <a:prstDash val="solid"/>
              <a:round/>
              <a:headEnd len="med" w="med" type="none"/>
              <a:tailEnd len="med" w="med" type="triangle"/>
            </a:ln>
          </p:spPr>
        </p:cxnSp>
        <p:sp>
          <p:nvSpPr>
            <p:cNvPr id="250" name="Google Shape;250;p41"/>
            <p:cNvSpPr/>
            <p:nvPr/>
          </p:nvSpPr>
          <p:spPr>
            <a:xfrm>
              <a:off x="4812175" y="3417450"/>
              <a:ext cx="1732800" cy="405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if</a:t>
              </a:r>
              <a:endParaRPr b="1" i="1">
                <a:solidFill>
                  <a:srgbClr val="FFFFFF"/>
                </a:solidFill>
              </a:endParaRPr>
            </a:p>
          </p:txBody>
        </p:sp>
        <p:cxnSp>
          <p:nvCxnSpPr>
            <p:cNvPr id="251" name="Google Shape;251;p41"/>
            <p:cNvCxnSpPr/>
            <p:nvPr/>
          </p:nvCxnSpPr>
          <p:spPr>
            <a:xfrm>
              <a:off x="5680350" y="3807150"/>
              <a:ext cx="18900" cy="699300"/>
            </a:xfrm>
            <a:prstGeom prst="straightConnector1">
              <a:avLst/>
            </a:prstGeom>
            <a:noFill/>
            <a:ln cap="flat" cmpd="sng" w="28575">
              <a:solidFill>
                <a:schemeClr val="dk2"/>
              </a:solidFill>
              <a:prstDash val="solid"/>
              <a:round/>
              <a:headEnd len="med" w="med" type="none"/>
              <a:tailEnd len="med" w="med" type="triangle"/>
            </a:ln>
          </p:spPr>
        </p:cxnSp>
        <p:cxnSp>
          <p:nvCxnSpPr>
            <p:cNvPr id="252" name="Google Shape;252;p41"/>
            <p:cNvCxnSpPr>
              <a:stCxn id="247" idx="3"/>
              <a:endCxn id="253" idx="0"/>
            </p:cNvCxnSpPr>
            <p:nvPr/>
          </p:nvCxnSpPr>
          <p:spPr>
            <a:xfrm>
              <a:off x="6487050" y="2170350"/>
              <a:ext cx="1248900" cy="1247100"/>
            </a:xfrm>
            <a:prstGeom prst="bentConnector2">
              <a:avLst/>
            </a:prstGeom>
            <a:noFill/>
            <a:ln cap="flat" cmpd="sng" w="28575">
              <a:solidFill>
                <a:schemeClr val="dk2"/>
              </a:solidFill>
              <a:prstDash val="solid"/>
              <a:round/>
              <a:headEnd len="med" w="med" type="none"/>
              <a:tailEnd len="med" w="med" type="none"/>
            </a:ln>
          </p:spPr>
        </p:cxnSp>
        <p:cxnSp>
          <p:nvCxnSpPr>
            <p:cNvPr id="254" name="Google Shape;254;p41"/>
            <p:cNvCxnSpPr/>
            <p:nvPr/>
          </p:nvCxnSpPr>
          <p:spPr>
            <a:xfrm flipH="1">
              <a:off x="5664500" y="4157025"/>
              <a:ext cx="1899900" cy="11700"/>
            </a:xfrm>
            <a:prstGeom prst="straightConnector1">
              <a:avLst/>
            </a:prstGeom>
            <a:noFill/>
            <a:ln cap="flat" cmpd="sng" w="28575">
              <a:solidFill>
                <a:schemeClr val="dk2"/>
              </a:solidFill>
              <a:prstDash val="solid"/>
              <a:round/>
              <a:headEnd len="med" w="med" type="none"/>
              <a:tailEnd len="med" w="med" type="triangle"/>
            </a:ln>
          </p:spPr>
        </p:cxnSp>
        <p:sp>
          <p:nvSpPr>
            <p:cNvPr id="255" name="Google Shape;255;p41"/>
            <p:cNvSpPr txBox="1"/>
            <p:nvPr/>
          </p:nvSpPr>
          <p:spPr>
            <a:xfrm>
              <a:off x="6707150" y="18383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256" name="Google Shape;256;p41"/>
            <p:cNvSpPr txBox="1"/>
            <p:nvPr/>
          </p:nvSpPr>
          <p:spPr>
            <a:xfrm>
              <a:off x="5640350" y="2828925"/>
              <a:ext cx="6432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253" name="Google Shape;253;p41"/>
            <p:cNvSpPr/>
            <p:nvPr/>
          </p:nvSpPr>
          <p:spPr>
            <a:xfrm>
              <a:off x="6869575" y="3417450"/>
              <a:ext cx="1732800" cy="405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else</a:t>
              </a:r>
              <a:endParaRPr b="1" i="1">
                <a:solidFill>
                  <a:srgbClr val="FFFFFF"/>
                </a:solidFill>
              </a:endParaRPr>
            </a:p>
          </p:txBody>
        </p:sp>
        <p:cxnSp>
          <p:nvCxnSpPr>
            <p:cNvPr id="257" name="Google Shape;257;p41"/>
            <p:cNvCxnSpPr/>
            <p:nvPr/>
          </p:nvCxnSpPr>
          <p:spPr>
            <a:xfrm rot="5400000">
              <a:off x="7494950" y="3892500"/>
              <a:ext cx="336000" cy="197100"/>
            </a:xfrm>
            <a:prstGeom prst="bentConnector3">
              <a:avLst>
                <a:gd fmla="val 99985" name="adj1"/>
              </a:avLst>
            </a:prstGeom>
            <a:noFill/>
            <a:ln cap="flat" cmpd="sng" w="28575">
              <a:solidFill>
                <a:schemeClr val="dk2"/>
              </a:solidFill>
              <a:prstDash val="solid"/>
              <a:round/>
              <a:headEnd len="med" w="med" type="none"/>
              <a:tailEnd len="med" w="med" type="none"/>
            </a:ln>
          </p:spPr>
        </p:cxnSp>
      </p:grpSp>
      <p:grpSp>
        <p:nvGrpSpPr>
          <p:cNvPr id="258" name="Google Shape;258;p41"/>
          <p:cNvGrpSpPr/>
          <p:nvPr/>
        </p:nvGrpSpPr>
        <p:grpSpPr>
          <a:xfrm>
            <a:off x="5135250" y="1140150"/>
            <a:ext cx="3848125" cy="3594900"/>
            <a:chOff x="5135250" y="1140150"/>
            <a:chExt cx="3848125" cy="3594900"/>
          </a:xfrm>
        </p:grpSpPr>
        <p:sp>
          <p:nvSpPr>
            <p:cNvPr id="259" name="Google Shape;259;p41"/>
            <p:cNvSpPr/>
            <p:nvPr/>
          </p:nvSpPr>
          <p:spPr>
            <a:xfrm>
              <a:off x="5135250" y="16882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rPr>
                <a:t>Test Condition</a:t>
              </a:r>
              <a:r>
                <a:rPr b="1" lang="en-GB" sz="1100"/>
                <a:t> </a:t>
              </a:r>
              <a:endParaRPr b="1" sz="1100"/>
            </a:p>
          </p:txBody>
        </p:sp>
        <p:cxnSp>
          <p:nvCxnSpPr>
            <p:cNvPr id="260" name="Google Shape;260;p41"/>
            <p:cNvCxnSpPr>
              <a:endCxn id="259" idx="0"/>
            </p:cNvCxnSpPr>
            <p:nvPr/>
          </p:nvCxnSpPr>
          <p:spPr>
            <a:xfrm>
              <a:off x="5985150" y="1140150"/>
              <a:ext cx="16500" cy="548100"/>
            </a:xfrm>
            <a:prstGeom prst="straightConnector1">
              <a:avLst/>
            </a:prstGeom>
            <a:noFill/>
            <a:ln cap="flat" cmpd="sng" w="28575">
              <a:solidFill>
                <a:srgbClr val="2074B9"/>
              </a:solidFill>
              <a:prstDash val="solid"/>
              <a:round/>
              <a:headEnd len="med" w="med" type="none"/>
              <a:tailEnd len="med" w="med" type="triangle"/>
            </a:ln>
          </p:spPr>
        </p:cxnSp>
        <p:cxnSp>
          <p:nvCxnSpPr>
            <p:cNvPr id="261" name="Google Shape;261;p41"/>
            <p:cNvCxnSpPr/>
            <p:nvPr/>
          </p:nvCxnSpPr>
          <p:spPr>
            <a:xfrm flipH="1">
              <a:off x="5998350" y="3109650"/>
              <a:ext cx="6600" cy="536400"/>
            </a:xfrm>
            <a:prstGeom prst="straightConnector1">
              <a:avLst/>
            </a:prstGeom>
            <a:noFill/>
            <a:ln cap="flat" cmpd="sng" w="28575">
              <a:solidFill>
                <a:srgbClr val="2074B9"/>
              </a:solidFill>
              <a:prstDash val="solid"/>
              <a:round/>
              <a:headEnd len="med" w="med" type="none"/>
              <a:tailEnd len="med" w="med" type="triangle"/>
            </a:ln>
          </p:spPr>
        </p:cxnSp>
        <p:sp>
          <p:nvSpPr>
            <p:cNvPr id="262" name="Google Shape;262;p41"/>
            <p:cNvSpPr/>
            <p:nvPr/>
          </p:nvSpPr>
          <p:spPr>
            <a:xfrm>
              <a:off x="5193175" y="3646050"/>
              <a:ext cx="1732800" cy="405600"/>
            </a:xfrm>
            <a:prstGeom prst="rect">
              <a:avLst/>
            </a:prstGeom>
            <a:solidFill>
              <a:srgbClr val="2074B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if</a:t>
              </a:r>
              <a:endParaRPr b="1" i="1">
                <a:solidFill>
                  <a:srgbClr val="FFFFFF"/>
                </a:solidFill>
              </a:endParaRPr>
            </a:p>
          </p:txBody>
        </p:sp>
        <p:cxnSp>
          <p:nvCxnSpPr>
            <p:cNvPr id="263" name="Google Shape;263;p41"/>
            <p:cNvCxnSpPr/>
            <p:nvPr/>
          </p:nvCxnSpPr>
          <p:spPr>
            <a:xfrm>
              <a:off x="6061350" y="4035750"/>
              <a:ext cx="18900" cy="699300"/>
            </a:xfrm>
            <a:prstGeom prst="straightConnector1">
              <a:avLst/>
            </a:prstGeom>
            <a:noFill/>
            <a:ln cap="flat" cmpd="sng" w="28575">
              <a:solidFill>
                <a:srgbClr val="2074B9"/>
              </a:solidFill>
              <a:prstDash val="solid"/>
              <a:round/>
              <a:headEnd len="med" w="med" type="none"/>
              <a:tailEnd len="med" w="med" type="triangle"/>
            </a:ln>
          </p:spPr>
        </p:cxnSp>
        <p:cxnSp>
          <p:nvCxnSpPr>
            <p:cNvPr id="264" name="Google Shape;264;p41"/>
            <p:cNvCxnSpPr>
              <a:stCxn id="259" idx="3"/>
              <a:endCxn id="265" idx="0"/>
            </p:cNvCxnSpPr>
            <p:nvPr/>
          </p:nvCxnSpPr>
          <p:spPr>
            <a:xfrm>
              <a:off x="6868050" y="2398950"/>
              <a:ext cx="1248900" cy="1247100"/>
            </a:xfrm>
            <a:prstGeom prst="bentConnector2">
              <a:avLst/>
            </a:prstGeom>
            <a:noFill/>
            <a:ln cap="flat" cmpd="sng" w="28575">
              <a:solidFill>
                <a:srgbClr val="B7B7B7"/>
              </a:solidFill>
              <a:prstDash val="solid"/>
              <a:round/>
              <a:headEnd len="med" w="med" type="none"/>
              <a:tailEnd len="med" w="med" type="none"/>
            </a:ln>
          </p:spPr>
        </p:cxnSp>
        <p:cxnSp>
          <p:nvCxnSpPr>
            <p:cNvPr id="266" name="Google Shape;266;p41"/>
            <p:cNvCxnSpPr/>
            <p:nvPr/>
          </p:nvCxnSpPr>
          <p:spPr>
            <a:xfrm flipH="1">
              <a:off x="6045500" y="4385625"/>
              <a:ext cx="1899900" cy="11700"/>
            </a:xfrm>
            <a:prstGeom prst="straightConnector1">
              <a:avLst/>
            </a:prstGeom>
            <a:noFill/>
            <a:ln cap="flat" cmpd="sng" w="28575">
              <a:solidFill>
                <a:srgbClr val="B7B7B7"/>
              </a:solidFill>
              <a:prstDash val="solid"/>
              <a:round/>
              <a:headEnd len="med" w="med" type="none"/>
              <a:tailEnd len="med" w="med" type="triangle"/>
            </a:ln>
          </p:spPr>
        </p:cxnSp>
        <p:sp>
          <p:nvSpPr>
            <p:cNvPr id="267" name="Google Shape;267;p41"/>
            <p:cNvSpPr txBox="1"/>
            <p:nvPr/>
          </p:nvSpPr>
          <p:spPr>
            <a:xfrm>
              <a:off x="7088150" y="20669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False</a:t>
              </a:r>
              <a:endParaRPr b="1">
                <a:solidFill>
                  <a:srgbClr val="B7B7B7"/>
                </a:solidFill>
                <a:latin typeface="Montserrat"/>
                <a:ea typeface="Montserrat"/>
                <a:cs typeface="Montserrat"/>
                <a:sym typeface="Montserrat"/>
              </a:endParaRPr>
            </a:p>
          </p:txBody>
        </p:sp>
        <p:sp>
          <p:nvSpPr>
            <p:cNvPr id="268" name="Google Shape;268;p41"/>
            <p:cNvSpPr txBox="1"/>
            <p:nvPr/>
          </p:nvSpPr>
          <p:spPr>
            <a:xfrm>
              <a:off x="6021350" y="3057525"/>
              <a:ext cx="6432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265" name="Google Shape;265;p41"/>
            <p:cNvSpPr/>
            <p:nvPr/>
          </p:nvSpPr>
          <p:spPr>
            <a:xfrm>
              <a:off x="7250575" y="3646050"/>
              <a:ext cx="1732800" cy="405600"/>
            </a:xfrm>
            <a:prstGeom prst="rect">
              <a:avLst/>
            </a:prstGeom>
            <a:solidFill>
              <a:srgbClr val="B7B7B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else</a:t>
              </a:r>
              <a:endParaRPr b="1" i="1">
                <a:solidFill>
                  <a:srgbClr val="FFFFFF"/>
                </a:solidFill>
              </a:endParaRPr>
            </a:p>
          </p:txBody>
        </p:sp>
        <p:cxnSp>
          <p:nvCxnSpPr>
            <p:cNvPr id="269" name="Google Shape;269;p41"/>
            <p:cNvCxnSpPr/>
            <p:nvPr/>
          </p:nvCxnSpPr>
          <p:spPr>
            <a:xfrm rot="5400000">
              <a:off x="7875950" y="4121100"/>
              <a:ext cx="336000" cy="197100"/>
            </a:xfrm>
            <a:prstGeom prst="bentConnector3">
              <a:avLst>
                <a:gd fmla="val 99985" name="adj1"/>
              </a:avLst>
            </a:prstGeom>
            <a:noFill/>
            <a:ln cap="flat" cmpd="sng" w="28575">
              <a:solidFill>
                <a:srgbClr val="B7B7B7"/>
              </a:solidFill>
              <a:prstDash val="solid"/>
              <a:round/>
              <a:headEnd len="med" w="med" type="none"/>
              <a:tailEnd len="med" w="med" type="none"/>
            </a:ln>
          </p:spPr>
        </p:cxnSp>
      </p:grpSp>
      <p:sp>
        <p:nvSpPr>
          <p:cNvPr id="270" name="Google Shape;270;p4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a:t>
            </a:r>
            <a:r>
              <a:rPr lang="en-GB"/>
              <a:t> </a:t>
            </a:r>
            <a:r>
              <a:rPr b="1" i="1" lang="en-GB"/>
              <a:t>if...else</a:t>
            </a:r>
            <a:r>
              <a:rPr b="1" lang="en-GB"/>
              <a:t> </a:t>
            </a:r>
            <a:r>
              <a:rPr lang="en-GB"/>
              <a:t>statement</a:t>
            </a:r>
            <a:endParaRPr/>
          </a:p>
        </p:txBody>
      </p:sp>
      <p:sp>
        <p:nvSpPr>
          <p:cNvPr id="271" name="Google Shape;271;p41"/>
          <p:cNvSpPr txBox="1"/>
          <p:nvPr/>
        </p:nvSpPr>
        <p:spPr>
          <a:xfrm>
            <a:off x="601200" y="1216350"/>
            <a:ext cx="4159200" cy="2717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b="1" lang="en-GB" sz="1800">
                <a:solidFill>
                  <a:schemeClr val="dk1"/>
                </a:solidFill>
                <a:highlight>
                  <a:srgbClr val="FFFFFE"/>
                </a:highlight>
                <a:latin typeface="Montserrat"/>
                <a:ea typeface="Montserrat"/>
                <a:cs typeface="Montserrat"/>
                <a:sym typeface="Montserrat"/>
              </a:rPr>
              <a:t>Syntax</a:t>
            </a:r>
            <a:endParaRPr b="1" sz="1800">
              <a:solidFill>
                <a:schemeClr val="dk1"/>
              </a:solidFill>
              <a:highlight>
                <a:srgbClr val="FFFFFE"/>
              </a:highlight>
              <a:latin typeface="Montserrat"/>
              <a:ea typeface="Montserrat"/>
              <a:cs typeface="Montserrat"/>
              <a:sym typeface="Montserrat"/>
            </a:endParaRPr>
          </a:p>
          <a:p>
            <a:pPr indent="0" lvl="0" marL="0" rtl="0" algn="l">
              <a:lnSpc>
                <a:spcPct val="135714"/>
              </a:lnSpc>
              <a:spcBef>
                <a:spcPts val="0"/>
              </a:spcBef>
              <a:spcAft>
                <a:spcPts val="0"/>
              </a:spcAft>
              <a:buClr>
                <a:schemeClr val="dk1"/>
              </a:buClr>
              <a:buSzPts val="1100"/>
              <a:buFont typeface="Arial"/>
              <a:buNone/>
            </a:pPr>
            <a:r>
              <a:rPr lang="en-GB" sz="1800">
                <a:solidFill>
                  <a:srgbClr val="AF00DB"/>
                </a:solidFill>
                <a:highlight>
                  <a:srgbClr val="FFFFFE"/>
                </a:highlight>
                <a:latin typeface="Courier New"/>
                <a:ea typeface="Courier New"/>
                <a:cs typeface="Courier New"/>
                <a:sym typeface="Courier New"/>
              </a:rPr>
              <a:t>if</a:t>
            </a:r>
            <a:r>
              <a:rPr lang="en-GB" sz="1800">
                <a:solidFill>
                  <a:schemeClr val="dk1"/>
                </a:solidFill>
                <a:highlight>
                  <a:srgbClr val="FFFFFE"/>
                </a:highlight>
                <a:latin typeface="Courier New"/>
                <a:ea typeface="Courier New"/>
                <a:cs typeface="Courier New"/>
                <a:sym typeface="Courier New"/>
              </a:rPr>
              <a:t> age &gt; 18:</a:t>
            </a:r>
            <a:endParaRPr sz="1800">
              <a:solidFill>
                <a:schemeClr val="dk1"/>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Clr>
                <a:schemeClr val="dk1"/>
              </a:buClr>
              <a:buSzPts val="1100"/>
              <a:buFont typeface="Arial"/>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“you can enter”</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Clr>
                <a:schemeClr val="dk1"/>
              </a:buClr>
              <a:buSzPts val="1100"/>
              <a:buFont typeface="Arial"/>
              <a:buNone/>
            </a:pPr>
            <a:r>
              <a:rPr lang="en-GB" sz="1800">
                <a:solidFill>
                  <a:srgbClr val="795E26"/>
                </a:solidFill>
                <a:highlight>
                  <a:srgbClr val="FFFFFE"/>
                </a:highlight>
                <a:latin typeface="Courier New"/>
                <a:ea typeface="Courier New"/>
                <a:cs typeface="Courier New"/>
                <a:sym typeface="Courier New"/>
              </a:rPr>
              <a:t>print(</a:t>
            </a:r>
            <a:r>
              <a:rPr lang="en-GB" sz="1800">
                <a:solidFill>
                  <a:srgbClr val="980000"/>
                </a:solidFill>
                <a:highlight>
                  <a:srgbClr val="FFFFFE"/>
                </a:highlight>
                <a:latin typeface="Courier New"/>
                <a:ea typeface="Courier New"/>
                <a:cs typeface="Courier New"/>
                <a:sym typeface="Courier New"/>
              </a:rPr>
              <a:t>“Enjoy your party”</a:t>
            </a:r>
            <a:r>
              <a:rPr lang="en-GB" sz="1800">
                <a:solidFill>
                  <a:srgbClr val="795E26"/>
                </a:solidFill>
                <a:highlight>
                  <a:srgbClr val="FFFFFE"/>
                </a:highlight>
                <a:latin typeface="Courier New"/>
                <a:ea typeface="Courier New"/>
                <a:cs typeface="Courier New"/>
                <a:sym typeface="Courier New"/>
              </a:rPr>
              <a:t>)</a:t>
            </a:r>
            <a:endParaRPr b="1" sz="1800">
              <a:solidFill>
                <a:schemeClr val="dk1"/>
              </a:solidFill>
              <a:highlight>
                <a:srgbClr val="FFFFFE"/>
              </a:highlight>
              <a:latin typeface="Montserrat"/>
              <a:ea typeface="Montserrat"/>
              <a:cs typeface="Montserrat"/>
              <a:sym typeface="Montserrat"/>
            </a:endParaRPr>
          </a:p>
          <a:p>
            <a:pPr indent="0" lvl="0" marL="0" rtl="0" algn="l">
              <a:lnSpc>
                <a:spcPct val="135714"/>
              </a:lnSpc>
              <a:spcBef>
                <a:spcPts val="0"/>
              </a:spcBef>
              <a:spcAft>
                <a:spcPts val="0"/>
              </a:spcAft>
              <a:buNone/>
            </a:pPr>
            <a:r>
              <a:rPr lang="en-GB" sz="1800">
                <a:solidFill>
                  <a:srgbClr val="AF00DB"/>
                </a:solidFill>
                <a:highlight>
                  <a:srgbClr val="FFFFFE"/>
                </a:highlight>
                <a:latin typeface="Courier New"/>
                <a:ea typeface="Courier New"/>
                <a:cs typeface="Courier New"/>
                <a:sym typeface="Courier New"/>
              </a:rPr>
              <a:t>else</a:t>
            </a:r>
            <a:r>
              <a:rPr lang="en-GB" sz="1800">
                <a:highlight>
                  <a:srgbClr val="FFFFFE"/>
                </a:highlight>
                <a:latin typeface="Courier New"/>
                <a:ea typeface="Courier New"/>
                <a:cs typeface="Courier New"/>
                <a:sym typeface="Courier New"/>
              </a:rPr>
              <a:t>:</a:t>
            </a:r>
            <a:endParaRPr sz="180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GB" sz="1800">
                <a:solidFill>
                  <a:srgbClr val="795E26"/>
                </a:solidFill>
                <a:highlight>
                  <a:srgbClr val="FFFFFE"/>
                </a:highlight>
                <a:latin typeface="Courier New"/>
                <a:ea typeface="Courier New"/>
                <a:cs typeface="Courier New"/>
                <a:sym typeface="Courier New"/>
              </a:rPr>
              <a:t>	print(</a:t>
            </a:r>
            <a:r>
              <a:rPr lang="en-GB" sz="1800">
                <a:solidFill>
                  <a:srgbClr val="980000"/>
                </a:solidFill>
                <a:highlight>
                  <a:srgbClr val="FFFFFE"/>
                </a:highlight>
                <a:latin typeface="Courier New"/>
                <a:ea typeface="Courier New"/>
                <a:cs typeface="Courier New"/>
                <a:sym typeface="Courier New"/>
              </a:rPr>
              <a:t>“Move on”</a:t>
            </a:r>
            <a:r>
              <a:rPr lang="en-GB" sz="1800">
                <a:solidFill>
                  <a:srgbClr val="795E26"/>
                </a:solidFill>
                <a:highlight>
                  <a:srgbClr val="FFFFFE"/>
                </a:highlight>
                <a:latin typeface="Courier New"/>
                <a:ea typeface="Courier New"/>
                <a:cs typeface="Courier New"/>
                <a:sym typeface="Courier New"/>
              </a:rPr>
              <a:t>)</a:t>
            </a:r>
            <a:endParaRPr sz="1800">
              <a:solidFill>
                <a:srgbClr val="795E26"/>
              </a:solidFill>
              <a:highlight>
                <a:srgbClr val="FFFFFE"/>
              </a:highlight>
              <a:latin typeface="Courier New"/>
              <a:ea typeface="Courier New"/>
              <a:cs typeface="Courier New"/>
              <a:sym typeface="Courier New"/>
            </a:endParaRPr>
          </a:p>
          <a:p>
            <a:pPr indent="457200" lvl="0" marL="0" rtl="0" algn="l">
              <a:lnSpc>
                <a:spcPct val="135714"/>
              </a:lnSpc>
              <a:spcBef>
                <a:spcPts val="0"/>
              </a:spcBef>
              <a:spcAft>
                <a:spcPts val="0"/>
              </a:spcAft>
              <a:buNone/>
            </a:pPr>
            <a:r>
              <a:t/>
            </a:r>
            <a:endParaRPr sz="1800">
              <a:solidFill>
                <a:srgbClr val="795E26"/>
              </a:solidFill>
              <a:highlight>
                <a:srgbClr val="FFFFFE"/>
              </a:highlight>
              <a:latin typeface="Courier New"/>
              <a:ea typeface="Courier New"/>
              <a:cs typeface="Courier New"/>
              <a:sym typeface="Courier New"/>
            </a:endParaRPr>
          </a:p>
        </p:txBody>
      </p:sp>
      <p:grpSp>
        <p:nvGrpSpPr>
          <p:cNvPr id="272" name="Google Shape;272;p41"/>
          <p:cNvGrpSpPr/>
          <p:nvPr/>
        </p:nvGrpSpPr>
        <p:grpSpPr>
          <a:xfrm>
            <a:off x="4614163" y="2026412"/>
            <a:ext cx="753135" cy="1529645"/>
            <a:chOff x="3060375" y="2336534"/>
            <a:chExt cx="2775000" cy="1469400"/>
          </a:xfrm>
        </p:grpSpPr>
        <p:sp>
          <p:nvSpPr>
            <p:cNvPr id="273" name="Google Shape;273;p41"/>
            <p:cNvSpPr/>
            <p:nvPr/>
          </p:nvSpPr>
          <p:spPr>
            <a:xfrm>
              <a:off x="3060375" y="2336534"/>
              <a:ext cx="538800" cy="710400"/>
            </a:xfrm>
            <a:prstGeom prst="rightBrace">
              <a:avLst>
                <a:gd fmla="val 50000" name="adj1"/>
                <a:gd fmla="val 50000"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4" name="Google Shape;274;p41"/>
            <p:cNvCxnSpPr>
              <a:stCxn id="273" idx="1"/>
            </p:cNvCxnSpPr>
            <p:nvPr/>
          </p:nvCxnSpPr>
          <p:spPr>
            <a:xfrm>
              <a:off x="3599175" y="2691734"/>
              <a:ext cx="2236200" cy="1114200"/>
            </a:xfrm>
            <a:prstGeom prst="straightConnector1">
              <a:avLst/>
            </a:prstGeom>
            <a:noFill/>
            <a:ln cap="flat" cmpd="sng" w="38100">
              <a:solidFill>
                <a:srgbClr val="666666"/>
              </a:solidFill>
              <a:prstDash val="solid"/>
              <a:round/>
              <a:headEnd len="med" w="med" type="stealth"/>
              <a:tailEnd len="med" w="med" type="none"/>
            </a:ln>
          </p:spPr>
        </p:cxnSp>
      </p:grpSp>
      <p:grpSp>
        <p:nvGrpSpPr>
          <p:cNvPr id="275" name="Google Shape;275;p41"/>
          <p:cNvGrpSpPr/>
          <p:nvPr/>
        </p:nvGrpSpPr>
        <p:grpSpPr>
          <a:xfrm>
            <a:off x="5135250" y="1140150"/>
            <a:ext cx="3848125" cy="3594900"/>
            <a:chOff x="5135250" y="1140150"/>
            <a:chExt cx="3848125" cy="3594900"/>
          </a:xfrm>
        </p:grpSpPr>
        <p:sp>
          <p:nvSpPr>
            <p:cNvPr id="276" name="Google Shape;276;p41"/>
            <p:cNvSpPr/>
            <p:nvPr/>
          </p:nvSpPr>
          <p:spPr>
            <a:xfrm>
              <a:off x="5135250" y="16882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18000" lIns="0" spcFirstLastPara="1" rIns="0" wrap="square" tIns="91425">
              <a:noAutofit/>
            </a:bodyPr>
            <a:lstStyle/>
            <a:p>
              <a:pPr indent="0" lvl="0" marL="0" rtl="0" algn="ctr">
                <a:spcBef>
                  <a:spcPts val="0"/>
                </a:spcBef>
                <a:spcAft>
                  <a:spcPts val="0"/>
                </a:spcAft>
                <a:buNone/>
              </a:pPr>
              <a:r>
                <a:rPr b="1" lang="en-GB" sz="1300">
                  <a:solidFill>
                    <a:srgbClr val="FFFFFF"/>
                  </a:solidFill>
                  <a:latin typeface="Montserrat"/>
                  <a:ea typeface="Montserrat"/>
                  <a:cs typeface="Montserrat"/>
                  <a:sym typeface="Montserrat"/>
                </a:rPr>
                <a:t>Test Condition</a:t>
              </a:r>
              <a:r>
                <a:rPr b="1" lang="en-GB" sz="1300">
                  <a:latin typeface="Montserrat"/>
                  <a:ea typeface="Montserrat"/>
                  <a:cs typeface="Montserrat"/>
                  <a:sym typeface="Montserrat"/>
                </a:rPr>
                <a:t> </a:t>
              </a:r>
              <a:endParaRPr b="1" sz="1300">
                <a:latin typeface="Montserrat"/>
                <a:ea typeface="Montserrat"/>
                <a:cs typeface="Montserrat"/>
                <a:sym typeface="Montserrat"/>
              </a:endParaRPr>
            </a:p>
          </p:txBody>
        </p:sp>
        <p:cxnSp>
          <p:nvCxnSpPr>
            <p:cNvPr id="277" name="Google Shape;277;p41"/>
            <p:cNvCxnSpPr>
              <a:endCxn id="276" idx="0"/>
            </p:cNvCxnSpPr>
            <p:nvPr/>
          </p:nvCxnSpPr>
          <p:spPr>
            <a:xfrm>
              <a:off x="5985150" y="1140150"/>
              <a:ext cx="16500" cy="548100"/>
            </a:xfrm>
            <a:prstGeom prst="straightConnector1">
              <a:avLst/>
            </a:prstGeom>
            <a:noFill/>
            <a:ln cap="flat" cmpd="sng" w="28575">
              <a:solidFill>
                <a:srgbClr val="2074B9"/>
              </a:solidFill>
              <a:prstDash val="solid"/>
              <a:round/>
              <a:headEnd len="med" w="med" type="none"/>
              <a:tailEnd len="med" w="med" type="stealth"/>
            </a:ln>
          </p:spPr>
        </p:cxnSp>
        <p:cxnSp>
          <p:nvCxnSpPr>
            <p:cNvPr id="278" name="Google Shape;278;p41"/>
            <p:cNvCxnSpPr/>
            <p:nvPr/>
          </p:nvCxnSpPr>
          <p:spPr>
            <a:xfrm flipH="1">
              <a:off x="5998350" y="3109650"/>
              <a:ext cx="6600" cy="536400"/>
            </a:xfrm>
            <a:prstGeom prst="straightConnector1">
              <a:avLst/>
            </a:prstGeom>
            <a:noFill/>
            <a:ln cap="flat" cmpd="sng" w="28575">
              <a:solidFill>
                <a:srgbClr val="2074B9"/>
              </a:solidFill>
              <a:prstDash val="solid"/>
              <a:round/>
              <a:headEnd len="med" w="med" type="none"/>
              <a:tailEnd len="med" w="med" type="stealth"/>
            </a:ln>
          </p:spPr>
        </p:cxnSp>
        <p:sp>
          <p:nvSpPr>
            <p:cNvPr id="279" name="Google Shape;279;p41"/>
            <p:cNvSpPr/>
            <p:nvPr/>
          </p:nvSpPr>
          <p:spPr>
            <a:xfrm>
              <a:off x="5193175" y="3646050"/>
              <a:ext cx="1732800" cy="4056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a:t>
              </a:r>
              <a:r>
                <a:rPr b="1" i="1" lang="en-GB">
                  <a:solidFill>
                    <a:srgbClr val="FFFFFF"/>
                  </a:solidFill>
                  <a:latin typeface="Montserrat"/>
                  <a:ea typeface="Montserrat"/>
                  <a:cs typeface="Montserrat"/>
                  <a:sym typeface="Montserrat"/>
                </a:rPr>
                <a:t>if</a:t>
              </a:r>
              <a:endParaRPr b="1" i="1">
                <a:solidFill>
                  <a:srgbClr val="FFFFFF"/>
                </a:solidFill>
                <a:latin typeface="Montserrat"/>
                <a:ea typeface="Montserrat"/>
                <a:cs typeface="Montserrat"/>
                <a:sym typeface="Montserrat"/>
              </a:endParaRPr>
            </a:p>
          </p:txBody>
        </p:sp>
        <p:cxnSp>
          <p:nvCxnSpPr>
            <p:cNvPr id="280" name="Google Shape;280;p41"/>
            <p:cNvCxnSpPr/>
            <p:nvPr/>
          </p:nvCxnSpPr>
          <p:spPr>
            <a:xfrm>
              <a:off x="6061350" y="4035750"/>
              <a:ext cx="18900" cy="699300"/>
            </a:xfrm>
            <a:prstGeom prst="straightConnector1">
              <a:avLst/>
            </a:prstGeom>
            <a:noFill/>
            <a:ln cap="flat" cmpd="sng" w="28575">
              <a:solidFill>
                <a:srgbClr val="2074B9"/>
              </a:solidFill>
              <a:prstDash val="lgDash"/>
              <a:round/>
              <a:headEnd len="med" w="med" type="none"/>
              <a:tailEnd len="med" w="med" type="stealth"/>
            </a:ln>
          </p:spPr>
        </p:cxnSp>
        <p:cxnSp>
          <p:nvCxnSpPr>
            <p:cNvPr id="281" name="Google Shape;281;p41"/>
            <p:cNvCxnSpPr>
              <a:stCxn id="276" idx="3"/>
              <a:endCxn id="282" idx="0"/>
            </p:cNvCxnSpPr>
            <p:nvPr/>
          </p:nvCxnSpPr>
          <p:spPr>
            <a:xfrm>
              <a:off x="6868050" y="2398950"/>
              <a:ext cx="1248900" cy="1247100"/>
            </a:xfrm>
            <a:prstGeom prst="bentConnector2">
              <a:avLst/>
            </a:prstGeom>
            <a:noFill/>
            <a:ln cap="flat" cmpd="sng" w="28575">
              <a:solidFill>
                <a:schemeClr val="accent1"/>
              </a:solidFill>
              <a:prstDash val="solid"/>
              <a:round/>
              <a:headEnd len="med" w="med" type="none"/>
              <a:tailEnd len="med" w="med" type="stealth"/>
            </a:ln>
          </p:spPr>
        </p:cxnSp>
        <p:cxnSp>
          <p:nvCxnSpPr>
            <p:cNvPr id="283" name="Google Shape;283;p41"/>
            <p:cNvCxnSpPr/>
            <p:nvPr/>
          </p:nvCxnSpPr>
          <p:spPr>
            <a:xfrm flipH="1">
              <a:off x="6045500" y="4385625"/>
              <a:ext cx="1899900" cy="11700"/>
            </a:xfrm>
            <a:prstGeom prst="straightConnector1">
              <a:avLst/>
            </a:prstGeom>
            <a:noFill/>
            <a:ln cap="flat" cmpd="sng" w="28575">
              <a:solidFill>
                <a:schemeClr val="accent1"/>
              </a:solidFill>
              <a:prstDash val="solid"/>
              <a:round/>
              <a:headEnd len="med" w="med" type="none"/>
              <a:tailEnd len="med" w="med" type="stealth"/>
            </a:ln>
          </p:spPr>
        </p:cxnSp>
        <p:sp>
          <p:nvSpPr>
            <p:cNvPr id="284" name="Google Shape;284;p41"/>
            <p:cNvSpPr txBox="1"/>
            <p:nvPr/>
          </p:nvSpPr>
          <p:spPr>
            <a:xfrm>
              <a:off x="7088150" y="20669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285" name="Google Shape;285;p41"/>
            <p:cNvSpPr txBox="1"/>
            <p:nvPr/>
          </p:nvSpPr>
          <p:spPr>
            <a:xfrm>
              <a:off x="6021350" y="3057525"/>
              <a:ext cx="6432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True</a:t>
              </a:r>
              <a:endParaRPr b="1">
                <a:solidFill>
                  <a:srgbClr val="B7B7B7"/>
                </a:solidFill>
                <a:latin typeface="Montserrat"/>
                <a:ea typeface="Montserrat"/>
                <a:cs typeface="Montserrat"/>
                <a:sym typeface="Montserrat"/>
              </a:endParaRPr>
            </a:p>
          </p:txBody>
        </p:sp>
        <p:sp>
          <p:nvSpPr>
            <p:cNvPr id="282" name="Google Shape;282;p41"/>
            <p:cNvSpPr/>
            <p:nvPr/>
          </p:nvSpPr>
          <p:spPr>
            <a:xfrm>
              <a:off x="7250575" y="3646050"/>
              <a:ext cx="1732800" cy="405600"/>
            </a:xfrm>
            <a:prstGeom prst="rect">
              <a:avLst/>
            </a:prstGeom>
            <a:solidFill>
              <a:schemeClr val="accent1"/>
            </a:solidFill>
            <a:ln cap="flat" cmpd="sng" w="9525">
              <a:solidFill>
                <a:srgbClr val="B7B7B7"/>
              </a:solidFill>
              <a:prstDash val="solid"/>
              <a:round/>
              <a:headEnd len="sm" w="sm" type="none"/>
              <a:tailEnd len="sm" w="sm" type="none"/>
            </a:ln>
          </p:spPr>
          <p:txBody>
            <a:bodyPr anchorCtr="0" anchor="ctr" bIns="91425" lIns="18000"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a:t>
              </a:r>
              <a:r>
                <a:rPr b="1" i="1" lang="en-GB">
                  <a:solidFill>
                    <a:srgbClr val="FFFFFF"/>
                  </a:solidFill>
                  <a:latin typeface="Montserrat"/>
                  <a:ea typeface="Montserrat"/>
                  <a:cs typeface="Montserrat"/>
                  <a:sym typeface="Montserrat"/>
                </a:rPr>
                <a:t>else</a:t>
              </a:r>
              <a:endParaRPr b="1" i="1">
                <a:solidFill>
                  <a:srgbClr val="FFFFFF"/>
                </a:solidFill>
                <a:latin typeface="Montserrat"/>
                <a:ea typeface="Montserrat"/>
                <a:cs typeface="Montserrat"/>
                <a:sym typeface="Montserrat"/>
              </a:endParaRPr>
            </a:p>
          </p:txBody>
        </p:sp>
        <p:cxnSp>
          <p:nvCxnSpPr>
            <p:cNvPr id="286" name="Google Shape;286;p41"/>
            <p:cNvCxnSpPr/>
            <p:nvPr/>
          </p:nvCxnSpPr>
          <p:spPr>
            <a:xfrm rot="5400000">
              <a:off x="7875950" y="4121100"/>
              <a:ext cx="336000" cy="197100"/>
            </a:xfrm>
            <a:prstGeom prst="bentConnector3">
              <a:avLst>
                <a:gd fmla="val 99985" name="adj1"/>
              </a:avLst>
            </a:prstGeom>
            <a:noFill/>
            <a:ln cap="flat" cmpd="sng" w="28575">
              <a:solidFill>
                <a:schemeClr val="accent1"/>
              </a:solidFill>
              <a:prstDash val="solid"/>
              <a:round/>
              <a:headEnd len="med" w="med" type="none"/>
              <a:tailEnd len="med" w="med" type="none"/>
            </a:ln>
          </p:spPr>
        </p:cxnSp>
        <p:cxnSp>
          <p:nvCxnSpPr>
            <p:cNvPr id="287" name="Google Shape;287;p41"/>
            <p:cNvCxnSpPr>
              <a:stCxn id="279" idx="2"/>
            </p:cNvCxnSpPr>
            <p:nvPr/>
          </p:nvCxnSpPr>
          <p:spPr>
            <a:xfrm>
              <a:off x="6059575" y="4051650"/>
              <a:ext cx="5400" cy="393000"/>
            </a:xfrm>
            <a:prstGeom prst="straightConnector1">
              <a:avLst/>
            </a:prstGeom>
            <a:noFill/>
            <a:ln cap="flat" cmpd="sng" w="28575">
              <a:solidFill>
                <a:srgbClr val="B7B7B7"/>
              </a:solidFill>
              <a:prstDash val="lgDash"/>
              <a:round/>
              <a:headEnd len="med" w="med" type="none"/>
              <a:tailEnd len="med" w="med" type="none"/>
            </a:ln>
          </p:spPr>
        </p:cxnSp>
      </p:grpSp>
      <p:grpSp>
        <p:nvGrpSpPr>
          <p:cNvPr id="288" name="Google Shape;288;p41"/>
          <p:cNvGrpSpPr/>
          <p:nvPr/>
        </p:nvGrpSpPr>
        <p:grpSpPr>
          <a:xfrm>
            <a:off x="3482225" y="3199396"/>
            <a:ext cx="3768455" cy="649471"/>
            <a:chOff x="2984478" y="2412781"/>
            <a:chExt cx="4394700" cy="2497006"/>
          </a:xfrm>
        </p:grpSpPr>
        <p:sp>
          <p:nvSpPr>
            <p:cNvPr id="289" name="Google Shape;289;p41"/>
            <p:cNvSpPr/>
            <p:nvPr/>
          </p:nvSpPr>
          <p:spPr>
            <a:xfrm>
              <a:off x="2984478" y="2412781"/>
              <a:ext cx="152100" cy="985800"/>
            </a:xfrm>
            <a:prstGeom prst="rightBrace">
              <a:avLst>
                <a:gd fmla="val 50000" name="adj1"/>
                <a:gd fmla="val 56158"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0" name="Google Shape;290;p41"/>
            <p:cNvCxnSpPr>
              <a:stCxn id="289" idx="1"/>
              <a:endCxn id="282" idx="1"/>
            </p:cNvCxnSpPr>
            <p:nvPr/>
          </p:nvCxnSpPr>
          <p:spPr>
            <a:xfrm>
              <a:off x="3136578" y="2966386"/>
              <a:ext cx="4242600" cy="1943400"/>
            </a:xfrm>
            <a:prstGeom prst="straightConnector1">
              <a:avLst/>
            </a:prstGeom>
            <a:noFill/>
            <a:ln cap="flat" cmpd="sng" w="38100">
              <a:solidFill>
                <a:srgbClr val="666666"/>
              </a:solidFill>
              <a:prstDash val="solid"/>
              <a:round/>
              <a:headEnd len="med" w="med" type="stealth"/>
              <a:tailEnd len="med" w="med" type="none"/>
            </a:ln>
          </p:spPr>
        </p:cxnSp>
      </p:grpSp>
      <p:sp>
        <p:nvSpPr>
          <p:cNvPr id="291" name="Google Shape;291;p41"/>
          <p:cNvSpPr txBox="1"/>
          <p:nvPr/>
        </p:nvSpPr>
        <p:spPr>
          <a:xfrm>
            <a:off x="5384975" y="4617600"/>
            <a:ext cx="316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latin typeface="Montserrat"/>
                <a:ea typeface="Montserrat"/>
                <a:cs typeface="Montserrat"/>
                <a:sym typeface="Montserrat"/>
              </a:rPr>
              <a:t>Flowchart</a:t>
            </a:r>
            <a:endParaRPr b="1" sz="1800">
              <a:latin typeface="Montserrat"/>
              <a:ea typeface="Montserrat"/>
              <a:cs typeface="Montserrat"/>
              <a:sym typeface="Montserrat"/>
            </a:endParaRPr>
          </a:p>
        </p:txBody>
      </p:sp>
      <p:grpSp>
        <p:nvGrpSpPr>
          <p:cNvPr id="292" name="Google Shape;292;p41"/>
          <p:cNvGrpSpPr/>
          <p:nvPr/>
        </p:nvGrpSpPr>
        <p:grpSpPr>
          <a:xfrm>
            <a:off x="1044875" y="1383500"/>
            <a:ext cx="4673657" cy="642800"/>
            <a:chOff x="657724" y="1474563"/>
            <a:chExt cx="5215553" cy="642800"/>
          </a:xfrm>
        </p:grpSpPr>
        <p:sp>
          <p:nvSpPr>
            <p:cNvPr id="293" name="Google Shape;293;p41"/>
            <p:cNvSpPr txBox="1"/>
            <p:nvPr/>
          </p:nvSpPr>
          <p:spPr>
            <a:xfrm>
              <a:off x="657724" y="1771162"/>
              <a:ext cx="1472400" cy="3462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94" name="Google Shape;294;p41"/>
            <p:cNvSpPr/>
            <p:nvPr/>
          </p:nvSpPr>
          <p:spPr>
            <a:xfrm>
              <a:off x="1541777" y="1474563"/>
              <a:ext cx="4331500" cy="447850"/>
            </a:xfrm>
            <a:custGeom>
              <a:rect b="b" l="l" r="r" t="t"/>
              <a:pathLst>
                <a:path extrusionOk="0" h="17914" w="173260">
                  <a:moveTo>
                    <a:pt x="0" y="10862"/>
                  </a:moveTo>
                  <a:lnTo>
                    <a:pt x="9269" y="0"/>
                  </a:lnTo>
                  <a:lnTo>
                    <a:pt x="147596" y="0"/>
                  </a:lnTo>
                  <a:lnTo>
                    <a:pt x="173260" y="17914"/>
                  </a:lnTo>
                </a:path>
              </a:pathLst>
            </a:custGeom>
            <a:noFill/>
            <a:ln cap="flat" cmpd="sng" w="28575">
              <a:solidFill>
                <a:schemeClr val="accent3"/>
              </a:solidFill>
              <a:prstDash val="solid"/>
              <a:round/>
              <a:headEnd len="med" w="med" type="stealth"/>
              <a:tailEnd len="med" w="med" type="none"/>
            </a:ln>
          </p:spPr>
        </p:sp>
      </p:grpSp>
      <p:sp>
        <p:nvSpPr>
          <p:cNvPr id="295" name="Google Shape;295;p41"/>
          <p:cNvSpPr txBox="1"/>
          <p:nvPr/>
        </p:nvSpPr>
        <p:spPr>
          <a:xfrm>
            <a:off x="2172525" y="808825"/>
            <a:ext cx="1309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dk1"/>
                </a:solidFill>
                <a:latin typeface="Montserrat"/>
                <a:ea typeface="Montserrat"/>
                <a:cs typeface="Montserrat"/>
                <a:sym typeface="Montserrat"/>
              </a:rPr>
              <a:t>Age = 19</a:t>
            </a:r>
            <a:endParaRPr b="1" sz="15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GB" sz="1500">
                <a:solidFill>
                  <a:schemeClr val="accent3"/>
                </a:solidFill>
                <a:latin typeface="Montserrat"/>
                <a:ea typeface="Montserrat"/>
                <a:cs typeface="Montserrat"/>
                <a:sym typeface="Montserrat"/>
              </a:rPr>
              <a:t>True</a:t>
            </a:r>
            <a:endParaRPr b="1" sz="1500">
              <a:solidFill>
                <a:schemeClr val="dk1"/>
              </a:solidFill>
              <a:latin typeface="Montserrat"/>
              <a:ea typeface="Montserrat"/>
              <a:cs typeface="Montserrat"/>
              <a:sym typeface="Montserrat"/>
            </a:endParaRPr>
          </a:p>
        </p:txBody>
      </p:sp>
      <p:sp>
        <p:nvSpPr>
          <p:cNvPr id="296" name="Google Shape;296;p41"/>
          <p:cNvSpPr txBox="1"/>
          <p:nvPr/>
        </p:nvSpPr>
        <p:spPr>
          <a:xfrm>
            <a:off x="2172525" y="808825"/>
            <a:ext cx="1444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dk1"/>
                </a:solidFill>
                <a:latin typeface="Montserrat"/>
                <a:ea typeface="Montserrat"/>
                <a:cs typeface="Montserrat"/>
                <a:sym typeface="Montserrat"/>
              </a:rPr>
              <a:t>Age = </a:t>
            </a:r>
            <a:r>
              <a:rPr b="1" lang="en-GB" sz="1500">
                <a:solidFill>
                  <a:schemeClr val="dk1"/>
                </a:solidFill>
                <a:latin typeface="Montserrat"/>
                <a:ea typeface="Montserrat"/>
                <a:cs typeface="Montserrat"/>
                <a:sym typeface="Montserrat"/>
              </a:rPr>
              <a:t>17</a:t>
            </a:r>
            <a:endParaRPr b="1" sz="15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GB" sz="1500">
                <a:solidFill>
                  <a:schemeClr val="accent3"/>
                </a:solidFill>
                <a:latin typeface="Montserrat"/>
                <a:ea typeface="Montserrat"/>
                <a:cs typeface="Montserrat"/>
                <a:sym typeface="Montserrat"/>
              </a:rPr>
              <a:t>False</a:t>
            </a:r>
            <a:endParaRPr b="1" sz="15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46"/>
                                        </p:tgtEl>
                                      </p:cBhvr>
                                    </p:animEffect>
                                    <p:set>
                                      <p:cBhvr>
                                        <p:cTn dur="1" fill="hold">
                                          <p:stCondLst>
                                            <p:cond delay="1000"/>
                                          </p:stCondLst>
                                        </p:cTn>
                                        <p:tgtEl>
                                          <p:spTgt spid="2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par>
                                <p:cTn fill="hold" nodeType="withEffect" presetClass="exit" presetID="10" presetSubtype="0">
                                  <p:stCondLst>
                                    <p:cond delay="0"/>
                                  </p:stCondLst>
                                  <p:childTnLst>
                                    <p:animEffect filter="fade" transition="out">
                                      <p:cBhvr>
                                        <p:cTn dur="1000"/>
                                        <p:tgtEl>
                                          <p:spTgt spid="295"/>
                                        </p:tgtEl>
                                      </p:cBhvr>
                                    </p:animEffect>
                                    <p:set>
                                      <p:cBhvr>
                                        <p:cTn dur="1" fill="hold">
                                          <p:stCondLst>
                                            <p:cond delay="1000"/>
                                          </p:stCondLst>
                                        </p:cTn>
                                        <p:tgtEl>
                                          <p:spTgt spid="29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92"/>
                                        </p:tgtEl>
                                      </p:cBhvr>
                                    </p:animEffect>
                                    <p:set>
                                      <p:cBhvr>
                                        <p:cTn dur="1" fill="hold">
                                          <p:stCondLst>
                                            <p:cond delay="1000"/>
                                          </p:stCondLst>
                                        </p:cTn>
                                        <p:tgtEl>
                                          <p:spTgt spid="2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72"/>
                                        </p:tgtEl>
                                      </p:cBhvr>
                                    </p:animEffect>
                                    <p:set>
                                      <p:cBhvr>
                                        <p:cTn dur="1" fill="hold">
                                          <p:stCondLst>
                                            <p:cond delay="1000"/>
                                          </p:stCondLst>
                                        </p:cTn>
                                        <p:tgtEl>
                                          <p:spTgt spid="27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92"/>
                                        </p:tgtEl>
                                      </p:cBhvr>
                                    </p:animEffect>
                                    <p:set>
                                      <p:cBhvr>
                                        <p:cTn dur="1" fill="hold">
                                          <p:stCondLst>
                                            <p:cond delay="1000"/>
                                          </p:stCondLst>
                                        </p:cTn>
                                        <p:tgtEl>
                                          <p:spTgt spid="2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par>
                                <p:cTn fill="hold" nodeType="withEffect" presetClass="exit" presetID="10" presetSubtype="0">
                                  <p:stCondLst>
                                    <p:cond delay="0"/>
                                  </p:stCondLst>
                                  <p:childTnLst>
                                    <p:animEffect filter="fade" transition="out">
                                      <p:cBhvr>
                                        <p:cTn dur="1000"/>
                                        <p:tgtEl>
                                          <p:spTgt spid="296"/>
                                        </p:tgtEl>
                                      </p:cBhvr>
                                    </p:animEffect>
                                    <p:set>
                                      <p:cBhvr>
                                        <p:cTn dur="1" fill="hold">
                                          <p:stCondLst>
                                            <p:cond delay="1000"/>
                                          </p:stCondLst>
                                        </p:cTn>
                                        <p:tgtEl>
                                          <p:spTgt spid="2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42"/>
          <p:cNvGrpSpPr/>
          <p:nvPr/>
        </p:nvGrpSpPr>
        <p:grpSpPr>
          <a:xfrm>
            <a:off x="139293" y="859200"/>
            <a:ext cx="9432207" cy="3988258"/>
            <a:chOff x="139293" y="859200"/>
            <a:chExt cx="9432207" cy="3988258"/>
          </a:xfrm>
        </p:grpSpPr>
        <p:sp>
          <p:nvSpPr>
            <p:cNvPr id="302" name="Google Shape;302;p42"/>
            <p:cNvSpPr txBox="1"/>
            <p:nvPr/>
          </p:nvSpPr>
          <p:spPr>
            <a:xfrm>
              <a:off x="4764000" y="859200"/>
              <a:ext cx="4807500" cy="2770200"/>
            </a:xfrm>
            <a:prstGeom prst="rect">
              <a:avLst/>
            </a:prstGeom>
            <a:noFill/>
            <a:ln>
              <a:noFill/>
            </a:ln>
          </p:spPr>
          <p:txBody>
            <a:bodyPr anchorCtr="0" anchor="t" bIns="18000" lIns="18000" spcFirstLastPara="1" rIns="91425" wrap="square" tIns="18000">
              <a:noAutofit/>
            </a:bodyPr>
            <a:lstStyle/>
            <a:p>
              <a:pPr indent="0" lvl="0" marL="0" rtl="0" algn="l">
                <a:lnSpc>
                  <a:spcPct val="115000"/>
                </a:lnSpc>
                <a:spcBef>
                  <a:spcPts val="0"/>
                </a:spcBef>
                <a:spcAft>
                  <a:spcPts val="0"/>
                </a:spcAft>
                <a:buNone/>
              </a:pPr>
              <a:r>
                <a:rPr b="1" lang="en-GB" sz="1700">
                  <a:latin typeface="Courier New"/>
                  <a:ea typeface="Courier New"/>
                  <a:cs typeface="Courier New"/>
                  <a:sym typeface="Courier New"/>
                </a:rPr>
                <a:t>Syntax</a:t>
              </a:r>
              <a:endParaRPr b="1"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if</a:t>
              </a:r>
              <a:r>
                <a:rPr lang="en-GB" sz="1700">
                  <a:latin typeface="Courier New"/>
                  <a:ea typeface="Courier New"/>
                  <a:cs typeface="Courier New"/>
                  <a:sym typeface="Courier New"/>
                </a:rPr>
                <a:t> age &gt; 18:</a:t>
              </a:r>
              <a:endParaRPr sz="1700">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“you can enter”</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“Enjoy your party”</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t/>
              </a:r>
              <a:endParaRPr sz="1700">
                <a:solidFill>
                  <a:srgbClr val="795E26"/>
                </a:solidFill>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elif</a:t>
              </a:r>
              <a:r>
                <a:rPr lang="en-GB" sz="1700">
                  <a:latin typeface="Courier New"/>
                  <a:ea typeface="Courier New"/>
                  <a:cs typeface="Courier New"/>
                  <a:sym typeface="Courier New"/>
                </a:rPr>
                <a:t> age == 18:</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latin typeface="Courier New"/>
                  <a:ea typeface="Courier New"/>
                  <a:cs typeface="Courier New"/>
                  <a:sym typeface="Courier New"/>
                </a:rPr>
                <a:t>    print(</a:t>
              </a:r>
              <a:r>
                <a:rPr lang="en-GB" sz="1700">
                  <a:solidFill>
                    <a:srgbClr val="980000"/>
                  </a:solidFill>
                  <a:latin typeface="Courier New"/>
                  <a:ea typeface="Courier New"/>
                  <a:cs typeface="Courier New"/>
                  <a:sym typeface="Courier New"/>
                </a:rPr>
                <a:t>“you are at right age”</a:t>
              </a:r>
              <a:r>
                <a:rPr lang="en-GB" sz="1700">
                  <a:solidFill>
                    <a:srgbClr val="795E26"/>
                  </a:solidFill>
                  <a:latin typeface="Courier New"/>
                  <a:ea typeface="Courier New"/>
                  <a:cs typeface="Courier New"/>
                  <a:sym typeface="Courier New"/>
                </a:rPr>
                <a:t>)</a:t>
              </a:r>
              <a:endParaRPr sz="1700">
                <a:solidFill>
                  <a:srgbClr val="AF00DB"/>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else</a:t>
              </a:r>
              <a:r>
                <a:rPr lang="en-GB" sz="1700">
                  <a:latin typeface="Courier New"/>
                  <a:ea typeface="Courier New"/>
                  <a:cs typeface="Courier New"/>
                  <a:sym typeface="Courier New"/>
                </a:rPr>
                <a:t>: </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	print(</a:t>
              </a:r>
              <a:r>
                <a:rPr lang="en-GB" sz="1700">
                  <a:solidFill>
                    <a:srgbClr val="980000"/>
                  </a:solidFill>
                  <a:highlight>
                    <a:srgbClr val="FFFFFE"/>
                  </a:highlight>
                  <a:latin typeface="Courier New"/>
                  <a:ea typeface="Courier New"/>
                  <a:cs typeface="Courier New"/>
                  <a:sym typeface="Courier New"/>
                </a:rPr>
                <a:t>“Move on”</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0" lvl="0" marL="152400" marR="152400" rtl="0" algn="l">
                <a:lnSpc>
                  <a:spcPct val="115000"/>
                </a:lnSpc>
                <a:spcBef>
                  <a:spcPts val="0"/>
                </a:spcBef>
                <a:spcAft>
                  <a:spcPts val="1200"/>
                </a:spcAft>
                <a:buNone/>
              </a:pPr>
              <a:r>
                <a:t/>
              </a:r>
              <a:endParaRPr sz="1700">
                <a:solidFill>
                  <a:srgbClr val="795E26"/>
                </a:solidFill>
                <a:latin typeface="Courier New"/>
                <a:ea typeface="Courier New"/>
                <a:cs typeface="Courier New"/>
                <a:sym typeface="Courier New"/>
              </a:endParaRPr>
            </a:p>
          </p:txBody>
        </p:sp>
        <p:grpSp>
          <p:nvGrpSpPr>
            <p:cNvPr id="303" name="Google Shape;303;p42"/>
            <p:cNvGrpSpPr/>
            <p:nvPr/>
          </p:nvGrpSpPr>
          <p:grpSpPr>
            <a:xfrm>
              <a:off x="139293" y="912725"/>
              <a:ext cx="5271496" cy="3934733"/>
              <a:chOff x="1892975" y="885250"/>
              <a:chExt cx="5427258" cy="4156701"/>
            </a:xfrm>
          </p:grpSpPr>
          <p:sp>
            <p:nvSpPr>
              <p:cNvPr id="304" name="Google Shape;304;p42"/>
              <p:cNvSpPr/>
              <p:nvPr/>
            </p:nvSpPr>
            <p:spPr>
              <a:xfrm>
                <a:off x="1892975" y="138175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0000" wrap="square" tIns="91425">
                <a:noAutofit/>
              </a:bodyPr>
              <a:lstStyle/>
              <a:p>
                <a:pPr indent="0" lvl="0" marL="0" marR="0" rtl="0" algn="ctr">
                  <a:spcBef>
                    <a:spcPts val="0"/>
                  </a:spcBef>
                  <a:spcAft>
                    <a:spcPts val="0"/>
                  </a:spcAft>
                  <a:buNone/>
                </a:pPr>
                <a:r>
                  <a:rPr b="1" lang="en-GB">
                    <a:solidFill>
                      <a:srgbClr val="FFFFFF"/>
                    </a:solidFill>
                    <a:latin typeface="Montserrat"/>
                    <a:ea typeface="Montserrat"/>
                    <a:cs typeface="Montserrat"/>
                    <a:sym typeface="Montserrat"/>
                  </a:rPr>
                  <a:t>Test Condition 1</a:t>
                </a:r>
                <a:r>
                  <a:rPr b="1" lang="en-GB">
                    <a:latin typeface="Montserrat"/>
                    <a:ea typeface="Montserrat"/>
                    <a:cs typeface="Montserrat"/>
                    <a:sym typeface="Montserrat"/>
                  </a:rPr>
                  <a:t> </a:t>
                </a:r>
                <a:endParaRPr b="1">
                  <a:latin typeface="Montserrat"/>
                  <a:ea typeface="Montserrat"/>
                  <a:cs typeface="Montserrat"/>
                  <a:sym typeface="Montserrat"/>
                </a:endParaRPr>
              </a:p>
            </p:txBody>
          </p:sp>
          <p:cxnSp>
            <p:nvCxnSpPr>
              <p:cNvPr id="305" name="Google Shape;305;p42"/>
              <p:cNvCxnSpPr>
                <a:endCxn id="304" idx="0"/>
              </p:cNvCxnSpPr>
              <p:nvPr/>
            </p:nvCxnSpPr>
            <p:spPr>
              <a:xfrm>
                <a:off x="2716925" y="885250"/>
                <a:ext cx="15600" cy="496500"/>
              </a:xfrm>
              <a:prstGeom prst="straightConnector1">
                <a:avLst/>
              </a:prstGeom>
              <a:noFill/>
              <a:ln cap="flat" cmpd="sng" w="28575">
                <a:solidFill>
                  <a:srgbClr val="000000"/>
                </a:solidFill>
                <a:prstDash val="solid"/>
                <a:round/>
                <a:headEnd len="med" w="med" type="none"/>
                <a:tailEnd len="med" w="med" type="stealth"/>
              </a:ln>
            </p:spPr>
          </p:cxnSp>
          <p:cxnSp>
            <p:nvCxnSpPr>
              <p:cNvPr id="306" name="Google Shape;306;p42"/>
              <p:cNvCxnSpPr>
                <a:stCxn id="304" idx="2"/>
              </p:cNvCxnSpPr>
              <p:nvPr/>
            </p:nvCxnSpPr>
            <p:spPr>
              <a:xfrm flipH="1">
                <a:off x="2729525" y="2669350"/>
                <a:ext cx="3000" cy="1176300"/>
              </a:xfrm>
              <a:prstGeom prst="straightConnector1">
                <a:avLst/>
              </a:prstGeom>
              <a:noFill/>
              <a:ln cap="flat" cmpd="sng" w="28575">
                <a:solidFill>
                  <a:srgbClr val="000000"/>
                </a:solidFill>
                <a:prstDash val="solid"/>
                <a:round/>
                <a:headEnd len="med" w="med" type="none"/>
                <a:tailEnd len="med" w="med" type="stealth"/>
              </a:ln>
            </p:spPr>
          </p:cxnSp>
          <p:sp>
            <p:nvSpPr>
              <p:cNvPr id="307" name="Google Shape;307;p42"/>
              <p:cNvSpPr/>
              <p:nvPr/>
            </p:nvSpPr>
            <p:spPr>
              <a:xfrm>
                <a:off x="1949106" y="3845249"/>
                <a:ext cx="1679100" cy="3675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if</a:t>
                </a:r>
                <a:endParaRPr b="1">
                  <a:solidFill>
                    <a:srgbClr val="FFFFFF"/>
                  </a:solidFill>
                  <a:latin typeface="Montserrat"/>
                  <a:ea typeface="Montserrat"/>
                  <a:cs typeface="Montserrat"/>
                  <a:sym typeface="Montserrat"/>
                </a:endParaRPr>
              </a:p>
            </p:txBody>
          </p:sp>
          <p:cxnSp>
            <p:nvCxnSpPr>
              <p:cNvPr id="308" name="Google Shape;308;p42"/>
              <p:cNvCxnSpPr/>
              <p:nvPr/>
            </p:nvCxnSpPr>
            <p:spPr>
              <a:xfrm>
                <a:off x="2723375" y="4212750"/>
                <a:ext cx="15300" cy="829200"/>
              </a:xfrm>
              <a:prstGeom prst="straightConnector1">
                <a:avLst/>
              </a:prstGeom>
              <a:noFill/>
              <a:ln cap="flat" cmpd="sng" w="28575">
                <a:solidFill>
                  <a:srgbClr val="000000"/>
                </a:solidFill>
                <a:prstDash val="solid"/>
                <a:round/>
                <a:headEnd len="med" w="med" type="none"/>
                <a:tailEnd len="med" w="med" type="stealth"/>
              </a:ln>
            </p:spPr>
          </p:cxnSp>
          <p:cxnSp>
            <p:nvCxnSpPr>
              <p:cNvPr id="309" name="Google Shape;309;p42"/>
              <p:cNvCxnSpPr>
                <a:stCxn id="304" idx="3"/>
                <a:endCxn id="310" idx="0"/>
              </p:cNvCxnSpPr>
              <p:nvPr/>
            </p:nvCxnSpPr>
            <p:spPr>
              <a:xfrm>
                <a:off x="3572075" y="2025550"/>
                <a:ext cx="1080300" cy="322500"/>
              </a:xfrm>
              <a:prstGeom prst="bentConnector2">
                <a:avLst/>
              </a:prstGeom>
              <a:noFill/>
              <a:ln cap="flat" cmpd="sng" w="28575">
                <a:solidFill>
                  <a:srgbClr val="000000"/>
                </a:solidFill>
                <a:prstDash val="solid"/>
                <a:round/>
                <a:headEnd len="med" w="med" type="none"/>
                <a:tailEnd len="med" w="med" type="stealth"/>
              </a:ln>
            </p:spPr>
          </p:cxnSp>
          <p:sp>
            <p:nvSpPr>
              <p:cNvPr id="311" name="Google Shape;311;p42"/>
              <p:cNvSpPr txBox="1"/>
              <p:nvPr/>
            </p:nvSpPr>
            <p:spPr>
              <a:xfrm>
                <a:off x="3785405" y="1724740"/>
                <a:ext cx="752100" cy="3009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312" name="Google Shape;312;p42"/>
              <p:cNvSpPr txBox="1"/>
              <p:nvPr/>
            </p:nvSpPr>
            <p:spPr>
              <a:xfrm>
                <a:off x="2751638" y="3312184"/>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310" name="Google Shape;310;p42"/>
              <p:cNvSpPr/>
              <p:nvPr/>
            </p:nvSpPr>
            <p:spPr>
              <a:xfrm>
                <a:off x="3812829" y="234802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GB">
                    <a:solidFill>
                      <a:schemeClr val="lt1"/>
                    </a:solidFill>
                    <a:latin typeface="Montserrat"/>
                    <a:ea typeface="Montserrat"/>
                    <a:cs typeface="Montserrat"/>
                    <a:sym typeface="Montserrat"/>
                  </a:rPr>
                  <a:t>Test Condition 2</a:t>
                </a:r>
                <a:r>
                  <a:rPr b="1" lang="en-GB">
                    <a:solidFill>
                      <a:schemeClr val="dk1"/>
                    </a:solidFill>
                    <a:latin typeface="Montserrat"/>
                    <a:ea typeface="Montserrat"/>
                    <a:cs typeface="Montserrat"/>
                    <a:sym typeface="Montserrat"/>
                  </a:rPr>
                  <a:t> </a:t>
                </a:r>
                <a:endParaRPr b="1">
                  <a:solidFill>
                    <a:schemeClr val="dk1"/>
                  </a:solidFill>
                  <a:latin typeface="Montserrat"/>
                  <a:ea typeface="Montserrat"/>
                  <a:cs typeface="Montserrat"/>
                  <a:sym typeface="Montserrat"/>
                </a:endParaRPr>
              </a:p>
            </p:txBody>
          </p:sp>
          <p:cxnSp>
            <p:nvCxnSpPr>
              <p:cNvPr id="313" name="Google Shape;313;p42"/>
              <p:cNvCxnSpPr>
                <a:stCxn id="314" idx="2"/>
              </p:cNvCxnSpPr>
              <p:nvPr/>
            </p:nvCxnSpPr>
            <p:spPr>
              <a:xfrm rot="5400000">
                <a:off x="4414433" y="2522099"/>
                <a:ext cx="375600" cy="3756900"/>
              </a:xfrm>
              <a:prstGeom prst="bentConnector2">
                <a:avLst/>
              </a:prstGeom>
              <a:noFill/>
              <a:ln cap="flat" cmpd="sng" w="28575">
                <a:solidFill>
                  <a:srgbClr val="000000"/>
                </a:solidFill>
                <a:prstDash val="solid"/>
                <a:round/>
                <a:headEnd len="med" w="med" type="none"/>
                <a:tailEnd len="med" w="med" type="stealth"/>
              </a:ln>
            </p:spPr>
          </p:cxnSp>
          <p:sp>
            <p:nvSpPr>
              <p:cNvPr id="315" name="Google Shape;315;p42"/>
              <p:cNvSpPr/>
              <p:nvPr/>
            </p:nvSpPr>
            <p:spPr>
              <a:xfrm>
                <a:off x="3795120" y="3845249"/>
                <a:ext cx="1679100" cy="367500"/>
              </a:xfrm>
              <a:prstGeom prst="rect">
                <a:avLst/>
              </a:prstGeom>
              <a:solidFill>
                <a:schemeClr val="accent4"/>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elif</a:t>
                </a:r>
                <a:endParaRPr b="1">
                  <a:solidFill>
                    <a:srgbClr val="FFFFFF"/>
                  </a:solidFill>
                  <a:latin typeface="Montserrat"/>
                  <a:ea typeface="Montserrat"/>
                  <a:cs typeface="Montserrat"/>
                  <a:sym typeface="Montserrat"/>
                </a:endParaRPr>
              </a:p>
            </p:txBody>
          </p:sp>
          <p:sp>
            <p:nvSpPr>
              <p:cNvPr id="314" name="Google Shape;314;p42"/>
              <p:cNvSpPr/>
              <p:nvPr/>
            </p:nvSpPr>
            <p:spPr>
              <a:xfrm>
                <a:off x="5641133" y="3845249"/>
                <a:ext cx="1679100" cy="36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else</a:t>
                </a:r>
                <a:endParaRPr b="1">
                  <a:solidFill>
                    <a:srgbClr val="FFFFFF"/>
                  </a:solidFill>
                  <a:latin typeface="Montserrat"/>
                  <a:ea typeface="Montserrat"/>
                  <a:cs typeface="Montserrat"/>
                  <a:sym typeface="Montserrat"/>
                </a:endParaRPr>
              </a:p>
            </p:txBody>
          </p:sp>
          <p:cxnSp>
            <p:nvCxnSpPr>
              <p:cNvPr id="316" name="Google Shape;316;p42"/>
              <p:cNvCxnSpPr>
                <a:stCxn id="310" idx="3"/>
                <a:endCxn id="314" idx="0"/>
              </p:cNvCxnSpPr>
              <p:nvPr/>
            </p:nvCxnSpPr>
            <p:spPr>
              <a:xfrm>
                <a:off x="5491929" y="2991820"/>
                <a:ext cx="988800" cy="853500"/>
              </a:xfrm>
              <a:prstGeom prst="bentConnector2">
                <a:avLst/>
              </a:prstGeom>
              <a:noFill/>
              <a:ln cap="flat" cmpd="sng" w="28575">
                <a:solidFill>
                  <a:srgbClr val="000000"/>
                </a:solidFill>
                <a:prstDash val="solid"/>
                <a:round/>
                <a:headEnd len="med" w="med" type="none"/>
                <a:tailEnd len="med" w="med" type="stealth"/>
              </a:ln>
            </p:spPr>
          </p:cxnSp>
          <p:cxnSp>
            <p:nvCxnSpPr>
              <p:cNvPr id="317" name="Google Shape;317;p42"/>
              <p:cNvCxnSpPr>
                <a:stCxn id="310" idx="2"/>
              </p:cNvCxnSpPr>
              <p:nvPr/>
            </p:nvCxnSpPr>
            <p:spPr>
              <a:xfrm>
                <a:off x="4652379" y="3635620"/>
                <a:ext cx="9000" cy="231600"/>
              </a:xfrm>
              <a:prstGeom prst="straightConnector1">
                <a:avLst/>
              </a:prstGeom>
              <a:noFill/>
              <a:ln cap="flat" cmpd="sng" w="28575">
                <a:solidFill>
                  <a:srgbClr val="000000"/>
                </a:solidFill>
                <a:prstDash val="solid"/>
                <a:round/>
                <a:headEnd len="med" w="med" type="none"/>
                <a:tailEnd len="med" w="med" type="stealth"/>
              </a:ln>
            </p:spPr>
          </p:cxnSp>
          <p:sp>
            <p:nvSpPr>
              <p:cNvPr id="318" name="Google Shape;318;p42"/>
              <p:cNvSpPr txBox="1"/>
              <p:nvPr/>
            </p:nvSpPr>
            <p:spPr>
              <a:xfrm>
                <a:off x="5631418" y="2621991"/>
                <a:ext cx="752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cxnSp>
            <p:nvCxnSpPr>
              <p:cNvPr id="319" name="Google Shape;319;p42"/>
              <p:cNvCxnSpPr>
                <a:stCxn id="315" idx="2"/>
              </p:cNvCxnSpPr>
              <p:nvPr/>
            </p:nvCxnSpPr>
            <p:spPr>
              <a:xfrm>
                <a:off x="4634670" y="4212749"/>
                <a:ext cx="3600" cy="347700"/>
              </a:xfrm>
              <a:prstGeom prst="straightConnector1">
                <a:avLst/>
              </a:prstGeom>
              <a:noFill/>
              <a:ln cap="flat" cmpd="sng" w="28575">
                <a:solidFill>
                  <a:srgbClr val="000000"/>
                </a:solidFill>
                <a:prstDash val="solid"/>
                <a:round/>
                <a:headEnd len="med" w="med" type="none"/>
                <a:tailEnd len="med" w="med" type="stealth"/>
              </a:ln>
            </p:spPr>
          </p:cxnSp>
          <p:sp>
            <p:nvSpPr>
              <p:cNvPr id="320" name="Google Shape;320;p42"/>
              <p:cNvSpPr txBox="1"/>
              <p:nvPr/>
            </p:nvSpPr>
            <p:spPr>
              <a:xfrm>
                <a:off x="4819173" y="3450222"/>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grpSp>
      </p:grpSp>
      <p:sp>
        <p:nvSpPr>
          <p:cNvPr id="321" name="Google Shape;321;p4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if...elif...else</a:t>
            </a:r>
            <a:r>
              <a:rPr b="1" lang="en-GB"/>
              <a:t> </a:t>
            </a:r>
            <a:r>
              <a:rPr lang="en-GB"/>
              <a:t>Statement</a:t>
            </a:r>
            <a:endParaRPr/>
          </a:p>
        </p:txBody>
      </p:sp>
      <p:cxnSp>
        <p:nvCxnSpPr>
          <p:cNvPr id="322" name="Google Shape;322;p42"/>
          <p:cNvCxnSpPr/>
          <p:nvPr/>
        </p:nvCxnSpPr>
        <p:spPr>
          <a:xfrm rot="10800000">
            <a:off x="6636675" y="1285875"/>
            <a:ext cx="1348200" cy="0"/>
          </a:xfrm>
          <a:prstGeom prst="straightConnector1">
            <a:avLst/>
          </a:prstGeom>
          <a:noFill/>
          <a:ln cap="flat" cmpd="sng" w="38100">
            <a:solidFill>
              <a:schemeClr val="dk2"/>
            </a:solidFill>
            <a:prstDash val="solid"/>
            <a:round/>
            <a:headEnd len="med" w="med" type="none"/>
            <a:tailEnd len="med" w="med" type="triangle"/>
          </a:ln>
        </p:spPr>
      </p:cxnSp>
      <p:grpSp>
        <p:nvGrpSpPr>
          <p:cNvPr id="323" name="Google Shape;323;p42"/>
          <p:cNvGrpSpPr/>
          <p:nvPr/>
        </p:nvGrpSpPr>
        <p:grpSpPr>
          <a:xfrm>
            <a:off x="6103275" y="2505075"/>
            <a:ext cx="2034000" cy="609600"/>
            <a:chOff x="6103275" y="2505075"/>
            <a:chExt cx="2034000" cy="609600"/>
          </a:xfrm>
        </p:grpSpPr>
        <p:cxnSp>
          <p:nvCxnSpPr>
            <p:cNvPr id="324" name="Google Shape;324;p42"/>
            <p:cNvCxnSpPr/>
            <p:nvPr/>
          </p:nvCxnSpPr>
          <p:spPr>
            <a:xfrm rot="10800000">
              <a:off x="6789075" y="2505075"/>
              <a:ext cx="1348200" cy="0"/>
            </a:xfrm>
            <a:prstGeom prst="straightConnector1">
              <a:avLst/>
            </a:prstGeom>
            <a:noFill/>
            <a:ln cap="flat" cmpd="sng" w="38100">
              <a:solidFill>
                <a:schemeClr val="dk2"/>
              </a:solidFill>
              <a:prstDash val="solid"/>
              <a:round/>
              <a:headEnd len="med" w="med" type="none"/>
              <a:tailEnd len="med" w="med" type="triangle"/>
            </a:ln>
          </p:spPr>
        </p:cxnSp>
        <p:cxnSp>
          <p:nvCxnSpPr>
            <p:cNvPr id="325" name="Google Shape;325;p42"/>
            <p:cNvCxnSpPr/>
            <p:nvPr/>
          </p:nvCxnSpPr>
          <p:spPr>
            <a:xfrm rot="10800000">
              <a:off x="6103275" y="3114675"/>
              <a:ext cx="1348200" cy="0"/>
            </a:xfrm>
            <a:prstGeom prst="straightConnector1">
              <a:avLst/>
            </a:prstGeom>
            <a:noFill/>
            <a:ln cap="flat" cmpd="sng" w="38100">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par>
                                <p:cTn fill="hold" nodeType="withEffect" presetClass="exit" presetID="10" presetSubtype="0">
                                  <p:stCondLst>
                                    <p:cond delay="0"/>
                                  </p:stCondLst>
                                  <p:childTnLst>
                                    <p:animEffect filter="fade" transition="out">
                                      <p:cBhvr>
                                        <p:cTn dur="1000"/>
                                        <p:tgtEl>
                                          <p:spTgt spid="322"/>
                                        </p:tgtEl>
                                      </p:cBhvr>
                                    </p:animEffect>
                                    <p:set>
                                      <p:cBhvr>
                                        <p:cTn dur="1" fill="hold">
                                          <p:stCondLst>
                                            <p:cond delay="1000"/>
                                          </p:stCondLst>
                                        </p:cTn>
                                        <p:tgtEl>
                                          <p:spTgt spid="3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if...elif...else</a:t>
            </a:r>
            <a:r>
              <a:rPr b="1" lang="en-GB"/>
              <a:t> </a:t>
            </a:r>
            <a:r>
              <a:rPr lang="en-GB"/>
              <a:t>Statement</a:t>
            </a:r>
            <a:endParaRPr/>
          </a:p>
        </p:txBody>
      </p:sp>
      <p:grpSp>
        <p:nvGrpSpPr>
          <p:cNvPr id="331" name="Google Shape;331;p43"/>
          <p:cNvGrpSpPr/>
          <p:nvPr/>
        </p:nvGrpSpPr>
        <p:grpSpPr>
          <a:xfrm>
            <a:off x="139293" y="912725"/>
            <a:ext cx="5271496" cy="3934733"/>
            <a:chOff x="1892975" y="885250"/>
            <a:chExt cx="5427258" cy="4156701"/>
          </a:xfrm>
        </p:grpSpPr>
        <p:sp>
          <p:nvSpPr>
            <p:cNvPr id="332" name="Google Shape;332;p43"/>
            <p:cNvSpPr/>
            <p:nvPr/>
          </p:nvSpPr>
          <p:spPr>
            <a:xfrm>
              <a:off x="1892975" y="138175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0000" wrap="square" tIns="91425">
              <a:noAutofit/>
            </a:bodyPr>
            <a:lstStyle/>
            <a:p>
              <a:pPr indent="0" lvl="0" marL="0" marR="0" rtl="0" algn="ctr">
                <a:spcBef>
                  <a:spcPts val="0"/>
                </a:spcBef>
                <a:spcAft>
                  <a:spcPts val="0"/>
                </a:spcAft>
                <a:buNone/>
              </a:pPr>
              <a:r>
                <a:rPr b="1" lang="en-GB">
                  <a:solidFill>
                    <a:srgbClr val="FFFFFF"/>
                  </a:solidFill>
                  <a:latin typeface="Montserrat"/>
                  <a:ea typeface="Montserrat"/>
                  <a:cs typeface="Montserrat"/>
                  <a:sym typeface="Montserrat"/>
                </a:rPr>
                <a:t>Test Condition 1</a:t>
              </a:r>
              <a:r>
                <a:rPr b="1" lang="en-GB">
                  <a:latin typeface="Montserrat"/>
                  <a:ea typeface="Montserrat"/>
                  <a:cs typeface="Montserrat"/>
                  <a:sym typeface="Montserrat"/>
                </a:rPr>
                <a:t> </a:t>
              </a:r>
              <a:endParaRPr b="1">
                <a:latin typeface="Montserrat"/>
                <a:ea typeface="Montserrat"/>
                <a:cs typeface="Montserrat"/>
                <a:sym typeface="Montserrat"/>
              </a:endParaRPr>
            </a:p>
          </p:txBody>
        </p:sp>
        <p:cxnSp>
          <p:nvCxnSpPr>
            <p:cNvPr id="333" name="Google Shape;333;p43"/>
            <p:cNvCxnSpPr>
              <a:endCxn id="332" idx="0"/>
            </p:cNvCxnSpPr>
            <p:nvPr/>
          </p:nvCxnSpPr>
          <p:spPr>
            <a:xfrm>
              <a:off x="2716925" y="885250"/>
              <a:ext cx="15600" cy="496500"/>
            </a:xfrm>
            <a:prstGeom prst="straightConnector1">
              <a:avLst/>
            </a:prstGeom>
            <a:noFill/>
            <a:ln cap="flat" cmpd="sng" w="28575">
              <a:solidFill>
                <a:srgbClr val="2074B9"/>
              </a:solidFill>
              <a:prstDash val="solid"/>
              <a:round/>
              <a:headEnd len="med" w="med" type="none"/>
              <a:tailEnd len="med" w="med" type="stealth"/>
            </a:ln>
          </p:spPr>
        </p:cxnSp>
        <p:cxnSp>
          <p:nvCxnSpPr>
            <p:cNvPr id="334" name="Google Shape;334;p43"/>
            <p:cNvCxnSpPr>
              <a:stCxn id="332" idx="2"/>
            </p:cNvCxnSpPr>
            <p:nvPr/>
          </p:nvCxnSpPr>
          <p:spPr>
            <a:xfrm flipH="1">
              <a:off x="2729525" y="2669350"/>
              <a:ext cx="3000" cy="1176300"/>
            </a:xfrm>
            <a:prstGeom prst="straightConnector1">
              <a:avLst/>
            </a:prstGeom>
            <a:noFill/>
            <a:ln cap="flat" cmpd="sng" w="28575">
              <a:solidFill>
                <a:srgbClr val="2074B9"/>
              </a:solidFill>
              <a:prstDash val="solid"/>
              <a:round/>
              <a:headEnd len="med" w="med" type="none"/>
              <a:tailEnd len="med" w="med" type="stealth"/>
            </a:ln>
          </p:spPr>
        </p:cxnSp>
        <p:sp>
          <p:nvSpPr>
            <p:cNvPr id="335" name="Google Shape;335;p43"/>
            <p:cNvSpPr/>
            <p:nvPr/>
          </p:nvSpPr>
          <p:spPr>
            <a:xfrm>
              <a:off x="1949106" y="3845249"/>
              <a:ext cx="1679100" cy="367500"/>
            </a:xfrm>
            <a:prstGeom prst="rect">
              <a:avLst/>
            </a:prstGeom>
            <a:solidFill>
              <a:srgbClr val="2074B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if</a:t>
              </a:r>
              <a:endParaRPr b="1">
                <a:solidFill>
                  <a:srgbClr val="FFFFFF"/>
                </a:solidFill>
                <a:latin typeface="Montserrat"/>
                <a:ea typeface="Montserrat"/>
                <a:cs typeface="Montserrat"/>
                <a:sym typeface="Montserrat"/>
              </a:endParaRPr>
            </a:p>
          </p:txBody>
        </p:sp>
        <p:cxnSp>
          <p:nvCxnSpPr>
            <p:cNvPr id="336" name="Google Shape;336;p43"/>
            <p:cNvCxnSpPr/>
            <p:nvPr/>
          </p:nvCxnSpPr>
          <p:spPr>
            <a:xfrm>
              <a:off x="2723375" y="4212750"/>
              <a:ext cx="15300" cy="829200"/>
            </a:xfrm>
            <a:prstGeom prst="straightConnector1">
              <a:avLst/>
            </a:prstGeom>
            <a:noFill/>
            <a:ln cap="flat" cmpd="sng" w="28575">
              <a:solidFill>
                <a:srgbClr val="2074B9"/>
              </a:solidFill>
              <a:prstDash val="solid"/>
              <a:round/>
              <a:headEnd len="med" w="med" type="none"/>
              <a:tailEnd len="med" w="med" type="stealth"/>
            </a:ln>
          </p:spPr>
        </p:cxnSp>
        <p:cxnSp>
          <p:nvCxnSpPr>
            <p:cNvPr id="337" name="Google Shape;337;p43"/>
            <p:cNvCxnSpPr>
              <a:stCxn id="332" idx="3"/>
              <a:endCxn id="338" idx="0"/>
            </p:cNvCxnSpPr>
            <p:nvPr/>
          </p:nvCxnSpPr>
          <p:spPr>
            <a:xfrm>
              <a:off x="3572075" y="2025550"/>
              <a:ext cx="1080300" cy="322500"/>
            </a:xfrm>
            <a:prstGeom prst="bentConnector2">
              <a:avLst/>
            </a:prstGeom>
            <a:noFill/>
            <a:ln cap="flat" cmpd="sng" w="28575">
              <a:solidFill>
                <a:srgbClr val="CCCCCC"/>
              </a:solidFill>
              <a:prstDash val="solid"/>
              <a:round/>
              <a:headEnd len="med" w="med" type="none"/>
              <a:tailEnd len="med" w="med" type="stealth"/>
            </a:ln>
          </p:spPr>
        </p:cxnSp>
        <p:sp>
          <p:nvSpPr>
            <p:cNvPr id="339" name="Google Shape;339;p43"/>
            <p:cNvSpPr txBox="1"/>
            <p:nvPr/>
          </p:nvSpPr>
          <p:spPr>
            <a:xfrm>
              <a:off x="3785405" y="1724740"/>
              <a:ext cx="752100" cy="3009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b="1" lang="en-GB">
                  <a:solidFill>
                    <a:srgbClr val="CCCCCC"/>
                  </a:solidFill>
                  <a:latin typeface="Montserrat"/>
                  <a:ea typeface="Montserrat"/>
                  <a:cs typeface="Montserrat"/>
                  <a:sym typeface="Montserrat"/>
                </a:rPr>
                <a:t>False</a:t>
              </a:r>
              <a:endParaRPr b="1">
                <a:solidFill>
                  <a:srgbClr val="CCCCCC"/>
                </a:solidFill>
                <a:latin typeface="Montserrat"/>
                <a:ea typeface="Montserrat"/>
                <a:cs typeface="Montserrat"/>
                <a:sym typeface="Montserrat"/>
              </a:endParaRPr>
            </a:p>
          </p:txBody>
        </p:sp>
        <p:sp>
          <p:nvSpPr>
            <p:cNvPr id="340" name="Google Shape;340;p43"/>
            <p:cNvSpPr txBox="1"/>
            <p:nvPr/>
          </p:nvSpPr>
          <p:spPr>
            <a:xfrm>
              <a:off x="2751638" y="3312184"/>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338" name="Google Shape;338;p43"/>
            <p:cNvSpPr/>
            <p:nvPr/>
          </p:nvSpPr>
          <p:spPr>
            <a:xfrm>
              <a:off x="3812829" y="2348020"/>
              <a:ext cx="1679100" cy="1287600"/>
            </a:xfrm>
            <a:prstGeom prst="diamond">
              <a:avLst/>
            </a:prstGeom>
            <a:solidFill>
              <a:srgbClr val="CCCCCC"/>
            </a:solidFill>
            <a:ln cap="flat" cmpd="sng" w="9525">
              <a:solidFill>
                <a:schemeClr val="dk2"/>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GB">
                  <a:solidFill>
                    <a:schemeClr val="lt1"/>
                  </a:solidFill>
                  <a:latin typeface="Montserrat"/>
                  <a:ea typeface="Montserrat"/>
                  <a:cs typeface="Montserrat"/>
                  <a:sym typeface="Montserrat"/>
                </a:rPr>
                <a:t>Test Condition 2</a:t>
              </a:r>
              <a:r>
                <a:rPr b="1" lang="en-GB">
                  <a:solidFill>
                    <a:schemeClr val="dk1"/>
                  </a:solidFill>
                  <a:latin typeface="Montserrat"/>
                  <a:ea typeface="Montserrat"/>
                  <a:cs typeface="Montserrat"/>
                  <a:sym typeface="Montserrat"/>
                </a:rPr>
                <a:t> </a:t>
              </a:r>
              <a:endParaRPr b="1">
                <a:solidFill>
                  <a:schemeClr val="dk1"/>
                </a:solidFill>
                <a:latin typeface="Montserrat"/>
                <a:ea typeface="Montserrat"/>
                <a:cs typeface="Montserrat"/>
                <a:sym typeface="Montserrat"/>
              </a:endParaRPr>
            </a:p>
          </p:txBody>
        </p:sp>
        <p:cxnSp>
          <p:nvCxnSpPr>
            <p:cNvPr id="341" name="Google Shape;341;p43"/>
            <p:cNvCxnSpPr>
              <a:stCxn id="342" idx="2"/>
            </p:cNvCxnSpPr>
            <p:nvPr/>
          </p:nvCxnSpPr>
          <p:spPr>
            <a:xfrm rot="5400000">
              <a:off x="4414433" y="2522099"/>
              <a:ext cx="375600" cy="3756900"/>
            </a:xfrm>
            <a:prstGeom prst="bentConnector2">
              <a:avLst/>
            </a:prstGeom>
            <a:noFill/>
            <a:ln cap="flat" cmpd="sng" w="28575">
              <a:solidFill>
                <a:srgbClr val="CCCCCC"/>
              </a:solidFill>
              <a:prstDash val="solid"/>
              <a:round/>
              <a:headEnd len="med" w="med" type="none"/>
              <a:tailEnd len="med" w="med" type="triangle"/>
            </a:ln>
          </p:spPr>
        </p:cxnSp>
        <p:sp>
          <p:nvSpPr>
            <p:cNvPr id="343" name="Google Shape;343;p43"/>
            <p:cNvSpPr/>
            <p:nvPr/>
          </p:nvSpPr>
          <p:spPr>
            <a:xfrm>
              <a:off x="3795120" y="3845249"/>
              <a:ext cx="1679100" cy="367500"/>
            </a:xfrm>
            <a:prstGeom prst="rect">
              <a:avLst/>
            </a:pr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elif</a:t>
              </a:r>
              <a:endParaRPr b="1">
                <a:solidFill>
                  <a:srgbClr val="FFFFFF"/>
                </a:solidFill>
                <a:latin typeface="Montserrat"/>
                <a:ea typeface="Montserrat"/>
                <a:cs typeface="Montserrat"/>
                <a:sym typeface="Montserrat"/>
              </a:endParaRPr>
            </a:p>
          </p:txBody>
        </p:sp>
        <p:sp>
          <p:nvSpPr>
            <p:cNvPr id="342" name="Google Shape;342;p43"/>
            <p:cNvSpPr/>
            <p:nvPr/>
          </p:nvSpPr>
          <p:spPr>
            <a:xfrm>
              <a:off x="5641133" y="3845249"/>
              <a:ext cx="1679100" cy="367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else</a:t>
              </a:r>
              <a:endParaRPr b="1">
                <a:solidFill>
                  <a:srgbClr val="FFFFFF"/>
                </a:solidFill>
                <a:latin typeface="Montserrat"/>
                <a:ea typeface="Montserrat"/>
                <a:cs typeface="Montserrat"/>
                <a:sym typeface="Montserrat"/>
              </a:endParaRPr>
            </a:p>
          </p:txBody>
        </p:sp>
        <p:cxnSp>
          <p:nvCxnSpPr>
            <p:cNvPr id="344" name="Google Shape;344;p43"/>
            <p:cNvCxnSpPr>
              <a:stCxn id="338" idx="3"/>
              <a:endCxn id="342" idx="0"/>
            </p:cNvCxnSpPr>
            <p:nvPr/>
          </p:nvCxnSpPr>
          <p:spPr>
            <a:xfrm>
              <a:off x="5491929" y="2991820"/>
              <a:ext cx="988800" cy="853500"/>
            </a:xfrm>
            <a:prstGeom prst="bentConnector2">
              <a:avLst/>
            </a:prstGeom>
            <a:noFill/>
            <a:ln cap="flat" cmpd="sng" w="28575">
              <a:solidFill>
                <a:srgbClr val="CCCCCC"/>
              </a:solidFill>
              <a:prstDash val="solid"/>
              <a:round/>
              <a:headEnd len="med" w="med" type="none"/>
              <a:tailEnd len="med" w="med" type="stealth"/>
            </a:ln>
          </p:spPr>
        </p:cxnSp>
        <p:cxnSp>
          <p:nvCxnSpPr>
            <p:cNvPr id="345" name="Google Shape;345;p43"/>
            <p:cNvCxnSpPr>
              <a:stCxn id="338" idx="2"/>
            </p:cNvCxnSpPr>
            <p:nvPr/>
          </p:nvCxnSpPr>
          <p:spPr>
            <a:xfrm>
              <a:off x="4652379" y="3635620"/>
              <a:ext cx="9000" cy="231600"/>
            </a:xfrm>
            <a:prstGeom prst="straightConnector1">
              <a:avLst/>
            </a:prstGeom>
            <a:noFill/>
            <a:ln cap="flat" cmpd="sng" w="28575">
              <a:solidFill>
                <a:srgbClr val="CCCCCC"/>
              </a:solidFill>
              <a:prstDash val="solid"/>
              <a:round/>
              <a:headEnd len="med" w="med" type="none"/>
              <a:tailEnd len="med" w="med" type="stealth"/>
            </a:ln>
          </p:spPr>
        </p:cxnSp>
        <p:sp>
          <p:nvSpPr>
            <p:cNvPr id="346" name="Google Shape;346;p43"/>
            <p:cNvSpPr txBox="1"/>
            <p:nvPr/>
          </p:nvSpPr>
          <p:spPr>
            <a:xfrm>
              <a:off x="5631418" y="2621991"/>
              <a:ext cx="752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CCCCCC"/>
                  </a:solidFill>
                  <a:latin typeface="Montserrat"/>
                  <a:ea typeface="Montserrat"/>
                  <a:cs typeface="Montserrat"/>
                  <a:sym typeface="Montserrat"/>
                </a:rPr>
                <a:t>False</a:t>
              </a:r>
              <a:endParaRPr b="1">
                <a:solidFill>
                  <a:srgbClr val="CCCCCC"/>
                </a:solidFill>
                <a:latin typeface="Montserrat"/>
                <a:ea typeface="Montserrat"/>
                <a:cs typeface="Montserrat"/>
                <a:sym typeface="Montserrat"/>
              </a:endParaRPr>
            </a:p>
          </p:txBody>
        </p:sp>
        <p:cxnSp>
          <p:nvCxnSpPr>
            <p:cNvPr id="347" name="Google Shape;347;p43"/>
            <p:cNvCxnSpPr>
              <a:stCxn id="343" idx="2"/>
            </p:cNvCxnSpPr>
            <p:nvPr/>
          </p:nvCxnSpPr>
          <p:spPr>
            <a:xfrm>
              <a:off x="4634670" y="4212749"/>
              <a:ext cx="3600" cy="347700"/>
            </a:xfrm>
            <a:prstGeom prst="straightConnector1">
              <a:avLst/>
            </a:prstGeom>
            <a:noFill/>
            <a:ln cap="flat" cmpd="sng" w="28575">
              <a:solidFill>
                <a:srgbClr val="CCCCCC"/>
              </a:solidFill>
              <a:prstDash val="solid"/>
              <a:round/>
              <a:headEnd len="med" w="med" type="none"/>
              <a:tailEnd len="med" w="med" type="stealth"/>
            </a:ln>
          </p:spPr>
        </p:cxnSp>
        <p:sp>
          <p:nvSpPr>
            <p:cNvPr id="348" name="Google Shape;348;p43"/>
            <p:cNvSpPr txBox="1"/>
            <p:nvPr/>
          </p:nvSpPr>
          <p:spPr>
            <a:xfrm>
              <a:off x="4819173" y="3450222"/>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CCCCCC"/>
                  </a:solidFill>
                  <a:latin typeface="Montserrat"/>
                  <a:ea typeface="Montserrat"/>
                  <a:cs typeface="Montserrat"/>
                  <a:sym typeface="Montserrat"/>
                </a:rPr>
                <a:t>True</a:t>
              </a:r>
              <a:endParaRPr b="1">
                <a:solidFill>
                  <a:srgbClr val="CCCCCC"/>
                </a:solidFill>
                <a:latin typeface="Montserrat"/>
                <a:ea typeface="Montserrat"/>
                <a:cs typeface="Montserrat"/>
                <a:sym typeface="Montserrat"/>
              </a:endParaRPr>
            </a:p>
          </p:txBody>
        </p:sp>
      </p:grpSp>
      <p:sp>
        <p:nvSpPr>
          <p:cNvPr id="349" name="Google Shape;349;p43"/>
          <p:cNvSpPr txBox="1"/>
          <p:nvPr/>
        </p:nvSpPr>
        <p:spPr>
          <a:xfrm>
            <a:off x="4764000" y="859200"/>
            <a:ext cx="4807500" cy="2770200"/>
          </a:xfrm>
          <a:prstGeom prst="rect">
            <a:avLst/>
          </a:prstGeom>
          <a:noFill/>
          <a:ln>
            <a:noFill/>
          </a:ln>
        </p:spPr>
        <p:txBody>
          <a:bodyPr anchorCtr="0" anchor="t" bIns="18000" lIns="18000" spcFirstLastPara="1" rIns="91425" wrap="square" tIns="18000">
            <a:noAutofit/>
          </a:bodyPr>
          <a:lstStyle/>
          <a:p>
            <a:pPr indent="0" lvl="0" marL="0" rtl="0" algn="l">
              <a:lnSpc>
                <a:spcPct val="115000"/>
              </a:lnSpc>
              <a:spcBef>
                <a:spcPts val="0"/>
              </a:spcBef>
              <a:spcAft>
                <a:spcPts val="0"/>
              </a:spcAft>
              <a:buNone/>
            </a:pPr>
            <a:r>
              <a:rPr b="1" lang="en-GB" sz="1700">
                <a:latin typeface="Courier New"/>
                <a:ea typeface="Courier New"/>
                <a:cs typeface="Courier New"/>
                <a:sym typeface="Courier New"/>
              </a:rPr>
              <a:t>Syntax</a:t>
            </a:r>
            <a:endParaRPr b="1"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if</a:t>
            </a:r>
            <a:r>
              <a:rPr lang="en-GB" sz="1700">
                <a:latin typeface="Courier New"/>
                <a:ea typeface="Courier New"/>
                <a:cs typeface="Courier New"/>
                <a:sym typeface="Courier New"/>
              </a:rPr>
              <a:t> age &gt; 18:</a:t>
            </a:r>
            <a:endParaRPr sz="1700">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“you can enter”</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“Enjoy your party”</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t/>
            </a:r>
            <a:endParaRPr sz="1700">
              <a:solidFill>
                <a:srgbClr val="795E26"/>
              </a:solidFill>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elif</a:t>
            </a:r>
            <a:r>
              <a:rPr lang="en-GB" sz="1700">
                <a:latin typeface="Courier New"/>
                <a:ea typeface="Courier New"/>
                <a:cs typeface="Courier New"/>
                <a:sym typeface="Courier New"/>
              </a:rPr>
              <a:t> age == 18:</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latin typeface="Courier New"/>
                <a:ea typeface="Courier New"/>
                <a:cs typeface="Courier New"/>
                <a:sym typeface="Courier New"/>
              </a:rPr>
              <a:t>    print(</a:t>
            </a:r>
            <a:r>
              <a:rPr lang="en-GB" sz="1700">
                <a:solidFill>
                  <a:srgbClr val="980000"/>
                </a:solidFill>
                <a:latin typeface="Courier New"/>
                <a:ea typeface="Courier New"/>
                <a:cs typeface="Courier New"/>
                <a:sym typeface="Courier New"/>
              </a:rPr>
              <a:t>“you are at right age”</a:t>
            </a:r>
            <a:r>
              <a:rPr lang="en-GB" sz="1700">
                <a:solidFill>
                  <a:srgbClr val="795E26"/>
                </a:solidFill>
                <a:latin typeface="Courier New"/>
                <a:ea typeface="Courier New"/>
                <a:cs typeface="Courier New"/>
                <a:sym typeface="Courier New"/>
              </a:rPr>
              <a:t>)</a:t>
            </a:r>
            <a:endParaRPr sz="1700">
              <a:solidFill>
                <a:srgbClr val="AF00DB"/>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else</a:t>
            </a:r>
            <a:r>
              <a:rPr lang="en-GB" sz="1700">
                <a:latin typeface="Courier New"/>
                <a:ea typeface="Courier New"/>
                <a:cs typeface="Courier New"/>
                <a:sym typeface="Courier New"/>
              </a:rPr>
              <a:t>: </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	print(</a:t>
            </a:r>
            <a:r>
              <a:rPr lang="en-GB" sz="1700">
                <a:solidFill>
                  <a:srgbClr val="980000"/>
                </a:solidFill>
                <a:highlight>
                  <a:srgbClr val="FFFFFE"/>
                </a:highlight>
                <a:latin typeface="Courier New"/>
                <a:ea typeface="Courier New"/>
                <a:cs typeface="Courier New"/>
                <a:sym typeface="Courier New"/>
              </a:rPr>
              <a:t>“Move on”</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0" lvl="0" marL="152400" marR="152400" rtl="0" algn="l">
              <a:lnSpc>
                <a:spcPct val="115000"/>
              </a:lnSpc>
              <a:spcBef>
                <a:spcPts val="0"/>
              </a:spcBef>
              <a:spcAft>
                <a:spcPts val="1200"/>
              </a:spcAft>
              <a:buNone/>
            </a:pPr>
            <a:r>
              <a:t/>
            </a:r>
            <a:endParaRPr sz="1700">
              <a:solidFill>
                <a:srgbClr val="795E26"/>
              </a:solidFill>
              <a:latin typeface="Courier New"/>
              <a:ea typeface="Courier New"/>
              <a:cs typeface="Courier New"/>
              <a:sym typeface="Courier New"/>
            </a:endParaRPr>
          </a:p>
        </p:txBody>
      </p:sp>
      <p:grpSp>
        <p:nvGrpSpPr>
          <p:cNvPr id="350" name="Google Shape;350;p43"/>
          <p:cNvGrpSpPr/>
          <p:nvPr/>
        </p:nvGrpSpPr>
        <p:grpSpPr>
          <a:xfrm>
            <a:off x="1265136" y="1181875"/>
            <a:ext cx="5108874" cy="456575"/>
            <a:chOff x="1265136" y="1181875"/>
            <a:chExt cx="5108874" cy="456575"/>
          </a:xfrm>
        </p:grpSpPr>
        <p:grpSp>
          <p:nvGrpSpPr>
            <p:cNvPr id="351" name="Google Shape;351;p43"/>
            <p:cNvGrpSpPr/>
            <p:nvPr/>
          </p:nvGrpSpPr>
          <p:grpSpPr>
            <a:xfrm flipH="1">
              <a:off x="1265136" y="1181875"/>
              <a:ext cx="5108874" cy="456575"/>
              <a:chOff x="619670" y="1562875"/>
              <a:chExt cx="4934203" cy="456575"/>
            </a:xfrm>
          </p:grpSpPr>
          <p:sp>
            <p:nvSpPr>
              <p:cNvPr id="352" name="Google Shape;352;p43"/>
              <p:cNvSpPr txBox="1"/>
              <p:nvPr/>
            </p:nvSpPr>
            <p:spPr>
              <a:xfrm>
                <a:off x="619670" y="1562875"/>
                <a:ext cx="1241100" cy="2877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53" name="Google Shape;353;p43"/>
              <p:cNvSpPr/>
              <p:nvPr/>
            </p:nvSpPr>
            <p:spPr>
              <a:xfrm>
                <a:off x="1888223" y="1915750"/>
                <a:ext cx="3665650" cy="103700"/>
              </a:xfrm>
              <a:custGeom>
                <a:rect b="b" l="l" r="r" t="t"/>
                <a:pathLst>
                  <a:path extrusionOk="0" h="4148" w="146626">
                    <a:moveTo>
                      <a:pt x="0" y="0"/>
                    </a:moveTo>
                    <a:lnTo>
                      <a:pt x="33652" y="4148"/>
                    </a:lnTo>
                    <a:lnTo>
                      <a:pt x="70509" y="4148"/>
                    </a:lnTo>
                    <a:lnTo>
                      <a:pt x="146626" y="2489"/>
                    </a:lnTo>
                  </a:path>
                </a:pathLst>
              </a:custGeom>
              <a:noFill/>
              <a:ln cap="flat" cmpd="sng" w="28575">
                <a:solidFill>
                  <a:schemeClr val="accent3"/>
                </a:solidFill>
                <a:prstDash val="solid"/>
                <a:round/>
                <a:headEnd len="med" w="med" type="stealth"/>
                <a:tailEnd len="med" w="med" type="none"/>
              </a:ln>
            </p:spPr>
          </p:sp>
        </p:grpSp>
        <p:sp>
          <p:nvSpPr>
            <p:cNvPr id="354" name="Google Shape;354;p43"/>
            <p:cNvSpPr txBox="1"/>
            <p:nvPr/>
          </p:nvSpPr>
          <p:spPr>
            <a:xfrm>
              <a:off x="2500600" y="1286750"/>
              <a:ext cx="1476300" cy="287700"/>
            </a:xfrm>
            <a:prstGeom prst="rect">
              <a:avLst/>
            </a:prstGeom>
            <a:noFill/>
            <a:ln>
              <a:noFill/>
            </a:ln>
          </p:spPr>
          <p:txBody>
            <a:bodyPr anchorCtr="0" anchor="t" bIns="0" lIns="54000" spcFirstLastPara="1" rIns="91425" wrap="square" tIns="0">
              <a:noAutofit/>
            </a:bodyPr>
            <a:lstStyle/>
            <a:p>
              <a:pPr indent="0" lvl="0" marL="0" rtl="0" algn="l">
                <a:spcBef>
                  <a:spcPts val="0"/>
                </a:spcBef>
                <a:spcAft>
                  <a:spcPts val="0"/>
                </a:spcAft>
                <a:buNone/>
              </a:pPr>
              <a:r>
                <a:rPr b="1" lang="en-GB" sz="1500">
                  <a:solidFill>
                    <a:schemeClr val="accent3"/>
                  </a:solidFill>
                  <a:latin typeface="Montserrat"/>
                  <a:ea typeface="Montserrat"/>
                  <a:cs typeface="Montserrat"/>
                  <a:sym typeface="Montserrat"/>
                </a:rPr>
                <a:t>True</a:t>
              </a:r>
              <a:endParaRPr b="1" sz="1500">
                <a:solidFill>
                  <a:schemeClr val="accent3"/>
                </a:solidFill>
                <a:latin typeface="Montserrat"/>
                <a:ea typeface="Montserrat"/>
                <a:cs typeface="Montserrat"/>
                <a:sym typeface="Montserrat"/>
              </a:endParaRPr>
            </a:p>
          </p:txBody>
        </p:sp>
      </p:grpSp>
      <p:grpSp>
        <p:nvGrpSpPr>
          <p:cNvPr id="355" name="Google Shape;355;p43"/>
          <p:cNvGrpSpPr/>
          <p:nvPr/>
        </p:nvGrpSpPr>
        <p:grpSpPr>
          <a:xfrm>
            <a:off x="1578420" y="1490641"/>
            <a:ext cx="3439256" cy="2075934"/>
            <a:chOff x="1578420" y="1490641"/>
            <a:chExt cx="3439256" cy="2075934"/>
          </a:xfrm>
        </p:grpSpPr>
        <p:sp>
          <p:nvSpPr>
            <p:cNvPr id="356" name="Google Shape;356;p43"/>
            <p:cNvSpPr/>
            <p:nvPr/>
          </p:nvSpPr>
          <p:spPr>
            <a:xfrm rot="10800000">
              <a:off x="4873920" y="1490641"/>
              <a:ext cx="143756" cy="562608"/>
            </a:xfrm>
            <a:prstGeom prst="rightBrace">
              <a:avLst>
                <a:gd fmla="val 50000" name="adj1"/>
                <a:gd fmla="val 58153"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a:p>
          </p:txBody>
        </p:sp>
        <p:cxnSp>
          <p:nvCxnSpPr>
            <p:cNvPr id="357" name="Google Shape;357;p43"/>
            <p:cNvCxnSpPr>
              <a:stCxn id="356" idx="1"/>
            </p:cNvCxnSpPr>
            <p:nvPr/>
          </p:nvCxnSpPr>
          <p:spPr>
            <a:xfrm flipH="1">
              <a:off x="1578420" y="1726075"/>
              <a:ext cx="3295500" cy="1840500"/>
            </a:xfrm>
            <a:prstGeom prst="straightConnector1">
              <a:avLst/>
            </a:prstGeom>
            <a:noFill/>
            <a:ln cap="flat" cmpd="sng" w="38100">
              <a:solidFill>
                <a:srgbClr val="666666"/>
              </a:solidFill>
              <a:prstDash val="solid"/>
              <a:round/>
              <a:headEnd len="med" w="med" type="stealth"/>
              <a:tailEnd len="med" w="med" type="none"/>
            </a:ln>
          </p:spPr>
        </p:cxnSp>
      </p:grpSp>
      <p:sp>
        <p:nvSpPr>
          <p:cNvPr id="358" name="Google Shape;358;p43"/>
          <p:cNvSpPr txBox="1"/>
          <p:nvPr/>
        </p:nvSpPr>
        <p:spPr>
          <a:xfrm>
            <a:off x="1572000" y="85920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chemeClr val="dk1"/>
                </a:solidFill>
                <a:latin typeface="Montserrat"/>
                <a:ea typeface="Montserrat"/>
                <a:cs typeface="Montserrat"/>
                <a:sym typeface="Montserrat"/>
              </a:rPr>
              <a:t>Age = 19</a:t>
            </a:r>
            <a:endParaRPr b="1" sz="15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par>
                                <p:cTn fill="hold" nodeType="withEffect" presetClass="exit" presetID="10" presetSubtype="0">
                                  <p:stCondLst>
                                    <p:cond delay="0"/>
                                  </p:stCondLst>
                                  <p:childTnLst>
                                    <p:animEffect filter="fade" transition="out">
                                      <p:cBhvr>
                                        <p:cTn dur="1000"/>
                                        <p:tgtEl>
                                          <p:spTgt spid="350"/>
                                        </p:tgtEl>
                                      </p:cBhvr>
                                    </p:animEffect>
                                    <p:set>
                                      <p:cBhvr>
                                        <p:cTn dur="1" fill="hold">
                                          <p:stCondLst>
                                            <p:cond delay="1000"/>
                                          </p:stCondLst>
                                        </p:cTn>
                                        <p:tgtEl>
                                          <p:spTgt spid="35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4"/>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if...elif...else</a:t>
            </a:r>
            <a:r>
              <a:rPr b="1" lang="en-GB"/>
              <a:t> </a:t>
            </a:r>
            <a:r>
              <a:rPr lang="en-GB"/>
              <a:t>Statement</a:t>
            </a:r>
            <a:endParaRPr/>
          </a:p>
        </p:txBody>
      </p:sp>
      <p:grpSp>
        <p:nvGrpSpPr>
          <p:cNvPr id="364" name="Google Shape;364;p44"/>
          <p:cNvGrpSpPr/>
          <p:nvPr/>
        </p:nvGrpSpPr>
        <p:grpSpPr>
          <a:xfrm>
            <a:off x="139293" y="912725"/>
            <a:ext cx="5271496" cy="3934638"/>
            <a:chOff x="1892975" y="885250"/>
            <a:chExt cx="5427258" cy="4156600"/>
          </a:xfrm>
        </p:grpSpPr>
        <p:sp>
          <p:nvSpPr>
            <p:cNvPr id="365" name="Google Shape;365;p44"/>
            <p:cNvSpPr/>
            <p:nvPr/>
          </p:nvSpPr>
          <p:spPr>
            <a:xfrm>
              <a:off x="1892975" y="138175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0000" wrap="square" tIns="91425">
              <a:noAutofit/>
            </a:bodyPr>
            <a:lstStyle/>
            <a:p>
              <a:pPr indent="0" lvl="0" marL="0" marR="0" rtl="0" algn="ctr">
                <a:spcBef>
                  <a:spcPts val="0"/>
                </a:spcBef>
                <a:spcAft>
                  <a:spcPts val="0"/>
                </a:spcAft>
                <a:buNone/>
              </a:pPr>
              <a:r>
                <a:rPr b="1" lang="en-GB">
                  <a:solidFill>
                    <a:srgbClr val="FFFFFF"/>
                  </a:solidFill>
                  <a:latin typeface="Montserrat"/>
                  <a:ea typeface="Montserrat"/>
                  <a:cs typeface="Montserrat"/>
                  <a:sym typeface="Montserrat"/>
                </a:rPr>
                <a:t>Test Condition 1</a:t>
              </a:r>
              <a:r>
                <a:rPr b="1" lang="en-GB">
                  <a:latin typeface="Montserrat"/>
                  <a:ea typeface="Montserrat"/>
                  <a:cs typeface="Montserrat"/>
                  <a:sym typeface="Montserrat"/>
                </a:rPr>
                <a:t> </a:t>
              </a:r>
              <a:endParaRPr b="1">
                <a:latin typeface="Montserrat"/>
                <a:ea typeface="Montserrat"/>
                <a:cs typeface="Montserrat"/>
                <a:sym typeface="Montserrat"/>
              </a:endParaRPr>
            </a:p>
          </p:txBody>
        </p:sp>
        <p:cxnSp>
          <p:nvCxnSpPr>
            <p:cNvPr id="366" name="Google Shape;366;p44"/>
            <p:cNvCxnSpPr>
              <a:endCxn id="365" idx="0"/>
            </p:cNvCxnSpPr>
            <p:nvPr/>
          </p:nvCxnSpPr>
          <p:spPr>
            <a:xfrm>
              <a:off x="2716925" y="885250"/>
              <a:ext cx="15600" cy="496500"/>
            </a:xfrm>
            <a:prstGeom prst="straightConnector1">
              <a:avLst/>
            </a:prstGeom>
            <a:noFill/>
            <a:ln cap="flat" cmpd="sng" w="28575">
              <a:solidFill>
                <a:schemeClr val="accent1"/>
              </a:solidFill>
              <a:prstDash val="solid"/>
              <a:round/>
              <a:headEnd len="med" w="med" type="none"/>
              <a:tailEnd len="med" w="med" type="stealth"/>
            </a:ln>
          </p:spPr>
        </p:cxnSp>
        <p:cxnSp>
          <p:nvCxnSpPr>
            <p:cNvPr id="367" name="Google Shape;367;p44"/>
            <p:cNvCxnSpPr>
              <a:stCxn id="365" idx="2"/>
            </p:cNvCxnSpPr>
            <p:nvPr/>
          </p:nvCxnSpPr>
          <p:spPr>
            <a:xfrm flipH="1">
              <a:off x="2729525" y="2669350"/>
              <a:ext cx="3000" cy="1176300"/>
            </a:xfrm>
            <a:prstGeom prst="straightConnector1">
              <a:avLst/>
            </a:prstGeom>
            <a:noFill/>
            <a:ln cap="flat" cmpd="sng" w="28575">
              <a:solidFill>
                <a:srgbClr val="CCCCCC"/>
              </a:solidFill>
              <a:prstDash val="solid"/>
              <a:round/>
              <a:headEnd len="med" w="med" type="none"/>
              <a:tailEnd len="med" w="med" type="stealth"/>
            </a:ln>
          </p:spPr>
        </p:cxnSp>
        <p:sp>
          <p:nvSpPr>
            <p:cNvPr id="368" name="Google Shape;368;p44"/>
            <p:cNvSpPr/>
            <p:nvPr/>
          </p:nvSpPr>
          <p:spPr>
            <a:xfrm>
              <a:off x="1949106" y="3845249"/>
              <a:ext cx="1679100" cy="367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if</a:t>
              </a:r>
              <a:endParaRPr b="1">
                <a:solidFill>
                  <a:srgbClr val="FFFFFF"/>
                </a:solidFill>
                <a:latin typeface="Montserrat"/>
                <a:ea typeface="Montserrat"/>
                <a:cs typeface="Montserrat"/>
                <a:sym typeface="Montserrat"/>
              </a:endParaRPr>
            </a:p>
          </p:txBody>
        </p:sp>
        <p:cxnSp>
          <p:nvCxnSpPr>
            <p:cNvPr id="369" name="Google Shape;369;p44"/>
            <p:cNvCxnSpPr/>
            <p:nvPr/>
          </p:nvCxnSpPr>
          <p:spPr>
            <a:xfrm>
              <a:off x="2736700" y="4601150"/>
              <a:ext cx="2100" cy="440700"/>
            </a:xfrm>
            <a:prstGeom prst="straightConnector1">
              <a:avLst/>
            </a:prstGeom>
            <a:noFill/>
            <a:ln cap="flat" cmpd="sng" w="28575">
              <a:solidFill>
                <a:srgbClr val="2074B9"/>
              </a:solidFill>
              <a:prstDash val="solid"/>
              <a:round/>
              <a:headEnd len="med" w="med" type="none"/>
              <a:tailEnd len="med" w="med" type="stealth"/>
            </a:ln>
          </p:spPr>
        </p:cxnSp>
        <p:cxnSp>
          <p:nvCxnSpPr>
            <p:cNvPr id="370" name="Google Shape;370;p44"/>
            <p:cNvCxnSpPr>
              <a:stCxn id="365" idx="3"/>
              <a:endCxn id="371" idx="0"/>
            </p:cNvCxnSpPr>
            <p:nvPr/>
          </p:nvCxnSpPr>
          <p:spPr>
            <a:xfrm>
              <a:off x="3572075" y="2025550"/>
              <a:ext cx="1080300" cy="322500"/>
            </a:xfrm>
            <a:prstGeom prst="bentConnector2">
              <a:avLst/>
            </a:prstGeom>
            <a:noFill/>
            <a:ln cap="flat" cmpd="sng" w="28575">
              <a:solidFill>
                <a:srgbClr val="2074B9"/>
              </a:solidFill>
              <a:prstDash val="solid"/>
              <a:round/>
              <a:headEnd len="med" w="med" type="none"/>
              <a:tailEnd len="med" w="med" type="stealth"/>
            </a:ln>
          </p:spPr>
        </p:cxnSp>
        <p:sp>
          <p:nvSpPr>
            <p:cNvPr id="372" name="Google Shape;372;p44"/>
            <p:cNvSpPr txBox="1"/>
            <p:nvPr/>
          </p:nvSpPr>
          <p:spPr>
            <a:xfrm>
              <a:off x="3785405" y="1724740"/>
              <a:ext cx="752100" cy="3009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373" name="Google Shape;373;p44"/>
            <p:cNvSpPr txBox="1"/>
            <p:nvPr/>
          </p:nvSpPr>
          <p:spPr>
            <a:xfrm>
              <a:off x="2751638" y="3312184"/>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True</a:t>
              </a:r>
              <a:endParaRPr b="1">
                <a:solidFill>
                  <a:srgbClr val="B7B7B7"/>
                </a:solidFill>
                <a:latin typeface="Montserrat"/>
                <a:ea typeface="Montserrat"/>
                <a:cs typeface="Montserrat"/>
                <a:sym typeface="Montserrat"/>
              </a:endParaRPr>
            </a:p>
          </p:txBody>
        </p:sp>
        <p:sp>
          <p:nvSpPr>
            <p:cNvPr id="371" name="Google Shape;371;p44"/>
            <p:cNvSpPr/>
            <p:nvPr/>
          </p:nvSpPr>
          <p:spPr>
            <a:xfrm>
              <a:off x="3812829" y="234802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GB">
                  <a:solidFill>
                    <a:schemeClr val="lt1"/>
                  </a:solidFill>
                  <a:latin typeface="Montserrat"/>
                  <a:ea typeface="Montserrat"/>
                  <a:cs typeface="Montserrat"/>
                  <a:sym typeface="Montserrat"/>
                </a:rPr>
                <a:t>Test Condition 2</a:t>
              </a:r>
              <a:r>
                <a:rPr b="1" lang="en-GB">
                  <a:solidFill>
                    <a:schemeClr val="dk1"/>
                  </a:solidFill>
                  <a:latin typeface="Montserrat"/>
                  <a:ea typeface="Montserrat"/>
                  <a:cs typeface="Montserrat"/>
                  <a:sym typeface="Montserrat"/>
                </a:rPr>
                <a:t> </a:t>
              </a:r>
              <a:endParaRPr b="1">
                <a:solidFill>
                  <a:schemeClr val="dk1"/>
                </a:solidFill>
                <a:latin typeface="Montserrat"/>
                <a:ea typeface="Montserrat"/>
                <a:cs typeface="Montserrat"/>
                <a:sym typeface="Montserrat"/>
              </a:endParaRPr>
            </a:p>
          </p:txBody>
        </p:sp>
        <p:sp>
          <p:nvSpPr>
            <p:cNvPr id="374" name="Google Shape;374;p44"/>
            <p:cNvSpPr/>
            <p:nvPr/>
          </p:nvSpPr>
          <p:spPr>
            <a:xfrm>
              <a:off x="3795120" y="3845249"/>
              <a:ext cx="1679100" cy="367500"/>
            </a:xfrm>
            <a:prstGeom prst="rect">
              <a:avLst/>
            </a:prstGeom>
            <a:solidFill>
              <a:srgbClr val="2074B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elif</a:t>
              </a:r>
              <a:endParaRPr b="1">
                <a:solidFill>
                  <a:srgbClr val="FFFFFF"/>
                </a:solidFill>
                <a:latin typeface="Montserrat"/>
                <a:ea typeface="Montserrat"/>
                <a:cs typeface="Montserrat"/>
                <a:sym typeface="Montserrat"/>
              </a:endParaRPr>
            </a:p>
          </p:txBody>
        </p:sp>
        <p:sp>
          <p:nvSpPr>
            <p:cNvPr id="375" name="Google Shape;375;p44"/>
            <p:cNvSpPr/>
            <p:nvPr/>
          </p:nvSpPr>
          <p:spPr>
            <a:xfrm>
              <a:off x="5641133" y="3845249"/>
              <a:ext cx="1679100" cy="367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else</a:t>
              </a:r>
              <a:endParaRPr b="1">
                <a:solidFill>
                  <a:srgbClr val="FFFFFF"/>
                </a:solidFill>
                <a:latin typeface="Montserrat"/>
                <a:ea typeface="Montserrat"/>
                <a:cs typeface="Montserrat"/>
                <a:sym typeface="Montserrat"/>
              </a:endParaRPr>
            </a:p>
          </p:txBody>
        </p:sp>
        <p:cxnSp>
          <p:nvCxnSpPr>
            <p:cNvPr id="376" name="Google Shape;376;p44"/>
            <p:cNvCxnSpPr>
              <a:stCxn id="371" idx="3"/>
              <a:endCxn id="375" idx="0"/>
            </p:cNvCxnSpPr>
            <p:nvPr/>
          </p:nvCxnSpPr>
          <p:spPr>
            <a:xfrm>
              <a:off x="5491929" y="2991820"/>
              <a:ext cx="988800" cy="853500"/>
            </a:xfrm>
            <a:prstGeom prst="bentConnector2">
              <a:avLst/>
            </a:prstGeom>
            <a:noFill/>
            <a:ln cap="flat" cmpd="sng" w="28575">
              <a:solidFill>
                <a:srgbClr val="CCCCCC"/>
              </a:solidFill>
              <a:prstDash val="solid"/>
              <a:round/>
              <a:headEnd len="med" w="med" type="none"/>
              <a:tailEnd len="med" w="med" type="stealth"/>
            </a:ln>
          </p:spPr>
        </p:cxnSp>
        <p:cxnSp>
          <p:nvCxnSpPr>
            <p:cNvPr id="377" name="Google Shape;377;p44"/>
            <p:cNvCxnSpPr>
              <a:stCxn id="371" idx="2"/>
            </p:cNvCxnSpPr>
            <p:nvPr/>
          </p:nvCxnSpPr>
          <p:spPr>
            <a:xfrm>
              <a:off x="4652379" y="3635620"/>
              <a:ext cx="9000" cy="231600"/>
            </a:xfrm>
            <a:prstGeom prst="straightConnector1">
              <a:avLst/>
            </a:prstGeom>
            <a:noFill/>
            <a:ln cap="flat" cmpd="sng" w="28575">
              <a:solidFill>
                <a:srgbClr val="2074B9"/>
              </a:solidFill>
              <a:prstDash val="solid"/>
              <a:round/>
              <a:headEnd len="med" w="med" type="none"/>
              <a:tailEnd len="med" w="med" type="stealth"/>
            </a:ln>
          </p:spPr>
        </p:cxnSp>
        <p:sp>
          <p:nvSpPr>
            <p:cNvPr id="378" name="Google Shape;378;p44"/>
            <p:cNvSpPr txBox="1"/>
            <p:nvPr/>
          </p:nvSpPr>
          <p:spPr>
            <a:xfrm>
              <a:off x="5631418" y="2621991"/>
              <a:ext cx="752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False</a:t>
              </a:r>
              <a:endParaRPr b="1">
                <a:solidFill>
                  <a:srgbClr val="B7B7B7"/>
                </a:solidFill>
                <a:latin typeface="Montserrat"/>
                <a:ea typeface="Montserrat"/>
                <a:cs typeface="Montserrat"/>
                <a:sym typeface="Montserrat"/>
              </a:endParaRPr>
            </a:p>
          </p:txBody>
        </p:sp>
        <p:cxnSp>
          <p:nvCxnSpPr>
            <p:cNvPr id="379" name="Google Shape;379;p44"/>
            <p:cNvCxnSpPr/>
            <p:nvPr/>
          </p:nvCxnSpPr>
          <p:spPr>
            <a:xfrm>
              <a:off x="4634670" y="4212749"/>
              <a:ext cx="3600" cy="421200"/>
            </a:xfrm>
            <a:prstGeom prst="straightConnector1">
              <a:avLst/>
            </a:prstGeom>
            <a:noFill/>
            <a:ln cap="flat" cmpd="sng" w="28575">
              <a:solidFill>
                <a:srgbClr val="2074B9"/>
              </a:solidFill>
              <a:prstDash val="solid"/>
              <a:round/>
              <a:headEnd len="med" w="med" type="none"/>
              <a:tailEnd len="med" w="med" type="none"/>
            </a:ln>
          </p:spPr>
        </p:cxnSp>
        <p:sp>
          <p:nvSpPr>
            <p:cNvPr id="380" name="Google Shape;380;p44"/>
            <p:cNvSpPr txBox="1"/>
            <p:nvPr/>
          </p:nvSpPr>
          <p:spPr>
            <a:xfrm>
              <a:off x="4819173" y="3450222"/>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cxnSp>
          <p:nvCxnSpPr>
            <p:cNvPr id="381" name="Google Shape;381;p44"/>
            <p:cNvCxnSpPr/>
            <p:nvPr/>
          </p:nvCxnSpPr>
          <p:spPr>
            <a:xfrm flipH="1" rot="10800000">
              <a:off x="2753143" y="4613958"/>
              <a:ext cx="1915500" cy="17700"/>
            </a:xfrm>
            <a:prstGeom prst="straightConnector1">
              <a:avLst/>
            </a:prstGeom>
            <a:noFill/>
            <a:ln cap="flat" cmpd="sng" w="28575">
              <a:solidFill>
                <a:srgbClr val="2074B9"/>
              </a:solidFill>
              <a:prstDash val="solid"/>
              <a:round/>
              <a:headEnd len="med" w="med" type="none"/>
              <a:tailEnd len="med" w="med" type="none"/>
            </a:ln>
          </p:spPr>
        </p:cxnSp>
        <p:cxnSp>
          <p:nvCxnSpPr>
            <p:cNvPr id="382" name="Google Shape;382;p44"/>
            <p:cNvCxnSpPr>
              <a:stCxn id="375" idx="2"/>
            </p:cNvCxnSpPr>
            <p:nvPr/>
          </p:nvCxnSpPr>
          <p:spPr>
            <a:xfrm rot="5400000">
              <a:off x="5367683" y="3488249"/>
              <a:ext cx="388500" cy="1837500"/>
            </a:xfrm>
            <a:prstGeom prst="bentConnector2">
              <a:avLst/>
            </a:prstGeom>
            <a:noFill/>
            <a:ln cap="flat" cmpd="sng" w="28575">
              <a:solidFill>
                <a:srgbClr val="CCCCCC"/>
              </a:solidFill>
              <a:prstDash val="solid"/>
              <a:round/>
              <a:headEnd len="med" w="med" type="none"/>
              <a:tailEnd len="med" w="med" type="none"/>
            </a:ln>
          </p:spPr>
        </p:cxnSp>
        <p:cxnSp>
          <p:nvCxnSpPr>
            <p:cNvPr id="383" name="Google Shape;383;p44"/>
            <p:cNvCxnSpPr/>
            <p:nvPr/>
          </p:nvCxnSpPr>
          <p:spPr>
            <a:xfrm>
              <a:off x="2729670" y="4212749"/>
              <a:ext cx="3600" cy="421200"/>
            </a:xfrm>
            <a:prstGeom prst="straightConnector1">
              <a:avLst/>
            </a:prstGeom>
            <a:noFill/>
            <a:ln cap="flat" cmpd="sng" w="28575">
              <a:solidFill>
                <a:srgbClr val="CCCCCC"/>
              </a:solidFill>
              <a:prstDash val="solid"/>
              <a:round/>
              <a:headEnd len="med" w="med" type="none"/>
              <a:tailEnd len="med" w="med" type="none"/>
            </a:ln>
          </p:spPr>
        </p:cxnSp>
      </p:grpSp>
      <p:sp>
        <p:nvSpPr>
          <p:cNvPr id="384" name="Google Shape;384;p44"/>
          <p:cNvSpPr txBox="1"/>
          <p:nvPr/>
        </p:nvSpPr>
        <p:spPr>
          <a:xfrm>
            <a:off x="4764000" y="859200"/>
            <a:ext cx="4807500" cy="2770200"/>
          </a:xfrm>
          <a:prstGeom prst="rect">
            <a:avLst/>
          </a:prstGeom>
          <a:noFill/>
          <a:ln>
            <a:noFill/>
          </a:ln>
        </p:spPr>
        <p:txBody>
          <a:bodyPr anchorCtr="0" anchor="t" bIns="18000" lIns="18000" spcFirstLastPara="1" rIns="91425" wrap="square" tIns="18000">
            <a:noAutofit/>
          </a:bodyPr>
          <a:lstStyle/>
          <a:p>
            <a:pPr indent="0" lvl="0" marL="0" rtl="0" algn="l">
              <a:lnSpc>
                <a:spcPct val="115000"/>
              </a:lnSpc>
              <a:spcBef>
                <a:spcPts val="0"/>
              </a:spcBef>
              <a:spcAft>
                <a:spcPts val="0"/>
              </a:spcAft>
              <a:buNone/>
            </a:pPr>
            <a:r>
              <a:rPr b="1" lang="en-GB" sz="1700">
                <a:latin typeface="Courier New"/>
                <a:ea typeface="Courier New"/>
                <a:cs typeface="Courier New"/>
                <a:sym typeface="Courier New"/>
              </a:rPr>
              <a:t>Syntax</a:t>
            </a:r>
            <a:endParaRPr b="1"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if</a:t>
            </a:r>
            <a:r>
              <a:rPr lang="en-GB" sz="1700">
                <a:latin typeface="Courier New"/>
                <a:ea typeface="Courier New"/>
                <a:cs typeface="Courier New"/>
                <a:sym typeface="Courier New"/>
              </a:rPr>
              <a:t> age &gt; 18:</a:t>
            </a:r>
            <a:endParaRPr sz="1700">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“you can enter”</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“Enjoy your party”</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t/>
            </a:r>
            <a:endParaRPr sz="1700">
              <a:solidFill>
                <a:srgbClr val="795E26"/>
              </a:solidFill>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elif</a:t>
            </a:r>
            <a:r>
              <a:rPr lang="en-GB" sz="1700">
                <a:latin typeface="Courier New"/>
                <a:ea typeface="Courier New"/>
                <a:cs typeface="Courier New"/>
                <a:sym typeface="Courier New"/>
              </a:rPr>
              <a:t> age == 18:</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latin typeface="Courier New"/>
                <a:ea typeface="Courier New"/>
                <a:cs typeface="Courier New"/>
                <a:sym typeface="Courier New"/>
              </a:rPr>
              <a:t>    print(</a:t>
            </a:r>
            <a:r>
              <a:rPr lang="en-GB" sz="1700">
                <a:solidFill>
                  <a:srgbClr val="980000"/>
                </a:solidFill>
                <a:latin typeface="Courier New"/>
                <a:ea typeface="Courier New"/>
                <a:cs typeface="Courier New"/>
                <a:sym typeface="Courier New"/>
              </a:rPr>
              <a:t>“you are at right age”</a:t>
            </a:r>
            <a:r>
              <a:rPr lang="en-GB" sz="1700">
                <a:solidFill>
                  <a:srgbClr val="795E26"/>
                </a:solidFill>
                <a:latin typeface="Courier New"/>
                <a:ea typeface="Courier New"/>
                <a:cs typeface="Courier New"/>
                <a:sym typeface="Courier New"/>
              </a:rPr>
              <a:t>)</a:t>
            </a:r>
            <a:endParaRPr sz="1700">
              <a:solidFill>
                <a:srgbClr val="AF00DB"/>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else</a:t>
            </a:r>
            <a:r>
              <a:rPr lang="en-GB" sz="1700">
                <a:latin typeface="Courier New"/>
                <a:ea typeface="Courier New"/>
                <a:cs typeface="Courier New"/>
                <a:sym typeface="Courier New"/>
              </a:rPr>
              <a:t>: </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	print(</a:t>
            </a:r>
            <a:r>
              <a:rPr lang="en-GB" sz="1700">
                <a:solidFill>
                  <a:srgbClr val="980000"/>
                </a:solidFill>
                <a:highlight>
                  <a:srgbClr val="FFFFFE"/>
                </a:highlight>
                <a:latin typeface="Courier New"/>
                <a:ea typeface="Courier New"/>
                <a:cs typeface="Courier New"/>
                <a:sym typeface="Courier New"/>
              </a:rPr>
              <a:t>“Move on”</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0" lvl="0" marL="152400" marR="152400" rtl="0" algn="l">
              <a:lnSpc>
                <a:spcPct val="115000"/>
              </a:lnSpc>
              <a:spcBef>
                <a:spcPts val="0"/>
              </a:spcBef>
              <a:spcAft>
                <a:spcPts val="1200"/>
              </a:spcAft>
              <a:buNone/>
            </a:pPr>
            <a:r>
              <a:t/>
            </a:r>
            <a:endParaRPr sz="1700">
              <a:solidFill>
                <a:srgbClr val="795E26"/>
              </a:solidFill>
              <a:latin typeface="Courier New"/>
              <a:ea typeface="Courier New"/>
              <a:cs typeface="Courier New"/>
              <a:sym typeface="Courier New"/>
            </a:endParaRPr>
          </a:p>
        </p:txBody>
      </p:sp>
      <p:grpSp>
        <p:nvGrpSpPr>
          <p:cNvPr id="385" name="Google Shape;385;p44"/>
          <p:cNvGrpSpPr/>
          <p:nvPr/>
        </p:nvGrpSpPr>
        <p:grpSpPr>
          <a:xfrm flipH="1">
            <a:off x="3090241" y="1970300"/>
            <a:ext cx="3691709" cy="642275"/>
            <a:chOff x="225677" y="2351300"/>
            <a:chExt cx="3565491" cy="642275"/>
          </a:xfrm>
        </p:grpSpPr>
        <p:sp>
          <p:nvSpPr>
            <p:cNvPr id="386" name="Google Shape;386;p44"/>
            <p:cNvSpPr txBox="1"/>
            <p:nvPr/>
          </p:nvSpPr>
          <p:spPr>
            <a:xfrm>
              <a:off x="225677" y="2705875"/>
              <a:ext cx="1340700" cy="2877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87" name="Google Shape;387;p44"/>
            <p:cNvSpPr/>
            <p:nvPr/>
          </p:nvSpPr>
          <p:spPr>
            <a:xfrm>
              <a:off x="1567743" y="2351300"/>
              <a:ext cx="2223425" cy="518500"/>
            </a:xfrm>
            <a:custGeom>
              <a:rect b="b" l="l" r="r" t="t"/>
              <a:pathLst>
                <a:path extrusionOk="0" h="20740" w="88937">
                  <a:moveTo>
                    <a:pt x="0" y="14103"/>
                  </a:moveTo>
                  <a:lnTo>
                    <a:pt x="39260" y="0"/>
                  </a:lnTo>
                  <a:lnTo>
                    <a:pt x="70508" y="829"/>
                  </a:lnTo>
                  <a:lnTo>
                    <a:pt x="88937" y="20740"/>
                  </a:lnTo>
                </a:path>
              </a:pathLst>
            </a:custGeom>
            <a:noFill/>
            <a:ln cap="flat" cmpd="sng" w="28575">
              <a:solidFill>
                <a:schemeClr val="accent3"/>
              </a:solidFill>
              <a:prstDash val="solid"/>
              <a:round/>
              <a:headEnd len="med" w="med" type="stealth"/>
              <a:tailEnd len="med" w="med" type="none"/>
            </a:ln>
          </p:spPr>
        </p:sp>
      </p:grpSp>
      <p:sp>
        <p:nvSpPr>
          <p:cNvPr id="388" name="Google Shape;388;p44"/>
          <p:cNvSpPr txBox="1"/>
          <p:nvPr/>
        </p:nvSpPr>
        <p:spPr>
          <a:xfrm>
            <a:off x="2500600" y="1102850"/>
            <a:ext cx="1476300" cy="471600"/>
          </a:xfrm>
          <a:prstGeom prst="rect">
            <a:avLst/>
          </a:prstGeom>
          <a:noFill/>
          <a:ln>
            <a:noFill/>
          </a:ln>
        </p:spPr>
        <p:txBody>
          <a:bodyPr anchorCtr="0" anchor="t" bIns="0" lIns="54000" spcFirstLastPara="1" rIns="91425" wrap="square" tIns="0">
            <a:noAutofit/>
          </a:bodyPr>
          <a:lstStyle/>
          <a:p>
            <a:pPr indent="0" lvl="0" marL="0" rtl="0" algn="l">
              <a:spcBef>
                <a:spcPts val="0"/>
              </a:spcBef>
              <a:spcAft>
                <a:spcPts val="0"/>
              </a:spcAft>
              <a:buNone/>
            </a:pPr>
            <a:r>
              <a:rPr b="1" lang="en-GB" sz="1500">
                <a:latin typeface="Montserrat"/>
                <a:ea typeface="Montserrat"/>
                <a:cs typeface="Montserrat"/>
                <a:sym typeface="Montserrat"/>
              </a:rPr>
              <a:t>Age = 18</a:t>
            </a:r>
            <a:endParaRPr b="1" sz="1500">
              <a:latin typeface="Montserrat"/>
              <a:ea typeface="Montserrat"/>
              <a:cs typeface="Montserrat"/>
              <a:sym typeface="Montserrat"/>
            </a:endParaRPr>
          </a:p>
          <a:p>
            <a:pPr indent="0" lvl="0" marL="0" rtl="0" algn="l">
              <a:spcBef>
                <a:spcPts val="0"/>
              </a:spcBef>
              <a:spcAft>
                <a:spcPts val="0"/>
              </a:spcAft>
              <a:buNone/>
            </a:pPr>
            <a:r>
              <a:t/>
            </a:r>
            <a:endParaRPr b="1" sz="1500">
              <a:solidFill>
                <a:schemeClr val="accent3"/>
              </a:solidFill>
              <a:latin typeface="Montserrat"/>
              <a:ea typeface="Montserrat"/>
              <a:cs typeface="Montserrat"/>
              <a:sym typeface="Montserrat"/>
            </a:endParaRPr>
          </a:p>
        </p:txBody>
      </p:sp>
      <p:grpSp>
        <p:nvGrpSpPr>
          <p:cNvPr id="389" name="Google Shape;389;p44"/>
          <p:cNvGrpSpPr/>
          <p:nvPr/>
        </p:nvGrpSpPr>
        <p:grpSpPr>
          <a:xfrm>
            <a:off x="2802359" y="2612480"/>
            <a:ext cx="2423968" cy="1102107"/>
            <a:chOff x="2802425" y="2559600"/>
            <a:chExt cx="2403300" cy="1155127"/>
          </a:xfrm>
        </p:grpSpPr>
        <p:sp>
          <p:nvSpPr>
            <p:cNvPr id="390" name="Google Shape;390;p44"/>
            <p:cNvSpPr/>
            <p:nvPr/>
          </p:nvSpPr>
          <p:spPr>
            <a:xfrm flipH="1">
              <a:off x="5018525" y="2559600"/>
              <a:ext cx="187200" cy="428400"/>
            </a:xfrm>
            <a:prstGeom prst="rightBrace">
              <a:avLst>
                <a:gd fmla="val 50000" name="adj1"/>
                <a:gd fmla="val 58153"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a:p>
          </p:txBody>
        </p:sp>
        <p:cxnSp>
          <p:nvCxnSpPr>
            <p:cNvPr id="391" name="Google Shape;391;p44"/>
            <p:cNvCxnSpPr>
              <a:stCxn id="390" idx="1"/>
              <a:endCxn id="374" idx="0"/>
            </p:cNvCxnSpPr>
            <p:nvPr/>
          </p:nvCxnSpPr>
          <p:spPr>
            <a:xfrm flipH="1">
              <a:off x="2802425" y="2808727"/>
              <a:ext cx="2216100" cy="906000"/>
            </a:xfrm>
            <a:prstGeom prst="straightConnector1">
              <a:avLst/>
            </a:prstGeom>
            <a:noFill/>
            <a:ln cap="flat" cmpd="sng" w="38100">
              <a:solidFill>
                <a:srgbClr val="666666"/>
              </a:solidFill>
              <a:prstDash val="solid"/>
              <a:round/>
              <a:headEnd len="med" w="med" type="stealth"/>
              <a:tailEnd len="med" w="med" type="none"/>
            </a:ln>
          </p:spPr>
        </p:cxnSp>
      </p:grpSp>
      <p:sp>
        <p:nvSpPr>
          <p:cNvPr id="392" name="Google Shape;392;p44"/>
          <p:cNvSpPr txBox="1"/>
          <p:nvPr/>
        </p:nvSpPr>
        <p:spPr>
          <a:xfrm>
            <a:off x="3643600" y="1483850"/>
            <a:ext cx="1476300" cy="471600"/>
          </a:xfrm>
          <a:prstGeom prst="rect">
            <a:avLst/>
          </a:prstGeom>
          <a:noFill/>
          <a:ln>
            <a:noFill/>
          </a:ln>
        </p:spPr>
        <p:txBody>
          <a:bodyPr anchorCtr="0" anchor="t" bIns="0" lIns="54000" spcFirstLastPara="1" rIns="91425" wrap="square" tIns="0">
            <a:noAutofit/>
          </a:bodyPr>
          <a:lstStyle/>
          <a:p>
            <a:pPr indent="0" lvl="0" marL="0" rtl="0" algn="l">
              <a:spcBef>
                <a:spcPts val="0"/>
              </a:spcBef>
              <a:spcAft>
                <a:spcPts val="0"/>
              </a:spcAft>
              <a:buNone/>
            </a:pPr>
            <a:r>
              <a:t/>
            </a:r>
            <a:endParaRPr b="1" sz="1500">
              <a:latin typeface="Montserrat"/>
              <a:ea typeface="Montserrat"/>
              <a:cs typeface="Montserrat"/>
              <a:sym typeface="Montserrat"/>
            </a:endParaRPr>
          </a:p>
          <a:p>
            <a:pPr indent="0" lvl="0" marL="0" rtl="0" algn="l">
              <a:spcBef>
                <a:spcPts val="0"/>
              </a:spcBef>
              <a:spcAft>
                <a:spcPts val="0"/>
              </a:spcAft>
              <a:buNone/>
            </a:pPr>
            <a:r>
              <a:rPr b="1" lang="en-GB" sz="1500">
                <a:solidFill>
                  <a:schemeClr val="accent3"/>
                </a:solidFill>
                <a:latin typeface="Montserrat"/>
                <a:ea typeface="Montserrat"/>
                <a:cs typeface="Montserrat"/>
                <a:sym typeface="Montserrat"/>
              </a:rPr>
              <a:t>True</a:t>
            </a:r>
            <a:endParaRPr b="1" sz="1500">
              <a:solidFill>
                <a:schemeClr val="accent3"/>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par>
                                <p:cTn fill="hold" nodeType="withEffect" presetClass="exit" presetID="10" presetSubtype="0">
                                  <p:stCondLst>
                                    <p:cond delay="0"/>
                                  </p:stCondLst>
                                  <p:childTnLst>
                                    <p:animEffect filter="fade" transition="out">
                                      <p:cBhvr>
                                        <p:cTn dur="1000"/>
                                        <p:tgtEl>
                                          <p:spTgt spid="385"/>
                                        </p:tgtEl>
                                      </p:cBhvr>
                                    </p:animEffect>
                                    <p:set>
                                      <p:cBhvr>
                                        <p:cTn dur="1" fill="hold">
                                          <p:stCondLst>
                                            <p:cond delay="1000"/>
                                          </p:stCondLst>
                                        </p:cTn>
                                        <p:tgtEl>
                                          <p:spTgt spid="38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92"/>
                                        </p:tgtEl>
                                      </p:cBhvr>
                                    </p:animEffect>
                                    <p:set>
                                      <p:cBhvr>
                                        <p:cTn dur="1" fill="hold">
                                          <p:stCondLst>
                                            <p:cond delay="1000"/>
                                          </p:stCondLst>
                                        </p:cTn>
                                        <p:tgtEl>
                                          <p:spTgt spid="39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grpSp>
        <p:nvGrpSpPr>
          <p:cNvPr id="397" name="Google Shape;397;p45"/>
          <p:cNvGrpSpPr/>
          <p:nvPr/>
        </p:nvGrpSpPr>
        <p:grpSpPr>
          <a:xfrm>
            <a:off x="139293" y="937715"/>
            <a:ext cx="5271496" cy="3910022"/>
            <a:chOff x="1892975" y="911650"/>
            <a:chExt cx="5427258" cy="4130596"/>
          </a:xfrm>
        </p:grpSpPr>
        <p:sp>
          <p:nvSpPr>
            <p:cNvPr id="398" name="Google Shape;398;p45"/>
            <p:cNvSpPr/>
            <p:nvPr/>
          </p:nvSpPr>
          <p:spPr>
            <a:xfrm>
              <a:off x="1892975" y="138175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0000" wrap="square" tIns="91425">
              <a:noAutofit/>
            </a:bodyPr>
            <a:lstStyle/>
            <a:p>
              <a:pPr indent="0" lvl="0" marL="0" marR="0" rtl="0" algn="ctr">
                <a:spcBef>
                  <a:spcPts val="0"/>
                </a:spcBef>
                <a:spcAft>
                  <a:spcPts val="0"/>
                </a:spcAft>
                <a:buNone/>
              </a:pPr>
              <a:r>
                <a:rPr b="1" lang="en-GB">
                  <a:solidFill>
                    <a:srgbClr val="FFFFFF"/>
                  </a:solidFill>
                  <a:latin typeface="Montserrat"/>
                  <a:ea typeface="Montserrat"/>
                  <a:cs typeface="Montserrat"/>
                  <a:sym typeface="Montserrat"/>
                </a:rPr>
                <a:t>Test Condition 1</a:t>
              </a:r>
              <a:r>
                <a:rPr b="1" lang="en-GB">
                  <a:latin typeface="Montserrat"/>
                  <a:ea typeface="Montserrat"/>
                  <a:cs typeface="Montserrat"/>
                  <a:sym typeface="Montserrat"/>
                </a:rPr>
                <a:t> </a:t>
              </a:r>
              <a:endParaRPr b="1">
                <a:latin typeface="Montserrat"/>
                <a:ea typeface="Montserrat"/>
                <a:cs typeface="Montserrat"/>
                <a:sym typeface="Montserrat"/>
              </a:endParaRPr>
            </a:p>
          </p:txBody>
        </p:sp>
        <p:cxnSp>
          <p:nvCxnSpPr>
            <p:cNvPr id="399" name="Google Shape;399;p45"/>
            <p:cNvCxnSpPr>
              <a:endCxn id="398" idx="0"/>
            </p:cNvCxnSpPr>
            <p:nvPr/>
          </p:nvCxnSpPr>
          <p:spPr>
            <a:xfrm>
              <a:off x="2717225" y="911650"/>
              <a:ext cx="15300" cy="470100"/>
            </a:xfrm>
            <a:prstGeom prst="straightConnector1">
              <a:avLst/>
            </a:prstGeom>
            <a:noFill/>
            <a:ln cap="flat" cmpd="sng" w="28575">
              <a:solidFill>
                <a:srgbClr val="2074B9"/>
              </a:solidFill>
              <a:prstDash val="solid"/>
              <a:round/>
              <a:headEnd len="med" w="med" type="none"/>
              <a:tailEnd len="med" w="med" type="stealth"/>
            </a:ln>
          </p:spPr>
        </p:cxnSp>
        <p:cxnSp>
          <p:nvCxnSpPr>
            <p:cNvPr id="400" name="Google Shape;400;p45"/>
            <p:cNvCxnSpPr/>
            <p:nvPr/>
          </p:nvCxnSpPr>
          <p:spPr>
            <a:xfrm>
              <a:off x="2732525" y="2669350"/>
              <a:ext cx="19200" cy="1213200"/>
            </a:xfrm>
            <a:prstGeom prst="straightConnector1">
              <a:avLst/>
            </a:prstGeom>
            <a:noFill/>
            <a:ln cap="flat" cmpd="sng" w="28575">
              <a:solidFill>
                <a:srgbClr val="B7B7B7"/>
              </a:solidFill>
              <a:prstDash val="solid"/>
              <a:round/>
              <a:headEnd len="med" w="med" type="none"/>
              <a:tailEnd len="med" w="med" type="stealth"/>
            </a:ln>
          </p:spPr>
        </p:cxnSp>
        <p:sp>
          <p:nvSpPr>
            <p:cNvPr id="401" name="Google Shape;401;p45"/>
            <p:cNvSpPr/>
            <p:nvPr/>
          </p:nvSpPr>
          <p:spPr>
            <a:xfrm>
              <a:off x="1949106" y="3845249"/>
              <a:ext cx="1679100" cy="367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if</a:t>
              </a:r>
              <a:endParaRPr b="1">
                <a:solidFill>
                  <a:srgbClr val="FFFFFF"/>
                </a:solidFill>
                <a:latin typeface="Montserrat"/>
                <a:ea typeface="Montserrat"/>
                <a:cs typeface="Montserrat"/>
                <a:sym typeface="Montserrat"/>
              </a:endParaRPr>
            </a:p>
          </p:txBody>
        </p:sp>
        <p:cxnSp>
          <p:nvCxnSpPr>
            <p:cNvPr id="402" name="Google Shape;402;p45"/>
            <p:cNvCxnSpPr>
              <a:stCxn id="398" idx="3"/>
              <a:endCxn id="403" idx="0"/>
            </p:cNvCxnSpPr>
            <p:nvPr/>
          </p:nvCxnSpPr>
          <p:spPr>
            <a:xfrm>
              <a:off x="3572075" y="2025550"/>
              <a:ext cx="1080300" cy="322500"/>
            </a:xfrm>
            <a:prstGeom prst="bentConnector2">
              <a:avLst/>
            </a:prstGeom>
            <a:noFill/>
            <a:ln cap="flat" cmpd="sng" w="28575">
              <a:solidFill>
                <a:srgbClr val="2074B9"/>
              </a:solidFill>
              <a:prstDash val="solid"/>
              <a:round/>
              <a:headEnd len="med" w="med" type="none"/>
              <a:tailEnd len="med" w="med" type="stealth"/>
            </a:ln>
          </p:spPr>
        </p:cxnSp>
        <p:sp>
          <p:nvSpPr>
            <p:cNvPr id="404" name="Google Shape;404;p45"/>
            <p:cNvSpPr txBox="1"/>
            <p:nvPr/>
          </p:nvSpPr>
          <p:spPr>
            <a:xfrm>
              <a:off x="3785405" y="1724740"/>
              <a:ext cx="752100" cy="300900"/>
            </a:xfrm>
            <a:prstGeom prst="rect">
              <a:avLst/>
            </a:prstGeom>
            <a:noFill/>
            <a:ln>
              <a:noFill/>
            </a:ln>
          </p:spPr>
          <p:txBody>
            <a:bodyPr anchorCtr="0" anchor="t" bIns="91425" lIns="91425" spcFirstLastPara="1" rIns="91425" wrap="square" tIns="54000">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405" name="Google Shape;405;p45"/>
            <p:cNvSpPr txBox="1"/>
            <p:nvPr/>
          </p:nvSpPr>
          <p:spPr>
            <a:xfrm>
              <a:off x="2751638" y="3312184"/>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True</a:t>
              </a:r>
              <a:endParaRPr b="1">
                <a:solidFill>
                  <a:srgbClr val="B7B7B7"/>
                </a:solidFill>
                <a:latin typeface="Montserrat"/>
                <a:ea typeface="Montserrat"/>
                <a:cs typeface="Montserrat"/>
                <a:sym typeface="Montserrat"/>
              </a:endParaRPr>
            </a:p>
          </p:txBody>
        </p:sp>
        <p:sp>
          <p:nvSpPr>
            <p:cNvPr id="403" name="Google Shape;403;p45"/>
            <p:cNvSpPr/>
            <p:nvPr/>
          </p:nvSpPr>
          <p:spPr>
            <a:xfrm>
              <a:off x="3812829" y="2348020"/>
              <a:ext cx="1679100" cy="1287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GB">
                  <a:solidFill>
                    <a:schemeClr val="lt1"/>
                  </a:solidFill>
                  <a:latin typeface="Montserrat"/>
                  <a:ea typeface="Montserrat"/>
                  <a:cs typeface="Montserrat"/>
                  <a:sym typeface="Montserrat"/>
                </a:rPr>
                <a:t>Test Condition 2</a:t>
              </a:r>
              <a:r>
                <a:rPr b="1" lang="en-GB">
                  <a:solidFill>
                    <a:schemeClr val="dk1"/>
                  </a:solidFill>
                  <a:latin typeface="Montserrat"/>
                  <a:ea typeface="Montserrat"/>
                  <a:cs typeface="Montserrat"/>
                  <a:sym typeface="Montserrat"/>
                </a:rPr>
                <a:t> </a:t>
              </a:r>
              <a:endParaRPr b="1">
                <a:solidFill>
                  <a:schemeClr val="dk1"/>
                </a:solidFill>
                <a:latin typeface="Montserrat"/>
                <a:ea typeface="Montserrat"/>
                <a:cs typeface="Montserrat"/>
                <a:sym typeface="Montserrat"/>
              </a:endParaRPr>
            </a:p>
          </p:txBody>
        </p:sp>
        <p:cxnSp>
          <p:nvCxnSpPr>
            <p:cNvPr id="406" name="Google Shape;406;p45"/>
            <p:cNvCxnSpPr>
              <a:stCxn id="407" idx="2"/>
            </p:cNvCxnSpPr>
            <p:nvPr/>
          </p:nvCxnSpPr>
          <p:spPr>
            <a:xfrm rot="5400000">
              <a:off x="4374983" y="2562149"/>
              <a:ext cx="455100" cy="3756300"/>
            </a:xfrm>
            <a:prstGeom prst="bentConnector2">
              <a:avLst/>
            </a:prstGeom>
            <a:noFill/>
            <a:ln cap="flat" cmpd="sng" w="28575">
              <a:solidFill>
                <a:srgbClr val="2074B9"/>
              </a:solidFill>
              <a:prstDash val="solid"/>
              <a:round/>
              <a:headEnd len="med" w="med" type="none"/>
              <a:tailEnd len="med" w="med" type="none"/>
            </a:ln>
          </p:spPr>
        </p:cxnSp>
        <p:sp>
          <p:nvSpPr>
            <p:cNvPr id="408" name="Google Shape;408;p45"/>
            <p:cNvSpPr/>
            <p:nvPr/>
          </p:nvSpPr>
          <p:spPr>
            <a:xfrm>
              <a:off x="3795120" y="3845249"/>
              <a:ext cx="1679100" cy="367500"/>
            </a:xfrm>
            <a:prstGeom prst="rect">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elif</a:t>
              </a:r>
              <a:endParaRPr b="1">
                <a:solidFill>
                  <a:srgbClr val="FFFFFF"/>
                </a:solidFill>
                <a:latin typeface="Montserrat"/>
                <a:ea typeface="Montserrat"/>
                <a:cs typeface="Montserrat"/>
                <a:sym typeface="Montserrat"/>
              </a:endParaRPr>
            </a:p>
          </p:txBody>
        </p:sp>
        <p:sp>
          <p:nvSpPr>
            <p:cNvPr id="407" name="Google Shape;407;p45"/>
            <p:cNvSpPr/>
            <p:nvPr/>
          </p:nvSpPr>
          <p:spPr>
            <a:xfrm>
              <a:off x="5641133" y="3845249"/>
              <a:ext cx="1679100" cy="36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else</a:t>
              </a:r>
              <a:endParaRPr b="1">
                <a:solidFill>
                  <a:srgbClr val="FFFFFF"/>
                </a:solidFill>
                <a:latin typeface="Montserrat"/>
                <a:ea typeface="Montserrat"/>
                <a:cs typeface="Montserrat"/>
                <a:sym typeface="Montserrat"/>
              </a:endParaRPr>
            </a:p>
          </p:txBody>
        </p:sp>
        <p:cxnSp>
          <p:nvCxnSpPr>
            <p:cNvPr id="409" name="Google Shape;409;p45"/>
            <p:cNvCxnSpPr>
              <a:stCxn id="403" idx="3"/>
              <a:endCxn id="407" idx="0"/>
            </p:cNvCxnSpPr>
            <p:nvPr/>
          </p:nvCxnSpPr>
          <p:spPr>
            <a:xfrm>
              <a:off x="5491929" y="2991820"/>
              <a:ext cx="988800" cy="853500"/>
            </a:xfrm>
            <a:prstGeom prst="bentConnector2">
              <a:avLst/>
            </a:prstGeom>
            <a:noFill/>
            <a:ln cap="flat" cmpd="sng" w="28575">
              <a:solidFill>
                <a:srgbClr val="2074B9"/>
              </a:solidFill>
              <a:prstDash val="solid"/>
              <a:round/>
              <a:headEnd len="med" w="med" type="none"/>
              <a:tailEnd len="med" w="med" type="stealth"/>
            </a:ln>
          </p:spPr>
        </p:cxnSp>
        <p:cxnSp>
          <p:nvCxnSpPr>
            <p:cNvPr id="410" name="Google Shape;410;p45"/>
            <p:cNvCxnSpPr/>
            <p:nvPr/>
          </p:nvCxnSpPr>
          <p:spPr>
            <a:xfrm>
              <a:off x="4652379" y="3635620"/>
              <a:ext cx="7800" cy="224400"/>
            </a:xfrm>
            <a:prstGeom prst="straightConnector1">
              <a:avLst/>
            </a:prstGeom>
            <a:noFill/>
            <a:ln cap="flat" cmpd="sng" w="28575">
              <a:solidFill>
                <a:srgbClr val="B7B7B7"/>
              </a:solidFill>
              <a:prstDash val="solid"/>
              <a:round/>
              <a:headEnd len="med" w="med" type="none"/>
              <a:tailEnd len="med" w="med" type="stealth"/>
            </a:ln>
          </p:spPr>
        </p:cxnSp>
        <p:sp>
          <p:nvSpPr>
            <p:cNvPr id="411" name="Google Shape;411;p45"/>
            <p:cNvSpPr txBox="1"/>
            <p:nvPr/>
          </p:nvSpPr>
          <p:spPr>
            <a:xfrm>
              <a:off x="5631418" y="2621991"/>
              <a:ext cx="752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cxnSp>
          <p:nvCxnSpPr>
            <p:cNvPr id="412" name="Google Shape;412;p45"/>
            <p:cNvCxnSpPr/>
            <p:nvPr/>
          </p:nvCxnSpPr>
          <p:spPr>
            <a:xfrm>
              <a:off x="4634670" y="4212749"/>
              <a:ext cx="3600" cy="429600"/>
            </a:xfrm>
            <a:prstGeom prst="straightConnector1">
              <a:avLst/>
            </a:prstGeom>
            <a:noFill/>
            <a:ln cap="flat" cmpd="sng" w="28575">
              <a:solidFill>
                <a:srgbClr val="B7B7B7"/>
              </a:solidFill>
              <a:prstDash val="solid"/>
              <a:round/>
              <a:headEnd len="med" w="med" type="none"/>
              <a:tailEnd len="med" w="med" type="stealth"/>
            </a:ln>
          </p:spPr>
        </p:cxnSp>
        <p:sp>
          <p:nvSpPr>
            <p:cNvPr id="413" name="Google Shape;413;p45"/>
            <p:cNvSpPr txBox="1"/>
            <p:nvPr/>
          </p:nvSpPr>
          <p:spPr>
            <a:xfrm>
              <a:off x="4819173" y="3450222"/>
              <a:ext cx="6231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True</a:t>
              </a:r>
              <a:endParaRPr b="1">
                <a:solidFill>
                  <a:srgbClr val="B7B7B7"/>
                </a:solidFill>
                <a:latin typeface="Montserrat"/>
                <a:ea typeface="Montserrat"/>
                <a:cs typeface="Montserrat"/>
                <a:sym typeface="Montserrat"/>
              </a:endParaRPr>
            </a:p>
          </p:txBody>
        </p:sp>
        <p:cxnSp>
          <p:nvCxnSpPr>
            <p:cNvPr id="414" name="Google Shape;414;p45"/>
            <p:cNvCxnSpPr/>
            <p:nvPr/>
          </p:nvCxnSpPr>
          <p:spPr>
            <a:xfrm>
              <a:off x="2729670" y="4212749"/>
              <a:ext cx="3600" cy="421200"/>
            </a:xfrm>
            <a:prstGeom prst="straightConnector1">
              <a:avLst/>
            </a:prstGeom>
            <a:noFill/>
            <a:ln cap="flat" cmpd="sng" w="28575">
              <a:solidFill>
                <a:srgbClr val="CCCCCC"/>
              </a:solidFill>
              <a:prstDash val="solid"/>
              <a:round/>
              <a:headEnd len="med" w="med" type="none"/>
              <a:tailEnd len="med" w="med" type="none"/>
            </a:ln>
          </p:spPr>
        </p:cxnSp>
        <p:cxnSp>
          <p:nvCxnSpPr>
            <p:cNvPr id="415" name="Google Shape;415;p45"/>
            <p:cNvCxnSpPr/>
            <p:nvPr/>
          </p:nvCxnSpPr>
          <p:spPr>
            <a:xfrm flipH="1">
              <a:off x="2738805" y="4645946"/>
              <a:ext cx="6900" cy="396300"/>
            </a:xfrm>
            <a:prstGeom prst="straightConnector1">
              <a:avLst/>
            </a:prstGeom>
            <a:noFill/>
            <a:ln cap="flat" cmpd="sng" w="28575">
              <a:solidFill>
                <a:srgbClr val="2074B9"/>
              </a:solidFill>
              <a:prstDash val="solid"/>
              <a:round/>
              <a:headEnd len="med" w="med" type="none"/>
              <a:tailEnd len="med" w="med" type="stealth"/>
            </a:ln>
          </p:spPr>
        </p:cxnSp>
      </p:grpSp>
      <p:sp>
        <p:nvSpPr>
          <p:cNvPr id="416" name="Google Shape;416;p4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if...elif...else</a:t>
            </a:r>
            <a:r>
              <a:rPr b="1" lang="en-GB"/>
              <a:t> </a:t>
            </a:r>
            <a:r>
              <a:rPr lang="en-GB"/>
              <a:t>Statement</a:t>
            </a:r>
            <a:endParaRPr/>
          </a:p>
        </p:txBody>
      </p:sp>
      <p:sp>
        <p:nvSpPr>
          <p:cNvPr id="417" name="Google Shape;417;p45"/>
          <p:cNvSpPr txBox="1"/>
          <p:nvPr/>
        </p:nvSpPr>
        <p:spPr>
          <a:xfrm>
            <a:off x="4764000" y="859200"/>
            <a:ext cx="4807500" cy="2770200"/>
          </a:xfrm>
          <a:prstGeom prst="rect">
            <a:avLst/>
          </a:prstGeom>
          <a:noFill/>
          <a:ln>
            <a:noFill/>
          </a:ln>
        </p:spPr>
        <p:txBody>
          <a:bodyPr anchorCtr="0" anchor="t" bIns="18000" lIns="18000" spcFirstLastPara="1" rIns="91425" wrap="square" tIns="18000">
            <a:noAutofit/>
          </a:bodyPr>
          <a:lstStyle/>
          <a:p>
            <a:pPr indent="0" lvl="0" marL="0" rtl="0" algn="l">
              <a:lnSpc>
                <a:spcPct val="115000"/>
              </a:lnSpc>
              <a:spcBef>
                <a:spcPts val="0"/>
              </a:spcBef>
              <a:spcAft>
                <a:spcPts val="0"/>
              </a:spcAft>
              <a:buNone/>
            </a:pPr>
            <a:r>
              <a:rPr b="1" lang="en-GB" sz="1700">
                <a:latin typeface="Courier New"/>
                <a:ea typeface="Courier New"/>
                <a:cs typeface="Courier New"/>
                <a:sym typeface="Courier New"/>
              </a:rPr>
              <a:t>Syntax</a:t>
            </a:r>
            <a:endParaRPr b="1"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if</a:t>
            </a:r>
            <a:r>
              <a:rPr lang="en-GB" sz="1700">
                <a:latin typeface="Courier New"/>
                <a:ea typeface="Courier New"/>
                <a:cs typeface="Courier New"/>
                <a:sym typeface="Courier New"/>
              </a:rPr>
              <a:t> age &gt; 18:</a:t>
            </a:r>
            <a:endParaRPr sz="1700">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“you can enter”</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print(</a:t>
            </a:r>
            <a:r>
              <a:rPr lang="en-GB" sz="1700">
                <a:solidFill>
                  <a:srgbClr val="980000"/>
                </a:solidFill>
                <a:highlight>
                  <a:srgbClr val="FFFFFE"/>
                </a:highlight>
                <a:latin typeface="Courier New"/>
                <a:ea typeface="Courier New"/>
                <a:cs typeface="Courier New"/>
                <a:sym typeface="Courier New"/>
              </a:rPr>
              <a:t>“Enjoy your party”</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457200" lvl="0" marL="0" rtl="0" algn="l">
              <a:lnSpc>
                <a:spcPct val="115000"/>
              </a:lnSpc>
              <a:spcBef>
                <a:spcPts val="0"/>
              </a:spcBef>
              <a:spcAft>
                <a:spcPts val="0"/>
              </a:spcAft>
              <a:buNone/>
            </a:pPr>
            <a:r>
              <a:t/>
            </a:r>
            <a:endParaRPr sz="1700">
              <a:solidFill>
                <a:srgbClr val="795E26"/>
              </a:solidFill>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elif</a:t>
            </a:r>
            <a:r>
              <a:rPr lang="en-GB" sz="1700">
                <a:latin typeface="Courier New"/>
                <a:ea typeface="Courier New"/>
                <a:cs typeface="Courier New"/>
                <a:sym typeface="Courier New"/>
              </a:rPr>
              <a:t> age == 18:</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latin typeface="Courier New"/>
                <a:ea typeface="Courier New"/>
                <a:cs typeface="Courier New"/>
                <a:sym typeface="Courier New"/>
              </a:rPr>
              <a:t>    print(</a:t>
            </a:r>
            <a:r>
              <a:rPr lang="en-GB" sz="1700">
                <a:solidFill>
                  <a:srgbClr val="980000"/>
                </a:solidFill>
                <a:latin typeface="Courier New"/>
                <a:ea typeface="Courier New"/>
                <a:cs typeface="Courier New"/>
                <a:sym typeface="Courier New"/>
              </a:rPr>
              <a:t>“you are at right age”</a:t>
            </a:r>
            <a:r>
              <a:rPr lang="en-GB" sz="1700">
                <a:solidFill>
                  <a:srgbClr val="795E26"/>
                </a:solidFill>
                <a:latin typeface="Courier New"/>
                <a:ea typeface="Courier New"/>
                <a:cs typeface="Courier New"/>
                <a:sym typeface="Courier New"/>
              </a:rPr>
              <a:t>)</a:t>
            </a:r>
            <a:endParaRPr sz="1700">
              <a:solidFill>
                <a:srgbClr val="AF00DB"/>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AF00DB"/>
                </a:solidFill>
                <a:latin typeface="Courier New"/>
                <a:ea typeface="Courier New"/>
                <a:cs typeface="Courier New"/>
                <a:sym typeface="Courier New"/>
              </a:rPr>
              <a:t>else</a:t>
            </a:r>
            <a:r>
              <a:rPr lang="en-GB" sz="1700">
                <a:latin typeface="Courier New"/>
                <a:ea typeface="Courier New"/>
                <a:cs typeface="Courier New"/>
                <a:sym typeface="Courier New"/>
              </a:rPr>
              <a:t>: </a:t>
            </a:r>
            <a:endParaRPr sz="1700">
              <a:latin typeface="Courier New"/>
              <a:ea typeface="Courier New"/>
              <a:cs typeface="Courier New"/>
              <a:sym typeface="Courier New"/>
            </a:endParaRPr>
          </a:p>
          <a:p>
            <a:pPr indent="0" lvl="0" marL="0" rtl="0" algn="l">
              <a:lnSpc>
                <a:spcPct val="115000"/>
              </a:lnSpc>
              <a:spcBef>
                <a:spcPts val="0"/>
              </a:spcBef>
              <a:spcAft>
                <a:spcPts val="0"/>
              </a:spcAft>
              <a:buNone/>
            </a:pPr>
            <a:r>
              <a:rPr lang="en-GB" sz="1700">
                <a:solidFill>
                  <a:srgbClr val="795E26"/>
                </a:solidFill>
                <a:highlight>
                  <a:srgbClr val="FFFFFE"/>
                </a:highlight>
                <a:latin typeface="Courier New"/>
                <a:ea typeface="Courier New"/>
                <a:cs typeface="Courier New"/>
                <a:sym typeface="Courier New"/>
              </a:rPr>
              <a:t>	print(</a:t>
            </a:r>
            <a:r>
              <a:rPr lang="en-GB" sz="1700">
                <a:solidFill>
                  <a:srgbClr val="980000"/>
                </a:solidFill>
                <a:highlight>
                  <a:srgbClr val="FFFFFE"/>
                </a:highlight>
                <a:latin typeface="Courier New"/>
                <a:ea typeface="Courier New"/>
                <a:cs typeface="Courier New"/>
                <a:sym typeface="Courier New"/>
              </a:rPr>
              <a:t>“Move on”</a:t>
            </a:r>
            <a:r>
              <a:rPr lang="en-GB" sz="1700">
                <a:solidFill>
                  <a:srgbClr val="795E26"/>
                </a:solidFill>
                <a:highlight>
                  <a:srgbClr val="FFFFFE"/>
                </a:highlight>
                <a:latin typeface="Courier New"/>
                <a:ea typeface="Courier New"/>
                <a:cs typeface="Courier New"/>
                <a:sym typeface="Courier New"/>
              </a:rPr>
              <a:t>)</a:t>
            </a:r>
            <a:endParaRPr sz="1700">
              <a:solidFill>
                <a:srgbClr val="795E26"/>
              </a:solidFill>
              <a:highlight>
                <a:srgbClr val="FFFFFE"/>
              </a:highlight>
              <a:latin typeface="Courier New"/>
              <a:ea typeface="Courier New"/>
              <a:cs typeface="Courier New"/>
              <a:sym typeface="Courier New"/>
            </a:endParaRPr>
          </a:p>
          <a:p>
            <a:pPr indent="0" lvl="0" marL="152400" marR="152400" rtl="0" algn="l">
              <a:lnSpc>
                <a:spcPct val="115000"/>
              </a:lnSpc>
              <a:spcBef>
                <a:spcPts val="0"/>
              </a:spcBef>
              <a:spcAft>
                <a:spcPts val="1200"/>
              </a:spcAft>
              <a:buNone/>
            </a:pPr>
            <a:r>
              <a:t/>
            </a:r>
            <a:endParaRPr sz="1700">
              <a:solidFill>
                <a:srgbClr val="795E26"/>
              </a:solidFill>
              <a:latin typeface="Courier New"/>
              <a:ea typeface="Courier New"/>
              <a:cs typeface="Courier New"/>
              <a:sym typeface="Courier New"/>
            </a:endParaRPr>
          </a:p>
        </p:txBody>
      </p:sp>
      <p:sp>
        <p:nvSpPr>
          <p:cNvPr id="418" name="Google Shape;418;p45"/>
          <p:cNvSpPr txBox="1"/>
          <p:nvPr/>
        </p:nvSpPr>
        <p:spPr>
          <a:xfrm>
            <a:off x="2500600" y="1102850"/>
            <a:ext cx="1476300" cy="471600"/>
          </a:xfrm>
          <a:prstGeom prst="rect">
            <a:avLst/>
          </a:prstGeom>
          <a:noFill/>
          <a:ln>
            <a:noFill/>
          </a:ln>
        </p:spPr>
        <p:txBody>
          <a:bodyPr anchorCtr="0" anchor="t" bIns="0" lIns="54000" spcFirstLastPara="1" rIns="91425" wrap="square" tIns="0">
            <a:noAutofit/>
          </a:bodyPr>
          <a:lstStyle/>
          <a:p>
            <a:pPr indent="0" lvl="0" marL="0" rtl="0" algn="l">
              <a:spcBef>
                <a:spcPts val="0"/>
              </a:spcBef>
              <a:spcAft>
                <a:spcPts val="0"/>
              </a:spcAft>
              <a:buNone/>
            </a:pPr>
            <a:r>
              <a:rPr b="1" lang="en-GB" sz="1500">
                <a:latin typeface="Montserrat"/>
                <a:ea typeface="Montserrat"/>
                <a:cs typeface="Montserrat"/>
                <a:sym typeface="Montserrat"/>
              </a:rPr>
              <a:t>Age = 17</a:t>
            </a:r>
            <a:endParaRPr b="1" sz="1500">
              <a:latin typeface="Montserrat"/>
              <a:ea typeface="Montserrat"/>
              <a:cs typeface="Montserrat"/>
              <a:sym typeface="Montserrat"/>
            </a:endParaRPr>
          </a:p>
          <a:p>
            <a:pPr indent="0" lvl="0" marL="0" rtl="0" algn="l">
              <a:spcBef>
                <a:spcPts val="0"/>
              </a:spcBef>
              <a:spcAft>
                <a:spcPts val="0"/>
              </a:spcAft>
              <a:buNone/>
            </a:pPr>
            <a:r>
              <a:t/>
            </a:r>
            <a:endParaRPr b="1" sz="1500">
              <a:solidFill>
                <a:schemeClr val="accent3"/>
              </a:solidFill>
              <a:latin typeface="Montserrat"/>
              <a:ea typeface="Montserrat"/>
              <a:cs typeface="Montserrat"/>
              <a:sym typeface="Montserrat"/>
            </a:endParaRPr>
          </a:p>
        </p:txBody>
      </p:sp>
      <p:grpSp>
        <p:nvGrpSpPr>
          <p:cNvPr id="419" name="Google Shape;419;p45"/>
          <p:cNvGrpSpPr/>
          <p:nvPr/>
        </p:nvGrpSpPr>
        <p:grpSpPr>
          <a:xfrm>
            <a:off x="5558300" y="3276900"/>
            <a:ext cx="1997400" cy="643000"/>
            <a:chOff x="5558300" y="3276900"/>
            <a:chExt cx="1997400" cy="643000"/>
          </a:xfrm>
        </p:grpSpPr>
        <p:sp>
          <p:nvSpPr>
            <p:cNvPr id="420" name="Google Shape;420;p45"/>
            <p:cNvSpPr/>
            <p:nvPr/>
          </p:nvSpPr>
          <p:spPr>
            <a:xfrm>
              <a:off x="7431200" y="3276900"/>
              <a:ext cx="124500" cy="352500"/>
            </a:xfrm>
            <a:prstGeom prst="rightBrace">
              <a:avLst>
                <a:gd fmla="val 50000" name="adj1"/>
                <a:gd fmla="val 50000" name="adj2"/>
              </a:avLst>
            </a:prstGeom>
            <a:noFill/>
            <a:ln cap="flat" cmpd="sng" w="3810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1" name="Google Shape;421;p45"/>
            <p:cNvCxnSpPr/>
            <p:nvPr/>
          </p:nvCxnSpPr>
          <p:spPr>
            <a:xfrm flipH="1" rot="10800000">
              <a:off x="5558300" y="3432400"/>
              <a:ext cx="1997400" cy="487500"/>
            </a:xfrm>
            <a:prstGeom prst="bentConnector3">
              <a:avLst>
                <a:gd fmla="val 113180" name="adj1"/>
              </a:avLst>
            </a:prstGeom>
            <a:noFill/>
            <a:ln cap="flat" cmpd="sng" w="38100">
              <a:solidFill>
                <a:srgbClr val="666666"/>
              </a:solidFill>
              <a:prstDash val="solid"/>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Code demo: </a:t>
            </a:r>
            <a:r>
              <a:rPr i="1" lang="en-GB"/>
              <a:t>If, if..else and if..elif..else</a:t>
            </a:r>
            <a:r>
              <a:rPr lang="en-GB"/>
              <a:t> statements</a:t>
            </a:r>
            <a:endParaRPr/>
          </a:p>
        </p:txBody>
      </p:sp>
      <p:sp>
        <p:nvSpPr>
          <p:cNvPr id="427" name="Google Shape;427;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7"/>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Ternary Operator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8"/>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lang="en-GB"/>
              <a:t>Ternary Operator</a:t>
            </a:r>
            <a:endParaRPr/>
          </a:p>
        </p:txBody>
      </p:sp>
      <p:sp>
        <p:nvSpPr>
          <p:cNvPr id="438" name="Google Shape;438;p48"/>
          <p:cNvSpPr txBox="1"/>
          <p:nvPr/>
        </p:nvSpPr>
        <p:spPr>
          <a:xfrm>
            <a:off x="608900" y="1119900"/>
            <a:ext cx="7534800" cy="882900"/>
          </a:xfrm>
          <a:prstGeom prst="rect">
            <a:avLst/>
          </a:prstGeom>
          <a:noFill/>
          <a:ln>
            <a:noFill/>
          </a:ln>
        </p:spPr>
        <p:txBody>
          <a:bodyPr anchorCtr="0" anchor="t" bIns="91425" lIns="91425" spcFirstLastPara="1" rIns="91425" wrap="square" tIns="91425">
            <a:spAutoFit/>
          </a:bodyPr>
          <a:lstStyle/>
          <a:p>
            <a:pPr indent="266700" lvl="0" marL="190500" marR="190500" rtl="0" algn="l">
              <a:lnSpc>
                <a:spcPct val="115000"/>
              </a:lnSpc>
              <a:spcBef>
                <a:spcPts val="0"/>
              </a:spcBef>
              <a:spcAft>
                <a:spcPts val="0"/>
              </a:spcAft>
              <a:buClr>
                <a:schemeClr val="dk1"/>
              </a:buClr>
              <a:buSzPts val="1100"/>
              <a:buFont typeface="Arial"/>
              <a:buNone/>
            </a:pPr>
            <a:r>
              <a:rPr lang="en-GB" sz="1800">
                <a:solidFill>
                  <a:schemeClr val="dk1"/>
                </a:solidFill>
                <a:latin typeface="Courier New"/>
                <a:ea typeface="Courier New"/>
                <a:cs typeface="Courier New"/>
                <a:sym typeface="Courier New"/>
              </a:rPr>
              <a:t>X =  &lt;on_true&gt; </a:t>
            </a:r>
            <a:r>
              <a:rPr lang="en-GB" sz="1800">
                <a:solidFill>
                  <a:srgbClr val="2074B9"/>
                </a:solidFill>
                <a:latin typeface="Courier New"/>
                <a:ea typeface="Courier New"/>
                <a:cs typeface="Courier New"/>
                <a:sym typeface="Courier New"/>
              </a:rPr>
              <a:t>if</a:t>
            </a:r>
            <a:r>
              <a:rPr lang="en-GB" sz="1800">
                <a:solidFill>
                  <a:schemeClr val="dk1"/>
                </a:solidFill>
                <a:latin typeface="Courier New"/>
                <a:ea typeface="Courier New"/>
                <a:cs typeface="Courier New"/>
                <a:sym typeface="Courier New"/>
              </a:rPr>
              <a:t> &lt;condition&gt; </a:t>
            </a:r>
            <a:r>
              <a:rPr lang="en-GB" sz="1800">
                <a:solidFill>
                  <a:srgbClr val="2074B9"/>
                </a:solidFill>
                <a:latin typeface="Courier New"/>
                <a:ea typeface="Courier New"/>
                <a:cs typeface="Courier New"/>
                <a:sym typeface="Courier New"/>
              </a:rPr>
              <a:t>else</a:t>
            </a:r>
            <a:r>
              <a:rPr lang="en-GB" sz="1800">
                <a:solidFill>
                  <a:schemeClr val="dk1"/>
                </a:solidFill>
                <a:latin typeface="Courier New"/>
                <a:ea typeface="Courier New"/>
                <a:cs typeface="Courier New"/>
                <a:sym typeface="Courier New"/>
              </a:rPr>
              <a:t> &lt;on_false&gt;</a:t>
            </a:r>
            <a:endParaRPr sz="1800">
              <a:solidFill>
                <a:schemeClr val="dk1"/>
              </a:solidFill>
              <a:latin typeface="Courier New"/>
              <a:ea typeface="Courier New"/>
              <a:cs typeface="Courier New"/>
              <a:sym typeface="Courier New"/>
            </a:endParaRPr>
          </a:p>
          <a:p>
            <a:pPr indent="0" lvl="0" marL="0" rtl="0" algn="l">
              <a:spcBef>
                <a:spcPts val="800"/>
              </a:spcBef>
              <a:spcAft>
                <a:spcPts val="0"/>
              </a:spcAft>
              <a:buNone/>
            </a:pPr>
            <a:r>
              <a:t/>
            </a:r>
            <a:endParaRPr sz="1800">
              <a:latin typeface="Courier New"/>
              <a:ea typeface="Courier New"/>
              <a:cs typeface="Courier New"/>
              <a:sym typeface="Courier New"/>
            </a:endParaRPr>
          </a:p>
        </p:txBody>
      </p:sp>
      <p:grpSp>
        <p:nvGrpSpPr>
          <p:cNvPr id="439" name="Google Shape;439;p48"/>
          <p:cNvGrpSpPr/>
          <p:nvPr/>
        </p:nvGrpSpPr>
        <p:grpSpPr>
          <a:xfrm>
            <a:off x="1137577" y="1889125"/>
            <a:ext cx="3468275" cy="1709636"/>
            <a:chOff x="1137577" y="1889125"/>
            <a:chExt cx="3468275" cy="1709636"/>
          </a:xfrm>
        </p:grpSpPr>
        <p:sp>
          <p:nvSpPr>
            <p:cNvPr id="440" name="Google Shape;440;p48"/>
            <p:cNvSpPr/>
            <p:nvPr/>
          </p:nvSpPr>
          <p:spPr>
            <a:xfrm>
              <a:off x="1137577" y="2964861"/>
              <a:ext cx="1422000" cy="633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Montserrat"/>
                  <a:ea typeface="Montserrat"/>
                  <a:cs typeface="Montserrat"/>
                  <a:sym typeface="Montserrat"/>
                </a:rPr>
                <a:t>Value1</a:t>
              </a:r>
              <a:endParaRPr sz="1600">
                <a:latin typeface="Montserrat"/>
                <a:ea typeface="Montserrat"/>
                <a:cs typeface="Montserrat"/>
                <a:sym typeface="Montserrat"/>
              </a:endParaRPr>
            </a:p>
          </p:txBody>
        </p:sp>
        <p:grpSp>
          <p:nvGrpSpPr>
            <p:cNvPr id="441" name="Google Shape;441;p48"/>
            <p:cNvGrpSpPr/>
            <p:nvPr/>
          </p:nvGrpSpPr>
          <p:grpSpPr>
            <a:xfrm>
              <a:off x="1848552" y="1889125"/>
              <a:ext cx="2757300" cy="1075680"/>
              <a:chOff x="1848552" y="1889125"/>
              <a:chExt cx="2757300" cy="1075680"/>
            </a:xfrm>
          </p:grpSpPr>
          <p:cxnSp>
            <p:nvCxnSpPr>
              <p:cNvPr id="442" name="Google Shape;442;p48"/>
              <p:cNvCxnSpPr>
                <a:stCxn id="443" idx="0"/>
                <a:endCxn id="440" idx="0"/>
              </p:cNvCxnSpPr>
              <p:nvPr/>
            </p:nvCxnSpPr>
            <p:spPr>
              <a:xfrm rot="5400000">
                <a:off x="3008352" y="1367305"/>
                <a:ext cx="437700" cy="2757300"/>
              </a:xfrm>
              <a:prstGeom prst="bentConnector3">
                <a:avLst>
                  <a:gd fmla="val -60224" name="adj1"/>
                </a:avLst>
              </a:prstGeom>
              <a:noFill/>
              <a:ln cap="flat" cmpd="sng" w="38100">
                <a:solidFill>
                  <a:schemeClr val="dk2"/>
                </a:solidFill>
                <a:prstDash val="solid"/>
                <a:round/>
                <a:headEnd len="med" w="med" type="none"/>
                <a:tailEnd len="med" w="med" type="stealth"/>
              </a:ln>
            </p:spPr>
          </p:cxnSp>
          <p:sp>
            <p:nvSpPr>
              <p:cNvPr id="444" name="Google Shape;444;p48"/>
              <p:cNvSpPr txBox="1"/>
              <p:nvPr/>
            </p:nvSpPr>
            <p:spPr>
              <a:xfrm>
                <a:off x="2359525" y="1889125"/>
                <a:ext cx="9333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Montserrat"/>
                    <a:ea typeface="Montserrat"/>
                    <a:cs typeface="Montserrat"/>
                    <a:sym typeface="Montserrat"/>
                  </a:rPr>
                  <a:t>True</a:t>
                </a:r>
                <a:endParaRPr sz="1800">
                  <a:latin typeface="Montserrat"/>
                  <a:ea typeface="Montserrat"/>
                  <a:cs typeface="Montserrat"/>
                  <a:sym typeface="Montserrat"/>
                </a:endParaRPr>
              </a:p>
            </p:txBody>
          </p:sp>
        </p:grpSp>
      </p:grpSp>
      <p:grpSp>
        <p:nvGrpSpPr>
          <p:cNvPr id="445" name="Google Shape;445;p48"/>
          <p:cNvGrpSpPr/>
          <p:nvPr/>
        </p:nvGrpSpPr>
        <p:grpSpPr>
          <a:xfrm>
            <a:off x="4605852" y="2964861"/>
            <a:ext cx="3258166" cy="1758539"/>
            <a:chOff x="4605852" y="2964861"/>
            <a:chExt cx="3258166" cy="1758539"/>
          </a:xfrm>
        </p:grpSpPr>
        <p:sp>
          <p:nvSpPr>
            <p:cNvPr id="446" name="Google Shape;446;p48"/>
            <p:cNvSpPr/>
            <p:nvPr/>
          </p:nvSpPr>
          <p:spPr>
            <a:xfrm>
              <a:off x="6442018" y="2964861"/>
              <a:ext cx="1422000" cy="633900"/>
            </a:xfrm>
            <a:prstGeom prst="roundRect">
              <a:avLst>
                <a:gd fmla="val 16667" name="adj"/>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600">
                  <a:latin typeface="Montserrat"/>
                  <a:ea typeface="Montserrat"/>
                  <a:cs typeface="Montserrat"/>
                  <a:sym typeface="Montserrat"/>
                </a:rPr>
                <a:t>Value2</a:t>
              </a:r>
              <a:endParaRPr sz="1600">
                <a:latin typeface="Montserrat"/>
                <a:ea typeface="Montserrat"/>
                <a:cs typeface="Montserrat"/>
                <a:sym typeface="Montserrat"/>
              </a:endParaRPr>
            </a:p>
          </p:txBody>
        </p:sp>
        <p:grpSp>
          <p:nvGrpSpPr>
            <p:cNvPr id="447" name="Google Shape;447;p48"/>
            <p:cNvGrpSpPr/>
            <p:nvPr/>
          </p:nvGrpSpPr>
          <p:grpSpPr>
            <a:xfrm>
              <a:off x="4605852" y="3598705"/>
              <a:ext cx="2547300" cy="1124695"/>
              <a:chOff x="4605852" y="3598705"/>
              <a:chExt cx="2547300" cy="1124695"/>
            </a:xfrm>
          </p:grpSpPr>
          <p:cxnSp>
            <p:nvCxnSpPr>
              <p:cNvPr id="448" name="Google Shape;448;p48"/>
              <p:cNvCxnSpPr>
                <a:stCxn id="443" idx="2"/>
                <a:endCxn id="446" idx="2"/>
              </p:cNvCxnSpPr>
              <p:nvPr/>
            </p:nvCxnSpPr>
            <p:spPr>
              <a:xfrm rot="-5400000">
                <a:off x="5655402" y="2549155"/>
                <a:ext cx="448200" cy="2547300"/>
              </a:xfrm>
              <a:prstGeom prst="bentConnector3">
                <a:avLst>
                  <a:gd fmla="val -58796" name="adj1"/>
                </a:avLst>
              </a:prstGeom>
              <a:noFill/>
              <a:ln cap="flat" cmpd="sng" w="38100">
                <a:solidFill>
                  <a:schemeClr val="dk2"/>
                </a:solidFill>
                <a:prstDash val="solid"/>
                <a:round/>
                <a:headEnd len="med" w="med" type="none"/>
                <a:tailEnd len="med" w="med" type="stealth"/>
              </a:ln>
            </p:spPr>
          </p:cxnSp>
          <p:sp>
            <p:nvSpPr>
              <p:cNvPr id="449" name="Google Shape;449;p48"/>
              <p:cNvSpPr txBox="1"/>
              <p:nvPr/>
            </p:nvSpPr>
            <p:spPr>
              <a:xfrm>
                <a:off x="5483725" y="4261700"/>
                <a:ext cx="93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Montserrat"/>
                    <a:ea typeface="Montserrat"/>
                    <a:cs typeface="Montserrat"/>
                    <a:sym typeface="Montserrat"/>
                  </a:rPr>
                  <a:t>False</a:t>
                </a:r>
                <a:endParaRPr sz="1800">
                  <a:latin typeface="Montserrat"/>
                  <a:ea typeface="Montserrat"/>
                  <a:cs typeface="Montserrat"/>
                  <a:sym typeface="Montserrat"/>
                </a:endParaRPr>
              </a:p>
            </p:txBody>
          </p:sp>
        </p:grpSp>
      </p:grpSp>
      <p:sp>
        <p:nvSpPr>
          <p:cNvPr id="443" name="Google Shape;443;p48"/>
          <p:cNvSpPr/>
          <p:nvPr/>
        </p:nvSpPr>
        <p:spPr>
          <a:xfrm>
            <a:off x="3292902" y="2527105"/>
            <a:ext cx="2625900" cy="1519800"/>
          </a:xfrm>
          <a:prstGeom prst="diamond">
            <a:avLst/>
          </a:prstGeom>
          <a:solidFill>
            <a:schemeClr val="accent3"/>
          </a:solidFill>
          <a:ln cap="flat" cmpd="sng" w="9525">
            <a:solidFill>
              <a:schemeClr val="dk2"/>
            </a:solidFill>
            <a:prstDash val="solid"/>
            <a:round/>
            <a:headEnd len="sm" w="sm" type="none"/>
            <a:tailEnd len="sm" w="sm" type="none"/>
          </a:ln>
        </p:spPr>
        <p:txBody>
          <a:bodyPr anchorCtr="0" anchor="ctr" bIns="144000" lIns="0" spcFirstLastPara="1" rIns="0" wrap="square" tIns="91425">
            <a:noAutofit/>
          </a:bodyPr>
          <a:lstStyle/>
          <a:p>
            <a:pPr indent="0" lvl="0" marL="0" marR="0" rtl="0" algn="l">
              <a:spcBef>
                <a:spcPts val="0"/>
              </a:spcBef>
              <a:spcAft>
                <a:spcPts val="0"/>
              </a:spcAft>
              <a:buNone/>
            </a:pPr>
            <a:r>
              <a:rPr lang="en-GB" sz="1600">
                <a:latin typeface="Montserrat"/>
                <a:ea typeface="Montserrat"/>
                <a:cs typeface="Montserrat"/>
                <a:sym typeface="Montserrat"/>
              </a:rPr>
              <a:t>i</a:t>
            </a:r>
            <a:r>
              <a:rPr lang="en-GB" sz="1600">
                <a:latin typeface="Montserrat"/>
                <a:ea typeface="Montserrat"/>
                <a:cs typeface="Montserrat"/>
                <a:sym typeface="Montserrat"/>
              </a:rPr>
              <a:t>f condition else</a:t>
            </a:r>
            <a:endParaRPr sz="1600">
              <a:latin typeface="Montserrat"/>
              <a:ea typeface="Montserrat"/>
              <a:cs typeface="Montserrat"/>
              <a:sym typeface="Montserrat"/>
            </a:endParaRPr>
          </a:p>
        </p:txBody>
      </p:sp>
      <p:sp>
        <p:nvSpPr>
          <p:cNvPr id="450" name="Google Shape;450;p48"/>
          <p:cNvSpPr txBox="1"/>
          <p:nvPr/>
        </p:nvSpPr>
        <p:spPr>
          <a:xfrm>
            <a:off x="3567700" y="1174075"/>
            <a:ext cx="1654200" cy="400200"/>
          </a:xfrm>
          <a:prstGeom prst="rect">
            <a:avLst/>
          </a:prstGeom>
          <a:noFill/>
          <a:ln cap="flat" cmpd="sng" w="38100">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451" name="Google Shape;451;p48"/>
          <p:cNvSpPr txBox="1"/>
          <p:nvPr/>
        </p:nvSpPr>
        <p:spPr>
          <a:xfrm>
            <a:off x="5919550" y="1174075"/>
            <a:ext cx="1503600" cy="400200"/>
          </a:xfrm>
          <a:prstGeom prst="rect">
            <a:avLst/>
          </a:prstGeom>
          <a:noFill/>
          <a:ln cap="flat" cmpd="sng" w="38100">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452" name="Google Shape;452;p48"/>
          <p:cNvSpPr/>
          <p:nvPr/>
        </p:nvSpPr>
        <p:spPr>
          <a:xfrm>
            <a:off x="960725" y="1165825"/>
            <a:ext cx="834300" cy="40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urier New"/>
              <a:ea typeface="Courier New"/>
              <a:cs typeface="Courier New"/>
              <a:sym typeface="Courier New"/>
            </a:endParaRPr>
          </a:p>
        </p:txBody>
      </p:sp>
      <p:sp>
        <p:nvSpPr>
          <p:cNvPr id="453" name="Google Shape;453;p48"/>
          <p:cNvSpPr txBox="1"/>
          <p:nvPr/>
        </p:nvSpPr>
        <p:spPr>
          <a:xfrm>
            <a:off x="8529650" y="2485950"/>
            <a:ext cx="7173600" cy="83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454" name="Google Shape;454;p48"/>
          <p:cNvSpPr txBox="1"/>
          <p:nvPr/>
        </p:nvSpPr>
        <p:spPr>
          <a:xfrm>
            <a:off x="1728550" y="1174075"/>
            <a:ext cx="1422000" cy="400200"/>
          </a:xfrm>
          <a:prstGeom prst="rect">
            <a:avLst/>
          </a:prstGeom>
          <a:noFill/>
          <a:ln cap="flat" cmpd="sng" w="38100">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52"/>
                                        </p:tgtEl>
                                      </p:cBhvr>
                                    </p:animEffect>
                                    <p:set>
                                      <p:cBhvr>
                                        <p:cTn dur="1" fill="hold">
                                          <p:stCondLst>
                                            <p:cond delay="1000"/>
                                          </p:stCondLst>
                                        </p:cTn>
                                        <p:tgtEl>
                                          <p:spTgt spid="4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par>
                                <p:cTn fill="hold" nodeType="withEffect" presetClass="exit" presetID="10" presetSubtype="0">
                                  <p:stCondLst>
                                    <p:cond delay="0"/>
                                  </p:stCondLst>
                                  <p:childTnLst>
                                    <p:animEffect filter="fade" transition="out">
                                      <p:cBhvr>
                                        <p:cTn dur="1000"/>
                                        <p:tgtEl>
                                          <p:spTgt spid="450"/>
                                        </p:tgtEl>
                                      </p:cBhvr>
                                    </p:animEffect>
                                    <p:set>
                                      <p:cBhvr>
                                        <p:cTn dur="1" fill="hold">
                                          <p:stCondLst>
                                            <p:cond delay="1000"/>
                                          </p:stCondLst>
                                        </p:cTn>
                                        <p:tgtEl>
                                          <p:spTgt spid="4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par>
                                <p:cTn fill="hold" nodeType="withEffect" presetClass="exit" presetID="10" presetSubtype="0">
                                  <p:stCondLst>
                                    <p:cond delay="0"/>
                                  </p:stCondLst>
                                  <p:childTnLst>
                                    <p:animEffect filter="fade" transition="out">
                                      <p:cBhvr>
                                        <p:cTn dur="1100"/>
                                        <p:tgtEl>
                                          <p:spTgt spid="454"/>
                                        </p:tgtEl>
                                      </p:cBhvr>
                                    </p:animEffect>
                                    <p:set>
                                      <p:cBhvr>
                                        <p:cTn dur="1" fill="hold">
                                          <p:stCondLst>
                                            <p:cond delay="1100"/>
                                          </p:stCondLst>
                                        </p:cTn>
                                        <p:tgtEl>
                                          <p:spTgt spid="4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Code demo: python ternary operator</a:t>
            </a:r>
            <a:endParaRPr/>
          </a:p>
        </p:txBody>
      </p:sp>
      <p:sp>
        <p:nvSpPr>
          <p:cNvPr id="460" name="Google Shape;460;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0"/>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loops: for and while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a:t>
            </a:r>
            <a:r>
              <a:rPr lang="en-GB"/>
              <a:t> </a:t>
            </a:r>
            <a:r>
              <a:rPr b="1" i="1" lang="en-GB"/>
              <a:t>for loop</a:t>
            </a:r>
            <a:endParaRPr/>
          </a:p>
        </p:txBody>
      </p:sp>
      <p:grpSp>
        <p:nvGrpSpPr>
          <p:cNvPr id="471" name="Google Shape;471;p51"/>
          <p:cNvGrpSpPr/>
          <p:nvPr/>
        </p:nvGrpSpPr>
        <p:grpSpPr>
          <a:xfrm>
            <a:off x="4297050" y="1063950"/>
            <a:ext cx="4469000" cy="3444900"/>
            <a:chOff x="2620650" y="1063950"/>
            <a:chExt cx="4469000" cy="3444900"/>
          </a:xfrm>
        </p:grpSpPr>
        <p:sp>
          <p:nvSpPr>
            <p:cNvPr id="472" name="Google Shape;472;p51"/>
            <p:cNvSpPr/>
            <p:nvPr/>
          </p:nvSpPr>
          <p:spPr>
            <a:xfrm>
              <a:off x="2620650" y="16120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Last item reached?</a:t>
              </a:r>
              <a:r>
                <a:rPr b="1" lang="en-GB"/>
                <a:t> </a:t>
              </a:r>
              <a:endParaRPr b="1"/>
            </a:p>
          </p:txBody>
        </p:sp>
        <p:cxnSp>
          <p:nvCxnSpPr>
            <p:cNvPr id="473" name="Google Shape;473;p51"/>
            <p:cNvCxnSpPr>
              <a:endCxn id="472" idx="0"/>
            </p:cNvCxnSpPr>
            <p:nvPr/>
          </p:nvCxnSpPr>
          <p:spPr>
            <a:xfrm>
              <a:off x="3470550" y="1063950"/>
              <a:ext cx="16500" cy="548100"/>
            </a:xfrm>
            <a:prstGeom prst="straightConnector1">
              <a:avLst/>
            </a:prstGeom>
            <a:noFill/>
            <a:ln cap="flat" cmpd="sng" w="28575">
              <a:solidFill>
                <a:schemeClr val="dk2"/>
              </a:solidFill>
              <a:prstDash val="solid"/>
              <a:round/>
              <a:headEnd len="med" w="med" type="none"/>
              <a:tailEnd len="med" w="med" type="triangle"/>
            </a:ln>
          </p:spPr>
        </p:cxnSp>
        <p:cxnSp>
          <p:nvCxnSpPr>
            <p:cNvPr id="474" name="Google Shape;474;p51"/>
            <p:cNvCxnSpPr/>
            <p:nvPr/>
          </p:nvCxnSpPr>
          <p:spPr>
            <a:xfrm flipH="1">
              <a:off x="3483750" y="3033450"/>
              <a:ext cx="6600" cy="536400"/>
            </a:xfrm>
            <a:prstGeom prst="straightConnector1">
              <a:avLst/>
            </a:prstGeom>
            <a:noFill/>
            <a:ln cap="flat" cmpd="sng" w="28575">
              <a:solidFill>
                <a:schemeClr val="dk2"/>
              </a:solidFill>
              <a:prstDash val="solid"/>
              <a:round/>
              <a:headEnd len="med" w="med" type="none"/>
              <a:tailEnd len="med" w="med" type="triangle"/>
            </a:ln>
          </p:spPr>
        </p:cxnSp>
        <p:sp>
          <p:nvSpPr>
            <p:cNvPr id="475" name="Google Shape;475;p51"/>
            <p:cNvSpPr/>
            <p:nvPr/>
          </p:nvSpPr>
          <p:spPr>
            <a:xfrm>
              <a:off x="2678575" y="3569850"/>
              <a:ext cx="1732800" cy="405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for loop</a:t>
              </a:r>
              <a:endParaRPr b="1" i="1">
                <a:solidFill>
                  <a:srgbClr val="FFFFFF"/>
                </a:solidFill>
              </a:endParaRPr>
            </a:p>
          </p:txBody>
        </p:sp>
        <p:cxnSp>
          <p:nvCxnSpPr>
            <p:cNvPr id="476" name="Google Shape;476;p51"/>
            <p:cNvCxnSpPr>
              <a:stCxn id="472" idx="3"/>
              <a:endCxn id="477" idx="0"/>
            </p:cNvCxnSpPr>
            <p:nvPr/>
          </p:nvCxnSpPr>
          <p:spPr>
            <a:xfrm>
              <a:off x="4353450" y="2322750"/>
              <a:ext cx="1248900" cy="1780500"/>
            </a:xfrm>
            <a:prstGeom prst="bentConnector2">
              <a:avLst/>
            </a:prstGeom>
            <a:noFill/>
            <a:ln cap="flat" cmpd="sng" w="28575">
              <a:solidFill>
                <a:schemeClr val="dk2"/>
              </a:solidFill>
              <a:prstDash val="solid"/>
              <a:round/>
              <a:headEnd len="med" w="med" type="none"/>
              <a:tailEnd len="med" w="med" type="triangle"/>
            </a:ln>
          </p:spPr>
        </p:cxnSp>
        <p:sp>
          <p:nvSpPr>
            <p:cNvPr id="478" name="Google Shape;478;p51"/>
            <p:cNvSpPr txBox="1"/>
            <p:nvPr/>
          </p:nvSpPr>
          <p:spPr>
            <a:xfrm>
              <a:off x="4573550" y="19907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479" name="Google Shape;479;p51"/>
            <p:cNvSpPr txBox="1"/>
            <p:nvPr/>
          </p:nvSpPr>
          <p:spPr>
            <a:xfrm>
              <a:off x="3506750" y="29813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480" name="Google Shape;480;p51"/>
            <p:cNvSpPr txBox="1"/>
            <p:nvPr/>
          </p:nvSpPr>
          <p:spPr>
            <a:xfrm>
              <a:off x="3659150" y="1076325"/>
              <a:ext cx="2654400" cy="5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Entering </a:t>
              </a:r>
              <a:r>
                <a:rPr b="1" i="1" lang="en-GB">
                  <a:latin typeface="Montserrat"/>
                  <a:ea typeface="Montserrat"/>
                  <a:cs typeface="Montserrat"/>
                  <a:sym typeface="Montserrat"/>
                </a:rPr>
                <a:t>for loop </a:t>
              </a:r>
              <a:r>
                <a:rPr b="1" lang="en-GB">
                  <a:latin typeface="Montserrat"/>
                  <a:ea typeface="Montserrat"/>
                  <a:cs typeface="Montserrat"/>
                  <a:sym typeface="Montserrat"/>
                </a:rPr>
                <a:t>for each item in a sequence</a:t>
              </a:r>
              <a:endParaRPr b="1" sz="1500">
                <a:latin typeface="Montserrat"/>
                <a:ea typeface="Montserrat"/>
                <a:cs typeface="Montserrat"/>
                <a:sym typeface="Montserrat"/>
              </a:endParaRPr>
            </a:p>
          </p:txBody>
        </p:sp>
        <p:cxnSp>
          <p:nvCxnSpPr>
            <p:cNvPr id="481" name="Google Shape;481;p51"/>
            <p:cNvCxnSpPr>
              <a:stCxn id="475" idx="1"/>
              <a:endCxn id="472" idx="1"/>
            </p:cNvCxnSpPr>
            <p:nvPr/>
          </p:nvCxnSpPr>
          <p:spPr>
            <a:xfrm rot="10800000">
              <a:off x="2620675" y="2322750"/>
              <a:ext cx="57900" cy="1449900"/>
            </a:xfrm>
            <a:prstGeom prst="bentConnector3">
              <a:avLst>
                <a:gd fmla="val 1264896" name="adj1"/>
              </a:avLst>
            </a:prstGeom>
            <a:noFill/>
            <a:ln cap="flat" cmpd="sng" w="28575">
              <a:solidFill>
                <a:schemeClr val="dk2"/>
              </a:solidFill>
              <a:prstDash val="solid"/>
              <a:round/>
              <a:headEnd len="med" w="med" type="none"/>
              <a:tailEnd len="med" w="med" type="triangle"/>
            </a:ln>
          </p:spPr>
        </p:cxnSp>
        <p:sp>
          <p:nvSpPr>
            <p:cNvPr id="477" name="Google Shape;477;p51"/>
            <p:cNvSpPr/>
            <p:nvPr/>
          </p:nvSpPr>
          <p:spPr>
            <a:xfrm>
              <a:off x="4735975" y="4103250"/>
              <a:ext cx="1732800" cy="4056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Statement after  </a:t>
              </a:r>
              <a:r>
                <a:rPr b="1" i="1" lang="en-GB">
                  <a:solidFill>
                    <a:srgbClr val="FFFFFF"/>
                  </a:solidFill>
                </a:rPr>
                <a:t>for loop</a:t>
              </a:r>
              <a:endParaRPr b="1" i="1">
                <a:solidFill>
                  <a:srgbClr val="FFFFFF"/>
                </a:solidFill>
              </a:endParaRPr>
            </a:p>
          </p:txBody>
        </p:sp>
        <p:sp>
          <p:nvSpPr>
            <p:cNvPr id="482" name="Google Shape;482;p51"/>
            <p:cNvSpPr txBox="1"/>
            <p:nvPr/>
          </p:nvSpPr>
          <p:spPr>
            <a:xfrm>
              <a:off x="5716550" y="2981325"/>
              <a:ext cx="1373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Exiting loop</a:t>
              </a:r>
              <a:endParaRPr b="1">
                <a:latin typeface="Montserrat"/>
                <a:ea typeface="Montserrat"/>
                <a:cs typeface="Montserrat"/>
                <a:sym typeface="Montserrat"/>
              </a:endParaRPr>
            </a:p>
          </p:txBody>
        </p:sp>
      </p:grpSp>
      <p:sp>
        <p:nvSpPr>
          <p:cNvPr id="483" name="Google Shape;483;p51"/>
          <p:cNvSpPr txBox="1"/>
          <p:nvPr/>
        </p:nvSpPr>
        <p:spPr>
          <a:xfrm>
            <a:off x="92100" y="1527325"/>
            <a:ext cx="3269100" cy="1963200"/>
          </a:xfrm>
          <a:prstGeom prst="rect">
            <a:avLst/>
          </a:prstGeom>
          <a:noFill/>
          <a:ln>
            <a:noFill/>
          </a:ln>
        </p:spPr>
        <p:txBody>
          <a:bodyPr anchorCtr="0" anchor="t" bIns="91425" lIns="91425" spcFirstLastPara="1" rIns="91425" wrap="square" tIns="54000">
            <a:spAutoFit/>
          </a:bodyPr>
          <a:lstStyle/>
          <a:p>
            <a:pPr indent="0" lvl="0" marL="0" rtl="0" algn="l">
              <a:spcBef>
                <a:spcPts val="0"/>
              </a:spcBef>
              <a:spcAft>
                <a:spcPts val="0"/>
              </a:spcAft>
              <a:buNone/>
            </a:pPr>
            <a:r>
              <a:rPr b="1" lang="en-GB" sz="1700">
                <a:latin typeface="Montserrat"/>
                <a:ea typeface="Montserrat"/>
                <a:cs typeface="Montserrat"/>
                <a:sym typeface="Montserrat"/>
              </a:rPr>
              <a:t>Syntax  </a:t>
            </a:r>
            <a:endParaRPr b="1" sz="17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2100">
                <a:solidFill>
                  <a:srgbClr val="AF00DB"/>
                </a:solidFill>
                <a:latin typeface="Courier New"/>
                <a:ea typeface="Courier New"/>
                <a:cs typeface="Courier New"/>
                <a:sym typeface="Courier New"/>
              </a:rPr>
              <a:t>for</a:t>
            </a:r>
            <a:r>
              <a:rPr lang="en-GB" sz="2100">
                <a:latin typeface="Courier New"/>
                <a:ea typeface="Courier New"/>
                <a:cs typeface="Courier New"/>
                <a:sym typeface="Courier New"/>
              </a:rPr>
              <a:t> x </a:t>
            </a:r>
            <a:r>
              <a:rPr lang="en-GB" sz="2100">
                <a:solidFill>
                  <a:srgbClr val="AF00DB"/>
                </a:solidFill>
                <a:latin typeface="Courier New"/>
                <a:ea typeface="Courier New"/>
                <a:cs typeface="Courier New"/>
                <a:sym typeface="Courier New"/>
              </a:rPr>
              <a:t>in </a:t>
            </a:r>
            <a:r>
              <a:rPr lang="en-GB" sz="2100">
                <a:latin typeface="Courier New"/>
                <a:ea typeface="Courier New"/>
                <a:cs typeface="Courier New"/>
                <a:sym typeface="Courier New"/>
              </a:rPr>
              <a:t>sequence:</a:t>
            </a:r>
            <a:endParaRPr sz="2100">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GB" sz="2100">
                <a:solidFill>
                  <a:srgbClr val="795E26"/>
                </a:solidFill>
                <a:latin typeface="Courier New"/>
                <a:ea typeface="Courier New"/>
                <a:cs typeface="Courier New"/>
                <a:sym typeface="Courier New"/>
              </a:rPr>
              <a:t>Body of for loop</a:t>
            </a:r>
            <a:endParaRPr sz="2100">
              <a:solidFill>
                <a:srgbClr val="795E26"/>
              </a:solidFill>
              <a:latin typeface="Courier New"/>
              <a:ea typeface="Courier New"/>
              <a:cs typeface="Courier New"/>
              <a:sym typeface="Courier New"/>
            </a:endParaRPr>
          </a:p>
          <a:p>
            <a:pPr indent="0" lvl="0" marL="0" rtl="0" algn="l">
              <a:spcBef>
                <a:spcPts val="0"/>
              </a:spcBef>
              <a:spcAft>
                <a:spcPts val="0"/>
              </a:spcAft>
              <a:buNone/>
            </a:pPr>
            <a:r>
              <a:t/>
            </a:r>
            <a:endParaRPr sz="2100">
              <a:latin typeface="Courier New"/>
              <a:ea typeface="Courier New"/>
              <a:cs typeface="Courier New"/>
              <a:sym typeface="Courier New"/>
            </a:endParaRPr>
          </a:p>
          <a:p>
            <a:pPr indent="0" lvl="0" marL="0" rtl="0" algn="l">
              <a:spcBef>
                <a:spcPts val="0"/>
              </a:spcBef>
              <a:spcAft>
                <a:spcPts val="0"/>
              </a:spcAft>
              <a:buNone/>
            </a:pPr>
            <a:r>
              <a:rPr lang="en-GB" sz="2100">
                <a:solidFill>
                  <a:srgbClr val="795E26"/>
                </a:solidFill>
                <a:latin typeface="Courier New"/>
                <a:ea typeface="Courier New"/>
                <a:cs typeface="Courier New"/>
                <a:sym typeface="Courier New"/>
              </a:rPr>
              <a:t>statement(s)</a:t>
            </a:r>
            <a:endParaRPr sz="2100">
              <a:solidFill>
                <a:srgbClr val="795E26"/>
              </a:solidFill>
              <a:latin typeface="Courier New"/>
              <a:ea typeface="Courier New"/>
              <a:cs typeface="Courier New"/>
              <a:sym typeface="Courier New"/>
            </a:endParaRPr>
          </a:p>
        </p:txBody>
      </p:sp>
      <p:sp>
        <p:nvSpPr>
          <p:cNvPr id="484" name="Google Shape;484;p51"/>
          <p:cNvSpPr txBox="1"/>
          <p:nvPr/>
        </p:nvSpPr>
        <p:spPr>
          <a:xfrm>
            <a:off x="4241975" y="4541400"/>
            <a:ext cx="316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latin typeface="Montserrat"/>
                <a:ea typeface="Montserrat"/>
                <a:cs typeface="Montserrat"/>
                <a:sym typeface="Montserrat"/>
              </a:rPr>
              <a:t>Flowchart</a:t>
            </a:r>
            <a:endParaRPr b="1" sz="1800">
              <a:latin typeface="Montserrat"/>
              <a:ea typeface="Montserrat"/>
              <a:cs typeface="Montserrat"/>
              <a:sym typeface="Montserrat"/>
            </a:endParaRPr>
          </a:p>
        </p:txBody>
      </p:sp>
      <p:cxnSp>
        <p:nvCxnSpPr>
          <p:cNvPr id="485" name="Google Shape;485;p51"/>
          <p:cNvCxnSpPr/>
          <p:nvPr/>
        </p:nvCxnSpPr>
        <p:spPr>
          <a:xfrm flipH="1">
            <a:off x="5160150" y="3033450"/>
            <a:ext cx="6600" cy="536400"/>
          </a:xfrm>
          <a:prstGeom prst="straightConnector1">
            <a:avLst/>
          </a:prstGeom>
          <a:noFill/>
          <a:ln cap="flat" cmpd="sng" w="28575">
            <a:solidFill>
              <a:srgbClr val="2074B9"/>
            </a:solidFill>
            <a:prstDash val="solid"/>
            <a:round/>
            <a:headEnd len="med" w="med" type="none"/>
            <a:tailEnd len="med" w="med" type="triangle"/>
          </a:ln>
        </p:spPr>
      </p:cxnSp>
      <p:sp>
        <p:nvSpPr>
          <p:cNvPr id="486" name="Google Shape;486;p51"/>
          <p:cNvSpPr txBox="1"/>
          <p:nvPr/>
        </p:nvSpPr>
        <p:spPr>
          <a:xfrm>
            <a:off x="5183150" y="29813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487" name="Google Shape;487;p51"/>
          <p:cNvSpPr txBox="1"/>
          <p:nvPr/>
        </p:nvSpPr>
        <p:spPr>
          <a:xfrm>
            <a:off x="5335550" y="1076325"/>
            <a:ext cx="2654400" cy="5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Entering </a:t>
            </a:r>
            <a:r>
              <a:rPr b="1" i="1" lang="en-GB">
                <a:latin typeface="Montserrat"/>
                <a:ea typeface="Montserrat"/>
                <a:cs typeface="Montserrat"/>
                <a:sym typeface="Montserrat"/>
              </a:rPr>
              <a:t>for loop </a:t>
            </a:r>
            <a:r>
              <a:rPr b="1" lang="en-GB">
                <a:latin typeface="Montserrat"/>
                <a:ea typeface="Montserrat"/>
                <a:cs typeface="Montserrat"/>
                <a:sym typeface="Montserrat"/>
              </a:rPr>
              <a:t>for each item in a sequence</a:t>
            </a:r>
            <a:endParaRPr b="1" sz="1500">
              <a:latin typeface="Montserrat"/>
              <a:ea typeface="Montserrat"/>
              <a:cs typeface="Montserrat"/>
              <a:sym typeface="Montserrat"/>
            </a:endParaRPr>
          </a:p>
        </p:txBody>
      </p:sp>
      <p:grpSp>
        <p:nvGrpSpPr>
          <p:cNvPr id="488" name="Google Shape;488;p51"/>
          <p:cNvGrpSpPr/>
          <p:nvPr/>
        </p:nvGrpSpPr>
        <p:grpSpPr>
          <a:xfrm>
            <a:off x="4297050" y="1063950"/>
            <a:ext cx="4469000" cy="3444900"/>
            <a:chOff x="4297050" y="1063950"/>
            <a:chExt cx="4469000" cy="3444900"/>
          </a:xfrm>
        </p:grpSpPr>
        <p:sp>
          <p:nvSpPr>
            <p:cNvPr id="489" name="Google Shape;489;p51"/>
            <p:cNvSpPr/>
            <p:nvPr/>
          </p:nvSpPr>
          <p:spPr>
            <a:xfrm>
              <a:off x="4297050" y="16120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Last item reached?</a:t>
              </a:r>
              <a:r>
                <a:rPr b="1" lang="en-GB"/>
                <a:t> </a:t>
              </a:r>
              <a:endParaRPr b="1"/>
            </a:p>
          </p:txBody>
        </p:sp>
        <p:cxnSp>
          <p:nvCxnSpPr>
            <p:cNvPr id="490" name="Google Shape;490;p51"/>
            <p:cNvCxnSpPr>
              <a:endCxn id="489" idx="0"/>
            </p:cNvCxnSpPr>
            <p:nvPr/>
          </p:nvCxnSpPr>
          <p:spPr>
            <a:xfrm>
              <a:off x="5146950" y="1063950"/>
              <a:ext cx="16500" cy="548100"/>
            </a:xfrm>
            <a:prstGeom prst="straightConnector1">
              <a:avLst/>
            </a:prstGeom>
            <a:noFill/>
            <a:ln cap="flat" cmpd="sng" w="28575">
              <a:solidFill>
                <a:srgbClr val="2074B9"/>
              </a:solidFill>
              <a:prstDash val="solid"/>
              <a:round/>
              <a:headEnd len="med" w="med" type="none"/>
              <a:tailEnd len="med" w="med" type="triangle"/>
            </a:ln>
          </p:spPr>
        </p:cxnSp>
        <p:sp>
          <p:nvSpPr>
            <p:cNvPr id="491" name="Google Shape;491;p51"/>
            <p:cNvSpPr/>
            <p:nvPr/>
          </p:nvSpPr>
          <p:spPr>
            <a:xfrm>
              <a:off x="4354975" y="3569850"/>
              <a:ext cx="1732800" cy="405600"/>
            </a:xfrm>
            <a:prstGeom prst="rect">
              <a:avLst/>
            </a:prstGeom>
            <a:solidFill>
              <a:srgbClr val="2074B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Body of </a:t>
              </a:r>
              <a:r>
                <a:rPr b="1" i="1" lang="en-GB">
                  <a:solidFill>
                    <a:srgbClr val="FFFFFF"/>
                  </a:solidFill>
                </a:rPr>
                <a:t>for loop</a:t>
              </a:r>
              <a:endParaRPr b="1" i="1">
                <a:solidFill>
                  <a:srgbClr val="FFFFFF"/>
                </a:solidFill>
              </a:endParaRPr>
            </a:p>
          </p:txBody>
        </p:sp>
        <p:cxnSp>
          <p:nvCxnSpPr>
            <p:cNvPr id="492" name="Google Shape;492;p51"/>
            <p:cNvCxnSpPr>
              <a:stCxn id="489" idx="3"/>
              <a:endCxn id="493" idx="0"/>
            </p:cNvCxnSpPr>
            <p:nvPr/>
          </p:nvCxnSpPr>
          <p:spPr>
            <a:xfrm>
              <a:off x="6029850" y="2322750"/>
              <a:ext cx="1248900" cy="1780500"/>
            </a:xfrm>
            <a:prstGeom prst="bentConnector2">
              <a:avLst/>
            </a:prstGeom>
            <a:noFill/>
            <a:ln cap="flat" cmpd="sng" w="28575">
              <a:solidFill>
                <a:srgbClr val="B7B7B7"/>
              </a:solidFill>
              <a:prstDash val="solid"/>
              <a:round/>
              <a:headEnd len="med" w="med" type="none"/>
              <a:tailEnd len="med" w="med" type="triangle"/>
            </a:ln>
          </p:spPr>
        </p:cxnSp>
        <p:sp>
          <p:nvSpPr>
            <p:cNvPr id="494" name="Google Shape;494;p51"/>
            <p:cNvSpPr txBox="1"/>
            <p:nvPr/>
          </p:nvSpPr>
          <p:spPr>
            <a:xfrm>
              <a:off x="6249950" y="19907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True</a:t>
              </a:r>
              <a:endParaRPr b="1">
                <a:solidFill>
                  <a:srgbClr val="B7B7B7"/>
                </a:solidFill>
                <a:latin typeface="Montserrat"/>
                <a:ea typeface="Montserrat"/>
                <a:cs typeface="Montserrat"/>
                <a:sym typeface="Montserrat"/>
              </a:endParaRPr>
            </a:p>
          </p:txBody>
        </p:sp>
        <p:cxnSp>
          <p:nvCxnSpPr>
            <p:cNvPr id="495" name="Google Shape;495;p51"/>
            <p:cNvCxnSpPr>
              <a:stCxn id="491" idx="1"/>
              <a:endCxn id="489" idx="1"/>
            </p:cNvCxnSpPr>
            <p:nvPr/>
          </p:nvCxnSpPr>
          <p:spPr>
            <a:xfrm rot="10800000">
              <a:off x="4297075" y="2322750"/>
              <a:ext cx="57900" cy="1449900"/>
            </a:xfrm>
            <a:prstGeom prst="bentConnector3">
              <a:avLst>
                <a:gd fmla="val 1234111" name="adj1"/>
              </a:avLst>
            </a:prstGeom>
            <a:noFill/>
            <a:ln cap="flat" cmpd="sng" w="28575">
              <a:solidFill>
                <a:schemeClr val="accent1"/>
              </a:solidFill>
              <a:prstDash val="solid"/>
              <a:round/>
              <a:headEnd len="med" w="med" type="none"/>
              <a:tailEnd len="med" w="med" type="triangle"/>
            </a:ln>
          </p:spPr>
        </p:cxnSp>
        <p:sp>
          <p:nvSpPr>
            <p:cNvPr id="493" name="Google Shape;493;p51"/>
            <p:cNvSpPr/>
            <p:nvPr/>
          </p:nvSpPr>
          <p:spPr>
            <a:xfrm>
              <a:off x="6412375" y="4103250"/>
              <a:ext cx="1732800" cy="405600"/>
            </a:xfrm>
            <a:prstGeom prst="rect">
              <a:avLst/>
            </a:prstGeom>
            <a:solidFill>
              <a:srgbClr val="B7B7B7"/>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rPr>
                <a:t>Statement after  </a:t>
              </a:r>
              <a:r>
                <a:rPr b="1" i="1" lang="en-GB">
                  <a:solidFill>
                    <a:srgbClr val="FFFFFF"/>
                  </a:solidFill>
                </a:rPr>
                <a:t>for loop</a:t>
              </a:r>
              <a:endParaRPr b="1" i="1">
                <a:solidFill>
                  <a:srgbClr val="FFFFFF"/>
                </a:solidFill>
              </a:endParaRPr>
            </a:p>
          </p:txBody>
        </p:sp>
        <p:sp>
          <p:nvSpPr>
            <p:cNvPr id="496" name="Google Shape;496;p51"/>
            <p:cNvSpPr txBox="1"/>
            <p:nvPr/>
          </p:nvSpPr>
          <p:spPr>
            <a:xfrm>
              <a:off x="7392950" y="2981325"/>
              <a:ext cx="1373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Exiting loop</a:t>
              </a:r>
              <a:endParaRPr b="1">
                <a:solidFill>
                  <a:srgbClr val="B7B7B7"/>
                </a:solidFill>
                <a:latin typeface="Montserrat"/>
                <a:ea typeface="Montserrat"/>
                <a:cs typeface="Montserrat"/>
                <a:sym typeface="Montserrat"/>
              </a:endParaRPr>
            </a:p>
          </p:txBody>
        </p:sp>
      </p:grpSp>
      <p:grpSp>
        <p:nvGrpSpPr>
          <p:cNvPr id="497" name="Google Shape;497;p51"/>
          <p:cNvGrpSpPr/>
          <p:nvPr/>
        </p:nvGrpSpPr>
        <p:grpSpPr>
          <a:xfrm>
            <a:off x="3273527" y="2458800"/>
            <a:ext cx="1300482" cy="1063957"/>
            <a:chOff x="2925825" y="2491875"/>
            <a:chExt cx="1518900" cy="823943"/>
          </a:xfrm>
        </p:grpSpPr>
        <p:sp>
          <p:nvSpPr>
            <p:cNvPr id="498" name="Google Shape;498;p51"/>
            <p:cNvSpPr/>
            <p:nvPr/>
          </p:nvSpPr>
          <p:spPr>
            <a:xfrm>
              <a:off x="2925825" y="2491875"/>
              <a:ext cx="209700" cy="270300"/>
            </a:xfrm>
            <a:prstGeom prst="rightBrace">
              <a:avLst>
                <a:gd fmla="val 50000" name="adj1"/>
                <a:gd fmla="val 61540"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9" name="Google Shape;499;p51"/>
            <p:cNvCxnSpPr>
              <a:stCxn id="498" idx="1"/>
            </p:cNvCxnSpPr>
            <p:nvPr/>
          </p:nvCxnSpPr>
          <p:spPr>
            <a:xfrm>
              <a:off x="3135525" y="2658218"/>
              <a:ext cx="1309200" cy="657600"/>
            </a:xfrm>
            <a:prstGeom prst="straightConnector1">
              <a:avLst/>
            </a:prstGeom>
            <a:noFill/>
            <a:ln cap="flat" cmpd="sng" w="38100">
              <a:solidFill>
                <a:srgbClr val="666666"/>
              </a:solidFill>
              <a:prstDash val="solid"/>
              <a:round/>
              <a:headEnd len="med" w="med" type="stealth"/>
              <a:tailEnd len="med" w="med" type="none"/>
            </a:ln>
          </p:spPr>
        </p:cxnSp>
      </p:grpSp>
      <p:sp>
        <p:nvSpPr>
          <p:cNvPr id="500" name="Google Shape;500;p51"/>
          <p:cNvSpPr txBox="1"/>
          <p:nvPr/>
        </p:nvSpPr>
        <p:spPr>
          <a:xfrm>
            <a:off x="765175" y="2166200"/>
            <a:ext cx="255600" cy="2556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grpSp>
        <p:nvGrpSpPr>
          <p:cNvPr id="501" name="Google Shape;501;p51"/>
          <p:cNvGrpSpPr/>
          <p:nvPr/>
        </p:nvGrpSpPr>
        <p:grpSpPr>
          <a:xfrm>
            <a:off x="4297050" y="1063950"/>
            <a:ext cx="4469000" cy="3444900"/>
            <a:chOff x="4297050" y="1063950"/>
            <a:chExt cx="4469000" cy="3444900"/>
          </a:xfrm>
        </p:grpSpPr>
        <p:sp>
          <p:nvSpPr>
            <p:cNvPr id="502" name="Google Shape;502;p51"/>
            <p:cNvSpPr/>
            <p:nvPr/>
          </p:nvSpPr>
          <p:spPr>
            <a:xfrm>
              <a:off x="4297050" y="1612050"/>
              <a:ext cx="1732800" cy="14214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Last item reached?</a:t>
              </a:r>
              <a:r>
                <a:rPr b="1" lang="en-GB">
                  <a:latin typeface="Montserrat"/>
                  <a:ea typeface="Montserrat"/>
                  <a:cs typeface="Montserrat"/>
                  <a:sym typeface="Montserrat"/>
                </a:rPr>
                <a:t> </a:t>
              </a:r>
              <a:endParaRPr b="1">
                <a:latin typeface="Montserrat"/>
                <a:ea typeface="Montserrat"/>
                <a:cs typeface="Montserrat"/>
                <a:sym typeface="Montserrat"/>
              </a:endParaRPr>
            </a:p>
          </p:txBody>
        </p:sp>
        <p:cxnSp>
          <p:nvCxnSpPr>
            <p:cNvPr id="503" name="Google Shape;503;p51"/>
            <p:cNvCxnSpPr>
              <a:endCxn id="502" idx="0"/>
            </p:cNvCxnSpPr>
            <p:nvPr/>
          </p:nvCxnSpPr>
          <p:spPr>
            <a:xfrm>
              <a:off x="5146950" y="1063950"/>
              <a:ext cx="16500" cy="548100"/>
            </a:xfrm>
            <a:prstGeom prst="straightConnector1">
              <a:avLst/>
            </a:prstGeom>
            <a:noFill/>
            <a:ln cap="flat" cmpd="sng" w="28575">
              <a:solidFill>
                <a:srgbClr val="2074B9"/>
              </a:solidFill>
              <a:prstDash val="solid"/>
              <a:round/>
              <a:headEnd len="med" w="med" type="none"/>
              <a:tailEnd len="med" w="med" type="triangle"/>
            </a:ln>
          </p:spPr>
        </p:cxnSp>
        <p:cxnSp>
          <p:nvCxnSpPr>
            <p:cNvPr id="504" name="Google Shape;504;p51"/>
            <p:cNvCxnSpPr/>
            <p:nvPr/>
          </p:nvCxnSpPr>
          <p:spPr>
            <a:xfrm flipH="1">
              <a:off x="5160150" y="3033450"/>
              <a:ext cx="6600" cy="536400"/>
            </a:xfrm>
            <a:prstGeom prst="straightConnector1">
              <a:avLst/>
            </a:prstGeom>
            <a:noFill/>
            <a:ln cap="flat" cmpd="sng" w="28575">
              <a:solidFill>
                <a:srgbClr val="B7B7B7"/>
              </a:solidFill>
              <a:prstDash val="solid"/>
              <a:round/>
              <a:headEnd len="med" w="med" type="none"/>
              <a:tailEnd len="med" w="med" type="triangle"/>
            </a:ln>
          </p:spPr>
        </p:cxnSp>
        <p:sp>
          <p:nvSpPr>
            <p:cNvPr id="505" name="Google Shape;505;p51"/>
            <p:cNvSpPr/>
            <p:nvPr/>
          </p:nvSpPr>
          <p:spPr>
            <a:xfrm>
              <a:off x="4354975" y="3569850"/>
              <a:ext cx="1732800" cy="405600"/>
            </a:xfrm>
            <a:prstGeom prst="rect">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a:t>
              </a:r>
              <a:r>
                <a:rPr b="1" i="1" lang="en-GB">
                  <a:solidFill>
                    <a:srgbClr val="FFFFFF"/>
                  </a:solidFill>
                  <a:latin typeface="Montserrat"/>
                  <a:ea typeface="Montserrat"/>
                  <a:cs typeface="Montserrat"/>
                  <a:sym typeface="Montserrat"/>
                </a:rPr>
                <a:t>for loop</a:t>
              </a:r>
              <a:endParaRPr b="1" i="1">
                <a:solidFill>
                  <a:srgbClr val="FFFFFF"/>
                </a:solidFill>
                <a:latin typeface="Montserrat"/>
                <a:ea typeface="Montserrat"/>
                <a:cs typeface="Montserrat"/>
                <a:sym typeface="Montserrat"/>
              </a:endParaRPr>
            </a:p>
          </p:txBody>
        </p:sp>
        <p:cxnSp>
          <p:nvCxnSpPr>
            <p:cNvPr id="506" name="Google Shape;506;p51"/>
            <p:cNvCxnSpPr>
              <a:stCxn id="502" idx="3"/>
              <a:endCxn id="507" idx="0"/>
            </p:cNvCxnSpPr>
            <p:nvPr/>
          </p:nvCxnSpPr>
          <p:spPr>
            <a:xfrm>
              <a:off x="6029850" y="2322750"/>
              <a:ext cx="1248900" cy="1780500"/>
            </a:xfrm>
            <a:prstGeom prst="bentConnector2">
              <a:avLst/>
            </a:prstGeom>
            <a:noFill/>
            <a:ln cap="flat" cmpd="sng" w="28575">
              <a:solidFill>
                <a:schemeClr val="accent1"/>
              </a:solidFill>
              <a:prstDash val="solid"/>
              <a:round/>
              <a:headEnd len="med" w="med" type="none"/>
              <a:tailEnd len="med" w="med" type="triangle"/>
            </a:ln>
          </p:spPr>
        </p:cxnSp>
        <p:sp>
          <p:nvSpPr>
            <p:cNvPr id="508" name="Google Shape;508;p51"/>
            <p:cNvSpPr txBox="1"/>
            <p:nvPr/>
          </p:nvSpPr>
          <p:spPr>
            <a:xfrm>
              <a:off x="6249950" y="19907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509" name="Google Shape;509;p51"/>
            <p:cNvSpPr txBox="1"/>
            <p:nvPr/>
          </p:nvSpPr>
          <p:spPr>
            <a:xfrm>
              <a:off x="5183150" y="2981325"/>
              <a:ext cx="776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B7B7B7"/>
                  </a:solidFill>
                  <a:latin typeface="Montserrat"/>
                  <a:ea typeface="Montserrat"/>
                  <a:cs typeface="Montserrat"/>
                  <a:sym typeface="Montserrat"/>
                </a:rPr>
                <a:t>False</a:t>
              </a:r>
              <a:endParaRPr b="1">
                <a:solidFill>
                  <a:srgbClr val="B7B7B7"/>
                </a:solidFill>
                <a:latin typeface="Montserrat"/>
                <a:ea typeface="Montserrat"/>
                <a:cs typeface="Montserrat"/>
                <a:sym typeface="Montserrat"/>
              </a:endParaRPr>
            </a:p>
          </p:txBody>
        </p:sp>
        <p:sp>
          <p:nvSpPr>
            <p:cNvPr id="510" name="Google Shape;510;p51"/>
            <p:cNvSpPr txBox="1"/>
            <p:nvPr/>
          </p:nvSpPr>
          <p:spPr>
            <a:xfrm>
              <a:off x="5335550" y="1076325"/>
              <a:ext cx="2654400" cy="5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Entering </a:t>
              </a:r>
              <a:r>
                <a:rPr b="1" i="1" lang="en-GB">
                  <a:latin typeface="Montserrat"/>
                  <a:ea typeface="Montserrat"/>
                  <a:cs typeface="Montserrat"/>
                  <a:sym typeface="Montserrat"/>
                </a:rPr>
                <a:t>for loop </a:t>
              </a:r>
              <a:r>
                <a:rPr b="1" lang="en-GB">
                  <a:latin typeface="Montserrat"/>
                  <a:ea typeface="Montserrat"/>
                  <a:cs typeface="Montserrat"/>
                  <a:sym typeface="Montserrat"/>
                </a:rPr>
                <a:t>for each item in a sequence</a:t>
              </a:r>
              <a:endParaRPr b="1" sz="1500">
                <a:latin typeface="Montserrat"/>
                <a:ea typeface="Montserrat"/>
                <a:cs typeface="Montserrat"/>
                <a:sym typeface="Montserrat"/>
              </a:endParaRPr>
            </a:p>
          </p:txBody>
        </p:sp>
        <p:cxnSp>
          <p:nvCxnSpPr>
            <p:cNvPr id="511" name="Google Shape;511;p51"/>
            <p:cNvCxnSpPr>
              <a:stCxn id="505" idx="1"/>
              <a:endCxn id="502" idx="1"/>
            </p:cNvCxnSpPr>
            <p:nvPr/>
          </p:nvCxnSpPr>
          <p:spPr>
            <a:xfrm rot="10800000">
              <a:off x="4297075" y="2322750"/>
              <a:ext cx="57900" cy="1449900"/>
            </a:xfrm>
            <a:prstGeom prst="bentConnector3">
              <a:avLst>
                <a:gd fmla="val 1234111" name="adj1"/>
              </a:avLst>
            </a:prstGeom>
            <a:noFill/>
            <a:ln cap="flat" cmpd="sng" w="28575">
              <a:solidFill>
                <a:srgbClr val="B7B7B7"/>
              </a:solidFill>
              <a:prstDash val="solid"/>
              <a:round/>
              <a:headEnd len="med" w="med" type="none"/>
              <a:tailEnd len="med" w="med" type="triangle"/>
            </a:ln>
          </p:spPr>
        </p:cxnSp>
        <p:sp>
          <p:nvSpPr>
            <p:cNvPr id="507" name="Google Shape;507;p51"/>
            <p:cNvSpPr/>
            <p:nvPr/>
          </p:nvSpPr>
          <p:spPr>
            <a:xfrm>
              <a:off x="6412375" y="4103250"/>
              <a:ext cx="1732800" cy="405600"/>
            </a:xfrm>
            <a:prstGeom prst="rect">
              <a:avLst/>
            </a:prstGeom>
            <a:solidFill>
              <a:srgbClr val="2074B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Statement after  </a:t>
              </a:r>
              <a:r>
                <a:rPr b="1" i="1" lang="en-GB">
                  <a:solidFill>
                    <a:srgbClr val="FFFFFF"/>
                  </a:solidFill>
                  <a:latin typeface="Montserrat"/>
                  <a:ea typeface="Montserrat"/>
                  <a:cs typeface="Montserrat"/>
                  <a:sym typeface="Montserrat"/>
                </a:rPr>
                <a:t>for loop</a:t>
              </a:r>
              <a:endParaRPr b="1" i="1">
                <a:solidFill>
                  <a:srgbClr val="FFFFFF"/>
                </a:solidFill>
                <a:latin typeface="Montserrat"/>
                <a:ea typeface="Montserrat"/>
                <a:cs typeface="Montserrat"/>
                <a:sym typeface="Montserrat"/>
              </a:endParaRPr>
            </a:p>
          </p:txBody>
        </p:sp>
        <p:sp>
          <p:nvSpPr>
            <p:cNvPr id="512" name="Google Shape;512;p51"/>
            <p:cNvSpPr txBox="1"/>
            <p:nvPr/>
          </p:nvSpPr>
          <p:spPr>
            <a:xfrm>
              <a:off x="7392950" y="2981325"/>
              <a:ext cx="1373100" cy="3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Exiting loop</a:t>
              </a:r>
              <a:endParaRPr b="1">
                <a:latin typeface="Montserrat"/>
                <a:ea typeface="Montserrat"/>
                <a:cs typeface="Montserrat"/>
                <a:sym typeface="Montserrat"/>
              </a:endParaRPr>
            </a:p>
          </p:txBody>
        </p:sp>
      </p:grpSp>
      <p:grpSp>
        <p:nvGrpSpPr>
          <p:cNvPr id="513" name="Google Shape;513;p51"/>
          <p:cNvGrpSpPr/>
          <p:nvPr/>
        </p:nvGrpSpPr>
        <p:grpSpPr>
          <a:xfrm>
            <a:off x="2102281" y="3101238"/>
            <a:ext cx="4310232" cy="1204766"/>
            <a:chOff x="1797350" y="3025275"/>
            <a:chExt cx="4596600" cy="1139474"/>
          </a:xfrm>
        </p:grpSpPr>
        <p:sp>
          <p:nvSpPr>
            <p:cNvPr id="514" name="Google Shape;514;p51"/>
            <p:cNvSpPr/>
            <p:nvPr/>
          </p:nvSpPr>
          <p:spPr>
            <a:xfrm>
              <a:off x="1797350" y="3025275"/>
              <a:ext cx="255600" cy="332100"/>
            </a:xfrm>
            <a:prstGeom prst="rightBrace">
              <a:avLst>
                <a:gd fmla="val 50000" name="adj1"/>
                <a:gd fmla="val 61540" name="adj2"/>
              </a:avLst>
            </a:prstGeom>
            <a:noFill/>
            <a:ln cap="flat" cmpd="sng" w="2857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5" name="Google Shape;515;p51"/>
            <p:cNvCxnSpPr>
              <a:stCxn id="514" idx="1"/>
              <a:endCxn id="507" idx="1"/>
            </p:cNvCxnSpPr>
            <p:nvPr/>
          </p:nvCxnSpPr>
          <p:spPr>
            <a:xfrm>
              <a:off x="2052950" y="3229649"/>
              <a:ext cx="4341000" cy="935100"/>
            </a:xfrm>
            <a:prstGeom prst="curvedConnector3">
              <a:avLst>
                <a:gd fmla="val 16142" name="adj1"/>
              </a:avLst>
            </a:prstGeom>
            <a:noFill/>
            <a:ln cap="flat" cmpd="sng" w="38100">
              <a:solidFill>
                <a:srgbClr val="666666"/>
              </a:solidFill>
              <a:prstDash val="solid"/>
              <a:round/>
              <a:headEnd len="med" w="med" type="stealth"/>
              <a:tailEnd len="med" w="med" type="none"/>
            </a:ln>
          </p:spPr>
        </p:cxnSp>
      </p:grpSp>
      <p:grpSp>
        <p:nvGrpSpPr>
          <p:cNvPr id="516" name="Google Shape;516;p51"/>
          <p:cNvGrpSpPr/>
          <p:nvPr/>
        </p:nvGrpSpPr>
        <p:grpSpPr>
          <a:xfrm>
            <a:off x="892975" y="1527325"/>
            <a:ext cx="1895200" cy="644575"/>
            <a:chOff x="892975" y="1527325"/>
            <a:chExt cx="1895200" cy="644575"/>
          </a:xfrm>
        </p:grpSpPr>
        <p:cxnSp>
          <p:nvCxnSpPr>
            <p:cNvPr id="517" name="Google Shape;517;p51"/>
            <p:cNvCxnSpPr>
              <a:stCxn id="500" idx="0"/>
            </p:cNvCxnSpPr>
            <p:nvPr/>
          </p:nvCxnSpPr>
          <p:spPr>
            <a:xfrm flipH="1" rot="-5400000">
              <a:off x="1654075" y="1405100"/>
              <a:ext cx="5700" cy="1527900"/>
            </a:xfrm>
            <a:prstGeom prst="bentConnector4">
              <a:avLst>
                <a:gd fmla="val -5391667" name="adj1"/>
                <a:gd fmla="val 99992" name="adj2"/>
              </a:avLst>
            </a:prstGeom>
            <a:noFill/>
            <a:ln cap="flat" cmpd="sng" w="38100">
              <a:solidFill>
                <a:srgbClr val="666666"/>
              </a:solidFill>
              <a:prstDash val="solid"/>
              <a:round/>
              <a:headEnd len="med" w="med" type="triangle"/>
              <a:tailEnd len="med" w="med" type="none"/>
            </a:ln>
          </p:spPr>
        </p:cxnSp>
        <p:sp>
          <p:nvSpPr>
            <p:cNvPr id="518" name="Google Shape;518;p51"/>
            <p:cNvSpPr txBox="1"/>
            <p:nvPr/>
          </p:nvSpPr>
          <p:spPr>
            <a:xfrm>
              <a:off x="1260275" y="1527325"/>
              <a:ext cx="1527900" cy="408600"/>
            </a:xfrm>
            <a:prstGeom prst="rect">
              <a:avLst/>
            </a:prstGeom>
            <a:noFill/>
            <a:ln>
              <a:noFill/>
            </a:ln>
          </p:spPr>
          <p:txBody>
            <a:bodyPr anchorCtr="0" anchor="t" bIns="91425" lIns="91425" spcFirstLastPara="1" rIns="91425" wrap="square" tIns="54000">
              <a:spAutoFit/>
            </a:bodyPr>
            <a:lstStyle/>
            <a:p>
              <a:pPr indent="0" lvl="0" marL="0" rtl="0" algn="l">
                <a:spcBef>
                  <a:spcPts val="0"/>
                </a:spcBef>
                <a:spcAft>
                  <a:spcPts val="0"/>
                </a:spcAft>
                <a:buNone/>
              </a:pPr>
              <a:r>
                <a:rPr lang="en-GB" sz="1700">
                  <a:latin typeface="Montserrat"/>
                  <a:ea typeface="Montserrat"/>
                  <a:cs typeface="Montserrat"/>
                  <a:sym typeface="Montserrat"/>
                </a:rPr>
                <a:t>Last item?</a:t>
              </a:r>
              <a:endParaRPr sz="1700">
                <a:latin typeface="Montserrat"/>
                <a:ea typeface="Montserrat"/>
                <a:cs typeface="Montserrat"/>
                <a:sym typeface="Montserrat"/>
              </a:endParaRPr>
            </a:p>
          </p:txBody>
        </p:sp>
      </p:grpSp>
      <p:sp>
        <p:nvSpPr>
          <p:cNvPr id="519" name="Google Shape;519;p51"/>
          <p:cNvSpPr txBox="1"/>
          <p:nvPr/>
        </p:nvSpPr>
        <p:spPr>
          <a:xfrm>
            <a:off x="2482075" y="1473925"/>
            <a:ext cx="1071900" cy="461700"/>
          </a:xfrm>
          <a:prstGeom prst="rect">
            <a:avLst/>
          </a:prstGeom>
          <a:noFill/>
          <a:ln>
            <a:noFill/>
          </a:ln>
        </p:spPr>
        <p:txBody>
          <a:bodyPr anchorCtr="0" anchor="t" bIns="91425" lIns="91425" spcFirstLastPara="1" rIns="91425" wrap="square" tIns="126000">
            <a:noAutofit/>
          </a:bodyPr>
          <a:lstStyle/>
          <a:p>
            <a:pPr indent="0" lvl="0" marL="0" rtl="0" algn="l">
              <a:spcBef>
                <a:spcPts val="0"/>
              </a:spcBef>
              <a:spcAft>
                <a:spcPts val="0"/>
              </a:spcAft>
              <a:buNone/>
            </a:pPr>
            <a:r>
              <a:rPr lang="en-GB" sz="1800">
                <a:latin typeface="Montserrat"/>
                <a:ea typeface="Montserrat"/>
                <a:cs typeface="Montserrat"/>
                <a:sym typeface="Montserrat"/>
              </a:rPr>
              <a:t>= True</a:t>
            </a:r>
            <a:endParaRPr sz="18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00"/>
                                        </p:tgtEl>
                                      </p:cBhvr>
                                    </p:animEffect>
                                    <p:set>
                                      <p:cBhvr>
                                        <p:cTn dur="1" fill="hold">
                                          <p:stCondLst>
                                            <p:cond delay="1000"/>
                                          </p:stCondLst>
                                        </p:cTn>
                                        <p:tgtEl>
                                          <p:spTgt spid="50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par>
                                <p:cTn fill="hold" nodeType="withEffect" presetClass="exit" presetID="10" presetSubtype="0">
                                  <p:stCondLst>
                                    <p:cond delay="0"/>
                                  </p:stCondLst>
                                  <p:childTnLst>
                                    <p:animEffect filter="fade" transition="out">
                                      <p:cBhvr>
                                        <p:cTn dur="1000"/>
                                        <p:tgtEl>
                                          <p:spTgt spid="516"/>
                                        </p:tgtEl>
                                      </p:cBhvr>
                                    </p:animEffect>
                                    <p:set>
                                      <p:cBhvr>
                                        <p:cTn dur="1" fill="hold">
                                          <p:stCondLst>
                                            <p:cond delay="1000"/>
                                          </p:stCondLst>
                                        </p:cTn>
                                        <p:tgtEl>
                                          <p:spTgt spid="5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par>
                                <p:cTn fill="hold" nodeType="withEffect" presetClass="exit" presetID="10" presetSubtype="0">
                                  <p:stCondLst>
                                    <p:cond delay="0"/>
                                  </p:stCondLst>
                                  <p:childTnLst>
                                    <p:animEffect filter="fade" transition="out">
                                      <p:cBhvr>
                                        <p:cTn dur="1000"/>
                                        <p:tgtEl>
                                          <p:spTgt spid="497"/>
                                        </p:tgtEl>
                                      </p:cBhvr>
                                    </p:animEffect>
                                    <p:set>
                                      <p:cBhvr>
                                        <p:cTn dur="1" fill="hold">
                                          <p:stCondLst>
                                            <p:cond delay="1000"/>
                                          </p:stCondLst>
                                        </p:cTn>
                                        <p:tgtEl>
                                          <p:spTgt spid="49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Flowchart of </a:t>
            </a:r>
            <a:r>
              <a:rPr b="1" i="1" lang="en-GB"/>
              <a:t>while loop</a:t>
            </a:r>
            <a:endParaRPr b="1" i="1"/>
          </a:p>
        </p:txBody>
      </p:sp>
      <p:sp>
        <p:nvSpPr>
          <p:cNvPr id="525" name="Google Shape;525;p52"/>
          <p:cNvSpPr txBox="1"/>
          <p:nvPr/>
        </p:nvSpPr>
        <p:spPr>
          <a:xfrm>
            <a:off x="254025" y="1920550"/>
            <a:ext cx="34983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Montserrat"/>
                <a:ea typeface="Montserrat"/>
                <a:cs typeface="Montserrat"/>
                <a:sym typeface="Montserrat"/>
              </a:rPr>
              <a:t>Syntax </a:t>
            </a:r>
            <a:endParaRPr b="1" sz="1800">
              <a:latin typeface="Montserrat"/>
              <a:ea typeface="Montserrat"/>
              <a:cs typeface="Montserrat"/>
              <a:sym typeface="Montserrat"/>
            </a:endParaRPr>
          </a:p>
          <a:p>
            <a:pPr indent="0" lvl="0" marL="0" rtl="0" algn="l">
              <a:spcBef>
                <a:spcPts val="0"/>
              </a:spcBef>
              <a:spcAft>
                <a:spcPts val="0"/>
              </a:spcAft>
              <a:buNone/>
            </a:pPr>
            <a:r>
              <a:t/>
            </a:r>
            <a:endParaRPr b="1" sz="1800">
              <a:latin typeface="Montserrat"/>
              <a:ea typeface="Montserrat"/>
              <a:cs typeface="Montserrat"/>
              <a:sym typeface="Montserrat"/>
            </a:endParaRPr>
          </a:p>
          <a:p>
            <a:pPr indent="0" lvl="0" marL="0" rtl="0" algn="l">
              <a:spcBef>
                <a:spcPts val="0"/>
              </a:spcBef>
              <a:spcAft>
                <a:spcPts val="0"/>
              </a:spcAft>
              <a:buNone/>
            </a:pPr>
            <a:r>
              <a:rPr lang="en-GB" sz="2200">
                <a:solidFill>
                  <a:srgbClr val="AF00DB"/>
                </a:solidFill>
                <a:latin typeface="Montserrat"/>
                <a:ea typeface="Montserrat"/>
                <a:cs typeface="Montserrat"/>
                <a:sym typeface="Montserrat"/>
              </a:rPr>
              <a:t>while </a:t>
            </a:r>
            <a:r>
              <a:rPr lang="en-GB" sz="2200">
                <a:latin typeface="Montserrat"/>
                <a:ea typeface="Montserrat"/>
                <a:cs typeface="Montserrat"/>
                <a:sym typeface="Montserrat"/>
              </a:rPr>
              <a:t>test_expression</a:t>
            </a:r>
            <a:r>
              <a:rPr lang="en-GB" sz="2200">
                <a:latin typeface="Montserrat"/>
                <a:ea typeface="Montserrat"/>
                <a:cs typeface="Montserrat"/>
                <a:sym typeface="Montserrat"/>
              </a:rPr>
              <a:t>:</a:t>
            </a:r>
            <a:endParaRPr sz="2200">
              <a:latin typeface="Montserrat"/>
              <a:ea typeface="Montserrat"/>
              <a:cs typeface="Montserrat"/>
              <a:sym typeface="Montserrat"/>
            </a:endParaRPr>
          </a:p>
          <a:p>
            <a:pPr indent="0" lvl="0" marL="0" rtl="0" algn="l">
              <a:spcBef>
                <a:spcPts val="0"/>
              </a:spcBef>
              <a:spcAft>
                <a:spcPts val="0"/>
              </a:spcAft>
              <a:buNone/>
            </a:pPr>
            <a:r>
              <a:rPr lang="en-GB" sz="2200">
                <a:latin typeface="Montserrat"/>
                <a:ea typeface="Montserrat"/>
                <a:cs typeface="Montserrat"/>
                <a:sym typeface="Montserrat"/>
              </a:rPr>
              <a:t>	</a:t>
            </a:r>
            <a:r>
              <a:rPr lang="en-GB" sz="2200">
                <a:solidFill>
                  <a:srgbClr val="795E26"/>
                </a:solidFill>
                <a:latin typeface="Montserrat"/>
                <a:ea typeface="Montserrat"/>
                <a:cs typeface="Montserrat"/>
                <a:sym typeface="Montserrat"/>
              </a:rPr>
              <a:t>Body of while</a:t>
            </a:r>
            <a:endParaRPr sz="2200">
              <a:solidFill>
                <a:srgbClr val="795E26"/>
              </a:solidFill>
              <a:latin typeface="Montserrat"/>
              <a:ea typeface="Montserrat"/>
              <a:cs typeface="Montserrat"/>
              <a:sym typeface="Montserrat"/>
            </a:endParaRPr>
          </a:p>
          <a:p>
            <a:pPr indent="0" lvl="0" marL="0" rtl="0" algn="l">
              <a:spcBef>
                <a:spcPts val="0"/>
              </a:spcBef>
              <a:spcAft>
                <a:spcPts val="0"/>
              </a:spcAft>
              <a:buNone/>
            </a:pPr>
            <a:r>
              <a:t/>
            </a:r>
            <a:endParaRPr sz="1800">
              <a:latin typeface="Montserrat"/>
              <a:ea typeface="Montserrat"/>
              <a:cs typeface="Montserrat"/>
              <a:sym typeface="Montserrat"/>
            </a:endParaRPr>
          </a:p>
        </p:txBody>
      </p:sp>
      <p:grpSp>
        <p:nvGrpSpPr>
          <p:cNvPr id="526" name="Google Shape;526;p52"/>
          <p:cNvGrpSpPr/>
          <p:nvPr/>
        </p:nvGrpSpPr>
        <p:grpSpPr>
          <a:xfrm>
            <a:off x="3904725" y="859200"/>
            <a:ext cx="4915319" cy="3991500"/>
            <a:chOff x="3904725" y="859200"/>
            <a:chExt cx="4915319" cy="3991500"/>
          </a:xfrm>
        </p:grpSpPr>
        <p:pic>
          <p:nvPicPr>
            <p:cNvPr id="527" name="Google Shape;527;p52"/>
            <p:cNvPicPr preferRelativeResize="0"/>
            <p:nvPr/>
          </p:nvPicPr>
          <p:blipFill>
            <a:blip r:embed="rId4">
              <a:alphaModFix/>
            </a:blip>
            <a:stretch>
              <a:fillRect/>
            </a:stretch>
          </p:blipFill>
          <p:spPr>
            <a:xfrm>
              <a:off x="3904725" y="859200"/>
              <a:ext cx="4915319" cy="3979500"/>
            </a:xfrm>
            <a:prstGeom prst="rect">
              <a:avLst/>
            </a:prstGeom>
            <a:noFill/>
            <a:ln>
              <a:noFill/>
            </a:ln>
          </p:spPr>
        </p:pic>
        <p:sp>
          <p:nvSpPr>
            <p:cNvPr id="528" name="Google Shape;528;p52"/>
            <p:cNvSpPr txBox="1"/>
            <p:nvPr/>
          </p:nvSpPr>
          <p:spPr>
            <a:xfrm>
              <a:off x="4241975" y="4389000"/>
              <a:ext cx="3165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latin typeface="Montserrat"/>
                  <a:ea typeface="Montserrat"/>
                  <a:cs typeface="Montserrat"/>
                  <a:sym typeface="Montserrat"/>
                </a:rPr>
                <a:t>Flowchart</a:t>
              </a:r>
              <a:endParaRPr b="1" sz="1800">
                <a:latin typeface="Montserrat"/>
                <a:ea typeface="Montserrat"/>
                <a:cs typeface="Montserrat"/>
                <a:sym typeface="Montserrat"/>
              </a:endParaRPr>
            </a:p>
          </p:txBody>
        </p:sp>
      </p:grpSp>
      <p:sp>
        <p:nvSpPr>
          <p:cNvPr id="529" name="Google Shape;529;p52"/>
          <p:cNvSpPr txBox="1"/>
          <p:nvPr/>
        </p:nvSpPr>
        <p:spPr>
          <a:xfrm>
            <a:off x="1141325" y="2571750"/>
            <a:ext cx="2292600" cy="3399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530" name="Google Shape;530;p52"/>
          <p:cNvSpPr/>
          <p:nvPr/>
        </p:nvSpPr>
        <p:spPr>
          <a:xfrm>
            <a:off x="2765600" y="2925750"/>
            <a:ext cx="230100" cy="339900"/>
          </a:xfrm>
          <a:prstGeom prst="rightBrace">
            <a:avLst>
              <a:gd fmla="val 50000" name="adj1"/>
              <a:gd fmla="val 53244" name="adj2"/>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29"/>
                                        </p:tgtEl>
                                      </p:cBhvr>
                                    </p:animEffect>
                                    <p:set>
                                      <p:cBhvr>
                                        <p:cTn dur="1" fill="hold">
                                          <p:stCondLst>
                                            <p:cond delay="1000"/>
                                          </p:stCondLst>
                                        </p:cTn>
                                        <p:tgtEl>
                                          <p:spTgt spid="5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2000"/>
                                        <p:tgtEl>
                                          <p:spTgt spid="529"/>
                                        </p:tgtEl>
                                      </p:cBhvr>
                                    </p:animEffect>
                                  </p:childTnLst>
                                </p:cTn>
                              </p:par>
                              <p:par>
                                <p:cTn fill="hold" nodeType="withEffect" presetClass="exit" presetID="10" presetSubtype="0">
                                  <p:stCondLst>
                                    <p:cond delay="0"/>
                                  </p:stCondLst>
                                  <p:childTnLst>
                                    <p:animEffect filter="fade" transition="out">
                                      <p:cBhvr>
                                        <p:cTn dur="1000"/>
                                        <p:tgtEl>
                                          <p:spTgt spid="530"/>
                                        </p:tgtEl>
                                      </p:cBhvr>
                                    </p:animEffect>
                                    <p:set>
                                      <p:cBhvr>
                                        <p:cTn dur="1" fill="hold">
                                          <p:stCondLst>
                                            <p:cond delay="1000"/>
                                          </p:stCondLst>
                                        </p:cTn>
                                        <p:tgtEl>
                                          <p:spTgt spid="5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Code demo:  python </a:t>
            </a:r>
            <a:r>
              <a:rPr i="1" lang="en-GB"/>
              <a:t>for </a:t>
            </a:r>
            <a:r>
              <a:rPr lang="en-GB"/>
              <a:t>and </a:t>
            </a:r>
            <a:r>
              <a:rPr i="1" lang="en-GB"/>
              <a:t>while</a:t>
            </a:r>
            <a:endParaRPr i="1"/>
          </a:p>
        </p:txBody>
      </p:sp>
      <p:sp>
        <p:nvSpPr>
          <p:cNvPr id="536" name="Google Shape;536;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4"/>
          <p:cNvSpPr txBox="1"/>
          <p:nvPr>
            <p:ph type="title"/>
          </p:nvPr>
        </p:nvSpPr>
        <p:spPr>
          <a:xfrm>
            <a:off x="540300" y="3665500"/>
            <a:ext cx="74109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000"/>
              <a:t>Python break, continue and pass statement</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5"/>
          <p:cNvSpPr txBox="1"/>
          <p:nvPr>
            <p:ph type="title"/>
          </p:nvPr>
        </p:nvSpPr>
        <p:spPr>
          <a:xfrm>
            <a:off x="242175" y="297550"/>
            <a:ext cx="7994400" cy="51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break </a:t>
            </a:r>
            <a:r>
              <a:rPr lang="en-GB"/>
              <a:t>statement</a:t>
            </a:r>
            <a:endParaRPr/>
          </a:p>
        </p:txBody>
      </p:sp>
      <p:grpSp>
        <p:nvGrpSpPr>
          <p:cNvPr id="547" name="Google Shape;547;p55"/>
          <p:cNvGrpSpPr/>
          <p:nvPr/>
        </p:nvGrpSpPr>
        <p:grpSpPr>
          <a:xfrm>
            <a:off x="4782934" y="1054560"/>
            <a:ext cx="3255901" cy="3695315"/>
            <a:chOff x="2877934" y="1054560"/>
            <a:chExt cx="3255901" cy="3695315"/>
          </a:xfrm>
        </p:grpSpPr>
        <p:sp>
          <p:nvSpPr>
            <p:cNvPr id="548" name="Google Shape;548;p55"/>
            <p:cNvSpPr/>
            <p:nvPr/>
          </p:nvSpPr>
          <p:spPr>
            <a:xfrm>
              <a:off x="2996882" y="1470960"/>
              <a:ext cx="1714800" cy="1081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18000"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Is test Condition</a:t>
              </a:r>
              <a:r>
                <a:rPr b="1" lang="en-GB" sz="1100">
                  <a:latin typeface="Montserrat"/>
                  <a:ea typeface="Montserrat"/>
                  <a:cs typeface="Montserrat"/>
                  <a:sym typeface="Montserrat"/>
                </a:rPr>
                <a:t> </a:t>
              </a:r>
              <a:r>
                <a:rPr b="1" lang="en-GB" sz="1100">
                  <a:solidFill>
                    <a:srgbClr val="FFFFFF"/>
                  </a:solidFill>
                  <a:latin typeface="Montserrat"/>
                  <a:ea typeface="Montserrat"/>
                  <a:cs typeface="Montserrat"/>
                  <a:sym typeface="Montserrat"/>
                </a:rPr>
                <a:t>True?</a:t>
              </a:r>
              <a:endParaRPr b="1" sz="1100">
                <a:solidFill>
                  <a:srgbClr val="FFFFFF"/>
                </a:solidFill>
                <a:latin typeface="Montserrat"/>
                <a:ea typeface="Montserrat"/>
                <a:cs typeface="Montserrat"/>
                <a:sym typeface="Montserrat"/>
              </a:endParaRPr>
            </a:p>
          </p:txBody>
        </p:sp>
        <p:cxnSp>
          <p:nvCxnSpPr>
            <p:cNvPr id="549" name="Google Shape;549;p55"/>
            <p:cNvCxnSpPr>
              <a:endCxn id="548" idx="0"/>
            </p:cNvCxnSpPr>
            <p:nvPr/>
          </p:nvCxnSpPr>
          <p:spPr>
            <a:xfrm>
              <a:off x="3837782" y="1054560"/>
              <a:ext cx="16500" cy="416400"/>
            </a:xfrm>
            <a:prstGeom prst="straightConnector1">
              <a:avLst/>
            </a:prstGeom>
            <a:noFill/>
            <a:ln cap="flat" cmpd="sng" w="28575">
              <a:solidFill>
                <a:schemeClr val="dk2"/>
              </a:solidFill>
              <a:prstDash val="solid"/>
              <a:round/>
              <a:headEnd len="med" w="med" type="none"/>
              <a:tailEnd len="med" w="med" type="triangle"/>
            </a:ln>
          </p:spPr>
        </p:cxnSp>
        <p:cxnSp>
          <p:nvCxnSpPr>
            <p:cNvPr id="550" name="Google Shape;550;p55"/>
            <p:cNvCxnSpPr>
              <a:endCxn id="551" idx="0"/>
            </p:cNvCxnSpPr>
            <p:nvPr/>
          </p:nvCxnSpPr>
          <p:spPr>
            <a:xfrm flipH="1">
              <a:off x="3846118" y="2551950"/>
              <a:ext cx="12000" cy="339300"/>
            </a:xfrm>
            <a:prstGeom prst="straightConnector1">
              <a:avLst/>
            </a:prstGeom>
            <a:noFill/>
            <a:ln cap="flat" cmpd="sng" w="28575">
              <a:solidFill>
                <a:schemeClr val="dk2"/>
              </a:solidFill>
              <a:prstDash val="solid"/>
              <a:round/>
              <a:headEnd len="med" w="med" type="none"/>
              <a:tailEnd len="med" w="med" type="triangle"/>
            </a:ln>
          </p:spPr>
        </p:cxnSp>
        <p:sp>
          <p:nvSpPr>
            <p:cNvPr id="552" name="Google Shape;552;p55"/>
            <p:cNvSpPr/>
            <p:nvPr/>
          </p:nvSpPr>
          <p:spPr>
            <a:xfrm>
              <a:off x="2877934" y="4281447"/>
              <a:ext cx="1959900" cy="3084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loop</a:t>
              </a:r>
              <a:endParaRPr b="1">
                <a:solidFill>
                  <a:srgbClr val="FFFFFF"/>
                </a:solidFill>
                <a:latin typeface="Montserrat"/>
                <a:ea typeface="Montserrat"/>
                <a:cs typeface="Montserrat"/>
                <a:sym typeface="Montserrat"/>
              </a:endParaRPr>
            </a:p>
          </p:txBody>
        </p:sp>
        <p:cxnSp>
          <p:nvCxnSpPr>
            <p:cNvPr id="553" name="Google Shape;553;p55"/>
            <p:cNvCxnSpPr>
              <a:stCxn id="548" idx="3"/>
            </p:cNvCxnSpPr>
            <p:nvPr/>
          </p:nvCxnSpPr>
          <p:spPr>
            <a:xfrm>
              <a:off x="4711682" y="2011560"/>
              <a:ext cx="1192200" cy="2656200"/>
            </a:xfrm>
            <a:prstGeom prst="bentConnector2">
              <a:avLst/>
            </a:prstGeom>
            <a:noFill/>
            <a:ln cap="flat" cmpd="sng" w="28575">
              <a:solidFill>
                <a:schemeClr val="dk2"/>
              </a:solidFill>
              <a:prstDash val="solid"/>
              <a:round/>
              <a:headEnd len="med" w="med" type="none"/>
              <a:tailEnd len="med" w="med" type="stealth"/>
            </a:ln>
          </p:spPr>
        </p:cxnSp>
        <p:sp>
          <p:nvSpPr>
            <p:cNvPr id="554" name="Google Shape;554;p55"/>
            <p:cNvSpPr txBox="1"/>
            <p:nvPr/>
          </p:nvSpPr>
          <p:spPr>
            <a:xfrm>
              <a:off x="4929447" y="1758912"/>
              <a:ext cx="768000" cy="2526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555" name="Google Shape;555;p55"/>
            <p:cNvSpPr txBox="1"/>
            <p:nvPr/>
          </p:nvSpPr>
          <p:spPr>
            <a:xfrm>
              <a:off x="3873755" y="2512182"/>
              <a:ext cx="6366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cxnSp>
          <p:nvCxnSpPr>
            <p:cNvPr id="556" name="Google Shape;556;p55"/>
            <p:cNvCxnSpPr>
              <a:stCxn id="552" idx="1"/>
              <a:endCxn id="548" idx="1"/>
            </p:cNvCxnSpPr>
            <p:nvPr/>
          </p:nvCxnSpPr>
          <p:spPr>
            <a:xfrm flipH="1" rot="10800000">
              <a:off x="2877934" y="2011647"/>
              <a:ext cx="118800" cy="2424000"/>
            </a:xfrm>
            <a:prstGeom prst="bentConnector3">
              <a:avLst>
                <a:gd fmla="val -197943" name="adj1"/>
              </a:avLst>
            </a:prstGeom>
            <a:noFill/>
            <a:ln cap="flat" cmpd="sng" w="28575">
              <a:solidFill>
                <a:schemeClr val="dk2"/>
              </a:solidFill>
              <a:prstDash val="solid"/>
              <a:round/>
              <a:headEnd len="med" w="med" type="none"/>
              <a:tailEnd len="med" w="med" type="triangle"/>
            </a:ln>
          </p:spPr>
        </p:cxnSp>
        <p:sp>
          <p:nvSpPr>
            <p:cNvPr id="557" name="Google Shape;557;p55"/>
            <p:cNvSpPr txBox="1"/>
            <p:nvPr/>
          </p:nvSpPr>
          <p:spPr>
            <a:xfrm>
              <a:off x="4116635" y="1065754"/>
              <a:ext cx="20172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 in loop</a:t>
              </a:r>
              <a:endParaRPr b="1">
                <a:latin typeface="Montserrat"/>
                <a:ea typeface="Montserrat"/>
                <a:cs typeface="Montserrat"/>
                <a:sym typeface="Montserrat"/>
              </a:endParaRPr>
            </a:p>
          </p:txBody>
        </p:sp>
        <p:sp>
          <p:nvSpPr>
            <p:cNvPr id="551" name="Google Shape;551;p55"/>
            <p:cNvSpPr/>
            <p:nvPr/>
          </p:nvSpPr>
          <p:spPr>
            <a:xfrm>
              <a:off x="2988718" y="2891250"/>
              <a:ext cx="1714800" cy="1081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Break?</a:t>
              </a:r>
              <a:endParaRPr b="1" sz="1100">
                <a:solidFill>
                  <a:srgbClr val="FFFFFF"/>
                </a:solidFill>
                <a:latin typeface="Montserrat"/>
                <a:ea typeface="Montserrat"/>
                <a:cs typeface="Montserrat"/>
                <a:sym typeface="Montserrat"/>
              </a:endParaRPr>
            </a:p>
          </p:txBody>
        </p:sp>
        <p:cxnSp>
          <p:nvCxnSpPr>
            <p:cNvPr id="558" name="Google Shape;558;p55"/>
            <p:cNvCxnSpPr>
              <a:stCxn id="551" idx="2"/>
              <a:endCxn id="552" idx="0"/>
            </p:cNvCxnSpPr>
            <p:nvPr/>
          </p:nvCxnSpPr>
          <p:spPr>
            <a:xfrm>
              <a:off x="3846118" y="3972450"/>
              <a:ext cx="11700" cy="309000"/>
            </a:xfrm>
            <a:prstGeom prst="straightConnector1">
              <a:avLst/>
            </a:prstGeom>
            <a:noFill/>
            <a:ln cap="flat" cmpd="sng" w="28575">
              <a:solidFill>
                <a:schemeClr val="dk2"/>
              </a:solidFill>
              <a:prstDash val="solid"/>
              <a:round/>
              <a:headEnd len="med" w="med" type="none"/>
              <a:tailEnd len="med" w="med" type="triangle"/>
            </a:ln>
          </p:spPr>
        </p:cxnSp>
        <p:sp>
          <p:nvSpPr>
            <p:cNvPr id="559" name="Google Shape;559;p55"/>
            <p:cNvSpPr txBox="1"/>
            <p:nvPr/>
          </p:nvSpPr>
          <p:spPr>
            <a:xfrm>
              <a:off x="3360791" y="3960773"/>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No</a:t>
              </a:r>
              <a:endParaRPr b="1">
                <a:latin typeface="Montserrat"/>
                <a:ea typeface="Montserrat"/>
                <a:cs typeface="Montserrat"/>
                <a:sym typeface="Montserrat"/>
              </a:endParaRPr>
            </a:p>
          </p:txBody>
        </p:sp>
        <p:cxnSp>
          <p:nvCxnSpPr>
            <p:cNvPr id="560" name="Google Shape;560;p55"/>
            <p:cNvCxnSpPr>
              <a:stCxn id="551" idx="3"/>
            </p:cNvCxnSpPr>
            <p:nvPr/>
          </p:nvCxnSpPr>
          <p:spPr>
            <a:xfrm>
              <a:off x="4703518" y="3431850"/>
              <a:ext cx="1212300" cy="2700"/>
            </a:xfrm>
            <a:prstGeom prst="straightConnector1">
              <a:avLst/>
            </a:prstGeom>
            <a:noFill/>
            <a:ln cap="flat" cmpd="sng" w="28575">
              <a:solidFill>
                <a:schemeClr val="dk2"/>
              </a:solidFill>
              <a:prstDash val="solid"/>
              <a:round/>
              <a:headEnd len="med" w="med" type="none"/>
              <a:tailEnd len="med" w="med" type="triangle"/>
            </a:ln>
          </p:spPr>
        </p:cxnSp>
        <p:sp>
          <p:nvSpPr>
            <p:cNvPr id="561" name="Google Shape;561;p55"/>
            <p:cNvSpPr txBox="1"/>
            <p:nvPr/>
          </p:nvSpPr>
          <p:spPr>
            <a:xfrm>
              <a:off x="4807458" y="3130301"/>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Yes</a:t>
              </a:r>
              <a:endParaRPr b="1">
                <a:latin typeface="Montserrat"/>
                <a:ea typeface="Montserrat"/>
                <a:cs typeface="Montserrat"/>
                <a:sym typeface="Montserrat"/>
              </a:endParaRPr>
            </a:p>
          </p:txBody>
        </p:sp>
        <p:sp>
          <p:nvSpPr>
            <p:cNvPr id="562" name="Google Shape;562;p55"/>
            <p:cNvSpPr/>
            <p:nvPr/>
          </p:nvSpPr>
          <p:spPr>
            <a:xfrm>
              <a:off x="5850150" y="4634075"/>
              <a:ext cx="116100" cy="115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55"/>
          <p:cNvSpPr txBox="1"/>
          <p:nvPr/>
        </p:nvSpPr>
        <p:spPr>
          <a:xfrm>
            <a:off x="406425" y="1691950"/>
            <a:ext cx="3709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a:latin typeface="Courier New"/>
              <a:ea typeface="Courier New"/>
              <a:cs typeface="Courier New"/>
              <a:sym typeface="Courier New"/>
            </a:endParaRPr>
          </a:p>
          <a:p>
            <a:pPr indent="0" lvl="0" marL="0" rtl="0" algn="l">
              <a:spcBef>
                <a:spcPts val="0"/>
              </a:spcBef>
              <a:spcAft>
                <a:spcPts val="0"/>
              </a:spcAft>
              <a:buNone/>
            </a:pPr>
            <a:r>
              <a:rPr lang="en-GB" sz="2100">
                <a:solidFill>
                  <a:srgbClr val="AF00DB"/>
                </a:solidFill>
                <a:latin typeface="Courier New"/>
                <a:ea typeface="Courier New"/>
                <a:cs typeface="Courier New"/>
                <a:sym typeface="Courier New"/>
              </a:rPr>
              <a:t>W</a:t>
            </a:r>
            <a:r>
              <a:rPr lang="en-GB" sz="2100">
                <a:solidFill>
                  <a:srgbClr val="AF00DB"/>
                </a:solidFill>
                <a:latin typeface="Courier New"/>
                <a:ea typeface="Courier New"/>
                <a:cs typeface="Courier New"/>
                <a:sym typeface="Courier New"/>
              </a:rPr>
              <a:t>hile </a:t>
            </a:r>
            <a:r>
              <a:rPr lang="en-GB" sz="2100">
                <a:latin typeface="Courier New"/>
                <a:ea typeface="Courier New"/>
                <a:cs typeface="Courier New"/>
                <a:sym typeface="Courier New"/>
              </a:rPr>
              <a:t>t</a:t>
            </a:r>
            <a:r>
              <a:rPr lang="en-GB" sz="2100">
                <a:latin typeface="Courier New"/>
                <a:ea typeface="Courier New"/>
                <a:cs typeface="Courier New"/>
                <a:sym typeface="Courier New"/>
              </a:rPr>
              <a:t>est_expression:</a:t>
            </a:r>
            <a:endParaRPr sz="2100">
              <a:latin typeface="Courier New"/>
              <a:ea typeface="Courier New"/>
              <a:cs typeface="Courier New"/>
              <a:sym typeface="Courier New"/>
            </a:endParaRPr>
          </a:p>
          <a:p>
            <a:pPr indent="0" lvl="0" marL="0" rtl="0" algn="l">
              <a:spcBef>
                <a:spcPts val="0"/>
              </a:spcBef>
              <a:spcAft>
                <a:spcPts val="0"/>
              </a:spcAft>
              <a:buNone/>
            </a:pPr>
            <a:r>
              <a:rPr lang="en-GB" sz="2100">
                <a:latin typeface="Courier New"/>
                <a:ea typeface="Courier New"/>
                <a:cs typeface="Courier New"/>
                <a:sym typeface="Courier New"/>
              </a:rPr>
              <a:t>	</a:t>
            </a:r>
            <a:r>
              <a:rPr lang="en-GB" sz="2100">
                <a:solidFill>
                  <a:srgbClr val="795E26"/>
                </a:solidFill>
                <a:latin typeface="Courier New"/>
                <a:ea typeface="Courier New"/>
                <a:cs typeface="Courier New"/>
                <a:sym typeface="Courier New"/>
              </a:rPr>
              <a:t>statement(s)</a:t>
            </a:r>
            <a:endParaRPr sz="2100">
              <a:solidFill>
                <a:srgbClr val="795E26"/>
              </a:solidFill>
              <a:latin typeface="Courier New"/>
              <a:ea typeface="Courier New"/>
              <a:cs typeface="Courier New"/>
              <a:sym typeface="Courier New"/>
            </a:endParaRPr>
          </a:p>
          <a:p>
            <a:pPr indent="0" lvl="0" marL="0" rtl="0" algn="l">
              <a:spcBef>
                <a:spcPts val="0"/>
              </a:spcBef>
              <a:spcAft>
                <a:spcPts val="0"/>
              </a:spcAft>
              <a:buNone/>
            </a:pPr>
            <a:r>
              <a:rPr lang="en-GB" sz="2100">
                <a:solidFill>
                  <a:srgbClr val="795E26"/>
                </a:solidFill>
                <a:latin typeface="Courier New"/>
                <a:ea typeface="Courier New"/>
                <a:cs typeface="Courier New"/>
                <a:sym typeface="Courier New"/>
              </a:rPr>
              <a:t>	</a:t>
            </a:r>
            <a:r>
              <a:rPr lang="en-GB" sz="2100">
                <a:solidFill>
                  <a:srgbClr val="AF00DB"/>
                </a:solidFill>
                <a:latin typeface="Courier New"/>
                <a:ea typeface="Courier New"/>
                <a:cs typeface="Courier New"/>
                <a:sym typeface="Courier New"/>
              </a:rPr>
              <a:t>break</a:t>
            </a:r>
            <a:endParaRPr sz="2100">
              <a:solidFill>
                <a:srgbClr val="AF00DB"/>
              </a:solidFill>
              <a:latin typeface="Courier New"/>
              <a:ea typeface="Courier New"/>
              <a:cs typeface="Courier New"/>
              <a:sym typeface="Courier New"/>
            </a:endParaRPr>
          </a:p>
          <a:p>
            <a:pPr indent="0" lvl="0" marL="0" rtl="0" algn="l">
              <a:spcBef>
                <a:spcPts val="0"/>
              </a:spcBef>
              <a:spcAft>
                <a:spcPts val="0"/>
              </a:spcAft>
              <a:buNone/>
            </a:pPr>
            <a:r>
              <a:rPr lang="en-GB" sz="2100">
                <a:solidFill>
                  <a:schemeClr val="dk1"/>
                </a:solidFill>
                <a:latin typeface="Courier New"/>
                <a:ea typeface="Courier New"/>
                <a:cs typeface="Courier New"/>
                <a:sym typeface="Courier New"/>
              </a:rPr>
              <a:t>	</a:t>
            </a:r>
            <a:r>
              <a:rPr lang="en-GB" sz="2100">
                <a:solidFill>
                  <a:srgbClr val="795E26"/>
                </a:solidFill>
                <a:latin typeface="Courier New"/>
                <a:ea typeface="Courier New"/>
                <a:cs typeface="Courier New"/>
                <a:sym typeface="Courier New"/>
              </a:rPr>
              <a:t>statement(s)</a:t>
            </a:r>
            <a:endParaRPr sz="2100">
              <a:solidFill>
                <a:srgbClr val="795E26"/>
              </a:solidFill>
              <a:latin typeface="Courier New"/>
              <a:ea typeface="Courier New"/>
              <a:cs typeface="Courier New"/>
              <a:sym typeface="Courier New"/>
            </a:endParaRPr>
          </a:p>
          <a:p>
            <a:pPr indent="0" lvl="0" marL="0" rtl="0" algn="l">
              <a:spcBef>
                <a:spcPts val="0"/>
              </a:spcBef>
              <a:spcAft>
                <a:spcPts val="0"/>
              </a:spcAft>
              <a:buNone/>
            </a:pPr>
            <a:r>
              <a:t/>
            </a:r>
            <a:endParaRPr sz="2100">
              <a:solidFill>
                <a:srgbClr val="795E26"/>
              </a:solidFill>
              <a:latin typeface="Courier New"/>
              <a:ea typeface="Courier New"/>
              <a:cs typeface="Courier New"/>
              <a:sym typeface="Courier New"/>
            </a:endParaRPr>
          </a:p>
          <a:p>
            <a:pPr indent="0" lvl="0" marL="0" rtl="0" algn="l">
              <a:spcBef>
                <a:spcPts val="0"/>
              </a:spcBef>
              <a:spcAft>
                <a:spcPts val="0"/>
              </a:spcAft>
              <a:buNone/>
            </a:pPr>
            <a:r>
              <a:rPr lang="en-GB" sz="2100">
                <a:solidFill>
                  <a:srgbClr val="795E26"/>
                </a:solidFill>
                <a:latin typeface="Courier New"/>
                <a:ea typeface="Courier New"/>
                <a:cs typeface="Courier New"/>
                <a:sym typeface="Courier New"/>
              </a:rPr>
              <a:t>statement(s)</a:t>
            </a:r>
            <a:endParaRPr sz="1700">
              <a:latin typeface="Courier New"/>
              <a:ea typeface="Courier New"/>
              <a:cs typeface="Courier New"/>
              <a:sym typeface="Courier New"/>
            </a:endParaRPr>
          </a:p>
        </p:txBody>
      </p:sp>
      <p:sp>
        <p:nvSpPr>
          <p:cNvPr id="564" name="Google Shape;564;p55"/>
          <p:cNvSpPr txBox="1"/>
          <p:nvPr/>
        </p:nvSpPr>
        <p:spPr>
          <a:xfrm>
            <a:off x="760325" y="2647950"/>
            <a:ext cx="1178100" cy="3399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565" name="Google Shape;565;p55"/>
          <p:cNvSpPr/>
          <p:nvPr/>
        </p:nvSpPr>
        <p:spPr>
          <a:xfrm>
            <a:off x="184050" y="2818150"/>
            <a:ext cx="468575" cy="1024350"/>
          </a:xfrm>
          <a:custGeom>
            <a:rect b="b" l="l" r="r" t="t"/>
            <a:pathLst>
              <a:path extrusionOk="0" h="40974" w="18743">
                <a:moveTo>
                  <a:pt x="18743" y="0"/>
                </a:moveTo>
                <a:lnTo>
                  <a:pt x="0" y="0"/>
                </a:lnTo>
                <a:lnTo>
                  <a:pt x="0" y="40538"/>
                </a:lnTo>
                <a:lnTo>
                  <a:pt x="10025" y="40974"/>
                </a:lnTo>
              </a:path>
            </a:pathLst>
          </a:custGeom>
          <a:noFill/>
          <a:ln cap="flat" cmpd="sng" w="38100">
            <a:solidFill>
              <a:schemeClr val="dk2"/>
            </a:solidFill>
            <a:prstDash val="solid"/>
            <a:round/>
            <a:headEnd len="med" w="med" type="none"/>
            <a:tailEnd len="med" w="med" type="stealth"/>
          </a:ln>
        </p:spPr>
      </p:sp>
      <p:grpSp>
        <p:nvGrpSpPr>
          <p:cNvPr id="566" name="Google Shape;566;p55"/>
          <p:cNvGrpSpPr/>
          <p:nvPr/>
        </p:nvGrpSpPr>
        <p:grpSpPr>
          <a:xfrm>
            <a:off x="4782934" y="1054560"/>
            <a:ext cx="3255901" cy="3535287"/>
            <a:chOff x="2877934" y="1054560"/>
            <a:chExt cx="3255901" cy="3535287"/>
          </a:xfrm>
        </p:grpSpPr>
        <p:sp>
          <p:nvSpPr>
            <p:cNvPr id="567" name="Google Shape;567;p55"/>
            <p:cNvSpPr/>
            <p:nvPr/>
          </p:nvSpPr>
          <p:spPr>
            <a:xfrm>
              <a:off x="2996882" y="1470960"/>
              <a:ext cx="1714800" cy="1081200"/>
            </a:xfrm>
            <a:prstGeom prst="diamond">
              <a:avLst/>
            </a:prstGeom>
            <a:solidFill>
              <a:schemeClr val="accent1"/>
            </a:solidFill>
            <a:ln cap="flat" cmpd="sng" w="9525">
              <a:solidFill>
                <a:srgbClr val="999999"/>
              </a:solidFill>
              <a:prstDash val="solid"/>
              <a:round/>
              <a:headEnd len="sm" w="sm" type="none"/>
              <a:tailEnd len="sm" w="sm" type="none"/>
            </a:ln>
          </p:spPr>
          <p:txBody>
            <a:bodyPr anchorCtr="0" anchor="ctr" bIns="91425" lIns="18000"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Is test Condition</a:t>
              </a:r>
              <a:r>
                <a:rPr b="1" lang="en-GB" sz="1100">
                  <a:latin typeface="Montserrat"/>
                  <a:ea typeface="Montserrat"/>
                  <a:cs typeface="Montserrat"/>
                  <a:sym typeface="Montserrat"/>
                </a:rPr>
                <a:t> </a:t>
              </a:r>
              <a:r>
                <a:rPr b="1" lang="en-GB" sz="1100">
                  <a:solidFill>
                    <a:srgbClr val="FFFFFF"/>
                  </a:solidFill>
                  <a:latin typeface="Montserrat"/>
                  <a:ea typeface="Montserrat"/>
                  <a:cs typeface="Montserrat"/>
                  <a:sym typeface="Montserrat"/>
                </a:rPr>
                <a:t>True?</a:t>
              </a:r>
              <a:endParaRPr b="1" sz="1100">
                <a:solidFill>
                  <a:srgbClr val="FFFFFF"/>
                </a:solidFill>
                <a:latin typeface="Montserrat"/>
                <a:ea typeface="Montserrat"/>
                <a:cs typeface="Montserrat"/>
                <a:sym typeface="Montserrat"/>
              </a:endParaRPr>
            </a:p>
          </p:txBody>
        </p:sp>
        <p:cxnSp>
          <p:nvCxnSpPr>
            <p:cNvPr id="568" name="Google Shape;568;p55"/>
            <p:cNvCxnSpPr>
              <a:endCxn id="567" idx="0"/>
            </p:cNvCxnSpPr>
            <p:nvPr/>
          </p:nvCxnSpPr>
          <p:spPr>
            <a:xfrm>
              <a:off x="3837782" y="1054560"/>
              <a:ext cx="16500" cy="416400"/>
            </a:xfrm>
            <a:prstGeom prst="straightConnector1">
              <a:avLst/>
            </a:prstGeom>
            <a:noFill/>
            <a:ln cap="flat" cmpd="sng" w="28575">
              <a:solidFill>
                <a:srgbClr val="999999"/>
              </a:solidFill>
              <a:prstDash val="solid"/>
              <a:round/>
              <a:headEnd len="med" w="med" type="none"/>
              <a:tailEnd len="med" w="med" type="triangle"/>
            </a:ln>
          </p:spPr>
        </p:cxnSp>
        <p:cxnSp>
          <p:nvCxnSpPr>
            <p:cNvPr id="569" name="Google Shape;569;p55"/>
            <p:cNvCxnSpPr>
              <a:endCxn id="570" idx="0"/>
            </p:cNvCxnSpPr>
            <p:nvPr/>
          </p:nvCxnSpPr>
          <p:spPr>
            <a:xfrm flipH="1">
              <a:off x="3846118" y="2551950"/>
              <a:ext cx="12000" cy="339300"/>
            </a:xfrm>
            <a:prstGeom prst="straightConnector1">
              <a:avLst/>
            </a:prstGeom>
            <a:noFill/>
            <a:ln cap="flat" cmpd="sng" w="28575">
              <a:solidFill>
                <a:schemeClr val="accent1"/>
              </a:solidFill>
              <a:prstDash val="solid"/>
              <a:round/>
              <a:headEnd len="med" w="med" type="none"/>
              <a:tailEnd len="med" w="med" type="triangle"/>
            </a:ln>
          </p:spPr>
        </p:cxnSp>
        <p:sp>
          <p:nvSpPr>
            <p:cNvPr id="571" name="Google Shape;571;p55"/>
            <p:cNvSpPr/>
            <p:nvPr/>
          </p:nvSpPr>
          <p:spPr>
            <a:xfrm>
              <a:off x="2877934" y="4281447"/>
              <a:ext cx="1959900" cy="308400"/>
            </a:xfrm>
            <a:prstGeom prst="rect">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loop</a:t>
              </a:r>
              <a:endParaRPr b="1">
                <a:solidFill>
                  <a:srgbClr val="FFFFFF"/>
                </a:solidFill>
                <a:latin typeface="Montserrat"/>
                <a:ea typeface="Montserrat"/>
                <a:cs typeface="Montserrat"/>
                <a:sym typeface="Montserrat"/>
              </a:endParaRPr>
            </a:p>
          </p:txBody>
        </p:sp>
        <p:cxnSp>
          <p:nvCxnSpPr>
            <p:cNvPr id="572" name="Google Shape;572;p55"/>
            <p:cNvCxnSpPr>
              <a:stCxn id="567" idx="3"/>
            </p:cNvCxnSpPr>
            <p:nvPr/>
          </p:nvCxnSpPr>
          <p:spPr>
            <a:xfrm>
              <a:off x="4711682" y="2011560"/>
              <a:ext cx="1175100" cy="1449000"/>
            </a:xfrm>
            <a:prstGeom prst="bentConnector2">
              <a:avLst/>
            </a:prstGeom>
            <a:noFill/>
            <a:ln cap="flat" cmpd="sng" w="28575">
              <a:solidFill>
                <a:schemeClr val="accent1"/>
              </a:solidFill>
              <a:prstDash val="solid"/>
              <a:round/>
              <a:headEnd len="med" w="med" type="stealth"/>
              <a:tailEnd len="med" w="med" type="none"/>
            </a:ln>
          </p:spPr>
        </p:cxnSp>
        <p:sp>
          <p:nvSpPr>
            <p:cNvPr id="573" name="Google Shape;573;p55"/>
            <p:cNvSpPr txBox="1"/>
            <p:nvPr/>
          </p:nvSpPr>
          <p:spPr>
            <a:xfrm>
              <a:off x="4929447" y="1758912"/>
              <a:ext cx="768000" cy="2526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cxnSp>
          <p:nvCxnSpPr>
            <p:cNvPr id="574" name="Google Shape;574;p55"/>
            <p:cNvCxnSpPr>
              <a:stCxn id="571" idx="1"/>
              <a:endCxn id="567" idx="1"/>
            </p:cNvCxnSpPr>
            <p:nvPr/>
          </p:nvCxnSpPr>
          <p:spPr>
            <a:xfrm flipH="1" rot="10800000">
              <a:off x="2877934" y="2011647"/>
              <a:ext cx="118800" cy="2424000"/>
            </a:xfrm>
            <a:prstGeom prst="bentConnector3">
              <a:avLst>
                <a:gd fmla="val -200442" name="adj1"/>
              </a:avLst>
            </a:prstGeom>
            <a:noFill/>
            <a:ln cap="flat" cmpd="sng" w="28575">
              <a:solidFill>
                <a:srgbClr val="999999"/>
              </a:solidFill>
              <a:prstDash val="solid"/>
              <a:round/>
              <a:headEnd len="med" w="med" type="none"/>
              <a:tailEnd len="med" w="med" type="triangle"/>
            </a:ln>
          </p:spPr>
        </p:cxnSp>
        <p:sp>
          <p:nvSpPr>
            <p:cNvPr id="575" name="Google Shape;575;p55"/>
            <p:cNvSpPr txBox="1"/>
            <p:nvPr/>
          </p:nvSpPr>
          <p:spPr>
            <a:xfrm>
              <a:off x="4116635" y="1065754"/>
              <a:ext cx="20172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 in loop</a:t>
              </a:r>
              <a:endParaRPr b="1">
                <a:latin typeface="Montserrat"/>
                <a:ea typeface="Montserrat"/>
                <a:cs typeface="Montserrat"/>
                <a:sym typeface="Montserrat"/>
              </a:endParaRPr>
            </a:p>
          </p:txBody>
        </p:sp>
        <p:sp>
          <p:nvSpPr>
            <p:cNvPr id="570" name="Google Shape;570;p55"/>
            <p:cNvSpPr/>
            <p:nvPr/>
          </p:nvSpPr>
          <p:spPr>
            <a:xfrm>
              <a:off x="2988718" y="2891250"/>
              <a:ext cx="1714800" cy="1081200"/>
            </a:xfrm>
            <a:prstGeom prst="diamond">
              <a:avLst/>
            </a:prstGeom>
            <a:solidFill>
              <a:schemeClr val="accent1"/>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Break?</a:t>
              </a:r>
              <a:endParaRPr b="1" sz="1100">
                <a:solidFill>
                  <a:srgbClr val="FFFFFF"/>
                </a:solidFill>
                <a:latin typeface="Montserrat"/>
                <a:ea typeface="Montserrat"/>
                <a:cs typeface="Montserrat"/>
                <a:sym typeface="Montserrat"/>
              </a:endParaRPr>
            </a:p>
          </p:txBody>
        </p:sp>
        <p:cxnSp>
          <p:nvCxnSpPr>
            <p:cNvPr id="576" name="Google Shape;576;p55"/>
            <p:cNvCxnSpPr>
              <a:stCxn id="570" idx="2"/>
              <a:endCxn id="571" idx="0"/>
            </p:cNvCxnSpPr>
            <p:nvPr/>
          </p:nvCxnSpPr>
          <p:spPr>
            <a:xfrm>
              <a:off x="3846118" y="3972450"/>
              <a:ext cx="11700" cy="309000"/>
            </a:xfrm>
            <a:prstGeom prst="straightConnector1">
              <a:avLst/>
            </a:prstGeom>
            <a:noFill/>
            <a:ln cap="flat" cmpd="sng" w="28575">
              <a:solidFill>
                <a:srgbClr val="999999"/>
              </a:solidFill>
              <a:prstDash val="solid"/>
              <a:round/>
              <a:headEnd len="med" w="med" type="none"/>
              <a:tailEnd len="med" w="med" type="triangle"/>
            </a:ln>
          </p:spPr>
        </p:cxnSp>
        <p:sp>
          <p:nvSpPr>
            <p:cNvPr id="577" name="Google Shape;577;p55"/>
            <p:cNvSpPr txBox="1"/>
            <p:nvPr/>
          </p:nvSpPr>
          <p:spPr>
            <a:xfrm>
              <a:off x="3360791" y="3960773"/>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No</a:t>
              </a:r>
              <a:endParaRPr b="1">
                <a:latin typeface="Montserrat"/>
                <a:ea typeface="Montserrat"/>
                <a:cs typeface="Montserrat"/>
                <a:sym typeface="Montserrat"/>
              </a:endParaRPr>
            </a:p>
          </p:txBody>
        </p:sp>
        <p:cxnSp>
          <p:nvCxnSpPr>
            <p:cNvPr id="578" name="Google Shape;578;p55"/>
            <p:cNvCxnSpPr>
              <a:stCxn id="570" idx="3"/>
            </p:cNvCxnSpPr>
            <p:nvPr/>
          </p:nvCxnSpPr>
          <p:spPr>
            <a:xfrm>
              <a:off x="4703518" y="3431850"/>
              <a:ext cx="1212300" cy="2700"/>
            </a:xfrm>
            <a:prstGeom prst="straightConnector1">
              <a:avLst/>
            </a:prstGeom>
            <a:noFill/>
            <a:ln cap="flat" cmpd="sng" w="28575">
              <a:solidFill>
                <a:schemeClr val="accent1"/>
              </a:solidFill>
              <a:prstDash val="solid"/>
              <a:round/>
              <a:headEnd len="med" w="med" type="none"/>
              <a:tailEnd len="med" w="med" type="none"/>
            </a:ln>
          </p:spPr>
        </p:cxnSp>
        <p:sp>
          <p:nvSpPr>
            <p:cNvPr id="579" name="Google Shape;579;p55"/>
            <p:cNvSpPr txBox="1"/>
            <p:nvPr/>
          </p:nvSpPr>
          <p:spPr>
            <a:xfrm>
              <a:off x="4807458" y="3130301"/>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Yes</a:t>
              </a:r>
              <a:endParaRPr b="1">
                <a:latin typeface="Montserrat"/>
                <a:ea typeface="Montserrat"/>
                <a:cs typeface="Montserrat"/>
                <a:sym typeface="Montserra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10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000"/>
                                        <p:tgtEl>
                                          <p:spTgt spid="565"/>
                                        </p:tgtEl>
                                      </p:cBhvr>
                                    </p:animEffect>
                                  </p:childTnLst>
                                </p:cTn>
                              </p:par>
                              <p:par>
                                <p:cTn fill="hold" nodeType="withEffect" presetClass="exit" presetID="10" presetSubtype="0">
                                  <p:stCondLst>
                                    <p:cond delay="0"/>
                                  </p:stCondLst>
                                  <p:childTnLst>
                                    <p:animEffect filter="fade" transition="out">
                                      <p:cBhvr>
                                        <p:cTn dur="1000"/>
                                        <p:tgtEl>
                                          <p:spTgt spid="547"/>
                                        </p:tgtEl>
                                      </p:cBhvr>
                                    </p:animEffect>
                                    <p:set>
                                      <p:cBhvr>
                                        <p:cTn dur="1" fill="hold">
                                          <p:stCondLst>
                                            <p:cond delay="1000"/>
                                          </p:stCondLst>
                                        </p:cTn>
                                        <p:tgtEl>
                                          <p:spTgt spid="54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6"/>
          <p:cNvSpPr txBox="1"/>
          <p:nvPr>
            <p:ph type="title"/>
          </p:nvPr>
        </p:nvSpPr>
        <p:spPr>
          <a:xfrm>
            <a:off x="242175" y="297550"/>
            <a:ext cx="7994400" cy="51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continue </a:t>
            </a:r>
            <a:r>
              <a:rPr lang="en-GB"/>
              <a:t>statement</a:t>
            </a:r>
            <a:endParaRPr/>
          </a:p>
        </p:txBody>
      </p:sp>
      <p:grpSp>
        <p:nvGrpSpPr>
          <p:cNvPr id="585" name="Google Shape;585;p56"/>
          <p:cNvGrpSpPr/>
          <p:nvPr/>
        </p:nvGrpSpPr>
        <p:grpSpPr>
          <a:xfrm>
            <a:off x="4779718" y="1054560"/>
            <a:ext cx="3784903" cy="3908315"/>
            <a:chOff x="2646118" y="1054560"/>
            <a:chExt cx="3784903" cy="3908315"/>
          </a:xfrm>
        </p:grpSpPr>
        <p:sp>
          <p:nvSpPr>
            <p:cNvPr id="586" name="Google Shape;586;p56"/>
            <p:cNvSpPr/>
            <p:nvPr/>
          </p:nvSpPr>
          <p:spPr>
            <a:xfrm>
              <a:off x="2996882" y="1470960"/>
              <a:ext cx="1714800" cy="1081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Loop Condition</a:t>
              </a:r>
              <a:r>
                <a:rPr b="1" lang="en-GB" sz="1100">
                  <a:latin typeface="Montserrat"/>
                  <a:ea typeface="Montserrat"/>
                  <a:cs typeface="Montserrat"/>
                  <a:sym typeface="Montserrat"/>
                </a:rPr>
                <a:t> </a:t>
              </a:r>
              <a:r>
                <a:rPr b="1" lang="en-GB" sz="1100">
                  <a:solidFill>
                    <a:srgbClr val="FFFFFF"/>
                  </a:solidFill>
                  <a:latin typeface="Montserrat"/>
                  <a:ea typeface="Montserrat"/>
                  <a:cs typeface="Montserrat"/>
                  <a:sym typeface="Montserrat"/>
                </a:rPr>
                <a:t>True?</a:t>
              </a:r>
              <a:endParaRPr b="1" sz="1100">
                <a:solidFill>
                  <a:srgbClr val="FFFFFF"/>
                </a:solidFill>
                <a:latin typeface="Montserrat"/>
                <a:ea typeface="Montserrat"/>
                <a:cs typeface="Montserrat"/>
                <a:sym typeface="Montserrat"/>
              </a:endParaRPr>
            </a:p>
          </p:txBody>
        </p:sp>
        <p:cxnSp>
          <p:nvCxnSpPr>
            <p:cNvPr id="587" name="Google Shape;587;p56"/>
            <p:cNvCxnSpPr>
              <a:endCxn id="586" idx="0"/>
            </p:cNvCxnSpPr>
            <p:nvPr/>
          </p:nvCxnSpPr>
          <p:spPr>
            <a:xfrm>
              <a:off x="3837782" y="1054560"/>
              <a:ext cx="16500" cy="416400"/>
            </a:xfrm>
            <a:prstGeom prst="straightConnector1">
              <a:avLst/>
            </a:prstGeom>
            <a:noFill/>
            <a:ln cap="flat" cmpd="sng" w="28575">
              <a:solidFill>
                <a:schemeClr val="dk2"/>
              </a:solidFill>
              <a:prstDash val="solid"/>
              <a:round/>
              <a:headEnd len="med" w="med" type="none"/>
              <a:tailEnd len="med" w="med" type="triangle"/>
            </a:ln>
          </p:spPr>
        </p:cxnSp>
        <p:cxnSp>
          <p:nvCxnSpPr>
            <p:cNvPr id="588" name="Google Shape;588;p56"/>
            <p:cNvCxnSpPr>
              <a:endCxn id="589" idx="0"/>
            </p:cNvCxnSpPr>
            <p:nvPr/>
          </p:nvCxnSpPr>
          <p:spPr>
            <a:xfrm flipH="1">
              <a:off x="3846118" y="2551950"/>
              <a:ext cx="12000" cy="339300"/>
            </a:xfrm>
            <a:prstGeom prst="straightConnector1">
              <a:avLst/>
            </a:prstGeom>
            <a:noFill/>
            <a:ln cap="flat" cmpd="sng" w="28575">
              <a:solidFill>
                <a:schemeClr val="dk2"/>
              </a:solidFill>
              <a:prstDash val="solid"/>
              <a:round/>
              <a:headEnd len="med" w="med" type="none"/>
              <a:tailEnd len="med" w="med" type="triangle"/>
            </a:ln>
          </p:spPr>
        </p:cxnSp>
        <p:sp>
          <p:nvSpPr>
            <p:cNvPr id="590" name="Google Shape;590;p56"/>
            <p:cNvSpPr/>
            <p:nvPr/>
          </p:nvSpPr>
          <p:spPr>
            <a:xfrm>
              <a:off x="2877934" y="4281447"/>
              <a:ext cx="1959900" cy="3084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b="1" lang="en-GB">
                  <a:solidFill>
                    <a:srgbClr val="FFFFFF"/>
                  </a:solidFill>
                  <a:latin typeface="Montserrat"/>
                  <a:ea typeface="Montserrat"/>
                  <a:cs typeface="Montserrat"/>
                  <a:sym typeface="Montserrat"/>
                </a:rPr>
                <a:t>Body of loop</a:t>
              </a:r>
              <a:endParaRPr b="1">
                <a:solidFill>
                  <a:srgbClr val="FFFFFF"/>
                </a:solidFill>
                <a:latin typeface="Montserrat"/>
                <a:ea typeface="Montserrat"/>
                <a:cs typeface="Montserrat"/>
                <a:sym typeface="Montserrat"/>
              </a:endParaRPr>
            </a:p>
          </p:txBody>
        </p:sp>
        <p:cxnSp>
          <p:nvCxnSpPr>
            <p:cNvPr id="591" name="Google Shape;591;p56"/>
            <p:cNvCxnSpPr>
              <a:stCxn id="586" idx="3"/>
            </p:cNvCxnSpPr>
            <p:nvPr/>
          </p:nvCxnSpPr>
          <p:spPr>
            <a:xfrm>
              <a:off x="4711682" y="2011560"/>
              <a:ext cx="1192200" cy="2656200"/>
            </a:xfrm>
            <a:prstGeom prst="bentConnector2">
              <a:avLst/>
            </a:prstGeom>
            <a:noFill/>
            <a:ln cap="flat" cmpd="sng" w="28575">
              <a:solidFill>
                <a:schemeClr val="dk2"/>
              </a:solidFill>
              <a:prstDash val="solid"/>
              <a:round/>
              <a:headEnd len="med" w="med" type="none"/>
              <a:tailEnd len="med" w="med" type="triangle"/>
            </a:ln>
          </p:spPr>
        </p:cxnSp>
        <p:sp>
          <p:nvSpPr>
            <p:cNvPr id="592" name="Google Shape;592;p56"/>
            <p:cNvSpPr txBox="1"/>
            <p:nvPr/>
          </p:nvSpPr>
          <p:spPr>
            <a:xfrm>
              <a:off x="4929447" y="1606512"/>
              <a:ext cx="768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False</a:t>
              </a:r>
              <a:endParaRPr b="1">
                <a:latin typeface="Montserrat"/>
                <a:ea typeface="Montserrat"/>
                <a:cs typeface="Montserrat"/>
                <a:sym typeface="Montserrat"/>
              </a:endParaRPr>
            </a:p>
          </p:txBody>
        </p:sp>
        <p:sp>
          <p:nvSpPr>
            <p:cNvPr id="593" name="Google Shape;593;p56"/>
            <p:cNvSpPr txBox="1"/>
            <p:nvPr/>
          </p:nvSpPr>
          <p:spPr>
            <a:xfrm>
              <a:off x="3873755" y="2512182"/>
              <a:ext cx="6366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True</a:t>
              </a:r>
              <a:endParaRPr b="1">
                <a:latin typeface="Montserrat"/>
                <a:ea typeface="Montserrat"/>
                <a:cs typeface="Montserrat"/>
                <a:sym typeface="Montserrat"/>
              </a:endParaRPr>
            </a:p>
          </p:txBody>
        </p:sp>
        <p:sp>
          <p:nvSpPr>
            <p:cNvPr id="594" name="Google Shape;594;p56"/>
            <p:cNvSpPr txBox="1"/>
            <p:nvPr/>
          </p:nvSpPr>
          <p:spPr>
            <a:xfrm>
              <a:off x="5393021" y="4710275"/>
              <a:ext cx="1038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Exit loop</a:t>
              </a:r>
              <a:endParaRPr b="1">
                <a:latin typeface="Montserrat"/>
                <a:ea typeface="Montserrat"/>
                <a:cs typeface="Montserrat"/>
                <a:sym typeface="Montserrat"/>
              </a:endParaRPr>
            </a:p>
          </p:txBody>
        </p:sp>
        <p:cxnSp>
          <p:nvCxnSpPr>
            <p:cNvPr id="595" name="Google Shape;595;p56"/>
            <p:cNvCxnSpPr>
              <a:stCxn id="590" idx="1"/>
              <a:endCxn id="586" idx="1"/>
            </p:cNvCxnSpPr>
            <p:nvPr/>
          </p:nvCxnSpPr>
          <p:spPr>
            <a:xfrm flipH="1" rot="10800000">
              <a:off x="2877934" y="2011647"/>
              <a:ext cx="118800" cy="2424000"/>
            </a:xfrm>
            <a:prstGeom prst="bentConnector3">
              <a:avLst>
                <a:gd fmla="val -200442" name="adj1"/>
              </a:avLst>
            </a:prstGeom>
            <a:noFill/>
            <a:ln cap="flat" cmpd="sng" w="28575">
              <a:solidFill>
                <a:schemeClr val="dk2"/>
              </a:solidFill>
              <a:prstDash val="solid"/>
              <a:round/>
              <a:headEnd len="med" w="med" type="none"/>
              <a:tailEnd len="med" w="med" type="triangle"/>
            </a:ln>
          </p:spPr>
        </p:cxnSp>
        <p:sp>
          <p:nvSpPr>
            <p:cNvPr id="596" name="Google Shape;596;p56"/>
            <p:cNvSpPr txBox="1"/>
            <p:nvPr/>
          </p:nvSpPr>
          <p:spPr>
            <a:xfrm>
              <a:off x="4116635" y="1065754"/>
              <a:ext cx="20172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Enter in loop</a:t>
              </a:r>
              <a:endParaRPr b="1">
                <a:latin typeface="Montserrat"/>
                <a:ea typeface="Montserrat"/>
                <a:cs typeface="Montserrat"/>
                <a:sym typeface="Montserrat"/>
              </a:endParaRPr>
            </a:p>
          </p:txBody>
        </p:sp>
        <p:sp>
          <p:nvSpPr>
            <p:cNvPr id="589" name="Google Shape;589;p56"/>
            <p:cNvSpPr/>
            <p:nvPr/>
          </p:nvSpPr>
          <p:spPr>
            <a:xfrm>
              <a:off x="2988718" y="2891250"/>
              <a:ext cx="1714800" cy="10812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0" spcFirstLastPara="1" rIns="91425" wrap="square" tIns="91425">
              <a:noAutofit/>
            </a:bodyPr>
            <a:lstStyle/>
            <a:p>
              <a:pPr indent="0" lvl="0" marL="0" rtl="0" algn="ctr">
                <a:spcBef>
                  <a:spcPts val="0"/>
                </a:spcBef>
                <a:spcAft>
                  <a:spcPts val="0"/>
                </a:spcAft>
                <a:buNone/>
              </a:pPr>
              <a:r>
                <a:rPr b="1" lang="en-GB" sz="1100">
                  <a:solidFill>
                    <a:srgbClr val="FFFFFF"/>
                  </a:solidFill>
                  <a:latin typeface="Montserrat"/>
                  <a:ea typeface="Montserrat"/>
                  <a:cs typeface="Montserrat"/>
                  <a:sym typeface="Montserrat"/>
                </a:rPr>
                <a:t>Continue</a:t>
              </a:r>
              <a:r>
                <a:rPr b="1" lang="en-GB" sz="1000">
                  <a:solidFill>
                    <a:srgbClr val="FFFFFF"/>
                  </a:solidFill>
                  <a:latin typeface="Montserrat"/>
                  <a:ea typeface="Montserrat"/>
                  <a:cs typeface="Montserrat"/>
                  <a:sym typeface="Montserrat"/>
                </a:rPr>
                <a:t>?</a:t>
              </a:r>
              <a:endParaRPr b="1" sz="1000">
                <a:solidFill>
                  <a:srgbClr val="FFFFFF"/>
                </a:solidFill>
                <a:latin typeface="Montserrat"/>
                <a:ea typeface="Montserrat"/>
                <a:cs typeface="Montserrat"/>
                <a:sym typeface="Montserrat"/>
              </a:endParaRPr>
            </a:p>
          </p:txBody>
        </p:sp>
        <p:cxnSp>
          <p:nvCxnSpPr>
            <p:cNvPr id="597" name="Google Shape;597;p56"/>
            <p:cNvCxnSpPr>
              <a:stCxn id="589" idx="2"/>
              <a:endCxn id="590" idx="0"/>
            </p:cNvCxnSpPr>
            <p:nvPr/>
          </p:nvCxnSpPr>
          <p:spPr>
            <a:xfrm>
              <a:off x="3846118" y="3972450"/>
              <a:ext cx="11700" cy="309000"/>
            </a:xfrm>
            <a:prstGeom prst="straightConnector1">
              <a:avLst/>
            </a:prstGeom>
            <a:noFill/>
            <a:ln cap="flat" cmpd="sng" w="28575">
              <a:solidFill>
                <a:schemeClr val="dk2"/>
              </a:solidFill>
              <a:prstDash val="solid"/>
              <a:round/>
              <a:headEnd len="med" w="med" type="none"/>
              <a:tailEnd len="med" w="med" type="triangle"/>
            </a:ln>
          </p:spPr>
        </p:cxnSp>
        <p:sp>
          <p:nvSpPr>
            <p:cNvPr id="598" name="Google Shape;598;p56"/>
            <p:cNvSpPr txBox="1"/>
            <p:nvPr/>
          </p:nvSpPr>
          <p:spPr>
            <a:xfrm>
              <a:off x="3360791" y="3960773"/>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No</a:t>
              </a:r>
              <a:endParaRPr b="1">
                <a:latin typeface="Montserrat"/>
                <a:ea typeface="Montserrat"/>
                <a:cs typeface="Montserrat"/>
                <a:sym typeface="Montserrat"/>
              </a:endParaRPr>
            </a:p>
          </p:txBody>
        </p:sp>
        <p:cxnSp>
          <p:nvCxnSpPr>
            <p:cNvPr id="599" name="Google Shape;599;p56"/>
            <p:cNvCxnSpPr>
              <a:stCxn id="589" idx="1"/>
            </p:cNvCxnSpPr>
            <p:nvPr/>
          </p:nvCxnSpPr>
          <p:spPr>
            <a:xfrm flipH="1">
              <a:off x="2646118" y="3431850"/>
              <a:ext cx="342600" cy="2700"/>
            </a:xfrm>
            <a:prstGeom prst="straightConnector1">
              <a:avLst/>
            </a:prstGeom>
            <a:noFill/>
            <a:ln cap="flat" cmpd="sng" w="28575">
              <a:solidFill>
                <a:schemeClr val="dk2"/>
              </a:solidFill>
              <a:prstDash val="solid"/>
              <a:round/>
              <a:headEnd len="med" w="med" type="none"/>
              <a:tailEnd len="med" w="med" type="triangle"/>
            </a:ln>
          </p:spPr>
        </p:cxnSp>
        <p:sp>
          <p:nvSpPr>
            <p:cNvPr id="600" name="Google Shape;600;p56"/>
            <p:cNvSpPr txBox="1"/>
            <p:nvPr/>
          </p:nvSpPr>
          <p:spPr>
            <a:xfrm>
              <a:off x="2673858" y="3054101"/>
              <a:ext cx="5760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Yes</a:t>
              </a:r>
              <a:endParaRPr b="1">
                <a:latin typeface="Montserrat"/>
                <a:ea typeface="Montserrat"/>
                <a:cs typeface="Montserrat"/>
                <a:sym typeface="Montserrat"/>
              </a:endParaRPr>
            </a:p>
          </p:txBody>
        </p:sp>
        <p:sp>
          <p:nvSpPr>
            <p:cNvPr id="601" name="Google Shape;601;p56"/>
            <p:cNvSpPr/>
            <p:nvPr/>
          </p:nvSpPr>
          <p:spPr>
            <a:xfrm>
              <a:off x="5850150" y="4634075"/>
              <a:ext cx="116100" cy="115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 name="Google Shape;602;p56"/>
          <p:cNvSpPr txBox="1"/>
          <p:nvPr/>
        </p:nvSpPr>
        <p:spPr>
          <a:xfrm>
            <a:off x="406425" y="1615750"/>
            <a:ext cx="3951000" cy="283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latin typeface="Courier New"/>
              <a:ea typeface="Courier New"/>
              <a:cs typeface="Courier New"/>
              <a:sym typeface="Courier New"/>
            </a:endParaRPr>
          </a:p>
          <a:p>
            <a:pPr indent="0" lvl="0" marL="0" rtl="0" algn="l">
              <a:spcBef>
                <a:spcPts val="0"/>
              </a:spcBef>
              <a:spcAft>
                <a:spcPts val="0"/>
              </a:spcAft>
              <a:buNone/>
            </a:pPr>
            <a:r>
              <a:rPr lang="en-GB" sz="2200">
                <a:solidFill>
                  <a:srgbClr val="AF00DB"/>
                </a:solidFill>
                <a:latin typeface="Courier New"/>
                <a:ea typeface="Courier New"/>
                <a:cs typeface="Courier New"/>
                <a:sym typeface="Courier New"/>
              </a:rPr>
              <a:t>while </a:t>
            </a:r>
            <a:r>
              <a:rPr lang="en-GB" sz="2200">
                <a:latin typeface="Courier New"/>
                <a:ea typeface="Courier New"/>
                <a:cs typeface="Courier New"/>
                <a:sym typeface="Courier New"/>
              </a:rPr>
              <a:t>test_expression:</a:t>
            </a:r>
            <a:endParaRPr sz="2200">
              <a:latin typeface="Courier New"/>
              <a:ea typeface="Courier New"/>
              <a:cs typeface="Courier New"/>
              <a:sym typeface="Courier New"/>
            </a:endParaRPr>
          </a:p>
          <a:p>
            <a:pPr indent="0" lvl="0" marL="0" rtl="0" algn="l">
              <a:spcBef>
                <a:spcPts val="0"/>
              </a:spcBef>
              <a:spcAft>
                <a:spcPts val="0"/>
              </a:spcAft>
              <a:buNone/>
            </a:pPr>
            <a:r>
              <a:rPr lang="en-GB" sz="2200">
                <a:latin typeface="Courier New"/>
                <a:ea typeface="Courier New"/>
                <a:cs typeface="Courier New"/>
                <a:sym typeface="Courier New"/>
              </a:rPr>
              <a:t>	</a:t>
            </a:r>
            <a:r>
              <a:rPr lang="en-GB" sz="2200">
                <a:solidFill>
                  <a:srgbClr val="795E26"/>
                </a:solidFill>
                <a:latin typeface="Courier New"/>
                <a:ea typeface="Courier New"/>
                <a:cs typeface="Courier New"/>
                <a:sym typeface="Courier New"/>
              </a:rPr>
              <a:t>statement(s)</a:t>
            </a:r>
            <a:endParaRPr sz="2200">
              <a:solidFill>
                <a:srgbClr val="AF00DB"/>
              </a:solidFill>
              <a:latin typeface="Courier New"/>
              <a:ea typeface="Courier New"/>
              <a:cs typeface="Courier New"/>
              <a:sym typeface="Courier New"/>
            </a:endParaRPr>
          </a:p>
          <a:p>
            <a:pPr indent="0" lvl="0" marL="0" rtl="0" algn="l">
              <a:spcBef>
                <a:spcPts val="0"/>
              </a:spcBef>
              <a:spcAft>
                <a:spcPts val="0"/>
              </a:spcAft>
              <a:buNone/>
            </a:pPr>
            <a:r>
              <a:rPr lang="en-GB" sz="2200">
                <a:solidFill>
                  <a:schemeClr val="dk1"/>
                </a:solidFill>
                <a:latin typeface="Courier New"/>
                <a:ea typeface="Courier New"/>
                <a:cs typeface="Courier New"/>
                <a:sym typeface="Courier New"/>
              </a:rPr>
              <a:t>	</a:t>
            </a:r>
            <a:r>
              <a:rPr lang="en-GB" sz="2200">
                <a:solidFill>
                  <a:srgbClr val="795E26"/>
                </a:solidFill>
                <a:latin typeface="Courier New"/>
                <a:ea typeface="Courier New"/>
                <a:cs typeface="Courier New"/>
                <a:sym typeface="Courier New"/>
              </a:rPr>
              <a:t>statement(s)</a:t>
            </a:r>
            <a:endParaRPr sz="2200">
              <a:solidFill>
                <a:srgbClr val="795E26"/>
              </a:solidFill>
              <a:latin typeface="Courier New"/>
              <a:ea typeface="Courier New"/>
              <a:cs typeface="Courier New"/>
              <a:sym typeface="Courier New"/>
            </a:endParaRPr>
          </a:p>
          <a:p>
            <a:pPr indent="457200" lvl="0" marL="0" rtl="0" algn="l">
              <a:spcBef>
                <a:spcPts val="0"/>
              </a:spcBef>
              <a:spcAft>
                <a:spcPts val="0"/>
              </a:spcAft>
              <a:buNone/>
            </a:pPr>
            <a:r>
              <a:rPr lang="en-GB" sz="2200">
                <a:solidFill>
                  <a:srgbClr val="AF00DB"/>
                </a:solidFill>
                <a:latin typeface="Courier New"/>
                <a:ea typeface="Courier New"/>
                <a:cs typeface="Courier New"/>
                <a:sym typeface="Courier New"/>
              </a:rPr>
              <a:t>continue</a:t>
            </a:r>
            <a:endParaRPr sz="2200">
              <a:solidFill>
                <a:srgbClr val="AF00DB"/>
              </a:solidFill>
              <a:latin typeface="Courier New"/>
              <a:ea typeface="Courier New"/>
              <a:cs typeface="Courier New"/>
              <a:sym typeface="Courier New"/>
            </a:endParaRPr>
          </a:p>
          <a:p>
            <a:pPr indent="457200" lvl="0" marL="0" rtl="0" algn="l">
              <a:spcBef>
                <a:spcPts val="0"/>
              </a:spcBef>
              <a:spcAft>
                <a:spcPts val="0"/>
              </a:spcAft>
              <a:buNone/>
            </a:pPr>
            <a:r>
              <a:rPr lang="en-GB" sz="2200">
                <a:solidFill>
                  <a:srgbClr val="795E26"/>
                </a:solidFill>
                <a:latin typeface="Courier New"/>
                <a:ea typeface="Courier New"/>
                <a:cs typeface="Courier New"/>
                <a:sym typeface="Courier New"/>
              </a:rPr>
              <a:t>statement(s)</a:t>
            </a:r>
            <a:endParaRPr sz="2200">
              <a:solidFill>
                <a:srgbClr val="795E26"/>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t/>
            </a:r>
            <a:endParaRPr sz="2200">
              <a:solidFill>
                <a:srgbClr val="795E26"/>
              </a:solidFill>
              <a:latin typeface="Courier New"/>
              <a:ea typeface="Courier New"/>
              <a:cs typeface="Courier New"/>
              <a:sym typeface="Courier New"/>
            </a:endParaRPr>
          </a:p>
          <a:p>
            <a:pPr indent="0" lvl="0" marL="0" rtl="0" algn="l">
              <a:spcBef>
                <a:spcPts val="0"/>
              </a:spcBef>
              <a:spcAft>
                <a:spcPts val="0"/>
              </a:spcAft>
              <a:buNone/>
            </a:pPr>
            <a:r>
              <a:rPr lang="en-GB" sz="2200">
                <a:solidFill>
                  <a:srgbClr val="795E26"/>
                </a:solidFill>
                <a:latin typeface="Courier New"/>
                <a:ea typeface="Courier New"/>
                <a:cs typeface="Courier New"/>
                <a:sym typeface="Courier New"/>
              </a:rPr>
              <a:t>statement(s)</a:t>
            </a:r>
            <a:endParaRPr sz="1800">
              <a:latin typeface="Courier New"/>
              <a:ea typeface="Courier New"/>
              <a:cs typeface="Courier New"/>
              <a:sym typeface="Courier New"/>
            </a:endParaRPr>
          </a:p>
        </p:txBody>
      </p:sp>
      <p:sp>
        <p:nvSpPr>
          <p:cNvPr id="603" name="Google Shape;603;p56"/>
          <p:cNvSpPr txBox="1"/>
          <p:nvPr/>
        </p:nvSpPr>
        <p:spPr>
          <a:xfrm>
            <a:off x="912725" y="2985125"/>
            <a:ext cx="1353000" cy="3399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604" name="Google Shape;604;p56"/>
          <p:cNvSpPr/>
          <p:nvPr/>
        </p:nvSpPr>
        <p:spPr>
          <a:xfrm>
            <a:off x="141175" y="2120325"/>
            <a:ext cx="700875" cy="1051300"/>
          </a:xfrm>
          <a:custGeom>
            <a:rect b="b" l="l" r="r" t="t"/>
            <a:pathLst>
              <a:path extrusionOk="0" h="42052" w="28035">
                <a:moveTo>
                  <a:pt x="28035" y="42052"/>
                </a:moveTo>
                <a:lnTo>
                  <a:pt x="0" y="42052"/>
                </a:lnTo>
                <a:lnTo>
                  <a:pt x="0" y="438"/>
                </a:lnTo>
                <a:lnTo>
                  <a:pt x="12703" y="0"/>
                </a:lnTo>
              </a:path>
            </a:pathLst>
          </a:custGeom>
          <a:noFill/>
          <a:ln cap="flat" cmpd="sng" w="38100">
            <a:solidFill>
              <a:schemeClr val="dk2"/>
            </a:solidFill>
            <a:prstDash val="solid"/>
            <a:round/>
            <a:headEnd len="med" w="med" type="none"/>
            <a:tailEnd len="med" w="med" type="stealth"/>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pass</a:t>
            </a:r>
            <a:r>
              <a:rPr lang="en-GB"/>
              <a:t> statement</a:t>
            </a:r>
            <a:endParaRPr/>
          </a:p>
        </p:txBody>
      </p:sp>
      <p:sp>
        <p:nvSpPr>
          <p:cNvPr id="610" name="Google Shape;610;p57"/>
          <p:cNvSpPr txBox="1"/>
          <p:nvPr>
            <p:ph idx="1" type="body"/>
          </p:nvPr>
        </p:nvSpPr>
        <p:spPr>
          <a:xfrm>
            <a:off x="311700" y="1884843"/>
            <a:ext cx="3999900" cy="15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solidFill>
                  <a:srgbClr val="0000CD"/>
                </a:solidFill>
                <a:highlight>
                  <a:srgbClr val="FFFFFF"/>
                </a:highlight>
                <a:latin typeface="Courier New"/>
                <a:ea typeface="Courier New"/>
                <a:cs typeface="Courier New"/>
                <a:sym typeface="Courier New"/>
              </a:rPr>
              <a:t>for</a:t>
            </a:r>
            <a:r>
              <a:rPr lang="en-GB" sz="2500">
                <a:solidFill>
                  <a:schemeClr val="dk1"/>
                </a:solidFill>
                <a:highlight>
                  <a:srgbClr val="FFFFFF"/>
                </a:highlight>
                <a:latin typeface="Courier New"/>
                <a:ea typeface="Courier New"/>
                <a:cs typeface="Courier New"/>
                <a:sym typeface="Courier New"/>
              </a:rPr>
              <a:t> x </a:t>
            </a:r>
            <a:r>
              <a:rPr lang="en-GB" sz="2500">
                <a:solidFill>
                  <a:srgbClr val="0000CD"/>
                </a:solidFill>
                <a:highlight>
                  <a:srgbClr val="FFFFFF"/>
                </a:highlight>
                <a:latin typeface="Courier New"/>
                <a:ea typeface="Courier New"/>
                <a:cs typeface="Courier New"/>
                <a:sym typeface="Courier New"/>
              </a:rPr>
              <a:t>in</a:t>
            </a:r>
            <a:r>
              <a:rPr lang="en-GB" sz="2500">
                <a:solidFill>
                  <a:schemeClr val="dk1"/>
                </a:solidFill>
                <a:highlight>
                  <a:srgbClr val="FFFFFF"/>
                </a:highlight>
                <a:latin typeface="Courier New"/>
                <a:ea typeface="Courier New"/>
                <a:cs typeface="Courier New"/>
                <a:sym typeface="Courier New"/>
              </a:rPr>
              <a:t> [</a:t>
            </a:r>
            <a:r>
              <a:rPr lang="en-GB" sz="2500">
                <a:solidFill>
                  <a:srgbClr val="FF0000"/>
                </a:solidFill>
                <a:highlight>
                  <a:srgbClr val="FFFFFF"/>
                </a:highlight>
                <a:latin typeface="Courier New"/>
                <a:ea typeface="Courier New"/>
                <a:cs typeface="Courier New"/>
                <a:sym typeface="Courier New"/>
              </a:rPr>
              <a:t>0</a:t>
            </a:r>
            <a:r>
              <a:rPr lang="en-GB" sz="2500">
                <a:solidFill>
                  <a:schemeClr val="dk1"/>
                </a:solidFill>
                <a:highlight>
                  <a:srgbClr val="FFFFFF"/>
                </a:highlight>
                <a:latin typeface="Courier New"/>
                <a:ea typeface="Courier New"/>
                <a:cs typeface="Courier New"/>
                <a:sym typeface="Courier New"/>
              </a:rPr>
              <a:t>, </a:t>
            </a:r>
            <a:r>
              <a:rPr lang="en-GB" sz="2500">
                <a:solidFill>
                  <a:srgbClr val="FF0000"/>
                </a:solidFill>
                <a:highlight>
                  <a:srgbClr val="FFFFFF"/>
                </a:highlight>
                <a:latin typeface="Courier New"/>
                <a:ea typeface="Courier New"/>
                <a:cs typeface="Courier New"/>
                <a:sym typeface="Courier New"/>
              </a:rPr>
              <a:t>1</a:t>
            </a:r>
            <a:r>
              <a:rPr lang="en-GB" sz="2500">
                <a:solidFill>
                  <a:schemeClr val="dk1"/>
                </a:solidFill>
                <a:highlight>
                  <a:srgbClr val="FFFFFF"/>
                </a:highlight>
                <a:latin typeface="Courier New"/>
                <a:ea typeface="Courier New"/>
                <a:cs typeface="Courier New"/>
                <a:sym typeface="Courier New"/>
              </a:rPr>
              <a:t>, </a:t>
            </a:r>
            <a:r>
              <a:rPr lang="en-GB" sz="2500">
                <a:solidFill>
                  <a:srgbClr val="FF0000"/>
                </a:solidFill>
                <a:highlight>
                  <a:srgbClr val="FFFFFF"/>
                </a:highlight>
                <a:latin typeface="Courier New"/>
                <a:ea typeface="Courier New"/>
                <a:cs typeface="Courier New"/>
                <a:sym typeface="Courier New"/>
              </a:rPr>
              <a:t>2</a:t>
            </a:r>
            <a:r>
              <a:rPr lang="en-GB" sz="2500">
                <a:solidFill>
                  <a:schemeClr val="dk1"/>
                </a:solidFill>
                <a:highlight>
                  <a:srgbClr val="FFFFFF"/>
                </a:highlight>
                <a:latin typeface="Courier New"/>
                <a:ea typeface="Courier New"/>
                <a:cs typeface="Courier New"/>
                <a:sym typeface="Courier New"/>
              </a:rPr>
              <a:t>]:</a:t>
            </a:r>
            <a:endParaRPr sz="2500">
              <a:solidFill>
                <a:schemeClr val="dk1"/>
              </a:solidFill>
              <a:highlight>
                <a:srgbClr val="FFFFFF"/>
              </a:highlight>
              <a:latin typeface="Courier New"/>
              <a:ea typeface="Courier New"/>
              <a:cs typeface="Courier New"/>
              <a:sym typeface="Courier New"/>
            </a:endParaRPr>
          </a:p>
          <a:p>
            <a:pPr indent="0" lvl="0" marL="0" rtl="0" algn="l">
              <a:spcBef>
                <a:spcPts val="1600"/>
              </a:spcBef>
              <a:spcAft>
                <a:spcPts val="1600"/>
              </a:spcAft>
              <a:buNone/>
            </a:pPr>
            <a:r>
              <a:rPr lang="en-GB" sz="2500">
                <a:solidFill>
                  <a:schemeClr val="dk1"/>
                </a:solidFill>
                <a:highlight>
                  <a:srgbClr val="FFFFFF"/>
                </a:highlight>
                <a:latin typeface="Courier New"/>
                <a:ea typeface="Courier New"/>
                <a:cs typeface="Courier New"/>
                <a:sym typeface="Courier New"/>
              </a:rPr>
              <a:t>  </a:t>
            </a:r>
            <a:r>
              <a:rPr lang="en-GB" sz="2500">
                <a:solidFill>
                  <a:srgbClr val="0000CD"/>
                </a:solidFill>
                <a:highlight>
                  <a:srgbClr val="FFFFFF"/>
                </a:highlight>
                <a:latin typeface="Courier New"/>
                <a:ea typeface="Courier New"/>
                <a:cs typeface="Courier New"/>
                <a:sym typeface="Courier New"/>
              </a:rPr>
              <a:t>pass</a:t>
            </a:r>
            <a:endParaRPr sz="2500"/>
          </a:p>
        </p:txBody>
      </p:sp>
      <p:sp>
        <p:nvSpPr>
          <p:cNvPr id="611" name="Google Shape;611;p57"/>
          <p:cNvSpPr txBox="1"/>
          <p:nvPr>
            <p:ph idx="2" type="body"/>
          </p:nvPr>
        </p:nvSpPr>
        <p:spPr>
          <a:xfrm>
            <a:off x="4832400" y="1884843"/>
            <a:ext cx="3999900" cy="15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solidFill>
                  <a:srgbClr val="A626A4"/>
                </a:solidFill>
                <a:latin typeface="Courier New"/>
                <a:ea typeface="Courier New"/>
                <a:cs typeface="Courier New"/>
                <a:sym typeface="Courier New"/>
              </a:rPr>
              <a:t>i</a:t>
            </a:r>
            <a:r>
              <a:rPr lang="en-GB" sz="2500">
                <a:solidFill>
                  <a:srgbClr val="A626A4"/>
                </a:solidFill>
                <a:latin typeface="Courier New"/>
                <a:ea typeface="Courier New"/>
                <a:cs typeface="Courier New"/>
                <a:sym typeface="Courier New"/>
              </a:rPr>
              <a:t>f </a:t>
            </a:r>
            <a:r>
              <a:rPr lang="en-GB" sz="2500">
                <a:solidFill>
                  <a:srgbClr val="000000"/>
                </a:solidFill>
                <a:latin typeface="Courier New"/>
                <a:ea typeface="Courier New"/>
                <a:cs typeface="Courier New"/>
                <a:sym typeface="Courier New"/>
              </a:rPr>
              <a:t>x</a:t>
            </a:r>
            <a:r>
              <a:rPr lang="en-GB" sz="2500">
                <a:solidFill>
                  <a:srgbClr val="A626A4"/>
                </a:solidFill>
                <a:latin typeface="Courier New"/>
                <a:ea typeface="Courier New"/>
                <a:cs typeface="Courier New"/>
                <a:sym typeface="Courier New"/>
              </a:rPr>
              <a:t> </a:t>
            </a:r>
            <a:r>
              <a:rPr lang="en-GB" sz="2500">
                <a:solidFill>
                  <a:srgbClr val="000000"/>
                </a:solidFill>
                <a:latin typeface="Courier New"/>
                <a:ea typeface="Courier New"/>
                <a:cs typeface="Courier New"/>
                <a:sym typeface="Courier New"/>
              </a:rPr>
              <a:t>==</a:t>
            </a:r>
            <a:r>
              <a:rPr lang="en-GB" sz="2500">
                <a:solidFill>
                  <a:srgbClr val="A626A4"/>
                </a:solidFill>
                <a:latin typeface="Courier New"/>
                <a:ea typeface="Courier New"/>
                <a:cs typeface="Courier New"/>
                <a:sym typeface="Courier New"/>
              </a:rPr>
              <a:t> </a:t>
            </a:r>
            <a:r>
              <a:rPr lang="en-GB" sz="2500">
                <a:solidFill>
                  <a:schemeClr val="accent5"/>
                </a:solidFill>
                <a:latin typeface="Courier New"/>
                <a:ea typeface="Courier New"/>
                <a:cs typeface="Courier New"/>
                <a:sym typeface="Courier New"/>
              </a:rPr>
              <a:t>100</a:t>
            </a:r>
            <a:r>
              <a:rPr lang="en-GB" sz="2500">
                <a:solidFill>
                  <a:srgbClr val="A626A4"/>
                </a:solidFill>
                <a:latin typeface="Courier New"/>
                <a:ea typeface="Courier New"/>
                <a:cs typeface="Courier New"/>
                <a:sym typeface="Courier New"/>
              </a:rPr>
              <a:t> </a:t>
            </a:r>
            <a:r>
              <a:rPr lang="en-GB" sz="2500">
                <a:solidFill>
                  <a:srgbClr val="383A42"/>
                </a:solidFill>
                <a:latin typeface="Courier New"/>
                <a:ea typeface="Courier New"/>
                <a:cs typeface="Courier New"/>
                <a:sym typeface="Courier New"/>
              </a:rPr>
              <a:t>:</a:t>
            </a:r>
            <a:endParaRPr sz="2500">
              <a:solidFill>
                <a:srgbClr val="383A42"/>
              </a:solidFill>
              <a:latin typeface="Courier New"/>
              <a:ea typeface="Courier New"/>
              <a:cs typeface="Courier New"/>
              <a:sym typeface="Courier New"/>
            </a:endParaRPr>
          </a:p>
          <a:p>
            <a:pPr indent="0" lvl="0" marL="152400" marR="152400" rtl="0" algn="l">
              <a:lnSpc>
                <a:spcPct val="142857"/>
              </a:lnSpc>
              <a:spcBef>
                <a:spcPts val="1600"/>
              </a:spcBef>
              <a:spcAft>
                <a:spcPts val="0"/>
              </a:spcAft>
              <a:buClr>
                <a:schemeClr val="dk1"/>
              </a:buClr>
              <a:buSzPts val="1100"/>
              <a:buFont typeface="Arial"/>
              <a:buNone/>
            </a:pPr>
            <a:r>
              <a:rPr lang="en-GB" sz="2500">
                <a:solidFill>
                  <a:srgbClr val="383A42"/>
                </a:solidFill>
                <a:latin typeface="Courier New"/>
                <a:ea typeface="Courier New"/>
                <a:cs typeface="Courier New"/>
                <a:sym typeface="Courier New"/>
              </a:rPr>
              <a:t>    </a:t>
            </a:r>
            <a:r>
              <a:rPr lang="en-GB" sz="2500">
                <a:solidFill>
                  <a:srgbClr val="A626A4"/>
                </a:solidFill>
                <a:latin typeface="Courier New"/>
                <a:ea typeface="Courier New"/>
                <a:cs typeface="Courier New"/>
                <a:sym typeface="Courier New"/>
              </a:rPr>
              <a:t>pass</a:t>
            </a:r>
            <a:endParaRPr sz="2500">
              <a:solidFill>
                <a:srgbClr val="A626A4"/>
              </a:solidFill>
              <a:latin typeface="Courier New"/>
              <a:ea typeface="Courier New"/>
              <a:cs typeface="Courier New"/>
              <a:sym typeface="Courier New"/>
            </a:endParaRPr>
          </a:p>
          <a:p>
            <a:pPr indent="0" lvl="0" marL="0" rtl="0" algn="l">
              <a:spcBef>
                <a:spcPts val="1200"/>
              </a:spcBef>
              <a:spcAft>
                <a:spcPts val="1600"/>
              </a:spcAft>
              <a:buNone/>
            </a:pPr>
            <a:r>
              <a:t/>
            </a:r>
            <a:endParaRPr sz="2100"/>
          </a:p>
        </p:txBody>
      </p:sp>
      <p:sp>
        <p:nvSpPr>
          <p:cNvPr id="612" name="Google Shape;612;p57"/>
          <p:cNvSpPr/>
          <p:nvPr/>
        </p:nvSpPr>
        <p:spPr>
          <a:xfrm>
            <a:off x="494150" y="2612200"/>
            <a:ext cx="6553200" cy="635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12"/>
                                        </p:tgtEl>
                                      </p:cBhvr>
                                    </p:animEffect>
                                    <p:set>
                                      <p:cBhvr>
                                        <p:cTn dur="1" fill="hold">
                                          <p:stCondLst>
                                            <p:cond delay="1000"/>
                                          </p:stCondLst>
                                        </p:cTn>
                                        <p:tgtEl>
                                          <p:spTgt spid="61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8"/>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Code demo: break, continue and pass statement</a:t>
            </a:r>
            <a:endParaRPr/>
          </a:p>
        </p:txBody>
      </p:sp>
      <p:sp>
        <p:nvSpPr>
          <p:cNvPr id="618" name="Google Shape;618;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9"/>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nested loop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0"/>
          <p:cNvSpPr txBox="1"/>
          <p:nvPr>
            <p:ph type="title"/>
          </p:nvPr>
        </p:nvSpPr>
        <p:spPr>
          <a:xfrm>
            <a:off x="242175" y="297550"/>
            <a:ext cx="7994400" cy="51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Python </a:t>
            </a:r>
            <a:r>
              <a:rPr b="1" i="1" lang="en-GB"/>
              <a:t>nested loop</a:t>
            </a:r>
            <a:endParaRPr b="1" i="1"/>
          </a:p>
        </p:txBody>
      </p:sp>
      <p:grpSp>
        <p:nvGrpSpPr>
          <p:cNvPr id="629" name="Google Shape;629;p60"/>
          <p:cNvGrpSpPr/>
          <p:nvPr/>
        </p:nvGrpSpPr>
        <p:grpSpPr>
          <a:xfrm>
            <a:off x="3952397" y="978463"/>
            <a:ext cx="5175943" cy="3729841"/>
            <a:chOff x="3952397" y="978463"/>
            <a:chExt cx="5175943" cy="3729841"/>
          </a:xfrm>
        </p:grpSpPr>
        <p:sp>
          <p:nvSpPr>
            <p:cNvPr id="630" name="Google Shape;630;p60"/>
            <p:cNvSpPr/>
            <p:nvPr/>
          </p:nvSpPr>
          <p:spPr>
            <a:xfrm>
              <a:off x="4511844" y="1417663"/>
              <a:ext cx="1896600" cy="1140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rgbClr val="FFFFFF"/>
                  </a:solidFill>
                  <a:latin typeface="Montserrat"/>
                  <a:ea typeface="Montserrat"/>
                  <a:cs typeface="Montserrat"/>
                  <a:sym typeface="Montserrat"/>
                </a:rPr>
                <a:t>Is this last item of the outer loop?</a:t>
              </a:r>
              <a:endParaRPr b="1" sz="1000">
                <a:solidFill>
                  <a:srgbClr val="FFFFFF"/>
                </a:solidFill>
                <a:latin typeface="Montserrat"/>
                <a:ea typeface="Montserrat"/>
                <a:cs typeface="Montserrat"/>
                <a:sym typeface="Montserrat"/>
              </a:endParaRPr>
            </a:p>
          </p:txBody>
        </p:sp>
        <p:cxnSp>
          <p:nvCxnSpPr>
            <p:cNvPr id="631" name="Google Shape;631;p60"/>
            <p:cNvCxnSpPr>
              <a:endCxn id="630" idx="0"/>
            </p:cNvCxnSpPr>
            <p:nvPr/>
          </p:nvCxnSpPr>
          <p:spPr>
            <a:xfrm>
              <a:off x="5441844" y="978463"/>
              <a:ext cx="18300" cy="439200"/>
            </a:xfrm>
            <a:prstGeom prst="straightConnector1">
              <a:avLst/>
            </a:prstGeom>
            <a:noFill/>
            <a:ln cap="flat" cmpd="sng" w="28575">
              <a:solidFill>
                <a:schemeClr val="dk2"/>
              </a:solidFill>
              <a:prstDash val="solid"/>
              <a:round/>
              <a:headEnd len="med" w="med" type="none"/>
              <a:tailEnd len="med" w="med" type="triangle"/>
            </a:ln>
          </p:spPr>
        </p:cxnSp>
        <p:cxnSp>
          <p:nvCxnSpPr>
            <p:cNvPr id="632" name="Google Shape;632;p60"/>
            <p:cNvCxnSpPr>
              <a:endCxn id="633" idx="0"/>
            </p:cNvCxnSpPr>
            <p:nvPr/>
          </p:nvCxnSpPr>
          <p:spPr>
            <a:xfrm flipH="1">
              <a:off x="5451115" y="2558208"/>
              <a:ext cx="13200" cy="357900"/>
            </a:xfrm>
            <a:prstGeom prst="straightConnector1">
              <a:avLst/>
            </a:prstGeom>
            <a:noFill/>
            <a:ln cap="flat" cmpd="sng" w="28575">
              <a:solidFill>
                <a:schemeClr val="dk2"/>
              </a:solidFill>
              <a:prstDash val="solid"/>
              <a:round/>
              <a:headEnd len="med" w="med" type="none"/>
              <a:tailEnd len="med" w="med" type="triangle"/>
            </a:ln>
          </p:spPr>
        </p:cxnSp>
        <p:sp>
          <p:nvSpPr>
            <p:cNvPr id="634" name="Google Shape;634;p60"/>
            <p:cNvSpPr/>
            <p:nvPr/>
          </p:nvSpPr>
          <p:spPr>
            <a:xfrm>
              <a:off x="4380288" y="4382804"/>
              <a:ext cx="2167500" cy="3255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Montserrat"/>
                  <a:ea typeface="Montserrat"/>
                  <a:cs typeface="Montserrat"/>
                  <a:sym typeface="Montserrat"/>
                </a:rPr>
                <a:t>Body of inner loop</a:t>
              </a:r>
              <a:endParaRPr b="1" sz="1300">
                <a:solidFill>
                  <a:srgbClr val="FFFFFF"/>
                </a:solidFill>
                <a:latin typeface="Montserrat"/>
                <a:ea typeface="Montserrat"/>
                <a:cs typeface="Montserrat"/>
                <a:sym typeface="Montserrat"/>
              </a:endParaRPr>
            </a:p>
          </p:txBody>
        </p:sp>
        <p:cxnSp>
          <p:nvCxnSpPr>
            <p:cNvPr id="635" name="Google Shape;635;p60"/>
            <p:cNvCxnSpPr>
              <a:stCxn id="630" idx="3"/>
              <a:endCxn id="636" idx="0"/>
            </p:cNvCxnSpPr>
            <p:nvPr/>
          </p:nvCxnSpPr>
          <p:spPr>
            <a:xfrm>
              <a:off x="6408444" y="1987963"/>
              <a:ext cx="1369200" cy="786900"/>
            </a:xfrm>
            <a:prstGeom prst="bentConnector2">
              <a:avLst/>
            </a:prstGeom>
            <a:noFill/>
            <a:ln cap="flat" cmpd="sng" w="28575">
              <a:solidFill>
                <a:schemeClr val="dk2"/>
              </a:solidFill>
              <a:prstDash val="solid"/>
              <a:round/>
              <a:headEnd len="med" w="med" type="none"/>
              <a:tailEnd len="med" w="med" type="triangle"/>
            </a:ln>
          </p:spPr>
        </p:cxnSp>
        <p:sp>
          <p:nvSpPr>
            <p:cNvPr id="637" name="Google Shape;637;p60"/>
            <p:cNvSpPr txBox="1"/>
            <p:nvPr/>
          </p:nvSpPr>
          <p:spPr>
            <a:xfrm>
              <a:off x="6649247" y="1560661"/>
              <a:ext cx="6372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Yes</a:t>
              </a:r>
              <a:endParaRPr b="1">
                <a:latin typeface="Montserrat"/>
                <a:ea typeface="Montserrat"/>
                <a:cs typeface="Montserrat"/>
                <a:sym typeface="Montserrat"/>
              </a:endParaRPr>
            </a:p>
          </p:txBody>
        </p:sp>
        <p:sp>
          <p:nvSpPr>
            <p:cNvPr id="638" name="Google Shape;638;p60"/>
            <p:cNvSpPr txBox="1"/>
            <p:nvPr/>
          </p:nvSpPr>
          <p:spPr>
            <a:xfrm>
              <a:off x="5481651" y="2516173"/>
              <a:ext cx="849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No</a:t>
              </a:r>
              <a:endParaRPr b="1">
                <a:latin typeface="Montserrat"/>
                <a:ea typeface="Montserrat"/>
                <a:cs typeface="Montserrat"/>
                <a:sym typeface="Montserrat"/>
              </a:endParaRPr>
            </a:p>
          </p:txBody>
        </p:sp>
        <p:cxnSp>
          <p:nvCxnSpPr>
            <p:cNvPr id="639" name="Google Shape;639;p60"/>
            <p:cNvCxnSpPr>
              <a:stCxn id="634" idx="3"/>
              <a:endCxn id="633" idx="3"/>
            </p:cNvCxnSpPr>
            <p:nvPr/>
          </p:nvCxnSpPr>
          <p:spPr>
            <a:xfrm rot="10800000">
              <a:off x="6399288" y="3486554"/>
              <a:ext cx="148500" cy="1059000"/>
            </a:xfrm>
            <a:prstGeom prst="bentConnector3">
              <a:avLst>
                <a:gd fmla="val -177176" name="adj1"/>
              </a:avLst>
            </a:prstGeom>
            <a:noFill/>
            <a:ln cap="flat" cmpd="sng" w="28575">
              <a:solidFill>
                <a:schemeClr val="dk2"/>
              </a:solidFill>
              <a:prstDash val="solid"/>
              <a:round/>
              <a:headEnd len="med" w="med" type="none"/>
              <a:tailEnd len="med" w="med" type="triangle"/>
            </a:ln>
          </p:spPr>
        </p:cxnSp>
        <p:sp>
          <p:nvSpPr>
            <p:cNvPr id="640" name="Google Shape;640;p60"/>
            <p:cNvSpPr txBox="1"/>
            <p:nvPr/>
          </p:nvSpPr>
          <p:spPr>
            <a:xfrm>
              <a:off x="5497441" y="990155"/>
              <a:ext cx="36309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For each element in a sequence</a:t>
              </a:r>
              <a:endParaRPr b="1">
                <a:latin typeface="Montserrat"/>
                <a:ea typeface="Montserrat"/>
                <a:cs typeface="Montserrat"/>
                <a:sym typeface="Montserrat"/>
              </a:endParaRPr>
            </a:p>
          </p:txBody>
        </p:sp>
        <p:sp>
          <p:nvSpPr>
            <p:cNvPr id="633" name="Google Shape;633;p60"/>
            <p:cNvSpPr/>
            <p:nvPr/>
          </p:nvSpPr>
          <p:spPr>
            <a:xfrm>
              <a:off x="4502815" y="2916108"/>
              <a:ext cx="1896600" cy="1140600"/>
            </a:xfrm>
            <a:prstGeom prst="diamond">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solidFill>
                    <a:srgbClr val="FFFFFF"/>
                  </a:solidFill>
                  <a:latin typeface="Montserrat"/>
                  <a:ea typeface="Montserrat"/>
                  <a:cs typeface="Montserrat"/>
                  <a:sym typeface="Montserrat"/>
                </a:rPr>
                <a:t>Is this last item of the inner loop?</a:t>
              </a:r>
              <a:endParaRPr b="1" sz="1000">
                <a:solidFill>
                  <a:srgbClr val="FFFFFF"/>
                </a:solidFill>
                <a:latin typeface="Montserrat"/>
                <a:ea typeface="Montserrat"/>
                <a:cs typeface="Montserrat"/>
                <a:sym typeface="Montserrat"/>
              </a:endParaRPr>
            </a:p>
          </p:txBody>
        </p:sp>
        <p:cxnSp>
          <p:nvCxnSpPr>
            <p:cNvPr id="641" name="Google Shape;641;p60"/>
            <p:cNvCxnSpPr>
              <a:stCxn id="633" idx="2"/>
              <a:endCxn id="634" idx="0"/>
            </p:cNvCxnSpPr>
            <p:nvPr/>
          </p:nvCxnSpPr>
          <p:spPr>
            <a:xfrm>
              <a:off x="5451115" y="4056708"/>
              <a:ext cx="12900" cy="326100"/>
            </a:xfrm>
            <a:prstGeom prst="straightConnector1">
              <a:avLst/>
            </a:prstGeom>
            <a:noFill/>
            <a:ln cap="flat" cmpd="sng" w="28575">
              <a:solidFill>
                <a:schemeClr val="dk2"/>
              </a:solidFill>
              <a:prstDash val="solid"/>
              <a:round/>
              <a:headEnd len="med" w="med" type="none"/>
              <a:tailEnd len="med" w="med" type="triangle"/>
            </a:ln>
          </p:spPr>
        </p:cxnSp>
        <p:sp>
          <p:nvSpPr>
            <p:cNvPr id="642" name="Google Shape;642;p60"/>
            <p:cNvSpPr txBox="1"/>
            <p:nvPr/>
          </p:nvSpPr>
          <p:spPr>
            <a:xfrm>
              <a:off x="4914325" y="4044484"/>
              <a:ext cx="6372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No</a:t>
              </a:r>
              <a:endParaRPr b="1">
                <a:latin typeface="Montserrat"/>
                <a:ea typeface="Montserrat"/>
                <a:cs typeface="Montserrat"/>
                <a:sym typeface="Montserrat"/>
              </a:endParaRPr>
            </a:p>
          </p:txBody>
        </p:sp>
        <p:sp>
          <p:nvSpPr>
            <p:cNvPr id="636" name="Google Shape;636;p60"/>
            <p:cNvSpPr/>
            <p:nvPr/>
          </p:nvSpPr>
          <p:spPr>
            <a:xfrm>
              <a:off x="6740025" y="2774950"/>
              <a:ext cx="2075400" cy="3255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300">
                  <a:solidFill>
                    <a:srgbClr val="FFFFFF"/>
                  </a:solidFill>
                  <a:latin typeface="Montserrat"/>
                  <a:ea typeface="Montserrat"/>
                  <a:cs typeface="Montserrat"/>
                  <a:sym typeface="Montserrat"/>
                </a:rPr>
                <a:t>End of the outer loop</a:t>
              </a:r>
              <a:endParaRPr b="1" sz="1300">
                <a:solidFill>
                  <a:srgbClr val="FFFFFF"/>
                </a:solidFill>
                <a:latin typeface="Montserrat"/>
                <a:ea typeface="Montserrat"/>
                <a:cs typeface="Montserrat"/>
                <a:sym typeface="Montserrat"/>
              </a:endParaRPr>
            </a:p>
          </p:txBody>
        </p:sp>
        <p:cxnSp>
          <p:nvCxnSpPr>
            <p:cNvPr id="643" name="Google Shape;643;p60"/>
            <p:cNvCxnSpPr>
              <a:stCxn id="633" idx="1"/>
              <a:endCxn id="630" idx="1"/>
            </p:cNvCxnSpPr>
            <p:nvPr/>
          </p:nvCxnSpPr>
          <p:spPr>
            <a:xfrm flipH="1" rot="10800000">
              <a:off x="4502815" y="1987908"/>
              <a:ext cx="9000" cy="1498500"/>
            </a:xfrm>
            <a:prstGeom prst="bentConnector3">
              <a:avLst>
                <a:gd fmla="val -7722136" name="adj1"/>
              </a:avLst>
            </a:prstGeom>
            <a:noFill/>
            <a:ln cap="flat" cmpd="sng" w="28575">
              <a:solidFill>
                <a:schemeClr val="dk2"/>
              </a:solidFill>
              <a:prstDash val="solid"/>
              <a:round/>
              <a:headEnd len="med" w="med" type="none"/>
              <a:tailEnd len="med" w="med" type="triangle"/>
            </a:ln>
          </p:spPr>
        </p:cxnSp>
        <p:sp>
          <p:nvSpPr>
            <p:cNvPr id="644" name="Google Shape;644;p60"/>
            <p:cNvSpPr txBox="1"/>
            <p:nvPr/>
          </p:nvSpPr>
          <p:spPr>
            <a:xfrm>
              <a:off x="3952397" y="3168523"/>
              <a:ext cx="6372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Montserrat"/>
                  <a:ea typeface="Montserrat"/>
                  <a:cs typeface="Montserrat"/>
                  <a:sym typeface="Montserrat"/>
                </a:rPr>
                <a:t>Yes</a:t>
              </a:r>
              <a:endParaRPr b="1">
                <a:latin typeface="Montserrat"/>
                <a:ea typeface="Montserrat"/>
                <a:cs typeface="Montserrat"/>
                <a:sym typeface="Montserrat"/>
              </a:endParaRPr>
            </a:p>
          </p:txBody>
        </p:sp>
      </p:grpSp>
      <p:sp>
        <p:nvSpPr>
          <p:cNvPr id="645" name="Google Shape;645;p60"/>
          <p:cNvSpPr txBox="1"/>
          <p:nvPr/>
        </p:nvSpPr>
        <p:spPr>
          <a:xfrm>
            <a:off x="108775" y="1865725"/>
            <a:ext cx="36228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chemeClr val="dk1"/>
                </a:solidFill>
                <a:latin typeface="Montserrat"/>
                <a:ea typeface="Montserrat"/>
                <a:cs typeface="Montserrat"/>
                <a:sym typeface="Montserrat"/>
              </a:rPr>
              <a:t>Syntax </a:t>
            </a:r>
            <a:endParaRPr b="1" sz="18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800">
              <a:solidFill>
                <a:schemeClr val="dk1"/>
              </a:solidFill>
              <a:latin typeface="Montserrat"/>
              <a:ea typeface="Montserrat"/>
              <a:cs typeface="Montserrat"/>
              <a:sym typeface="Montserrat"/>
            </a:endParaRPr>
          </a:p>
          <a:p>
            <a:pPr indent="0" lvl="0" marL="0" rtl="0" algn="l">
              <a:spcBef>
                <a:spcPts val="0"/>
              </a:spcBef>
              <a:spcAft>
                <a:spcPts val="0"/>
              </a:spcAft>
              <a:buNone/>
            </a:pPr>
            <a:r>
              <a:rPr lang="en-GB" sz="2100">
                <a:solidFill>
                  <a:srgbClr val="AF00DB"/>
                </a:solidFill>
                <a:latin typeface="Courier New"/>
                <a:ea typeface="Courier New"/>
                <a:cs typeface="Courier New"/>
                <a:sym typeface="Courier New"/>
              </a:rPr>
              <a:t>for</a:t>
            </a:r>
            <a:r>
              <a:rPr lang="en-GB" sz="2100">
                <a:solidFill>
                  <a:schemeClr val="dk1"/>
                </a:solidFill>
                <a:latin typeface="Courier New"/>
                <a:ea typeface="Courier New"/>
                <a:cs typeface="Courier New"/>
                <a:sym typeface="Courier New"/>
              </a:rPr>
              <a:t> x </a:t>
            </a:r>
            <a:r>
              <a:rPr lang="en-GB" sz="2100">
                <a:solidFill>
                  <a:srgbClr val="AF00DB"/>
                </a:solidFill>
                <a:latin typeface="Courier New"/>
                <a:ea typeface="Courier New"/>
                <a:cs typeface="Courier New"/>
                <a:sym typeface="Courier New"/>
              </a:rPr>
              <a:t>in </a:t>
            </a:r>
            <a:r>
              <a:rPr lang="en-GB" sz="2100">
                <a:solidFill>
                  <a:schemeClr val="dk1"/>
                </a:solidFill>
                <a:latin typeface="Courier New"/>
                <a:ea typeface="Courier New"/>
                <a:cs typeface="Courier New"/>
                <a:sym typeface="Courier New"/>
              </a:rPr>
              <a:t>sequence:</a:t>
            </a:r>
            <a:endParaRPr sz="2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2100">
                <a:solidFill>
                  <a:schemeClr val="dk1"/>
                </a:solidFill>
                <a:latin typeface="Courier New"/>
                <a:ea typeface="Courier New"/>
                <a:cs typeface="Courier New"/>
                <a:sym typeface="Courier New"/>
              </a:rPr>
              <a:t>	</a:t>
            </a:r>
            <a:r>
              <a:rPr lang="en-GB" sz="2100">
                <a:solidFill>
                  <a:srgbClr val="AF00DB"/>
                </a:solidFill>
                <a:latin typeface="Courier New"/>
                <a:ea typeface="Courier New"/>
                <a:cs typeface="Courier New"/>
                <a:sym typeface="Courier New"/>
              </a:rPr>
              <a:t>for</a:t>
            </a:r>
            <a:r>
              <a:rPr lang="en-GB" sz="2100">
                <a:solidFill>
                  <a:schemeClr val="dk1"/>
                </a:solidFill>
                <a:latin typeface="Courier New"/>
                <a:ea typeface="Courier New"/>
                <a:cs typeface="Courier New"/>
                <a:sym typeface="Courier New"/>
              </a:rPr>
              <a:t> x </a:t>
            </a:r>
            <a:r>
              <a:rPr lang="en-GB" sz="2100">
                <a:solidFill>
                  <a:srgbClr val="AF00DB"/>
                </a:solidFill>
                <a:latin typeface="Courier New"/>
                <a:ea typeface="Courier New"/>
                <a:cs typeface="Courier New"/>
                <a:sym typeface="Courier New"/>
              </a:rPr>
              <a:t>in </a:t>
            </a:r>
            <a:r>
              <a:rPr lang="en-GB" sz="2100">
                <a:solidFill>
                  <a:schemeClr val="dk1"/>
                </a:solidFill>
                <a:latin typeface="Courier New"/>
                <a:ea typeface="Courier New"/>
                <a:cs typeface="Courier New"/>
                <a:sym typeface="Courier New"/>
              </a:rPr>
              <a:t>sequence:</a:t>
            </a:r>
            <a:endParaRPr sz="2100">
              <a:solidFill>
                <a:schemeClr val="dk1"/>
              </a:solidFill>
              <a:latin typeface="Courier New"/>
              <a:ea typeface="Courier New"/>
              <a:cs typeface="Courier New"/>
              <a:sym typeface="Courier New"/>
            </a:endParaRPr>
          </a:p>
          <a:p>
            <a:pPr indent="457200" lvl="0" marL="457200" rtl="0" algn="l">
              <a:spcBef>
                <a:spcPts val="0"/>
              </a:spcBef>
              <a:spcAft>
                <a:spcPts val="0"/>
              </a:spcAft>
              <a:buNone/>
            </a:pPr>
            <a:r>
              <a:rPr lang="en-GB" sz="2100">
                <a:solidFill>
                  <a:srgbClr val="795E26"/>
                </a:solidFill>
                <a:latin typeface="Courier New"/>
                <a:ea typeface="Courier New"/>
                <a:cs typeface="Courier New"/>
                <a:sym typeface="Courier New"/>
              </a:rPr>
              <a:t>statements(s)</a:t>
            </a:r>
            <a:endParaRPr sz="2100">
              <a:solidFill>
                <a:srgbClr val="795E26"/>
              </a:solidFill>
              <a:latin typeface="Courier New"/>
              <a:ea typeface="Courier New"/>
              <a:cs typeface="Courier New"/>
              <a:sym typeface="Courier New"/>
            </a:endParaRPr>
          </a:p>
          <a:p>
            <a:pPr indent="0" lvl="0" marL="457200" rtl="0" algn="l">
              <a:spcBef>
                <a:spcPts val="0"/>
              </a:spcBef>
              <a:spcAft>
                <a:spcPts val="0"/>
              </a:spcAft>
              <a:buNone/>
            </a:pPr>
            <a:r>
              <a:rPr lang="en-GB" sz="2100">
                <a:solidFill>
                  <a:srgbClr val="795E26"/>
                </a:solidFill>
                <a:latin typeface="Courier New"/>
                <a:ea typeface="Courier New"/>
                <a:cs typeface="Courier New"/>
                <a:sym typeface="Courier New"/>
              </a:rPr>
              <a:t>statements(s)</a:t>
            </a:r>
            <a:endParaRPr sz="1300">
              <a:latin typeface="Courier New"/>
              <a:ea typeface="Courier New"/>
              <a:cs typeface="Courier New"/>
              <a:sym typeface="Courier New"/>
            </a:endParaRPr>
          </a:p>
        </p:txBody>
      </p:sp>
      <p:grpSp>
        <p:nvGrpSpPr>
          <p:cNvPr id="646" name="Google Shape;646;p60"/>
          <p:cNvGrpSpPr/>
          <p:nvPr/>
        </p:nvGrpSpPr>
        <p:grpSpPr>
          <a:xfrm>
            <a:off x="830625" y="1666750"/>
            <a:ext cx="4066500" cy="1210200"/>
            <a:chOff x="754425" y="1666750"/>
            <a:chExt cx="4066500" cy="1210200"/>
          </a:xfrm>
        </p:grpSpPr>
        <p:sp>
          <p:nvSpPr>
            <p:cNvPr id="647" name="Google Shape;647;p60"/>
            <p:cNvSpPr txBox="1"/>
            <p:nvPr/>
          </p:nvSpPr>
          <p:spPr>
            <a:xfrm>
              <a:off x="754425" y="2476750"/>
              <a:ext cx="2176200" cy="400200"/>
            </a:xfrm>
            <a:prstGeom prst="rect">
              <a:avLst/>
            </a:prstGeom>
            <a:noFill/>
            <a:ln cap="flat" cmpd="sng" w="3810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cxnSp>
          <p:nvCxnSpPr>
            <p:cNvPr id="648" name="Google Shape;648;p60"/>
            <p:cNvCxnSpPr>
              <a:endCxn id="647" idx="3"/>
            </p:cNvCxnSpPr>
            <p:nvPr/>
          </p:nvCxnSpPr>
          <p:spPr>
            <a:xfrm flipH="1">
              <a:off x="2930625" y="1666750"/>
              <a:ext cx="1890300" cy="1010100"/>
            </a:xfrm>
            <a:prstGeom prst="curvedConnector3">
              <a:avLst>
                <a:gd fmla="val 50000" name="adj1"/>
              </a:avLst>
            </a:prstGeom>
            <a:noFill/>
            <a:ln cap="flat" cmpd="sng" w="38100">
              <a:solidFill>
                <a:schemeClr val="accent5"/>
              </a:solidFill>
              <a:prstDash val="solid"/>
              <a:round/>
              <a:headEnd len="med" w="med" type="none"/>
              <a:tailEnd len="med" w="med" type="stealth"/>
            </a:ln>
          </p:spPr>
        </p:cxnSp>
      </p:grpSp>
      <p:grpSp>
        <p:nvGrpSpPr>
          <p:cNvPr id="649" name="Google Shape;649;p60"/>
          <p:cNvGrpSpPr/>
          <p:nvPr/>
        </p:nvGrpSpPr>
        <p:grpSpPr>
          <a:xfrm>
            <a:off x="1197974" y="2857673"/>
            <a:ext cx="3622818" cy="877186"/>
            <a:chOff x="854475" y="2857750"/>
            <a:chExt cx="3966300" cy="1012800"/>
          </a:xfrm>
        </p:grpSpPr>
        <p:sp>
          <p:nvSpPr>
            <p:cNvPr id="650" name="Google Shape;650;p60"/>
            <p:cNvSpPr txBox="1"/>
            <p:nvPr/>
          </p:nvSpPr>
          <p:spPr>
            <a:xfrm>
              <a:off x="854475" y="2857750"/>
              <a:ext cx="2533200" cy="462000"/>
            </a:xfrm>
            <a:prstGeom prst="rect">
              <a:avLst/>
            </a:prstGeom>
            <a:noFill/>
            <a:ln cap="flat" cmpd="sng" w="3810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cxnSp>
          <p:nvCxnSpPr>
            <p:cNvPr id="651" name="Google Shape;651;p60"/>
            <p:cNvCxnSpPr>
              <a:endCxn id="650" idx="3"/>
            </p:cNvCxnSpPr>
            <p:nvPr/>
          </p:nvCxnSpPr>
          <p:spPr>
            <a:xfrm rot="10800000">
              <a:off x="3387675" y="3088750"/>
              <a:ext cx="1433100" cy="781800"/>
            </a:xfrm>
            <a:prstGeom prst="curvedConnector3">
              <a:avLst>
                <a:gd fmla="val 50000" name="adj1"/>
              </a:avLst>
            </a:prstGeom>
            <a:noFill/>
            <a:ln cap="flat" cmpd="sng" w="38100">
              <a:solidFill>
                <a:schemeClr val="accent5"/>
              </a:solidFill>
              <a:prstDash val="solid"/>
              <a:round/>
              <a:headEnd len="med" w="med" type="none"/>
              <a:tailEnd len="med" w="med" type="stealth"/>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46"/>
                                        </p:tgtEl>
                                      </p:cBhvr>
                                    </p:animEffect>
                                    <p:set>
                                      <p:cBhvr>
                                        <p:cTn dur="1" fill="hold">
                                          <p:stCondLst>
                                            <p:cond delay="1000"/>
                                          </p:stCondLst>
                                        </p:cTn>
                                        <p:tgtEl>
                                          <p:spTgt spid="6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Code demo: </a:t>
            </a:r>
            <a:r>
              <a:rPr i="1" lang="en-GB"/>
              <a:t>nested loop</a:t>
            </a:r>
            <a:endParaRPr i="1"/>
          </a:p>
        </p:txBody>
      </p:sp>
      <p:sp>
        <p:nvSpPr>
          <p:cNvPr id="657" name="Google Shape;657;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2"/>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Looping techniques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6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Looping techniques: zip</a:t>
            </a:r>
            <a:endParaRPr/>
          </a:p>
        </p:txBody>
      </p:sp>
      <p:grpSp>
        <p:nvGrpSpPr>
          <p:cNvPr id="668" name="Google Shape;668;p63"/>
          <p:cNvGrpSpPr/>
          <p:nvPr/>
        </p:nvGrpSpPr>
        <p:grpSpPr>
          <a:xfrm>
            <a:off x="1413825" y="967700"/>
            <a:ext cx="4714800" cy="2509200"/>
            <a:chOff x="1413825" y="967700"/>
            <a:chExt cx="4714800" cy="2509200"/>
          </a:xfrm>
        </p:grpSpPr>
        <p:sp>
          <p:nvSpPr>
            <p:cNvPr id="669" name="Google Shape;669;p63"/>
            <p:cNvSpPr txBox="1"/>
            <p:nvPr/>
          </p:nvSpPr>
          <p:spPr>
            <a:xfrm>
              <a:off x="1413825" y="967700"/>
              <a:ext cx="4714800" cy="837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GB" sz="1800">
                  <a:solidFill>
                    <a:schemeClr val="dk1"/>
                  </a:solidFill>
                  <a:highlight>
                    <a:srgbClr val="FFFFFE"/>
                  </a:highlight>
                  <a:latin typeface="Courier New"/>
                  <a:ea typeface="Courier New"/>
                  <a:cs typeface="Courier New"/>
                  <a:sym typeface="Courier New"/>
                </a:rPr>
                <a:t>list_A = [</a:t>
              </a:r>
              <a:r>
                <a:rPr lang="en-GB" sz="1800">
                  <a:solidFill>
                    <a:srgbClr val="A31515"/>
                  </a:solidFill>
                  <a:highlight>
                    <a:srgbClr val="FFFFFE"/>
                  </a:highlight>
                  <a:latin typeface="Courier New"/>
                  <a:ea typeface="Courier New"/>
                  <a:cs typeface="Courier New"/>
                  <a:sym typeface="Courier New"/>
                </a:rPr>
                <a:t>'a1'</a:t>
              </a:r>
              <a:r>
                <a:rPr lang="en-GB" sz="1800">
                  <a:solidFill>
                    <a:schemeClr val="dk1"/>
                  </a:solidFill>
                  <a:highlight>
                    <a:srgbClr val="FFFFFE"/>
                  </a:highlight>
                  <a:latin typeface="Courier New"/>
                  <a:ea typeface="Courier New"/>
                  <a:cs typeface="Courier New"/>
                  <a:sym typeface="Courier New"/>
                </a:rPr>
                <a:t>, </a:t>
              </a:r>
              <a:r>
                <a:rPr lang="en-GB" sz="1800">
                  <a:solidFill>
                    <a:srgbClr val="A31515"/>
                  </a:solidFill>
                  <a:highlight>
                    <a:srgbClr val="FFFFFE"/>
                  </a:highlight>
                  <a:latin typeface="Courier New"/>
                  <a:ea typeface="Courier New"/>
                  <a:cs typeface="Courier New"/>
                  <a:sym typeface="Courier New"/>
                </a:rPr>
                <a:t>'a2'</a:t>
              </a:r>
              <a:r>
                <a:rPr lang="en-GB" sz="1800">
                  <a:solidFill>
                    <a:schemeClr val="dk1"/>
                  </a:solidFill>
                  <a:highlight>
                    <a:srgbClr val="FFFFFE"/>
                  </a:highlight>
                  <a:latin typeface="Courier New"/>
                  <a:ea typeface="Courier New"/>
                  <a:cs typeface="Courier New"/>
                  <a:sym typeface="Courier New"/>
                </a:rPr>
                <a:t>]</a:t>
              </a:r>
              <a:endParaRPr sz="18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GB" sz="1800">
                  <a:solidFill>
                    <a:schemeClr val="dk1"/>
                  </a:solidFill>
                  <a:highlight>
                    <a:srgbClr val="FFFFFE"/>
                  </a:highlight>
                  <a:latin typeface="Courier New"/>
                  <a:ea typeface="Courier New"/>
                  <a:cs typeface="Courier New"/>
                  <a:sym typeface="Courier New"/>
                </a:rPr>
                <a:t>list_B = [</a:t>
              </a:r>
              <a:r>
                <a:rPr lang="en-GB" sz="1800">
                  <a:solidFill>
                    <a:srgbClr val="A31515"/>
                  </a:solidFill>
                  <a:highlight>
                    <a:srgbClr val="FFFFFE"/>
                  </a:highlight>
                  <a:latin typeface="Courier New"/>
                  <a:ea typeface="Courier New"/>
                  <a:cs typeface="Courier New"/>
                  <a:sym typeface="Courier New"/>
                </a:rPr>
                <a:t>'b1'</a:t>
              </a:r>
              <a:r>
                <a:rPr lang="en-GB" sz="1800">
                  <a:solidFill>
                    <a:schemeClr val="dk1"/>
                  </a:solidFill>
                  <a:highlight>
                    <a:srgbClr val="FFFFFE"/>
                  </a:highlight>
                  <a:latin typeface="Courier New"/>
                  <a:ea typeface="Courier New"/>
                  <a:cs typeface="Courier New"/>
                  <a:sym typeface="Courier New"/>
                </a:rPr>
                <a:t>, </a:t>
              </a:r>
              <a:r>
                <a:rPr lang="en-GB" sz="1800">
                  <a:solidFill>
                    <a:srgbClr val="A31515"/>
                  </a:solidFill>
                  <a:highlight>
                    <a:srgbClr val="FFFFFE"/>
                  </a:highlight>
                  <a:latin typeface="Courier New"/>
                  <a:ea typeface="Courier New"/>
                  <a:cs typeface="Courier New"/>
                  <a:sym typeface="Courier New"/>
                </a:rPr>
                <a:t>'b2'</a:t>
              </a:r>
              <a:r>
                <a:rPr lang="en-GB" sz="1800">
                  <a:solidFill>
                    <a:schemeClr val="dk1"/>
                  </a:solidFill>
                  <a:highlight>
                    <a:srgbClr val="FFFFFE"/>
                  </a:highlight>
                  <a:latin typeface="Courier New"/>
                  <a:ea typeface="Courier New"/>
                  <a:cs typeface="Courier New"/>
                  <a:sym typeface="Courier New"/>
                </a:rPr>
                <a:t>, </a:t>
              </a:r>
              <a:r>
                <a:rPr lang="en-GB" sz="1800">
                  <a:solidFill>
                    <a:srgbClr val="A31515"/>
                  </a:solidFill>
                  <a:highlight>
                    <a:srgbClr val="FFFFFE"/>
                  </a:highlight>
                  <a:latin typeface="Courier New"/>
                  <a:ea typeface="Courier New"/>
                  <a:cs typeface="Courier New"/>
                  <a:sym typeface="Courier New"/>
                </a:rPr>
                <a:t>'b3'</a:t>
              </a:r>
              <a:r>
                <a:rPr lang="en-GB" sz="1800">
                  <a:solidFill>
                    <a:schemeClr val="dk1"/>
                  </a:solidFill>
                  <a:highlight>
                    <a:srgbClr val="FFFFFE"/>
                  </a:highlight>
                  <a:latin typeface="Courier New"/>
                  <a:ea typeface="Courier New"/>
                  <a:cs typeface="Courier New"/>
                  <a:sym typeface="Courier New"/>
                </a:rPr>
                <a:t>]</a:t>
              </a:r>
              <a:endParaRPr sz="1800">
                <a:latin typeface="Montserrat"/>
                <a:ea typeface="Montserrat"/>
                <a:cs typeface="Montserrat"/>
                <a:sym typeface="Montserrat"/>
              </a:endParaRPr>
            </a:p>
          </p:txBody>
        </p:sp>
        <p:sp>
          <p:nvSpPr>
            <p:cNvPr id="670" name="Google Shape;670;p63"/>
            <p:cNvSpPr txBox="1"/>
            <p:nvPr/>
          </p:nvSpPr>
          <p:spPr>
            <a:xfrm>
              <a:off x="1413825" y="2263100"/>
              <a:ext cx="4714800" cy="12138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GB" sz="1800">
                  <a:solidFill>
                    <a:srgbClr val="AF00DB"/>
                  </a:solidFill>
                  <a:highlight>
                    <a:srgbClr val="FFFFFE"/>
                  </a:highlight>
                  <a:latin typeface="Courier New"/>
                  <a:ea typeface="Courier New"/>
                  <a:cs typeface="Courier New"/>
                  <a:sym typeface="Courier New"/>
                </a:rPr>
                <a:t>for</a:t>
              </a:r>
              <a:r>
                <a:rPr lang="en-GB" sz="1800">
                  <a:solidFill>
                    <a:schemeClr val="dk1"/>
                  </a:solidFill>
                  <a:highlight>
                    <a:srgbClr val="FFFFFE"/>
                  </a:highlight>
                  <a:latin typeface="Courier New"/>
                  <a:ea typeface="Courier New"/>
                  <a:cs typeface="Courier New"/>
                  <a:sym typeface="Courier New"/>
                </a:rPr>
                <a:t> a, b </a:t>
              </a:r>
              <a:r>
                <a:rPr lang="en-GB" sz="1800">
                  <a:solidFill>
                    <a:srgbClr val="0000FF"/>
                  </a:solidFill>
                  <a:highlight>
                    <a:srgbClr val="FFFFFE"/>
                  </a:highlight>
                  <a:latin typeface="Courier New"/>
                  <a:ea typeface="Courier New"/>
                  <a:cs typeface="Courier New"/>
                  <a:sym typeface="Courier New"/>
                </a:rPr>
                <a:t>in</a:t>
              </a:r>
              <a:r>
                <a:rPr lang="en-GB" sz="1800">
                  <a:solidFill>
                    <a:schemeClr val="dk1"/>
                  </a:solidFill>
                  <a:highlight>
                    <a:srgbClr val="FFFFFE"/>
                  </a:highlight>
                  <a:latin typeface="Courier New"/>
                  <a:ea typeface="Courier New"/>
                  <a:cs typeface="Courier New"/>
                  <a:sym typeface="Courier New"/>
                </a:rPr>
                <a:t> </a:t>
              </a:r>
              <a:r>
                <a:rPr lang="en-GB" sz="1800">
                  <a:solidFill>
                    <a:srgbClr val="795E26"/>
                  </a:solidFill>
                  <a:highlight>
                    <a:srgbClr val="FFFFFE"/>
                  </a:highlight>
                  <a:latin typeface="Courier New"/>
                  <a:ea typeface="Courier New"/>
                  <a:cs typeface="Courier New"/>
                  <a:sym typeface="Courier New"/>
                </a:rPr>
                <a:t>zip</a:t>
              </a:r>
              <a:r>
                <a:rPr lang="en-GB" sz="1800">
                  <a:solidFill>
                    <a:schemeClr val="dk1"/>
                  </a:solidFill>
                  <a:highlight>
                    <a:srgbClr val="FFFFFE"/>
                  </a:highlight>
                  <a:latin typeface="Courier New"/>
                  <a:ea typeface="Courier New"/>
                  <a:cs typeface="Courier New"/>
                  <a:sym typeface="Courier New"/>
                </a:rPr>
                <a:t>(list_A, list_B):</a:t>
              </a:r>
              <a:endParaRPr sz="18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GB" sz="1800">
                  <a:solidFill>
                    <a:schemeClr val="dk1"/>
                  </a:solidFill>
                  <a:highlight>
                    <a:srgbClr val="FFFFFE"/>
                  </a:highlight>
                  <a:latin typeface="Courier New"/>
                  <a:ea typeface="Courier New"/>
                  <a:cs typeface="Courier New"/>
                  <a:sym typeface="Courier New"/>
                </a:rPr>
                <a:t>   </a:t>
              </a:r>
              <a:r>
                <a:rPr lang="en-GB" sz="1800">
                  <a:solidFill>
                    <a:srgbClr val="795E26"/>
                  </a:solidFill>
                  <a:highlight>
                    <a:srgbClr val="FFFFFE"/>
                  </a:highlight>
                  <a:latin typeface="Courier New"/>
                  <a:ea typeface="Courier New"/>
                  <a:cs typeface="Courier New"/>
                  <a:sym typeface="Courier New"/>
                </a:rPr>
                <a:t>print</a:t>
              </a:r>
              <a:r>
                <a:rPr lang="en-GB" sz="1800">
                  <a:solidFill>
                    <a:schemeClr val="dk1"/>
                  </a:solidFill>
                  <a:highlight>
                    <a:srgbClr val="FFFFFE"/>
                  </a:highlight>
                  <a:latin typeface="Courier New"/>
                  <a:ea typeface="Courier New"/>
                  <a:cs typeface="Courier New"/>
                  <a:sym typeface="Courier New"/>
                </a:rPr>
                <a:t>(a, b)</a:t>
              </a:r>
              <a:endParaRPr sz="180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1800">
                <a:latin typeface="Montserrat"/>
                <a:ea typeface="Montserrat"/>
                <a:cs typeface="Montserrat"/>
                <a:sym typeface="Montserrat"/>
              </a:endParaRPr>
            </a:p>
          </p:txBody>
        </p:sp>
      </p:grpSp>
      <p:sp>
        <p:nvSpPr>
          <p:cNvPr id="671" name="Google Shape;671;p63"/>
          <p:cNvSpPr txBox="1"/>
          <p:nvPr/>
        </p:nvSpPr>
        <p:spPr>
          <a:xfrm>
            <a:off x="1437000" y="3265375"/>
            <a:ext cx="4714800" cy="837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GB" sz="1800">
                <a:solidFill>
                  <a:srgbClr val="212121"/>
                </a:solidFill>
                <a:highlight>
                  <a:srgbClr val="FFFFFF"/>
                </a:highlight>
                <a:latin typeface="Courier New"/>
                <a:ea typeface="Courier New"/>
                <a:cs typeface="Courier New"/>
                <a:sym typeface="Courier New"/>
              </a:rPr>
              <a:t>Output</a:t>
            </a:r>
            <a:r>
              <a:rPr lang="en-GB" sz="1800">
                <a:solidFill>
                  <a:srgbClr val="212121"/>
                </a:solidFill>
                <a:highlight>
                  <a:srgbClr val="FFFFFF"/>
                </a:highlight>
                <a:latin typeface="Courier New"/>
                <a:ea typeface="Courier New"/>
                <a:cs typeface="Courier New"/>
                <a:sym typeface="Courier New"/>
              </a:rPr>
              <a:t>:</a:t>
            </a:r>
            <a:endParaRPr sz="1800">
              <a:solidFill>
                <a:srgbClr val="21212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GB" sz="1800">
                <a:solidFill>
                  <a:srgbClr val="212121"/>
                </a:solidFill>
                <a:highlight>
                  <a:srgbClr val="FFFFFF"/>
                </a:highlight>
                <a:latin typeface="Courier New"/>
                <a:ea typeface="Courier New"/>
                <a:cs typeface="Courier New"/>
                <a:sym typeface="Courier New"/>
              </a:rPr>
              <a:t>a1 b1</a:t>
            </a:r>
            <a:endParaRPr sz="1800">
              <a:latin typeface="Montserrat"/>
              <a:ea typeface="Montserrat"/>
              <a:cs typeface="Montserrat"/>
              <a:sym typeface="Montserrat"/>
            </a:endParaRPr>
          </a:p>
        </p:txBody>
      </p:sp>
      <p:sp>
        <p:nvSpPr>
          <p:cNvPr id="672" name="Google Shape;672;p63"/>
          <p:cNvSpPr txBox="1"/>
          <p:nvPr/>
        </p:nvSpPr>
        <p:spPr>
          <a:xfrm>
            <a:off x="1413825" y="4091900"/>
            <a:ext cx="4714800" cy="46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GB" sz="1800">
                <a:solidFill>
                  <a:srgbClr val="212121"/>
                </a:solidFill>
                <a:highlight>
                  <a:srgbClr val="FFFFFF"/>
                </a:highlight>
                <a:latin typeface="Courier New"/>
                <a:ea typeface="Courier New"/>
                <a:cs typeface="Courier New"/>
                <a:sym typeface="Courier New"/>
              </a:rPr>
              <a:t>a2 b2</a:t>
            </a:r>
            <a:endParaRPr sz="1800">
              <a:latin typeface="Montserrat"/>
              <a:ea typeface="Montserrat"/>
              <a:cs typeface="Montserrat"/>
              <a:sym typeface="Montserrat"/>
            </a:endParaRPr>
          </a:p>
        </p:txBody>
      </p:sp>
      <p:grpSp>
        <p:nvGrpSpPr>
          <p:cNvPr id="673" name="Google Shape;673;p63"/>
          <p:cNvGrpSpPr/>
          <p:nvPr/>
        </p:nvGrpSpPr>
        <p:grpSpPr>
          <a:xfrm>
            <a:off x="2136825" y="2263100"/>
            <a:ext cx="3160736" cy="466852"/>
            <a:chOff x="1222425" y="2186900"/>
            <a:chExt cx="3160736" cy="466852"/>
          </a:xfrm>
        </p:grpSpPr>
        <p:cxnSp>
          <p:nvCxnSpPr>
            <p:cNvPr id="674" name="Google Shape;674;p63"/>
            <p:cNvCxnSpPr>
              <a:endCxn id="670" idx="0"/>
            </p:cNvCxnSpPr>
            <p:nvPr/>
          </p:nvCxnSpPr>
          <p:spPr>
            <a:xfrm flipH="1" rot="10800000">
              <a:off x="1222425" y="2186900"/>
              <a:ext cx="1634400" cy="138900"/>
            </a:xfrm>
            <a:prstGeom prst="bentConnector4">
              <a:avLst>
                <a:gd fmla="val 918" name="adj1"/>
                <a:gd fmla="val 271436" name="adj2"/>
              </a:avLst>
            </a:prstGeom>
            <a:noFill/>
            <a:ln cap="flat" cmpd="sng" w="38100">
              <a:solidFill>
                <a:schemeClr val="dk2"/>
              </a:solidFill>
              <a:prstDash val="solid"/>
              <a:round/>
              <a:headEnd len="med" w="med" type="none"/>
              <a:tailEnd len="med" w="med" type="stealth"/>
            </a:ln>
          </p:spPr>
        </p:cxnSp>
        <p:sp>
          <p:nvSpPr>
            <p:cNvPr id="675" name="Google Shape;675;p63"/>
            <p:cNvSpPr/>
            <p:nvPr/>
          </p:nvSpPr>
          <p:spPr>
            <a:xfrm>
              <a:off x="1625050" y="2495551"/>
              <a:ext cx="2758111" cy="158201"/>
            </a:xfrm>
            <a:custGeom>
              <a:rect b="b" l="l" r="r" t="t"/>
              <a:pathLst>
                <a:path extrusionOk="0" h="17891" w="107939">
                  <a:moveTo>
                    <a:pt x="0" y="0"/>
                  </a:moveTo>
                  <a:lnTo>
                    <a:pt x="0" y="17891"/>
                  </a:lnTo>
                  <a:lnTo>
                    <a:pt x="107343" y="16698"/>
                  </a:lnTo>
                  <a:lnTo>
                    <a:pt x="107939" y="597"/>
                  </a:lnTo>
                </a:path>
              </a:pathLst>
            </a:custGeom>
            <a:noFill/>
            <a:ln cap="flat" cmpd="sng" w="28575">
              <a:solidFill>
                <a:schemeClr val="dk2"/>
              </a:solidFill>
              <a:prstDash val="solid"/>
              <a:round/>
              <a:headEnd len="med" w="med" type="none"/>
              <a:tailEnd len="med" w="med" type="stealth"/>
            </a:ln>
          </p:spPr>
        </p:sp>
      </p:grpSp>
      <p:sp>
        <p:nvSpPr>
          <p:cNvPr id="676" name="Google Shape;676;p63"/>
          <p:cNvSpPr txBox="1"/>
          <p:nvPr/>
        </p:nvSpPr>
        <p:spPr>
          <a:xfrm>
            <a:off x="2898000" y="1023000"/>
            <a:ext cx="521400" cy="7473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677" name="Google Shape;677;p63"/>
          <p:cNvSpPr txBox="1"/>
          <p:nvPr/>
        </p:nvSpPr>
        <p:spPr>
          <a:xfrm>
            <a:off x="3700800" y="1023000"/>
            <a:ext cx="521400" cy="7473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678" name="Google Shape;678;p63"/>
          <p:cNvSpPr txBox="1"/>
          <p:nvPr/>
        </p:nvSpPr>
        <p:spPr>
          <a:xfrm>
            <a:off x="3085200" y="2318400"/>
            <a:ext cx="2793600" cy="4002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1000"/>
                                        <p:tgtEl>
                                          <p:spTgt spid="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78"/>
                                        </p:tgtEl>
                                      </p:cBhvr>
                                    </p:animEffect>
                                    <p:set>
                                      <p:cBhvr>
                                        <p:cTn dur="1" fill="hold">
                                          <p:stCondLst>
                                            <p:cond delay="1000"/>
                                          </p:stCondLst>
                                        </p:cTn>
                                        <p:tgtEl>
                                          <p:spTgt spid="67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0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10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par>
                                <p:cTn fill="hold" nodeType="withEffect" presetClass="exit" presetID="10" presetSubtype="0">
                                  <p:stCondLst>
                                    <p:cond delay="0"/>
                                  </p:stCondLst>
                                  <p:childTnLst>
                                    <p:animEffect filter="fade" transition="out">
                                      <p:cBhvr>
                                        <p:cTn dur="1000"/>
                                        <p:tgtEl>
                                          <p:spTgt spid="673"/>
                                        </p:tgtEl>
                                      </p:cBhvr>
                                    </p:animEffect>
                                    <p:set>
                                      <p:cBhvr>
                                        <p:cTn dur="1" fill="hold">
                                          <p:stCondLst>
                                            <p:cond delay="1000"/>
                                          </p:stCondLst>
                                        </p:cTn>
                                        <p:tgtEl>
                                          <p:spTgt spid="67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76"/>
                                        </p:tgtEl>
                                      </p:cBhvr>
                                    </p:animEffect>
                                    <p:set>
                                      <p:cBhvr>
                                        <p:cTn dur="1" fill="hold">
                                          <p:stCondLst>
                                            <p:cond delay="1000"/>
                                          </p:stCondLst>
                                        </p:cTn>
                                        <p:tgtEl>
                                          <p:spTgt spid="6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0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1000"/>
                                        <p:tgtEl>
                                          <p:spTgt spid="6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par>
                                <p:cTn fill="hold" nodeType="withEffect" presetClass="exit" presetID="10" presetSubtype="0">
                                  <p:stCondLst>
                                    <p:cond delay="0"/>
                                  </p:stCondLst>
                                  <p:childTnLst>
                                    <p:animEffect filter="fade" transition="out">
                                      <p:cBhvr>
                                        <p:cTn dur="1000"/>
                                        <p:tgtEl>
                                          <p:spTgt spid="673"/>
                                        </p:tgtEl>
                                      </p:cBhvr>
                                    </p:animEffect>
                                    <p:set>
                                      <p:cBhvr>
                                        <p:cTn dur="1" fill="hold">
                                          <p:stCondLst>
                                            <p:cond delay="1000"/>
                                          </p:stCondLst>
                                        </p:cTn>
                                        <p:tgtEl>
                                          <p:spTgt spid="67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77"/>
                                        </p:tgtEl>
                                      </p:cBhvr>
                                    </p:animEffect>
                                    <p:set>
                                      <p:cBhvr>
                                        <p:cTn dur="1" fill="hold">
                                          <p:stCondLst>
                                            <p:cond delay="1000"/>
                                          </p:stCondLst>
                                        </p:cTn>
                                        <p:tgtEl>
                                          <p:spTgt spid="6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4"/>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Looping techniques: enumerate</a:t>
            </a:r>
            <a:endParaRPr/>
          </a:p>
        </p:txBody>
      </p:sp>
      <p:sp>
        <p:nvSpPr>
          <p:cNvPr id="684" name="Google Shape;684;p64"/>
          <p:cNvSpPr txBox="1"/>
          <p:nvPr/>
        </p:nvSpPr>
        <p:spPr>
          <a:xfrm>
            <a:off x="1226675" y="1113400"/>
            <a:ext cx="6694500" cy="1589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GB" sz="1800">
                <a:solidFill>
                  <a:schemeClr val="dk1"/>
                </a:solidFill>
                <a:highlight>
                  <a:srgbClr val="FFFFFE"/>
                </a:highlight>
                <a:latin typeface="Courier New"/>
                <a:ea typeface="Courier New"/>
                <a:cs typeface="Courier New"/>
                <a:sym typeface="Courier New"/>
              </a:rPr>
              <a:t>my_list = [</a:t>
            </a:r>
            <a:r>
              <a:rPr lang="en-GB" sz="1800">
                <a:solidFill>
                  <a:srgbClr val="A31515"/>
                </a:solidFill>
                <a:highlight>
                  <a:srgbClr val="FFFFFE"/>
                </a:highlight>
                <a:latin typeface="Courier New"/>
                <a:ea typeface="Courier New"/>
                <a:cs typeface="Courier New"/>
                <a:sym typeface="Courier New"/>
              </a:rPr>
              <a:t>'list1'</a:t>
            </a:r>
            <a:r>
              <a:rPr lang="en-GB" sz="1800">
                <a:solidFill>
                  <a:schemeClr val="dk1"/>
                </a:solidFill>
                <a:highlight>
                  <a:srgbClr val="FFFFFE"/>
                </a:highlight>
                <a:latin typeface="Courier New"/>
                <a:ea typeface="Courier New"/>
                <a:cs typeface="Courier New"/>
                <a:sym typeface="Courier New"/>
              </a:rPr>
              <a:t>, </a:t>
            </a:r>
            <a:r>
              <a:rPr lang="en-GB" sz="1800">
                <a:solidFill>
                  <a:srgbClr val="A31515"/>
                </a:solidFill>
                <a:highlight>
                  <a:srgbClr val="FFFFFE"/>
                </a:highlight>
                <a:latin typeface="Courier New"/>
                <a:ea typeface="Courier New"/>
                <a:cs typeface="Courier New"/>
                <a:sym typeface="Courier New"/>
              </a:rPr>
              <a:t>'list2'</a:t>
            </a:r>
            <a:r>
              <a:rPr lang="en-GB" sz="1800">
                <a:solidFill>
                  <a:schemeClr val="dk1"/>
                </a:solidFill>
                <a:highlight>
                  <a:srgbClr val="FFFFFE"/>
                </a:highlight>
                <a:latin typeface="Courier New"/>
                <a:ea typeface="Courier New"/>
                <a:cs typeface="Courier New"/>
                <a:sym typeface="Courier New"/>
              </a:rPr>
              <a:t>, </a:t>
            </a:r>
            <a:r>
              <a:rPr lang="en-GB" sz="1800">
                <a:solidFill>
                  <a:srgbClr val="A31515"/>
                </a:solidFill>
                <a:highlight>
                  <a:srgbClr val="FFFFFE"/>
                </a:highlight>
                <a:latin typeface="Courier New"/>
                <a:ea typeface="Courier New"/>
                <a:cs typeface="Courier New"/>
                <a:sym typeface="Courier New"/>
              </a:rPr>
              <a:t>'list3'</a:t>
            </a:r>
            <a:r>
              <a:rPr lang="en-GB" sz="1800">
                <a:solidFill>
                  <a:schemeClr val="dk1"/>
                </a:solidFill>
                <a:highlight>
                  <a:srgbClr val="FFFFFE"/>
                </a:highlight>
                <a:latin typeface="Courier New"/>
                <a:ea typeface="Courier New"/>
                <a:cs typeface="Courier New"/>
                <a:sym typeface="Courier New"/>
              </a:rPr>
              <a:t>]</a:t>
            </a:r>
            <a:endParaRPr sz="18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8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GB" sz="1800">
                <a:solidFill>
                  <a:srgbClr val="AF00DB"/>
                </a:solidFill>
                <a:highlight>
                  <a:srgbClr val="FFFFFE"/>
                </a:highlight>
                <a:latin typeface="Courier New"/>
                <a:ea typeface="Courier New"/>
                <a:cs typeface="Courier New"/>
                <a:sym typeface="Courier New"/>
              </a:rPr>
              <a:t>for</a:t>
            </a:r>
            <a:r>
              <a:rPr lang="en-GB" sz="1800">
                <a:solidFill>
                  <a:schemeClr val="dk1"/>
                </a:solidFill>
                <a:highlight>
                  <a:srgbClr val="FFFFFE"/>
                </a:highlight>
                <a:latin typeface="Courier New"/>
                <a:ea typeface="Courier New"/>
                <a:cs typeface="Courier New"/>
                <a:sym typeface="Courier New"/>
              </a:rPr>
              <a:t> item </a:t>
            </a:r>
            <a:r>
              <a:rPr lang="en-GB" sz="1800">
                <a:solidFill>
                  <a:srgbClr val="0000FF"/>
                </a:solidFill>
                <a:highlight>
                  <a:srgbClr val="FFFFFE"/>
                </a:highlight>
                <a:latin typeface="Courier New"/>
                <a:ea typeface="Courier New"/>
                <a:cs typeface="Courier New"/>
                <a:sym typeface="Courier New"/>
              </a:rPr>
              <a:t>in</a:t>
            </a:r>
            <a:r>
              <a:rPr lang="en-GB" sz="1800">
                <a:solidFill>
                  <a:schemeClr val="dk1"/>
                </a:solidFill>
                <a:highlight>
                  <a:srgbClr val="FFFFFE"/>
                </a:highlight>
                <a:latin typeface="Courier New"/>
                <a:ea typeface="Courier New"/>
                <a:cs typeface="Courier New"/>
                <a:sym typeface="Courier New"/>
              </a:rPr>
              <a:t> </a:t>
            </a:r>
            <a:r>
              <a:rPr lang="en-GB" sz="1800">
                <a:solidFill>
                  <a:srgbClr val="795E26"/>
                </a:solidFill>
                <a:highlight>
                  <a:srgbClr val="FFFFFE"/>
                </a:highlight>
                <a:latin typeface="Courier New"/>
                <a:ea typeface="Courier New"/>
                <a:cs typeface="Courier New"/>
                <a:sym typeface="Courier New"/>
              </a:rPr>
              <a:t>enumerate</a:t>
            </a:r>
            <a:r>
              <a:rPr lang="en-GB" sz="1800">
                <a:solidFill>
                  <a:schemeClr val="dk1"/>
                </a:solidFill>
                <a:highlight>
                  <a:srgbClr val="FFFFFE"/>
                </a:highlight>
                <a:latin typeface="Courier New"/>
                <a:ea typeface="Courier New"/>
                <a:cs typeface="Courier New"/>
                <a:sym typeface="Courier New"/>
              </a:rPr>
              <a:t>(my_list):</a:t>
            </a:r>
            <a:endParaRPr sz="180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GB" sz="1800">
                <a:solidFill>
                  <a:schemeClr val="dk1"/>
                </a:solidFill>
                <a:highlight>
                  <a:srgbClr val="FFFFFE"/>
                </a:highlight>
                <a:latin typeface="Courier New"/>
                <a:ea typeface="Courier New"/>
                <a:cs typeface="Courier New"/>
                <a:sym typeface="Courier New"/>
              </a:rPr>
              <a:t>   </a:t>
            </a:r>
            <a:r>
              <a:rPr lang="en-GB" sz="1800">
                <a:solidFill>
                  <a:srgbClr val="795E26"/>
                </a:solidFill>
                <a:highlight>
                  <a:srgbClr val="FFFFFE"/>
                </a:highlight>
                <a:latin typeface="Courier New"/>
                <a:ea typeface="Courier New"/>
                <a:cs typeface="Courier New"/>
                <a:sym typeface="Courier New"/>
              </a:rPr>
              <a:t>print</a:t>
            </a:r>
            <a:r>
              <a:rPr lang="en-GB" sz="1800">
                <a:solidFill>
                  <a:schemeClr val="dk1"/>
                </a:solidFill>
                <a:highlight>
                  <a:srgbClr val="FFFFFE"/>
                </a:highlight>
                <a:latin typeface="Courier New"/>
                <a:ea typeface="Courier New"/>
                <a:cs typeface="Courier New"/>
                <a:sym typeface="Courier New"/>
              </a:rPr>
              <a:t>(item)</a:t>
            </a:r>
            <a:endParaRPr sz="1800">
              <a:solidFill>
                <a:schemeClr val="dk1"/>
              </a:solidFill>
              <a:highlight>
                <a:srgbClr val="FFFFFE"/>
              </a:highlight>
              <a:latin typeface="Courier New"/>
              <a:ea typeface="Courier New"/>
              <a:cs typeface="Courier New"/>
              <a:sym typeface="Courier New"/>
            </a:endParaRPr>
          </a:p>
        </p:txBody>
      </p:sp>
      <p:sp>
        <p:nvSpPr>
          <p:cNvPr id="685" name="Google Shape;685;p64"/>
          <p:cNvSpPr txBox="1"/>
          <p:nvPr/>
        </p:nvSpPr>
        <p:spPr>
          <a:xfrm>
            <a:off x="1284600" y="3036775"/>
            <a:ext cx="4714800" cy="837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GB" sz="1800">
                <a:solidFill>
                  <a:srgbClr val="212121"/>
                </a:solidFill>
                <a:highlight>
                  <a:srgbClr val="FFFFFF"/>
                </a:highlight>
                <a:latin typeface="Courier New"/>
                <a:ea typeface="Courier New"/>
                <a:cs typeface="Courier New"/>
                <a:sym typeface="Courier New"/>
              </a:rPr>
              <a:t>Output</a:t>
            </a:r>
            <a:r>
              <a:rPr lang="en-GB" sz="1800">
                <a:solidFill>
                  <a:srgbClr val="212121"/>
                </a:solidFill>
                <a:highlight>
                  <a:srgbClr val="FFFFFF"/>
                </a:highlight>
                <a:latin typeface="Courier New"/>
                <a:ea typeface="Courier New"/>
                <a:cs typeface="Courier New"/>
                <a:sym typeface="Courier New"/>
              </a:rPr>
              <a:t>:</a:t>
            </a:r>
            <a:endParaRPr sz="1800">
              <a:solidFill>
                <a:srgbClr val="21212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GB" sz="1800">
                <a:solidFill>
                  <a:srgbClr val="212121"/>
                </a:solidFill>
                <a:highlight>
                  <a:srgbClr val="FFFFFF"/>
                </a:highlight>
                <a:latin typeface="Courier New"/>
                <a:ea typeface="Courier New"/>
                <a:cs typeface="Courier New"/>
                <a:sym typeface="Courier New"/>
              </a:rPr>
              <a:t>(0, 'list1')</a:t>
            </a:r>
            <a:endParaRPr sz="1800">
              <a:solidFill>
                <a:srgbClr val="212121"/>
              </a:solidFill>
              <a:highlight>
                <a:srgbClr val="FFFFFF"/>
              </a:highlight>
              <a:latin typeface="Courier New"/>
              <a:ea typeface="Courier New"/>
              <a:cs typeface="Courier New"/>
              <a:sym typeface="Courier New"/>
            </a:endParaRPr>
          </a:p>
        </p:txBody>
      </p:sp>
      <p:sp>
        <p:nvSpPr>
          <p:cNvPr id="686" name="Google Shape;686;p64"/>
          <p:cNvSpPr txBox="1"/>
          <p:nvPr/>
        </p:nvSpPr>
        <p:spPr>
          <a:xfrm>
            <a:off x="1261425" y="3863300"/>
            <a:ext cx="4714800" cy="46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GB" sz="1800">
                <a:solidFill>
                  <a:srgbClr val="212121"/>
                </a:solidFill>
                <a:highlight>
                  <a:schemeClr val="lt1"/>
                </a:highlight>
                <a:latin typeface="Courier New"/>
                <a:ea typeface="Courier New"/>
                <a:cs typeface="Courier New"/>
                <a:sym typeface="Courier New"/>
              </a:rPr>
              <a:t>(1, 'list2')</a:t>
            </a:r>
            <a:endParaRPr sz="1800">
              <a:solidFill>
                <a:srgbClr val="212121"/>
              </a:solidFill>
              <a:highlight>
                <a:srgbClr val="FFFFFF"/>
              </a:highlight>
              <a:latin typeface="Courier New"/>
              <a:ea typeface="Courier New"/>
              <a:cs typeface="Courier New"/>
              <a:sym typeface="Courier New"/>
            </a:endParaRPr>
          </a:p>
        </p:txBody>
      </p:sp>
      <p:sp>
        <p:nvSpPr>
          <p:cNvPr id="687" name="Google Shape;687;p64"/>
          <p:cNvSpPr txBox="1"/>
          <p:nvPr/>
        </p:nvSpPr>
        <p:spPr>
          <a:xfrm>
            <a:off x="1261425" y="4320500"/>
            <a:ext cx="4714800" cy="46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GB" sz="1800">
                <a:solidFill>
                  <a:srgbClr val="212121"/>
                </a:solidFill>
                <a:highlight>
                  <a:schemeClr val="lt1"/>
                </a:highlight>
                <a:latin typeface="Courier New"/>
                <a:ea typeface="Courier New"/>
                <a:cs typeface="Courier New"/>
                <a:sym typeface="Courier New"/>
              </a:rPr>
              <a:t>(3, 'list3')</a:t>
            </a:r>
            <a:endParaRPr sz="1800">
              <a:solidFill>
                <a:srgbClr val="212121"/>
              </a:solidFill>
              <a:highlight>
                <a:srgbClr val="FFFFFF"/>
              </a:highlight>
              <a:latin typeface="Courier New"/>
              <a:ea typeface="Courier New"/>
              <a:cs typeface="Courier New"/>
              <a:sym typeface="Courier New"/>
            </a:endParaRPr>
          </a:p>
        </p:txBody>
      </p:sp>
      <p:sp>
        <p:nvSpPr>
          <p:cNvPr id="688" name="Google Shape;688;p64"/>
          <p:cNvSpPr txBox="1"/>
          <p:nvPr/>
        </p:nvSpPr>
        <p:spPr>
          <a:xfrm>
            <a:off x="2916000" y="1900300"/>
            <a:ext cx="2689200" cy="4002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cxnSp>
        <p:nvCxnSpPr>
          <p:cNvPr id="689" name="Google Shape;689;p64"/>
          <p:cNvCxnSpPr>
            <a:endCxn id="688" idx="0"/>
          </p:cNvCxnSpPr>
          <p:nvPr/>
        </p:nvCxnSpPr>
        <p:spPr>
          <a:xfrm flipH="1" rot="10800000">
            <a:off x="2162100" y="1900300"/>
            <a:ext cx="2098500" cy="122100"/>
          </a:xfrm>
          <a:prstGeom prst="bentConnector4">
            <a:avLst>
              <a:gd fmla="val 827" name="adj1"/>
              <a:gd fmla="val 295025" name="adj2"/>
            </a:avLst>
          </a:prstGeom>
          <a:noFill/>
          <a:ln cap="flat" cmpd="sng" w="28575">
            <a:solidFill>
              <a:schemeClr val="dk2"/>
            </a:solidFill>
            <a:prstDash val="solid"/>
            <a:round/>
            <a:headEnd len="med" w="med" type="none"/>
            <a:tailEnd len="med" w="med" type="stealth"/>
          </a:ln>
        </p:spPr>
      </p:cxnSp>
      <p:sp>
        <p:nvSpPr>
          <p:cNvPr id="690" name="Google Shape;690;p64"/>
          <p:cNvSpPr txBox="1"/>
          <p:nvPr/>
        </p:nvSpPr>
        <p:spPr>
          <a:xfrm>
            <a:off x="2839800" y="1176775"/>
            <a:ext cx="989700" cy="4002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691" name="Google Shape;691;p64"/>
          <p:cNvSpPr txBox="1"/>
          <p:nvPr/>
        </p:nvSpPr>
        <p:spPr>
          <a:xfrm>
            <a:off x="4059000" y="1176775"/>
            <a:ext cx="989700" cy="4002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692" name="Google Shape;692;p64"/>
          <p:cNvSpPr txBox="1"/>
          <p:nvPr/>
        </p:nvSpPr>
        <p:spPr>
          <a:xfrm>
            <a:off x="5278200" y="1176775"/>
            <a:ext cx="989700" cy="400200"/>
          </a:xfrm>
          <a:prstGeom prst="rect">
            <a:avLst/>
          </a:prstGeom>
          <a:noFill/>
          <a:ln cap="flat" cmpd="sng" w="28575">
            <a:solidFill>
              <a:srgbClr val="2074B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10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par>
                                <p:cTn fill="hold" nodeType="withEffect" presetClass="exit" presetID="10" presetSubtype="0">
                                  <p:stCondLst>
                                    <p:cond delay="0"/>
                                  </p:stCondLst>
                                  <p:childTnLst>
                                    <p:animEffect filter="fade" transition="out">
                                      <p:cBhvr>
                                        <p:cTn dur="1000"/>
                                        <p:tgtEl>
                                          <p:spTgt spid="688"/>
                                        </p:tgtEl>
                                      </p:cBhvr>
                                    </p:animEffect>
                                    <p:set>
                                      <p:cBhvr>
                                        <p:cTn dur="1" fill="hold">
                                          <p:stCondLst>
                                            <p:cond delay="1000"/>
                                          </p:stCondLst>
                                        </p:cTn>
                                        <p:tgtEl>
                                          <p:spTgt spid="6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par>
                                <p:cTn fill="hold" nodeType="withEffect" presetClass="exit" presetID="10" presetSubtype="0">
                                  <p:stCondLst>
                                    <p:cond delay="0"/>
                                  </p:stCondLst>
                                  <p:childTnLst>
                                    <p:animEffect filter="fade" transition="out">
                                      <p:cBhvr>
                                        <p:cTn dur="1000"/>
                                        <p:tgtEl>
                                          <p:spTgt spid="690"/>
                                        </p:tgtEl>
                                      </p:cBhvr>
                                    </p:animEffect>
                                    <p:set>
                                      <p:cBhvr>
                                        <p:cTn dur="1" fill="hold">
                                          <p:stCondLst>
                                            <p:cond delay="1000"/>
                                          </p:stCondLst>
                                        </p:cTn>
                                        <p:tgtEl>
                                          <p:spTgt spid="69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689"/>
                                        </p:tgtEl>
                                      </p:cBhvr>
                                    </p:animEffect>
                                    <p:set>
                                      <p:cBhvr>
                                        <p:cTn dur="1" fill="hold">
                                          <p:stCondLst>
                                            <p:cond delay="1000"/>
                                          </p:stCondLst>
                                        </p:cTn>
                                        <p:tgtEl>
                                          <p:spTgt spid="6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10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1000"/>
                                        <p:tgtEl>
                                          <p:spTgt spid="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89"/>
                                        </p:tgtEl>
                                      </p:cBhvr>
                                    </p:animEffect>
                                    <p:set>
                                      <p:cBhvr>
                                        <p:cTn dur="1" fill="hold">
                                          <p:stCondLst>
                                            <p:cond delay="1000"/>
                                          </p:stCondLst>
                                        </p:cTn>
                                        <p:tgtEl>
                                          <p:spTgt spid="68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600"/>
                                        <p:tgtEl>
                                          <p:spTgt spid="692"/>
                                        </p:tgtEl>
                                      </p:cBhvr>
                                    </p:animEffect>
                                  </p:childTnLst>
                                </p:cTn>
                              </p:par>
                              <p:par>
                                <p:cTn fill="hold" nodeType="withEffect" presetClass="exit" presetID="10" presetSubtype="0">
                                  <p:stCondLst>
                                    <p:cond delay="0"/>
                                  </p:stCondLst>
                                  <p:childTnLst>
                                    <p:animEffect filter="fade" transition="out">
                                      <p:cBhvr>
                                        <p:cTn dur="600"/>
                                        <p:tgtEl>
                                          <p:spTgt spid="691"/>
                                        </p:tgtEl>
                                      </p:cBhvr>
                                    </p:animEffect>
                                    <p:set>
                                      <p:cBhvr>
                                        <p:cTn dur="1" fill="hold">
                                          <p:stCondLst>
                                            <p:cond delay="600"/>
                                          </p:stCondLst>
                                        </p:cTn>
                                        <p:tgtEl>
                                          <p:spTgt spid="69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4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Code demo: zip and enumerate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