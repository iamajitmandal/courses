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Montserrat"/>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B5416F0-A4F9-437A-B9EC-89D51B6F8897}">
  <a:tblStyle styleId="{1B5416F0-A4F9-437A-B9EC-89D51B6F889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Montserrat-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Montserrat-italic.fntdata"/><Relationship Id="rId12" Type="http://schemas.openxmlformats.org/officeDocument/2006/relationships/slide" Target="slides/slide6.xml"/><Relationship Id="rId34" Type="http://schemas.openxmlformats.org/officeDocument/2006/relationships/font" Target="fonts/Montserrat-bold.fntdata"/><Relationship Id="rId15" Type="http://schemas.openxmlformats.org/officeDocument/2006/relationships/slide" Target="slides/slide9.xml"/><Relationship Id="rId14" Type="http://schemas.openxmlformats.org/officeDocument/2006/relationships/slide" Target="slides/slide8.xml"/><Relationship Id="rId36" Type="http://schemas.openxmlformats.org/officeDocument/2006/relationships/font" Target="fonts/Montserra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Hello and welcome back. It might be hard to find somebody who hasn’t encountered error while programming. In this video we will discuss different types of errors and techniques to handle them.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&lt;Click&gt;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c50b96cf10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c50b96cf10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 programming language has a predefined set of rules for writing the instructions. When the structure of the programming language are not properly followed or when we try to </a:t>
            </a:r>
            <a:r>
              <a:rPr lang="en"/>
              <a:t>perform illegal operations</a:t>
            </a:r>
            <a:r>
              <a:rPr lang="en"/>
              <a:t>, then the interpreter raise or throws an error.  </a:t>
            </a:r>
            <a:r>
              <a:rPr lang="en" sz="1050">
                <a:solidFill>
                  <a:schemeClr val="dk1"/>
                </a:solidFill>
                <a:highlight>
                  <a:srgbClr val="FFFFFE"/>
                </a:highlight>
              </a:rPr>
              <a:t>We, as a programmer can make certain mistakes while writing a program. Due to such mistakes, the compiler or interpreter raises an error.</a:t>
            </a:r>
            <a:endParaRPr sz="1050">
              <a:solidFill>
                <a:schemeClr val="dk1"/>
              </a:solidFill>
              <a:highlight>
                <a:srgbClr val="FFFFFE"/>
              </a:highlight>
            </a:endParaRPr>
          </a:p>
          <a:p>
            <a:pPr indent="0" lvl="0" marL="0" rtl="0" algn="l">
              <a:spcBef>
                <a:spcPts val="0"/>
              </a:spcBef>
              <a:spcAft>
                <a:spcPts val="0"/>
              </a:spcAft>
              <a:buNone/>
            </a:pPr>
            <a:r>
              <a:rPr lang="en" sz="1050">
                <a:solidFill>
                  <a:schemeClr val="dk1"/>
                </a:solidFill>
                <a:highlight>
                  <a:srgbClr val="FFFFFE"/>
                </a:highlight>
              </a:rPr>
              <a:t>&lt;Click&gt;</a:t>
            </a:r>
            <a:endParaRPr sz="1050">
              <a:solidFill>
                <a:schemeClr val="dk1"/>
              </a:solidFill>
              <a:highlight>
                <a:srgbClr val="FFFFFE"/>
              </a:highlight>
            </a:endParaRPr>
          </a:p>
          <a:p>
            <a:pPr indent="0" lvl="0" marL="0" rtl="0" algn="l">
              <a:spcBef>
                <a:spcPts val="0"/>
              </a:spcBef>
              <a:spcAft>
                <a:spcPts val="0"/>
              </a:spcAft>
              <a:buNone/>
            </a:pPr>
            <a:r>
              <a:rPr lang="en" sz="1050">
                <a:solidFill>
                  <a:schemeClr val="dk1"/>
                </a:solidFill>
                <a:highlight>
                  <a:srgbClr val="FFFFFE"/>
                </a:highlight>
              </a:rPr>
              <a:t>The errors may be syntactic or the logical errors. The errors are classified into two </a:t>
            </a:r>
            <a:r>
              <a:rPr lang="en" sz="1050">
                <a:solidFill>
                  <a:schemeClr val="dk1"/>
                </a:solidFill>
                <a:highlight>
                  <a:srgbClr val="FFFFFE"/>
                </a:highlight>
              </a:rPr>
              <a:t>broad</a:t>
            </a:r>
            <a:r>
              <a:rPr lang="en" sz="1050">
                <a:solidFill>
                  <a:schemeClr val="dk1"/>
                </a:solidFill>
                <a:highlight>
                  <a:srgbClr val="FFFFFE"/>
                </a:highlight>
              </a:rPr>
              <a:t> categories: Syntax errors and Logical Error or exceptions. </a:t>
            </a:r>
            <a:r>
              <a:rPr lang="en" sz="1050">
                <a:solidFill>
                  <a:schemeClr val="dk1"/>
                </a:solidFill>
                <a:highlight>
                  <a:srgbClr val="FFFFFE"/>
                </a:highlight>
              </a:rPr>
              <a:t>Failure in fulfilling the proper structure or syntax of a programming result in syntax error and attempt to perform illegal operations or operations that are not allowed results in logical error or exceptions.</a:t>
            </a:r>
            <a:r>
              <a:rPr lang="en" sz="1050">
                <a:solidFill>
                  <a:schemeClr val="dk1"/>
                </a:solidFill>
                <a:highlight>
                  <a:srgbClr val="FFFFFE"/>
                </a:highlight>
              </a:rPr>
              <a:t> Let’s discuss each of these in more details  in the upcoming sections.</a:t>
            </a:r>
            <a:endParaRPr sz="1050">
              <a:solidFill>
                <a:schemeClr val="dk1"/>
              </a:solidFill>
              <a:highlight>
                <a:srgbClr val="FFFFFE"/>
              </a:highlight>
            </a:endParaRPr>
          </a:p>
          <a:p>
            <a:pPr indent="0" lvl="0" marL="0" rtl="0" algn="l">
              <a:spcBef>
                <a:spcPts val="0"/>
              </a:spcBef>
              <a:spcAft>
                <a:spcPts val="0"/>
              </a:spcAft>
              <a:buNone/>
            </a:pPr>
            <a:r>
              <a:rPr lang="en" sz="1050">
                <a:solidFill>
                  <a:schemeClr val="dk1"/>
                </a:solidFill>
                <a:highlight>
                  <a:srgbClr val="FFFFFE"/>
                </a:highlight>
              </a:rPr>
              <a:t>&lt;Click&gt;</a:t>
            </a:r>
            <a:endParaRPr sz="1050">
              <a:solidFill>
                <a:schemeClr val="dk1"/>
              </a:solidFill>
              <a:highlight>
                <a:srgbClr val="FFFFFE"/>
              </a:highlight>
            </a:endParaRPr>
          </a:p>
          <a:p>
            <a:pPr indent="0" lvl="0" marL="0" rtl="0" algn="l">
              <a:spcBef>
                <a:spcPts val="0"/>
              </a:spcBef>
              <a:spcAft>
                <a:spcPts val="0"/>
              </a:spcAft>
              <a:buNone/>
            </a:pPr>
            <a:r>
              <a:t/>
            </a:r>
            <a:endParaRPr sz="1050">
              <a:solidFill>
                <a:schemeClr val="dk1"/>
              </a:solidFill>
              <a:highlight>
                <a:srgbClr val="FFFFFE"/>
              </a:highlight>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c50b96cf10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c50b96cf10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Montserrat"/>
                <a:ea typeface="Montserrat"/>
                <a:cs typeface="Montserrat"/>
                <a:sym typeface="Montserrat"/>
              </a:rPr>
              <a:t>Syntax error are the mistakes in the use of python language and are analogous to the grammatical mistakes in language like English. The program exit with the error message without running or executing the program  if there are any mistakes in syntax. </a:t>
            </a:r>
            <a:r>
              <a:rPr lang="en"/>
              <a:t>The syntax error are the most common types of error.  If you are the beginner of the </a:t>
            </a:r>
            <a:r>
              <a:rPr lang="en"/>
              <a:t>programming</a:t>
            </a:r>
            <a:r>
              <a:rPr lang="en"/>
              <a:t> language, then you are most likely to make the syntax errors. Every programming language has its own standard rule  or syntax to define different entities like variables, creating functions, loops, conditional statements etc. When the syntax, or to be specific, when the grammar rule of the programming language is not followed properly, then the interpreter or compiler throws a syntax error. Before executing the program, the compiler or the interpreter first parse the program to check if the program is syntactically correct or not. If the compiler/interpreter detect the error in the syntax, then it throws an error called syntaxError.</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Here is a simple program to check if the number if less than threshold value. If the number is less than threshold, then, it will print the statement inside the if statement. There is a syntax error in this program.</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Can you identify the error? Some of you may miss the error. You can try to run the above code yourself and </a:t>
            </a:r>
            <a:r>
              <a:rPr lang="en"/>
              <a:t>compiler</a:t>
            </a:r>
            <a:r>
              <a:rPr lang="en"/>
              <a:t> will give you the location of the error in the error message. The if statement in python must be followed by the condition which is followed by the colon symbol. The colon is missing in the above code. </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c50b96cf10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c50b96cf10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error message generated by the interpreter for the above code is shown below. The error message contains the </a:t>
            </a:r>
            <a:r>
              <a:rPr lang="en"/>
              <a:t>information</a:t>
            </a:r>
            <a:r>
              <a:rPr lang="en"/>
              <a:t> about the location at which the error </a:t>
            </a:r>
            <a:r>
              <a:rPr lang="en"/>
              <a:t>occurred</a:t>
            </a:r>
            <a:r>
              <a:rPr lang="en"/>
              <a:t>. The interpreter only shows the location of the first occur</a:t>
            </a:r>
            <a:r>
              <a:rPr lang="en"/>
              <a:t>rence of the error though we can have errors at the multiple locations. The parsing stops at the location where the error is detected. </a:t>
            </a:r>
            <a:endParaRPr/>
          </a:p>
          <a:p>
            <a:pPr indent="0" lvl="0" marL="0" rtl="0" algn="l">
              <a:spcBef>
                <a:spcPts val="0"/>
              </a:spcBef>
              <a:spcAft>
                <a:spcPts val="0"/>
              </a:spcAft>
              <a:buClr>
                <a:schemeClr val="dk1"/>
              </a:buClr>
              <a:buSzPts val="1100"/>
              <a:buFont typeface="Arial"/>
              <a:buNone/>
            </a:pPr>
            <a:r>
              <a:rPr lang="en">
                <a:solidFill>
                  <a:schemeClr val="dk1"/>
                </a:solidFill>
              </a:rPr>
              <a:t>&lt;Click&gt;</a:t>
            </a:r>
            <a:endParaRPr/>
          </a:p>
          <a:p>
            <a:pPr indent="0" lvl="0" marL="0" rtl="0" algn="l">
              <a:spcBef>
                <a:spcPts val="0"/>
              </a:spcBef>
              <a:spcAft>
                <a:spcPts val="0"/>
              </a:spcAft>
              <a:buNone/>
            </a:pPr>
            <a:r>
              <a:rPr lang="en"/>
              <a:t>The error message contains enough information that allows us to identify the error and correct it.</a:t>
            </a:r>
            <a:endParaRPr/>
          </a:p>
          <a:p>
            <a:pPr indent="0" lvl="0" marL="0" rtl="0" algn="l">
              <a:spcBef>
                <a:spcPts val="0"/>
              </a:spcBef>
              <a:spcAft>
                <a:spcPts val="0"/>
              </a:spcAft>
              <a:buNone/>
            </a:pPr>
            <a:r>
              <a:rPr lang="en"/>
              <a:t>The error message contains the following information:</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name of the file at which the error has </a:t>
            </a:r>
            <a:r>
              <a:rPr lang="en"/>
              <a:t>occurred</a:t>
            </a:r>
            <a:r>
              <a:rPr lang="en"/>
              <a:t>. A large project can have hundreds of modules or .py file. So the file name helps to </a:t>
            </a:r>
            <a:r>
              <a:rPr lang="en"/>
              <a:t>identity</a:t>
            </a:r>
            <a:r>
              <a:rPr lang="en"/>
              <a:t> the very file.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second information in the error message is the line number at which the error has </a:t>
            </a:r>
            <a:r>
              <a:rPr lang="en"/>
              <a:t>occurred</a:t>
            </a:r>
            <a:r>
              <a:rPr lang="en"/>
              <a:t>.</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third information is the exact or nearest location of the error. This location is pointed by the cap sign.</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And the fourth information is the type of error that has </a:t>
            </a:r>
            <a:r>
              <a:rPr lang="en"/>
              <a:t>occurred</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Note that both syntax and logical error message contains these informations.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see if we can identify these information in the error message shown.</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first line of error message shows the name of file and the line number at which the error </a:t>
            </a:r>
            <a:r>
              <a:rPr lang="en"/>
              <a:t>occurred</a:t>
            </a:r>
            <a:r>
              <a:rPr lang="en"/>
              <a:t>. Since this code was run in ipython file, so the file name contains some random string. If we notice carefully, the error has </a:t>
            </a:r>
            <a:r>
              <a:rPr lang="en"/>
              <a:t>occurred</a:t>
            </a:r>
            <a:r>
              <a:rPr lang="en"/>
              <a:t> at line number 6 which is shown in error message.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Similarly, the second line of error shows the exact or the nearest location at which the error has </a:t>
            </a:r>
            <a:r>
              <a:rPr lang="en"/>
              <a:t>occurred</a:t>
            </a:r>
            <a:r>
              <a:rPr lang="en"/>
              <a:t>. It is pointed by the cap symbol.</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Similarly</a:t>
            </a:r>
            <a:r>
              <a:rPr lang="en"/>
              <a:t>, the last line </a:t>
            </a:r>
            <a:r>
              <a:rPr lang="en"/>
              <a:t>shows the type of error. Here, the error is syntax error. The name of exception is followed by its description.</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c33ebf94b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c33ebf94b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Even if the program is syntactically correct (pass the syntax test), it may encounters error during its execution. The errors that occurs due to the illegal operations that are not allowed are called </a:t>
            </a:r>
            <a:r>
              <a:rPr b="1" lang="en" sz="1050">
                <a:solidFill>
                  <a:schemeClr val="dk1"/>
                </a:solidFill>
                <a:highlight>
                  <a:srgbClr val="FFFFFE"/>
                </a:highlight>
                <a:latin typeface="Courier New"/>
                <a:ea typeface="Courier New"/>
                <a:cs typeface="Courier New"/>
                <a:sym typeface="Courier New"/>
              </a:rPr>
              <a:t>logical errors or exceptions</a:t>
            </a:r>
            <a:r>
              <a:rPr lang="en" sz="1050">
                <a:solidFill>
                  <a:schemeClr val="dk1"/>
                </a:solidFill>
                <a:highlight>
                  <a:srgbClr val="FFFFFE"/>
                </a:highlight>
                <a:latin typeface="Courier New"/>
                <a:ea typeface="Courier New"/>
                <a:cs typeface="Courier New"/>
                <a:sym typeface="Courier New"/>
              </a:rPr>
              <a:t>. Logical error are raised during the runtime of a program. There are different logical errors that can occur during the execution of a program.</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&lt;Click&gt;</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For instance, when we attempt to divide a number by zero, the </a:t>
            </a:r>
            <a:r>
              <a:rPr lang="en" sz="1050">
                <a:solidFill>
                  <a:schemeClr val="dk1"/>
                </a:solidFill>
                <a:highlight>
                  <a:srgbClr val="FFFFFE"/>
                </a:highlight>
                <a:latin typeface="Courier New"/>
                <a:ea typeface="Courier New"/>
                <a:cs typeface="Courier New"/>
                <a:sym typeface="Courier New"/>
              </a:rPr>
              <a:t>compiler raise an logical error because it is a illegal operation.</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&lt;Click&gt;</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If we attempt to read a file that doesn’t exist, the compiler throws an error.</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&lt;Click&gt;</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If we try to import the module that doesn’t exist, the compiler throws an error.</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&lt;Click&gt;</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And there a numerous illegal operations that can raise an error.</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Whenever the python encounters these runtime errors, python creates and raise an exception object. </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&lt;Click&gt;</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The corresponding name of the exception object is shown. Division by zero raise an ZeroDivisionError exception. Similarly, attempt to read the file that doesn’t exist raise an FileNotFoundError and attempt to import module that doesn’t exist raise an ImportError. The name of these exceptions object is printed out along with error message.</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&lt;Click&gt;</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c33ebf94b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c33ebf94b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figure shows the illegal operations and their corresponding error message. Notice that the error message contain the name of the </a:t>
            </a:r>
            <a:r>
              <a:rPr lang="en"/>
              <a:t>exception</a:t>
            </a:r>
            <a:r>
              <a:rPr lang="en"/>
              <a:t> class that is raised. The line of the error is indicated by a arrow line.</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For instance, an attempt to divide a number by zero raises an ZeroDivisionError as seen in the error message.</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c33ebf94b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c33ebf94b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050">
                <a:solidFill>
                  <a:srgbClr val="008000"/>
                </a:solidFill>
                <a:highlight>
                  <a:srgbClr val="FFFFFE"/>
                </a:highlight>
                <a:latin typeface="Courier New"/>
                <a:ea typeface="Courier New"/>
                <a:cs typeface="Courier New"/>
                <a:sym typeface="Courier New"/>
              </a:rPr>
              <a:t>If we attempt to divide a number by zero, &lt;Run&gt; the interpreter throws a ZeroDivisionError. The error message highlight the line where error occur using a dotted arrow line. Similarly, it contains the name of raised exception class and description of the exception.</a:t>
            </a:r>
            <a:endParaRPr sz="1050">
              <a:solidFill>
                <a:srgbClr val="008000"/>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rPr lang="en" sz="1050">
                <a:solidFill>
                  <a:srgbClr val="09885A"/>
                </a:solidFill>
                <a:highlight>
                  <a:srgbClr val="FFFFFE"/>
                </a:highlight>
                <a:latin typeface="Courier New"/>
                <a:ea typeface="Courier New"/>
                <a:cs typeface="Courier New"/>
                <a:sym typeface="Courier New"/>
              </a:rPr>
              <a:t>&lt;Next&gt;</a:t>
            </a:r>
            <a:endParaRPr sz="10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Similarly, if we attempt to import module or function that doesn't exist,&lt;Run&gt; then,  python raises an exception of class ImportError.</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&lt;Next&gt;</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Similarly, if we access the variable which is not defined so far, the python raises an NameError.&lt;Run&gt;. As seen with the help of an above examples, as soon as the error has occured, the program is terminated. With such termination, the program is said to crash.</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795E26"/>
                </a:solidFill>
                <a:highlight>
                  <a:srgbClr val="FFFFFE"/>
                </a:highlight>
                <a:latin typeface="Courier New"/>
                <a:ea typeface="Courier New"/>
                <a:cs typeface="Courier New"/>
                <a:sym typeface="Courier New"/>
              </a:rPr>
              <a:t>&lt;Click&gt;</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solidFill>
                <a:srgbClr val="008000"/>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1050">
              <a:solidFill>
                <a:srgbClr val="09885A"/>
              </a:solidFill>
              <a:highlight>
                <a:srgbClr val="FFFFFE"/>
              </a:highlight>
              <a:latin typeface="Courier New"/>
              <a:ea typeface="Courier New"/>
              <a:cs typeface="Courier New"/>
              <a:sym typeface="Courier New"/>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c33ebf94b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c33ebf94b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Until now, we have discussed few exceptions that are raised when the corresponding error </a:t>
            </a:r>
            <a:r>
              <a:rPr lang="en"/>
              <a:t>occured during the execution of the program. Exceptions are the raised during the illegal operations in the program. These operations cause program to move to the unexpected state and hence the program terminates unexpectedly. Just before the termination of, an exception is raised by the interpreter along with the error message. In python there are several built-in exceptions that are raised when the corresponding error occur. </a:t>
            </a:r>
            <a:r>
              <a:rPr lang="en" sz="1050">
                <a:solidFill>
                  <a:schemeClr val="dk1"/>
                </a:solidFill>
                <a:highlight>
                  <a:srgbClr val="FFFFFE"/>
                </a:highlight>
                <a:latin typeface="Courier New"/>
                <a:ea typeface="Courier New"/>
                <a:cs typeface="Courier New"/>
                <a:sym typeface="Courier New"/>
              </a:rPr>
              <a:t>We have already discussed few built-in exception in the previous section.</a:t>
            </a:r>
            <a:r>
              <a:rPr lang="en"/>
              <a:t>In this sections we will list out few more of them.</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c33ebf94b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c33ebf94b9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can print out all the built-in exceptions using the built-in function locals() as shown.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table shows few built-in exceptions other than those we have discussed in the previou section.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ArithmeticError exception is raised when then there is error in the arithmetic operation.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Similarly, KeyError exception is raised when the key of the dictionary is not found. You </a:t>
            </a:r>
            <a:r>
              <a:rPr lang="en"/>
              <a:t>have</a:t>
            </a:r>
            <a:r>
              <a:rPr lang="en"/>
              <a:t> already experienced this error while working with the dictionary.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MemoryError occurs when the program runs out of memory.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have already discussed about iterators and iterables. So you must be familiar with next() method in the iterator. The StopIteration error is raised by the built in function next() or iterator’s next() method to indicate that there is not further element to be raised by the iterator.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TabError is raised, </a:t>
            </a:r>
            <a:r>
              <a:rPr lang="en"/>
              <a:t>i</a:t>
            </a:r>
            <a:r>
              <a:rPr lang="en"/>
              <a:t>f the </a:t>
            </a:r>
            <a:r>
              <a:rPr lang="en"/>
              <a:t>indentation</a:t>
            </a:r>
            <a:r>
              <a:rPr lang="en"/>
              <a:t> contains an inconsistent u</a:t>
            </a:r>
            <a:r>
              <a:rPr lang="en"/>
              <a:t>se of tabs and spaces</a:t>
            </a:r>
            <a:r>
              <a:rPr lang="en"/>
              <a:t>.</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c33ebf94b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c33ebf94b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python, there is a </a:t>
            </a:r>
            <a:r>
              <a:rPr lang="en"/>
              <a:t>hierarchy</a:t>
            </a:r>
            <a:r>
              <a:rPr lang="en"/>
              <a:t> of exceptions one derived or inherited from another. BaseException class is the base exception class of all the exceptions in python. It means all the exceptions in python are inherited directly or indirectly from the BaseException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exception class like SystemExit, KeyboardInterrupt, GeneratorExit, and Exception classes are derived from the BaseException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SystemExit exception class is raised by the sys.exit() function which indicates the system exit.</a:t>
            </a:r>
            <a:endParaRPr/>
          </a:p>
          <a:p>
            <a:pPr indent="0" lvl="0" marL="0" rtl="0" algn="l">
              <a:spcBef>
                <a:spcPts val="0"/>
              </a:spcBef>
              <a:spcAft>
                <a:spcPts val="0"/>
              </a:spcAft>
              <a:buNone/>
            </a:pPr>
            <a:r>
              <a:rPr lang="en"/>
              <a:t>Similarly, </a:t>
            </a:r>
            <a:r>
              <a:rPr lang="en"/>
              <a:t>t</a:t>
            </a:r>
            <a:r>
              <a:rPr lang="en"/>
              <a:t>he KeyboardInterrupt is raised when the user hit the interrupt key, i.e, control +C during the execution of the program.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GeneratorExit class is raised when the generator is closed.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Exception class is a general exception class.  All built-in, non-system exiting exceptions are derived from this class. All user-defined exceptions also should also be derived from this class. We will discuss about user-defined exceptions in the upcoming sections.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A large number of exception are derived from the Exception class. Few exception classes like StopIteration, ArithmeticError, BufferError, ImportError and MemoryError have been already discussed in the previous section. There are many other exceptions; you can find the list of all exceptions using the built-in local() function as discussed in the previous section.</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c72602ad9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c72602ad9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Errors or mistakes in a program are generally called bugs. The syntax error can be tackled immediately. But the logical errors are difficult to detect even after the several runs of a program. Suppose we built the application that allows users to perform different arithmetic operations like addition, subtraction, multiplication and division. Suppose the user attempts to divide a number by zero. Such illegal operations terminate or crash the program. We may need to restart the application. The application should be immune to such unexpected situations. In other words, the exceptions should be handled properly so that the program doesn’t crash.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attempts like reading a file, or getting input from the end user are more prone to cause exceptions as the file may not exist and the user may attempt to input random values.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c72602ad9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c72602ad9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Exception handling provides an alternative flow of execution when the exception </a:t>
            </a:r>
            <a:r>
              <a:rPr lang="en"/>
              <a:t>occurs</a:t>
            </a:r>
            <a:r>
              <a:rPr lang="en"/>
              <a:t>. This alternative flow avoids the unexpected crashing of the program.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Handling the exception means to tell the program what to do when the exception is raised. The alternative path save the program from getting crashed. When there is not exception, the normal flow of the program will be executed.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might be wondering what sorts of code may come in the handling part. At the exception handling part, we may </a:t>
            </a:r>
            <a:r>
              <a:rPr lang="en"/>
              <a:t>inform</a:t>
            </a:r>
            <a:r>
              <a:rPr lang="en"/>
              <a:t> the user what sorts of operation are not allowed. For instance, in the application that performs division, if the user attempt  to divide a number by zero, we can simply inform him that the division by zero is not allowed.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Once the exceptions are handled properly the program won’t terminate unexpectedly.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Until now, we have discussed few built-in </a:t>
            </a:r>
            <a:r>
              <a:rPr lang="en"/>
              <a:t>exception</a:t>
            </a:r>
            <a:r>
              <a:rPr lang="en"/>
              <a:t> and briefly discussed how we can handle them. Let’s discuss few tools python provides us to </a:t>
            </a:r>
            <a:r>
              <a:rPr lang="en"/>
              <a:t>work with the exceptions.</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c72602ad9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c72602ad9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Python provides clauses like try, except, finally to perform exception handling. The finally clause is optional. Let’s first discuss about try except clause.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syntax of try except clause is shown below. The part of code that is unsafe and possible can raise exception are placed in the try block. The code for handling the exception is placed in the except block.</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try block basically </a:t>
            </a:r>
            <a:r>
              <a:rPr lang="en"/>
              <a:t>tr</a:t>
            </a:r>
            <a:r>
              <a:rPr lang="en"/>
              <a:t>ies to execute the block of code. </a:t>
            </a:r>
            <a:r>
              <a:rPr lang="en"/>
              <a:t>If an exception is raised, it </a:t>
            </a:r>
            <a:r>
              <a:rPr lang="en"/>
              <a:t>immediately</a:t>
            </a:r>
            <a:r>
              <a:rPr lang="en"/>
              <a:t> halts the execution of the code in the current try block and shift the control flow to the except block.</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And the </a:t>
            </a:r>
            <a:r>
              <a:rPr lang="en"/>
              <a:t>except block run this code if an exception is raised in the try block. If no exception is raised, the code in the except block is skipped.</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And the finally block is a optional part. The finally block is used for final cleaning part of code, if necessary. For instance, if we have opened a file to read in the try block. The cleaning part for the file may contain closing it. The finally block is executed not  matter an exception is raised or not.</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c72602ad9e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c72602ad9e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see an example of try, except clause.</a:t>
            </a:r>
            <a:endParaRPr/>
          </a:p>
          <a:p>
            <a:pPr indent="0" lvl="0" marL="0" rtl="0" algn="l">
              <a:spcBef>
                <a:spcPts val="0"/>
              </a:spcBef>
              <a:spcAft>
                <a:spcPts val="0"/>
              </a:spcAft>
              <a:buNone/>
            </a:pPr>
            <a:r>
              <a:rPr lang="en"/>
              <a:t>Suppose we </a:t>
            </a:r>
            <a:r>
              <a:rPr lang="en"/>
              <a:t>have</a:t>
            </a:r>
            <a:r>
              <a:rPr lang="en"/>
              <a:t> an application that asks the user for numerator and </a:t>
            </a:r>
            <a:r>
              <a:rPr lang="en"/>
              <a:t>denominator</a:t>
            </a:r>
            <a:r>
              <a:rPr lang="en"/>
              <a:t> and performs division. The particular code snipped for this part of application might look something like shown in the monitor.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the user enters 0 at the denominator, the application is certain to raise exception and then crash as the exception is not handled.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Can anybody guess, how we can handle the exception if raised and hence prevent the application to crash?</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Well we can use try except clause. The screen shows the same code with exception handled. The </a:t>
            </a:r>
            <a:r>
              <a:rPr lang="en"/>
              <a:t>divisions</a:t>
            </a:r>
            <a:r>
              <a:rPr lang="en"/>
              <a:t> between two number may raise exception. So we have place that unsafe part of code in the try block. This makes sure that the except part will be executed if the exception is raised in the try part. The except block simply print out the message that division by zero is not allowed.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Adding </a:t>
            </a:r>
            <a:r>
              <a:rPr lang="en"/>
              <a:t>these</a:t>
            </a:r>
            <a:r>
              <a:rPr lang="en"/>
              <a:t> just few more lines of code for handling </a:t>
            </a:r>
            <a:r>
              <a:rPr lang="en"/>
              <a:t>exception</a:t>
            </a:r>
            <a:r>
              <a:rPr lang="en"/>
              <a:t> prevents the unexpected termination or crash of the progra</a:t>
            </a:r>
            <a:r>
              <a:rPr lang="en"/>
              <a:t>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block of code can raise more than one exceptions. Using only except clause handle all of the raised exceptions in the same way.</a:t>
            </a:r>
            <a:r>
              <a:rPr lang="en"/>
              <a:t> But we may want to handle different exceptions differently. For instance, we may want to handle ZeroDivisionError </a:t>
            </a:r>
            <a:r>
              <a:rPr lang="en"/>
              <a:t>exception</a:t>
            </a:r>
            <a:r>
              <a:rPr lang="en"/>
              <a:t> in one way and NameError exception in different way.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To handle the specific exception, we can pass the exception class name after the except </a:t>
            </a:r>
            <a:r>
              <a:rPr lang="en"/>
              <a:t>clause as shown.</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Similarly, if we want to handle more than one exceptions we can pass another except </a:t>
            </a:r>
            <a:r>
              <a:rPr lang="en"/>
              <a:t>clause</a:t>
            </a:r>
            <a:r>
              <a:rPr lang="en"/>
              <a:t> followed by the name of </a:t>
            </a:r>
            <a:r>
              <a:rPr lang="en"/>
              <a:t>exception</a:t>
            </a:r>
            <a:r>
              <a:rPr lang="en"/>
              <a:t> we may want to handle.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If the code block can raise more than two specific exceptions, we can handle all the remaining exceptions using an except clause.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Let’s </a:t>
            </a:r>
            <a:r>
              <a:rPr lang="en"/>
              <a:t>summarize how this try except clause works.</a:t>
            </a:r>
            <a:endParaRPr/>
          </a:p>
          <a:p>
            <a:pPr indent="0" lvl="0" marL="0" rtl="0" algn="l">
              <a:spcBef>
                <a:spcPts val="0"/>
              </a:spcBef>
              <a:spcAft>
                <a:spcPts val="0"/>
              </a:spcAft>
              <a:buNone/>
            </a:pPr>
            <a:r>
              <a:rPr lang="en"/>
              <a:t>If there is an error in the code placed in the try block, an exception is raised. If the name of the raised exception matches with the name placed in the first except clause, it will be handled there. If not the interpreter checks if the name matches in the second except clause. If the name of the raised exception doesn’t matches with any of the name, the exception remains unhandled. To prevent the exception go unhandled we generally put just a except clause with no name at the last. Since except can handle any type of exception, the exception won’t be left unhandled.</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c72602ad9e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c72602ad9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050">
                <a:solidFill>
                  <a:srgbClr val="008000"/>
                </a:solidFill>
                <a:highlight>
                  <a:srgbClr val="FFFFFE"/>
                </a:highlight>
                <a:latin typeface="Courier New"/>
                <a:ea typeface="Courier New"/>
                <a:cs typeface="Courier New"/>
                <a:sym typeface="Courier New"/>
              </a:rPr>
              <a:t>Here is a simple program that asks the user to input two numbers and perform division on them. &lt;Run&gt;. Let's pass a number 8 for numerator and 4 for denominator. And the result is 2. The program works fine. &lt;Run&gt; Now let's pass 8 for numerator and 0 for denominator, then the program raises an zerodivisionerror. Here, the division part of the code is unsafe and can raise an exception.</a:t>
            </a:r>
            <a:endParaRPr sz="1050">
              <a:solidFill>
                <a:srgbClr val="008000"/>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rPr lang="en" sz="1050">
                <a:solidFill>
                  <a:schemeClr val="dk1"/>
                </a:solidFill>
                <a:highlight>
                  <a:srgbClr val="FFFFFE"/>
                </a:highlight>
                <a:latin typeface="Courier New"/>
                <a:ea typeface="Courier New"/>
                <a:cs typeface="Courier New"/>
                <a:sym typeface="Courier New"/>
              </a:rPr>
              <a:t>&lt;Next&gt;</a:t>
            </a:r>
            <a:endParaRPr sz="10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10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We can handle this error by putting the division part of code in try block. So if the exception is raised in the try block, the execution immediately switch to the except block and preventing the program to terminate unexpectedly or simply crash.&lt;Run&gt; Let's pass a number 8 for numerator and 0 for denominator. The program terminate gracefully without error.</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&lt;Next&gt;</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Similarly, we can have multiple except block each handling the specific raised exception. Having multiple except block allows us to handle different exception differently. For instance, the execution flow enters in the first except block if the raised exception is ZeroDivisionError. The execution flow enters in the second except block if the raised exception is a NameError. If the raised exception is other than first two, the last except block with no name handles all error that occur due to programmers flaw. &lt;Run&gt; Here the variable y is not defined, so NameError is raised which is handled by second except block.</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&lt;Next&gt;</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Let's try to read a file file1.txt that doesn't exist. In the try block, we have opened and read the file. The except block is executed if there is an error while reading a file. The finally block will be executed no matter the error is occured or not. The finally block is optional and generally contains the clean up code. Here we have closed the file in finally part. So finally part close the file not matter it is read successfully or there was an error during reading a file.</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&lt;Click&gt;</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050">
              <a:solidFill>
                <a:srgbClr val="008000"/>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1050">
              <a:solidFill>
                <a:schemeClr val="dk1"/>
              </a:solidFill>
              <a:highlight>
                <a:srgbClr val="FFFFFE"/>
              </a:highlight>
              <a:latin typeface="Courier New"/>
              <a:ea typeface="Courier New"/>
              <a:cs typeface="Courier New"/>
              <a:sym typeface="Courier New"/>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c72602ad9e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c72602ad9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Until now, we </a:t>
            </a:r>
            <a:r>
              <a:rPr lang="en"/>
              <a:t>have</a:t>
            </a:r>
            <a:r>
              <a:rPr lang="en"/>
              <a:t> discussed how to handle exception in python. </a:t>
            </a:r>
            <a:r>
              <a:rPr lang="en"/>
              <a:t>Exception</a:t>
            </a:r>
            <a:r>
              <a:rPr lang="en"/>
              <a:t> are raised </a:t>
            </a:r>
            <a:r>
              <a:rPr lang="en"/>
              <a:t>automatically</a:t>
            </a:r>
            <a:r>
              <a:rPr lang="en"/>
              <a:t> by the interpreter if we try to perform illegal operation. Python allows us to explictly raise an </a:t>
            </a:r>
            <a:r>
              <a:rPr lang="en"/>
              <a:t>exception</a:t>
            </a:r>
            <a:r>
              <a:rPr lang="en"/>
              <a:t> based on our requirement.  </a:t>
            </a:r>
            <a:r>
              <a:rPr lang="en"/>
              <a:t>r</a:t>
            </a:r>
            <a:r>
              <a:rPr lang="en"/>
              <a:t>aise and assert are the keywords </a:t>
            </a:r>
            <a:r>
              <a:rPr lang="en"/>
              <a:t>generally</a:t>
            </a:r>
            <a:r>
              <a:rPr lang="en"/>
              <a:t> used for that purpose. The raise statement allows us to </a:t>
            </a:r>
            <a:r>
              <a:rPr lang="en"/>
              <a:t>explicitly</a:t>
            </a:r>
            <a:r>
              <a:rPr lang="en"/>
              <a:t> raise an exception. </a:t>
            </a:r>
            <a:r>
              <a:rPr lang="en"/>
              <a:t>Explicitly</a:t>
            </a:r>
            <a:r>
              <a:rPr lang="en"/>
              <a:t> raising an </a:t>
            </a:r>
            <a:r>
              <a:rPr lang="en"/>
              <a:t>expectation</a:t>
            </a:r>
            <a:r>
              <a:rPr lang="en"/>
              <a:t> can be helpful in some </a:t>
            </a:r>
            <a:r>
              <a:rPr lang="en"/>
              <a:t>scenarios</a:t>
            </a:r>
            <a:r>
              <a:rPr lang="en"/>
              <a:t>.  And assert statement allows to enforce a certain condition, and if the specified condition doesn’t meet, an exception will be raised.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Meanwhile, you might be wondering that for the illegal operations, the interpreter automatically raises and exception and why would somebody need to </a:t>
            </a:r>
            <a:r>
              <a:rPr lang="en"/>
              <a:t>explicitly</a:t>
            </a:r>
            <a:r>
              <a:rPr lang="en"/>
              <a:t> raise an  exception. If you are also thinking this, you are not the only one to think so. Let’s discuss why anybody would </a:t>
            </a:r>
            <a:r>
              <a:rPr lang="en"/>
              <a:t>explicitly</a:t>
            </a:r>
            <a:r>
              <a:rPr lang="en"/>
              <a:t> want to raise an exception in the next section.</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c72602ad9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c72602ad9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formally discuss about the raise statement, let’s briefly discuss about illegal operation. Illegal operation are those operations that are not allowed for a given application. The division by zero is an illegal operation and it is universally illegal. The definition of illegal also depends on the task at hand.</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Suppose we want to compute the factorial of a number. We have already discussed about factorial in the function unit. The factorial of a negative number is undefined.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So passing a negative number to the factorial is a illegal operation. Passing the negative value to this function will cause the program to go in infinite loop. However, passing a negative number to this </a:t>
            </a:r>
            <a:r>
              <a:rPr lang="en"/>
              <a:t>function</a:t>
            </a:r>
            <a:r>
              <a:rPr lang="en"/>
              <a:t> is complete legal for interpreter and it won’t raise an exception. So we should </a:t>
            </a:r>
            <a:r>
              <a:rPr lang="en"/>
              <a:t>explicitly</a:t>
            </a:r>
            <a:r>
              <a:rPr lang="en"/>
              <a:t> raise an exception.</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We can rewrite this function to raise an exception as shown. Here we raised an exception of class Exception </a:t>
            </a:r>
            <a:r>
              <a:rPr lang="en"/>
              <a:t>explicitly</a:t>
            </a:r>
            <a:r>
              <a:rPr lang="en"/>
              <a:t>. We can raise an </a:t>
            </a:r>
            <a:r>
              <a:rPr lang="en"/>
              <a:t>exception</a:t>
            </a:r>
            <a:r>
              <a:rPr lang="en"/>
              <a:t> of other class based on the requirement.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c72602ad9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c72602ad9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alternative to raisi</a:t>
            </a:r>
            <a:r>
              <a:rPr lang="en"/>
              <a:t>ng an exception is to use an assert statement. Assert statement is used to enforce a certain condition.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assert statement has the following syntax.</a:t>
            </a:r>
            <a:endParaRPr/>
          </a:p>
          <a:p>
            <a:pPr indent="0" lvl="0" marL="0" rtl="0" algn="l">
              <a:spcBef>
                <a:spcPts val="0"/>
              </a:spcBef>
              <a:spcAft>
                <a:spcPts val="0"/>
              </a:spcAft>
              <a:buNone/>
            </a:pPr>
            <a:r>
              <a:rPr lang="en"/>
              <a:t>We use keyword assert which is followed by a condition and then followed by a string to display with error message when the condition fails.</a:t>
            </a:r>
            <a:endParaRPr/>
          </a:p>
          <a:p>
            <a:pPr indent="0" lvl="0" marL="0" rtl="0" algn="l">
              <a:spcBef>
                <a:spcPts val="0"/>
              </a:spcBef>
              <a:spcAft>
                <a:spcPts val="0"/>
              </a:spcAft>
              <a:buNone/>
            </a:pPr>
            <a:r>
              <a:rPr lang="en"/>
              <a:t>When the condition specified fails, the assert statement raises an AssertionError with the specified message string.</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We can prevent factorial from undergoing into infinite loop using assert statement as shown. As seen assert statement is very easy to use and can be very useful to prevent unexpected flow of program.</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c72602ad9e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c72602ad9e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Here is a simple code to compute the factorial of a number. An attempt to compute the factorial of a negative number is an illegal operation as it will leave the program in infinite loop. Eventually, the program will be sort of memory.</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&lt;Next&gt;</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The solution is to raise an exception </a:t>
            </a:r>
            <a:r>
              <a:rPr lang="en" sz="1050">
                <a:solidFill>
                  <a:srgbClr val="008000"/>
                </a:solidFill>
                <a:highlight>
                  <a:srgbClr val="FFFFFE"/>
                </a:highlight>
                <a:latin typeface="Courier New"/>
                <a:ea typeface="Courier New"/>
                <a:cs typeface="Courier New"/>
                <a:sym typeface="Courier New"/>
              </a:rPr>
              <a:t>explictly</a:t>
            </a:r>
            <a:r>
              <a:rPr lang="en" sz="1050">
                <a:solidFill>
                  <a:srgbClr val="008000"/>
                </a:solidFill>
                <a:highlight>
                  <a:srgbClr val="FFFFFE"/>
                </a:highlight>
                <a:latin typeface="Courier New"/>
                <a:ea typeface="Courier New"/>
                <a:cs typeface="Courier New"/>
                <a:sym typeface="Courier New"/>
              </a:rPr>
              <a:t>. &lt;Run&gt; With this, we don't need to worry if the program will be in an infinite loop. We can handle this exception gracefully by using exception handling technique as discussed earlier.</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&lt;Next&gt;</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The alternative solution is to use assert statement. The assert statement quite simple. We can reinforce certain condition using a assert statement. &lt;Run&gt; Here, the value of n is negative, so assert statement raised an assertion error with error message specified in quote. And to prevent unexpected termination caused by assertion, we can gracefully handle it.</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&lt;Click&gt;</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8000"/>
              </a:solidFill>
              <a:highlight>
                <a:srgbClr val="FFFFFE"/>
              </a:highlight>
              <a:latin typeface="Courier New"/>
              <a:ea typeface="Courier New"/>
              <a:cs typeface="Courier New"/>
              <a:sym typeface="Courier New"/>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c72602ad9e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c72602ad9e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Based on our requirements, we can create a customized new exception class. The user-defined exceptions should be derived or inherited directly from the Exception class or from the child of Exception class.. Let’s see how we can define a user-defined exception.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c640c3bc4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c640c3bc4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Defining a user defined function is same as defining a class. We have already discussed about the concept of object oriented programming in the previous chapters.</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syntax to define a user-defined exception is shown in the screen. The defining is starts with the keyword class followed by the name of the custom exception. The custom or user-defined exception in inherited from the Exception class. The body of the custom exception contains the relevant codes.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One of the simplest user-defined exception class is shown in the screen. The user-defined exception with name CustomError inherits from the Exception class. Like regular built-in exception we can raise the user-defined exception as shown.</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When we raise the exception, the error contains the following. The last line of error shown the name of the custom exception we have just defined. </a:t>
            </a:r>
            <a:endParaRPr/>
          </a:p>
          <a:p>
            <a:pPr indent="0" lvl="0" marL="0" rtl="0" algn="l">
              <a:spcBef>
                <a:spcPts val="0"/>
              </a:spcBef>
              <a:spcAft>
                <a:spcPts val="0"/>
              </a:spcAft>
              <a:buNone/>
            </a:pPr>
            <a:r>
              <a:rPr lang="en"/>
              <a:t>We can further customize the error by passing the additional </a:t>
            </a:r>
            <a:r>
              <a:rPr lang="en"/>
              <a:t>arguments</a:t>
            </a:r>
            <a:r>
              <a:rPr lang="en"/>
              <a:t> to the exception class. </a:t>
            </a:r>
            <a:endParaRPr/>
          </a:p>
          <a:p>
            <a:pPr indent="0" lvl="0" marL="0" rtl="0" algn="l">
              <a:spcBef>
                <a:spcPts val="0"/>
              </a:spcBef>
              <a:spcAft>
                <a:spcPts val="0"/>
              </a:spcAft>
              <a:buNone/>
            </a:pPr>
            <a:r>
              <a:rPr lang="en"/>
              <a:t>&lt;Click&gt;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c640c3bc4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c640c3bc4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050">
                <a:solidFill>
                  <a:srgbClr val="008000"/>
                </a:solidFill>
                <a:highlight>
                  <a:srgbClr val="FFFFFE"/>
                </a:highlight>
                <a:latin typeface="Courier New"/>
                <a:ea typeface="Courier New"/>
                <a:cs typeface="Courier New"/>
                <a:sym typeface="Courier New"/>
              </a:rPr>
              <a:t>Defining a user-defined exception is same as defining a normal class. User-defined exception should be inherited from Exception class. &lt;Run&gt; Like built-in exceptions, we can raise it and handle it.</a:t>
            </a:r>
            <a:endParaRPr sz="1050">
              <a:solidFill>
                <a:srgbClr val="008000"/>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rPr lang="en"/>
              <a:t>&lt;Next&gt;</a:t>
            </a:r>
            <a:endParaRPr/>
          </a:p>
          <a:p>
            <a:pPr indent="0" lvl="0" marL="0" rtl="0" algn="l">
              <a:spcBef>
                <a:spcPts val="0"/>
              </a:spcBef>
              <a:spcAft>
                <a:spcPts val="0"/>
              </a:spcAft>
              <a:buNone/>
            </a:pPr>
            <a:r>
              <a:t/>
            </a:r>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User defined exception can be customized using additional arguments. Here we have defined a BankBalanceNotValid exception class whose constructor takes in amount, and message as argument. As we know, the bank balance can't be less than 0. So this exception will be raised when the balance is less than 0. &lt;Run&gt;</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&lt;Next&gt;</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8000"/>
                </a:solidFill>
                <a:highlight>
                  <a:srgbClr val="FFFFFE"/>
                </a:highlight>
                <a:latin typeface="Courier New"/>
                <a:ea typeface="Courier New"/>
                <a:cs typeface="Courier New"/>
                <a:sym typeface="Courier New"/>
              </a:rPr>
              <a:t>We can then asks the user to input their bank balance. &lt;Run&gt; Suppose if the user input -100, then the custom exception will be raised with the specified error message. If necessary we can handle the raised exception.</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050">
                <a:solidFill>
                  <a:srgbClr val="008000"/>
                </a:solidFill>
                <a:highlight>
                  <a:srgbClr val="FFFFFE"/>
                </a:highlight>
                <a:latin typeface="Courier New"/>
                <a:ea typeface="Courier New"/>
                <a:cs typeface="Courier New"/>
                <a:sym typeface="Courier New"/>
              </a:rPr>
              <a:t>&lt;Click&gt;</a:t>
            </a:r>
            <a:endParaRPr sz="1050">
              <a:solidFill>
                <a:srgbClr val="008000"/>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c640c3bc4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c640c3bc4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Debugging is the process of identifying and resolving the existing or possible errors in the software code. In this section, we will discuss about debugging.</a:t>
            </a:r>
            <a:endParaRPr>
              <a:solidFill>
                <a:schemeClr val="dk1"/>
              </a:solidFill>
            </a:endParaRPr>
          </a:p>
          <a:p>
            <a:pPr indent="0" lvl="0" marL="0" rtl="0" algn="l">
              <a:spcBef>
                <a:spcPts val="0"/>
              </a:spcBef>
              <a:spcAft>
                <a:spcPts val="0"/>
              </a:spcAft>
              <a:buNone/>
            </a:pPr>
            <a:r>
              <a:rPr lang="en">
                <a:solidFill>
                  <a:schemeClr val="dk1"/>
                </a:solidFill>
              </a:rPr>
              <a:t>&lt;Click&gt;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c640c3bc4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c640c3bc4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Before discussing about debugging and tools used for debugging, let’s </a:t>
            </a:r>
            <a:r>
              <a:rPr lang="en"/>
              <a:t>briefly</a:t>
            </a:r>
            <a:r>
              <a:rPr lang="en"/>
              <a:t> discuss about the bugs.</a:t>
            </a:r>
            <a:endParaRPr/>
          </a:p>
          <a:p>
            <a:pPr indent="0" lvl="0" marL="0" rtl="0" algn="l">
              <a:spcBef>
                <a:spcPts val="0"/>
              </a:spcBef>
              <a:spcAft>
                <a:spcPts val="0"/>
              </a:spcAft>
              <a:buNone/>
            </a:pPr>
            <a:r>
              <a:rPr lang="en"/>
              <a:t>Bugs are errors, mistakes, fault or  problems that cause the program deviate from the expected results and cause the program to crash.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cause of the bug in the program are the illogical or erroneous logics. These bugs are due to the mistakes of the humans, probably failing to create a software product that works normally for all input inputs or all possible states. For instance, attempting to compute factorial of a negative number is illegal and is considered as bug. Bugs are inevitable. A carefully designed software may contains smaller proportion of bugs. Lack of proper software testing also results in bugs. Despite the careful inspecting the software may contains bugs and it might takes very long time to detect those bugs.</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Debugging is the process of detecting and removing the bugs in the program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A debugger is a tool used for </a:t>
            </a:r>
            <a:r>
              <a:rPr lang="en"/>
              <a:t>debugging.</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debugging process generally consists of a series of steps. The motive of the debugging process is to detect the cause of bug in the program.</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first step of debugging process is to reproduce the problem itself. We can’t detect problem if it never occurred.</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second step is to record or capture the state or snapshot of a program when the bug has appeared. By state, we mean the content of each variables.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third step is to analyze the snapshot or variables. The analysis may include comparing the variable state when the bug has occurred and not occurred. With this analysis, we try to identify the cause of bug in the program.</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Final </a:t>
            </a:r>
            <a:r>
              <a:rPr lang="en"/>
              <a:t>st</a:t>
            </a:r>
            <a:r>
              <a:rPr lang="en"/>
              <a:t>ep is to fix the bug. We need to make sure that we don’t introduce another bug while fixing the existing one.</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c640c3bc4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c640c3bc4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many debugging tools and techniques available to debug the program. In this section, we will discuss few tools and techniques.</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first technique to debug a program is to carefully use the </a:t>
            </a:r>
            <a:r>
              <a:rPr lang="en"/>
              <a:t>technique</a:t>
            </a:r>
            <a:r>
              <a:rPr lang="en"/>
              <a:t> of exception handling. We should put the unsafe code in the try block and handle it by printing the useful error message which we can use to detect the bug. Moreover we handle each exception type separately using multiple except block so that we can </a:t>
            </a:r>
            <a:r>
              <a:rPr lang="en"/>
              <a:t>identify the actual bug.</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second technique might be to use assert statements at the multiple section of the code. Suppose we know the expected state of the program. We enforce the program to be consistent with the expec</a:t>
            </a:r>
            <a:r>
              <a:rPr lang="en"/>
              <a:t>ted state.  assert s</a:t>
            </a:r>
            <a:r>
              <a:rPr lang="en"/>
              <a:t>tatement will raise an exception when the state deviates from the expected one.</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third technique might be to use python logging modules. Logging technique generally logs all the state of the program in a file. The logs are recorded in a human readable format. We can use this file to identify the cause of error in the program.</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another technique might be to use python debugger module. Python provides many debugger tool that simplifies the debugging process. Python has a built-in debugger called pdb which is a command line tool. It can be used to monitor the state of a program line by line. The discussion of this too is out of the scope of this video. You are highly encouraged to learn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Another technique of debugging is to use jupyter notebook. Jupyter notebook enables to execute each block of code separately. We can just focus on the part program that may contain bug, monitor the state of each variable. </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c640c3bc4b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c640c3bc4b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way, we are at the end of this video. Before we end up this video, let’s list out few key </a:t>
            </a:r>
            <a:r>
              <a:rPr lang="en"/>
              <a:t>takeaways</a:t>
            </a:r>
            <a:r>
              <a:rPr lang="en"/>
              <a:t> of this video.</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Error are the </a:t>
            </a:r>
            <a:r>
              <a:rPr lang="en"/>
              <a:t>mistake</a:t>
            </a:r>
            <a:r>
              <a:rPr lang="en"/>
              <a:t> made while writing a program. The error might be syntactic or the logical one. Logical error are more severe than syntax errors.</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PYthon raises an </a:t>
            </a:r>
            <a:r>
              <a:rPr lang="en"/>
              <a:t>exception</a:t>
            </a:r>
            <a:r>
              <a:rPr lang="en"/>
              <a:t> with the error message when it encounter the mistake in the program.</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try/catch/finally statements are used to handle catch the exception and handle it.</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t>The definition of illegal operation depends on the tasks at hand. Sometimes we may need to </a:t>
            </a:r>
            <a:r>
              <a:rPr lang="en"/>
              <a:t>explicitly</a:t>
            </a:r>
            <a:r>
              <a:rPr lang="en"/>
              <a:t> raise an exception for the illegal operation. For this we use raise statement.</a:t>
            </a:r>
            <a:endParaRPr/>
          </a:p>
          <a:p>
            <a:pPr indent="0" lvl="0" marL="0" rtl="0" algn="l">
              <a:spcBef>
                <a:spcPts val="0"/>
              </a:spcBef>
              <a:spcAft>
                <a:spcPts val="0"/>
              </a:spcAft>
              <a:buNone/>
            </a:pPr>
            <a:r>
              <a:rPr lang="en"/>
              <a:t>&lt;Click&gt;</a:t>
            </a:r>
            <a:endParaRPr/>
          </a:p>
          <a:p>
            <a:pPr indent="0" lvl="0" marL="0" rtl="0" algn="l">
              <a:spcBef>
                <a:spcPts val="0"/>
              </a:spcBef>
              <a:spcAft>
                <a:spcPts val="0"/>
              </a:spcAft>
              <a:buNone/>
            </a:pPr>
            <a:r>
              <a:rPr lang="en">
                <a:solidFill>
                  <a:schemeClr val="dk1"/>
                </a:solidFill>
              </a:rPr>
              <a:t>Debugging is the process of identifying and resolving the existing or possible errors in the software code. Exception handling, assertion, logging and debugger module are used for debugging the program.</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This is it for now. And will see you in the next video. Until then, good bye and have a good day.</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&lt;Click&gt;</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FFFFFF"/>
              </a:buClr>
              <a:buSzPts val="3400"/>
              <a:buNone/>
              <a:defRPr b="1" sz="3400">
                <a:solidFill>
                  <a:srgbClr val="FFFFFF"/>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rgbClr val="FFFFFF"/>
              </a:buClr>
              <a:buSzPts val="2600"/>
              <a:buNone/>
              <a:defRPr sz="2600">
                <a:solidFill>
                  <a:srgbClr val="FFFFFF"/>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descr="C:\Users\lt107\Desktop\3x\Asset 1@3x.png" id="13" name="Google Shape;13;p2"/>
          <p:cNvPicPr preferRelativeResize="0"/>
          <p:nvPr/>
        </p:nvPicPr>
        <p:blipFill rotWithShape="1">
          <a:blip r:embed="rId3">
            <a:alphaModFix/>
          </a:blip>
          <a:srcRect b="0" l="0" r="0" t="0"/>
          <a:stretch/>
        </p:blipFill>
        <p:spPr>
          <a:xfrm>
            <a:off x="7696200" y="438150"/>
            <a:ext cx="1002030" cy="32988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redits">
  <p:cSld name="TITLE_1">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descr="C:\Users\lt107\Desktop\3x\Asset 1@3x.png" id="16" name="Google Shape;16;p3"/>
          <p:cNvPicPr preferRelativeResize="0"/>
          <p:nvPr/>
        </p:nvPicPr>
        <p:blipFill rotWithShape="1">
          <a:blip r:embed="rId3">
            <a:alphaModFix/>
          </a:blip>
          <a:srcRect b="0" l="0" r="0" t="0"/>
          <a:stretch/>
        </p:blipFill>
        <p:spPr>
          <a:xfrm>
            <a:off x="7696200" y="438150"/>
            <a:ext cx="1002030" cy="329886"/>
          </a:xfrm>
          <a:prstGeom prst="rect">
            <a:avLst/>
          </a:prstGeom>
          <a:noFill/>
          <a:ln>
            <a:noFill/>
          </a:ln>
        </p:spPr>
      </p:pic>
      <p:sp>
        <p:nvSpPr>
          <p:cNvPr id="17" name="Google Shape;17;p3"/>
          <p:cNvSpPr txBox="1"/>
          <p:nvPr/>
        </p:nvSpPr>
        <p:spPr>
          <a:xfrm>
            <a:off x="661475" y="322225"/>
            <a:ext cx="2751300" cy="44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Montserrat"/>
                <a:ea typeface="Montserrat"/>
                <a:cs typeface="Montserrat"/>
                <a:sym typeface="Montserrat"/>
              </a:rPr>
              <a:t>Credits: </a:t>
            </a:r>
            <a:endParaRPr b="1" sz="2400">
              <a:solidFill>
                <a:schemeClr val="lt1"/>
              </a:solidFill>
              <a:latin typeface="Montserrat"/>
              <a:ea typeface="Montserrat"/>
              <a:cs typeface="Montserrat"/>
              <a:sym typeface="Montserrat"/>
            </a:endParaRPr>
          </a:p>
        </p:txBody>
      </p:sp>
      <p:sp>
        <p:nvSpPr>
          <p:cNvPr id="18" name="Google Shape;18;p3"/>
          <p:cNvSpPr txBox="1"/>
          <p:nvPr>
            <p:ph idx="1" type="body"/>
          </p:nvPr>
        </p:nvSpPr>
        <p:spPr>
          <a:xfrm>
            <a:off x="661475" y="1152475"/>
            <a:ext cx="81708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Clr>
                <a:srgbClr val="FFFFFF"/>
              </a:buClr>
              <a:buSzPts val="1800"/>
              <a:buChar char="●"/>
              <a:defRPr>
                <a:solidFill>
                  <a:srgbClr val="FFFFFF"/>
                </a:solidFill>
              </a:defRPr>
            </a:lvl1pPr>
            <a:lvl2pPr indent="-317500" lvl="1" marL="914400" rtl="0">
              <a:spcBef>
                <a:spcPts val="1600"/>
              </a:spcBef>
              <a:spcAft>
                <a:spcPts val="0"/>
              </a:spcAft>
              <a:buClr>
                <a:srgbClr val="FFFFFF"/>
              </a:buClr>
              <a:buSzPts val="1400"/>
              <a:buChar char="○"/>
              <a:defRPr>
                <a:solidFill>
                  <a:srgbClr val="FFFFFF"/>
                </a:solidFill>
              </a:defRPr>
            </a:lvl2pPr>
            <a:lvl3pPr indent="-317500" lvl="2" marL="1371600" rtl="0">
              <a:spcBef>
                <a:spcPts val="1600"/>
              </a:spcBef>
              <a:spcAft>
                <a:spcPts val="0"/>
              </a:spcAft>
              <a:buClr>
                <a:srgbClr val="FFFFFF"/>
              </a:buClr>
              <a:buSzPts val="1400"/>
              <a:buChar char="■"/>
              <a:defRPr>
                <a:solidFill>
                  <a:srgbClr val="FFFFFF"/>
                </a:solidFill>
              </a:defRPr>
            </a:lvl3pPr>
            <a:lvl4pPr indent="-317500" lvl="3" marL="1828800" rtl="0">
              <a:spcBef>
                <a:spcPts val="1600"/>
              </a:spcBef>
              <a:spcAft>
                <a:spcPts val="0"/>
              </a:spcAft>
              <a:buClr>
                <a:srgbClr val="FFFFFF"/>
              </a:buClr>
              <a:buSzPts val="1400"/>
              <a:buChar char="●"/>
              <a:defRPr>
                <a:solidFill>
                  <a:srgbClr val="FFFFFF"/>
                </a:solidFill>
              </a:defRPr>
            </a:lvl4pPr>
            <a:lvl5pPr indent="-317500" lvl="4" marL="2286000" rtl="0">
              <a:spcBef>
                <a:spcPts val="1600"/>
              </a:spcBef>
              <a:spcAft>
                <a:spcPts val="0"/>
              </a:spcAft>
              <a:buClr>
                <a:srgbClr val="FFFFFF"/>
              </a:buClr>
              <a:buSzPts val="1400"/>
              <a:buChar char="○"/>
              <a:defRPr>
                <a:solidFill>
                  <a:srgbClr val="FFFFFF"/>
                </a:solidFill>
              </a:defRPr>
            </a:lvl5pPr>
            <a:lvl6pPr indent="-317500" lvl="5" marL="2743200" rtl="0">
              <a:spcBef>
                <a:spcPts val="1600"/>
              </a:spcBef>
              <a:spcAft>
                <a:spcPts val="0"/>
              </a:spcAft>
              <a:buClr>
                <a:srgbClr val="FFFFFF"/>
              </a:buClr>
              <a:buSzPts val="1400"/>
              <a:buChar char="■"/>
              <a:defRPr>
                <a:solidFill>
                  <a:srgbClr val="FFFFFF"/>
                </a:solidFill>
              </a:defRPr>
            </a:lvl6pPr>
            <a:lvl7pPr indent="-317500" lvl="6" marL="3200400" rtl="0">
              <a:spcBef>
                <a:spcPts val="1600"/>
              </a:spcBef>
              <a:spcAft>
                <a:spcPts val="0"/>
              </a:spcAft>
              <a:buClr>
                <a:srgbClr val="FFFFFF"/>
              </a:buClr>
              <a:buSzPts val="1400"/>
              <a:buChar char="●"/>
              <a:defRPr>
                <a:solidFill>
                  <a:srgbClr val="FFFFFF"/>
                </a:solidFill>
              </a:defRPr>
            </a:lvl7pPr>
            <a:lvl8pPr indent="-317500" lvl="7" marL="3657600" rtl="0">
              <a:spcBef>
                <a:spcPts val="1600"/>
              </a:spcBef>
              <a:spcAft>
                <a:spcPts val="0"/>
              </a:spcAft>
              <a:buClr>
                <a:srgbClr val="FFFFFF"/>
              </a:buClr>
              <a:buSzPts val="1400"/>
              <a:buChar char="○"/>
              <a:defRPr>
                <a:solidFill>
                  <a:srgbClr val="FFFFFF"/>
                </a:solidFill>
              </a:defRPr>
            </a:lvl8pPr>
            <a:lvl9pPr indent="-317500" lvl="8" marL="4114800" rtl="0">
              <a:spcBef>
                <a:spcPts val="1600"/>
              </a:spcBef>
              <a:spcAft>
                <a:spcPts val="1600"/>
              </a:spcAft>
              <a:buClr>
                <a:srgbClr val="FFFFFF"/>
              </a:buClr>
              <a:buSzPts val="1400"/>
              <a:buChar char="■"/>
              <a:defRPr>
                <a:solidFill>
                  <a:srgbClr val="FFFFFF"/>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58A4E2"/>
        </a:solidFill>
      </p:bgPr>
    </p:bg>
    <p:spTree>
      <p:nvGrpSpPr>
        <p:cNvPr id="19" name="Shape 19"/>
        <p:cNvGrpSpPr/>
        <p:nvPr/>
      </p:nvGrpSpPr>
      <p:grpSpPr>
        <a:xfrm>
          <a:off x="0" y="0"/>
          <a:ext cx="0" cy="0"/>
          <a:chOff x="0" y="0"/>
          <a:chExt cx="0" cy="0"/>
        </a:xfrm>
      </p:grpSpPr>
      <p:sp>
        <p:nvSpPr>
          <p:cNvPr id="20" name="Google Shape;20;p4"/>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lvl1pPr lvl="0">
              <a:spcBef>
                <a:spcPts val="0"/>
              </a:spcBef>
              <a:spcAft>
                <a:spcPts val="0"/>
              </a:spcAft>
              <a:buClr>
                <a:srgbClr val="FFFFFF"/>
              </a:buClr>
              <a:buSzPts val="2800"/>
              <a:buNone/>
              <a:defRPr b="1" sz="2800">
                <a:solidFill>
                  <a:srgbClr val="FFFFFF"/>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descr="C:\Users\lt107\Desktop\3x\Asset 1@3x.png" id="22" name="Google Shape;22;p4"/>
          <p:cNvPicPr preferRelativeResize="0"/>
          <p:nvPr/>
        </p:nvPicPr>
        <p:blipFill rotWithShape="1">
          <a:blip r:embed="rId2">
            <a:alphaModFix/>
          </a:blip>
          <a:srcRect b="0" l="0" r="0" t="0"/>
          <a:stretch/>
        </p:blipFill>
        <p:spPr>
          <a:xfrm>
            <a:off x="540300" y="603125"/>
            <a:ext cx="1002030" cy="32988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5"/>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25" name="Google Shape;25;p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5"/>
          <p:cNvSpPr/>
          <p:nvPr/>
        </p:nvSpPr>
        <p:spPr>
          <a:xfrm>
            <a:off x="0"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28" name="Google Shape;28;p5"/>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pic>
        <p:nvPicPr>
          <p:cNvPr descr="C:\Users\lt107\Desktop\3x\Asset 2@3x.png" id="29" name="Google Shape;29;p5"/>
          <p:cNvPicPr preferRelativeResize="0"/>
          <p:nvPr/>
        </p:nvPicPr>
        <p:blipFill rotWithShape="1">
          <a:blip r:embed="rId2">
            <a:alphaModFix/>
          </a:blip>
          <a:srcRect b="0" l="0" r="0" t="0"/>
          <a:stretch/>
        </p:blipFill>
        <p:spPr>
          <a:xfrm>
            <a:off x="363818" y="4781550"/>
            <a:ext cx="588358" cy="23083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pic Heading-Body">
  <p:cSld name="TITLE_AND_BODY_2">
    <p:spTree>
      <p:nvGrpSpPr>
        <p:cNvPr id="30" name="Shape 30"/>
        <p:cNvGrpSpPr/>
        <p:nvPr/>
      </p:nvGrpSpPr>
      <p:grpSpPr>
        <a:xfrm>
          <a:off x="0" y="0"/>
          <a:ext cx="0" cy="0"/>
          <a:chOff x="0" y="0"/>
          <a:chExt cx="0" cy="0"/>
        </a:xfrm>
      </p:grpSpPr>
      <p:sp>
        <p:nvSpPr>
          <p:cNvPr id="31" name="Google Shape;31;p6"/>
          <p:cNvSpPr txBox="1"/>
          <p:nvPr>
            <p:ph type="title"/>
          </p:nvPr>
        </p:nvSpPr>
        <p:spPr>
          <a:xfrm>
            <a:off x="311700" y="286500"/>
            <a:ext cx="34398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600"/>
              <a:buNone/>
              <a:defRPr b="1"/>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2" name="Google Shape;32;p6"/>
          <p:cNvSpPr txBox="1"/>
          <p:nvPr>
            <p:ph idx="1" type="body"/>
          </p:nvPr>
        </p:nvSpPr>
        <p:spPr>
          <a:xfrm>
            <a:off x="311700" y="1283150"/>
            <a:ext cx="8520600" cy="32856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6"/>
          <p:cNvSpPr/>
          <p:nvPr/>
        </p:nvSpPr>
        <p:spPr>
          <a:xfrm>
            <a:off x="0"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35" name="Google Shape;35;p6"/>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pic>
        <p:nvPicPr>
          <p:cNvPr descr="C:\Users\lt107\Desktop\3x\Asset 2@3x.png" id="36" name="Google Shape;36;p6"/>
          <p:cNvPicPr preferRelativeResize="0"/>
          <p:nvPr/>
        </p:nvPicPr>
        <p:blipFill rotWithShape="1">
          <a:blip r:embed="rId2">
            <a:alphaModFix/>
          </a:blip>
          <a:srcRect b="0" l="0" r="0" t="0"/>
          <a:stretch/>
        </p:blipFill>
        <p:spPr>
          <a:xfrm>
            <a:off x="363818" y="4781550"/>
            <a:ext cx="588358" cy="23083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ssertion-Evidence">
  <p:cSld name="TITLE_AND_BODY_1">
    <p:spTree>
      <p:nvGrpSpPr>
        <p:cNvPr id="37" name="Shape 37"/>
        <p:cNvGrpSpPr/>
        <p:nvPr/>
      </p:nvGrpSpPr>
      <p:grpSpPr>
        <a:xfrm>
          <a:off x="0" y="0"/>
          <a:ext cx="0" cy="0"/>
          <a:chOff x="0" y="0"/>
          <a:chExt cx="0" cy="0"/>
        </a:xfrm>
      </p:grpSpPr>
      <p:sp>
        <p:nvSpPr>
          <p:cNvPr id="38" name="Google Shape;38;p7"/>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9" name="Google Shape;39;p7"/>
          <p:cNvSpPr txBox="1"/>
          <p:nvPr>
            <p:ph idx="1" type="body"/>
          </p:nvPr>
        </p:nvSpPr>
        <p:spPr>
          <a:xfrm>
            <a:off x="311700" y="1405125"/>
            <a:ext cx="8520600" cy="31638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7"/>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42" name="Google Shape;42;p7"/>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pic>
        <p:nvPicPr>
          <p:cNvPr descr="C:\Users\lt107\Desktop\3x\Asset 2@3x.png" id="43" name="Google Shape;43;p7"/>
          <p:cNvPicPr preferRelativeResize="0"/>
          <p:nvPr/>
        </p:nvPicPr>
        <p:blipFill rotWithShape="1">
          <a:blip r:embed="rId2">
            <a:alphaModFix/>
          </a:blip>
          <a:srcRect b="0" l="0" r="0" t="0"/>
          <a:stretch/>
        </p:blipFill>
        <p:spPr>
          <a:xfrm>
            <a:off x="363818" y="4781550"/>
            <a:ext cx="588358" cy="23083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ssertion-Evidence 1">
  <p:cSld name="TITLE_AND_BODY_1_1">
    <p:spTree>
      <p:nvGrpSpPr>
        <p:cNvPr id="44" name="Shape 44"/>
        <p:cNvGrpSpPr/>
        <p:nvPr/>
      </p:nvGrpSpPr>
      <p:grpSpPr>
        <a:xfrm>
          <a:off x="0" y="0"/>
          <a:ext cx="0" cy="0"/>
          <a:chOff x="0" y="0"/>
          <a:chExt cx="0" cy="0"/>
        </a:xfrm>
      </p:grpSpPr>
      <p:sp>
        <p:nvSpPr>
          <p:cNvPr id="45" name="Google Shape;45;p8"/>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8"/>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48" name="Google Shape;48;p8"/>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pic>
        <p:nvPicPr>
          <p:cNvPr descr="C:\Users\lt107\Desktop\3x\Asset 2@3x.png" id="49" name="Google Shape;49;p8"/>
          <p:cNvPicPr preferRelativeResize="0"/>
          <p:nvPr/>
        </p:nvPicPr>
        <p:blipFill rotWithShape="1">
          <a:blip r:embed="rId2">
            <a:alphaModFix/>
          </a:blip>
          <a:srcRect b="0" l="0" r="0" t="0"/>
          <a:stretch/>
        </p:blipFill>
        <p:spPr>
          <a:xfrm>
            <a:off x="363818" y="4781550"/>
            <a:ext cx="588358" cy="230832"/>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corner">
  <p:cSld name="TITLE_AND_BODY_1_1_3">
    <p:spTree>
      <p:nvGrpSpPr>
        <p:cNvPr id="50" name="Shape 50"/>
        <p:cNvGrpSpPr/>
        <p:nvPr/>
      </p:nvGrpSpPr>
      <p:grpSpPr>
        <a:xfrm>
          <a:off x="0" y="0"/>
          <a:ext cx="0" cy="0"/>
          <a:chOff x="0" y="0"/>
          <a:chExt cx="0" cy="0"/>
        </a:xfrm>
      </p:grpSpPr>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2" name="Google Shape;52;p9"/>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pic>
        <p:nvPicPr>
          <p:cNvPr descr="C:\Users\lt107\Desktop\3x\Asset 2@3x.png" id="53" name="Google Shape;53;p9"/>
          <p:cNvPicPr preferRelativeResize="0"/>
          <p:nvPr/>
        </p:nvPicPr>
        <p:blipFill rotWithShape="1">
          <a:blip r:embed="rId2">
            <a:alphaModFix/>
          </a:blip>
          <a:srcRect b="0" l="0" r="0" t="0"/>
          <a:stretch/>
        </p:blipFill>
        <p:spPr>
          <a:xfrm>
            <a:off x="363818" y="4781550"/>
            <a:ext cx="588358" cy="230832"/>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flection Spot">
  <p:cSld name="TITLE_AND_BODY_1_1_2">
    <p:spTree>
      <p:nvGrpSpPr>
        <p:cNvPr id="54" name="Shape 54"/>
        <p:cNvGrpSpPr/>
        <p:nvPr/>
      </p:nvGrpSpPr>
      <p:grpSpPr>
        <a:xfrm>
          <a:off x="0" y="0"/>
          <a:ext cx="0" cy="0"/>
          <a:chOff x="0" y="0"/>
          <a:chExt cx="0" cy="0"/>
        </a:xfrm>
      </p:grpSpPr>
      <p:sp>
        <p:nvSpPr>
          <p:cNvPr id="55" name="Google Shape;55;p10"/>
          <p:cNvSpPr txBox="1"/>
          <p:nvPr>
            <p:ph type="title"/>
          </p:nvPr>
        </p:nvSpPr>
        <p:spPr>
          <a:xfrm>
            <a:off x="1456750" y="390550"/>
            <a:ext cx="73623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56" name="Google Shape;56;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10"/>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pic>
        <p:nvPicPr>
          <p:cNvPr descr="C:\Users\lt107\Desktop\3x\Asset 2@3x.png" id="58" name="Google Shape;58;p10"/>
          <p:cNvPicPr preferRelativeResize="0"/>
          <p:nvPr/>
        </p:nvPicPr>
        <p:blipFill rotWithShape="1">
          <a:blip r:embed="rId2">
            <a:alphaModFix/>
          </a:blip>
          <a:srcRect b="0" l="0" r="0" t="0"/>
          <a:stretch/>
        </p:blipFill>
        <p:spPr>
          <a:xfrm>
            <a:off x="363818" y="4781550"/>
            <a:ext cx="588358" cy="230832"/>
          </a:xfrm>
          <a:prstGeom prst="rect">
            <a:avLst/>
          </a:prstGeom>
          <a:noFill/>
          <a:ln>
            <a:noFill/>
          </a:ln>
        </p:spPr>
      </p:pic>
      <p:grpSp>
        <p:nvGrpSpPr>
          <p:cNvPr id="59" name="Google Shape;59;p10"/>
          <p:cNvGrpSpPr/>
          <p:nvPr/>
        </p:nvGrpSpPr>
        <p:grpSpPr>
          <a:xfrm>
            <a:off x="275437" y="298844"/>
            <a:ext cx="934800" cy="934800"/>
            <a:chOff x="170337" y="194819"/>
            <a:chExt cx="934800" cy="934800"/>
          </a:xfrm>
        </p:grpSpPr>
        <p:sp>
          <p:nvSpPr>
            <p:cNvPr id="60" name="Google Shape;60;p10"/>
            <p:cNvSpPr/>
            <p:nvPr/>
          </p:nvSpPr>
          <p:spPr>
            <a:xfrm>
              <a:off x="170337" y="194819"/>
              <a:ext cx="934800" cy="934800"/>
            </a:xfrm>
            <a:prstGeom prst="ellipse">
              <a:avLst/>
            </a:prstGeom>
            <a:solidFill>
              <a:srgbClr val="2074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0"/>
            <p:cNvSpPr/>
            <p:nvPr/>
          </p:nvSpPr>
          <p:spPr>
            <a:xfrm>
              <a:off x="447325" y="409432"/>
              <a:ext cx="152400" cy="4923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62" name="Google Shape;62;p10"/>
            <p:cNvSpPr/>
            <p:nvPr/>
          </p:nvSpPr>
          <p:spPr>
            <a:xfrm>
              <a:off x="689375" y="409432"/>
              <a:ext cx="152400" cy="4923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grpSp>
      <p:sp>
        <p:nvSpPr>
          <p:cNvPr id="63" name="Google Shape;63;p10"/>
          <p:cNvSpPr txBox="1"/>
          <p:nvPr>
            <p:ph idx="1" type="body"/>
          </p:nvPr>
        </p:nvSpPr>
        <p:spPr>
          <a:xfrm>
            <a:off x="905400" y="1537450"/>
            <a:ext cx="7333200" cy="29403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lipped Assertion-Evidence">
  <p:cSld name="TITLE_AND_BODY_1_1_1">
    <p:spTree>
      <p:nvGrpSpPr>
        <p:cNvPr id="64" name="Shape 64"/>
        <p:cNvGrpSpPr/>
        <p:nvPr/>
      </p:nvGrpSpPr>
      <p:grpSpPr>
        <a:xfrm>
          <a:off x="0" y="0"/>
          <a:ext cx="0" cy="0"/>
          <a:chOff x="0" y="0"/>
          <a:chExt cx="0" cy="0"/>
        </a:xfrm>
      </p:grpSpPr>
      <p:sp>
        <p:nvSpPr>
          <p:cNvPr id="65" name="Google Shape;65;p11"/>
          <p:cNvSpPr txBox="1"/>
          <p:nvPr>
            <p:ph type="title"/>
          </p:nvPr>
        </p:nvSpPr>
        <p:spPr>
          <a:xfrm>
            <a:off x="311700" y="402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66" name="Google Shape;6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11"/>
          <p:cNvSpPr/>
          <p:nvPr/>
        </p:nvSpPr>
        <p:spPr>
          <a:xfrm>
            <a:off x="0" y="402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68" name="Google Shape;68;p11"/>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9" name="Shape 69"/>
        <p:cNvGrpSpPr/>
        <p:nvPr/>
      </p:nvGrpSpPr>
      <p:grpSpPr>
        <a:xfrm>
          <a:off x="0" y="0"/>
          <a:ext cx="0" cy="0"/>
          <a:chOff x="0" y="0"/>
          <a:chExt cx="0" cy="0"/>
        </a:xfrm>
      </p:grpSpPr>
      <p:sp>
        <p:nvSpPr>
          <p:cNvPr id="70" name="Google Shape;70;p12"/>
          <p:cNvSpPr txBox="1"/>
          <p:nvPr>
            <p:ph idx="1" type="body"/>
          </p:nvPr>
        </p:nvSpPr>
        <p:spPr>
          <a:xfrm>
            <a:off x="311700" y="1275238"/>
            <a:ext cx="3999900" cy="3293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1" name="Google Shape;71;p12"/>
          <p:cNvSpPr txBox="1"/>
          <p:nvPr>
            <p:ph idx="2" type="body"/>
          </p:nvPr>
        </p:nvSpPr>
        <p:spPr>
          <a:xfrm>
            <a:off x="4832400" y="1275238"/>
            <a:ext cx="3999900" cy="32937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72" name="Google Shape;72;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2"/>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pic>
        <p:nvPicPr>
          <p:cNvPr descr="C:\Users\lt107\Desktop\3x\Asset 2@3x.png" id="74" name="Google Shape;74;p12"/>
          <p:cNvPicPr preferRelativeResize="0"/>
          <p:nvPr/>
        </p:nvPicPr>
        <p:blipFill rotWithShape="1">
          <a:blip r:embed="rId2">
            <a:alphaModFix/>
          </a:blip>
          <a:srcRect b="0" l="0" r="0" t="0"/>
          <a:stretch/>
        </p:blipFill>
        <p:spPr>
          <a:xfrm>
            <a:off x="363818" y="4781550"/>
            <a:ext cx="588358" cy="230832"/>
          </a:xfrm>
          <a:prstGeom prst="rect">
            <a:avLst/>
          </a:prstGeom>
          <a:noFill/>
          <a:ln>
            <a:noFill/>
          </a:ln>
        </p:spPr>
      </p:pic>
      <p:sp>
        <p:nvSpPr>
          <p:cNvPr id="75" name="Google Shape;75;p12"/>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76" name="Google Shape;76;p12"/>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13"/>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p:txBody>
      </p:sp>
      <p:sp>
        <p:nvSpPr>
          <p:cNvPr id="79" name="Google Shape;7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0" name="Google Shape;80;p13"/>
          <p:cNvSpPr/>
          <p:nvPr/>
        </p:nvSpPr>
        <p:spPr>
          <a:xfrm>
            <a:off x="0"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81" name="Google Shape;81;p13"/>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pic>
        <p:nvPicPr>
          <p:cNvPr descr="C:\Users\lt107\Desktop\3x\Asset 2@3x.png" id="82" name="Google Shape;82;p13"/>
          <p:cNvPicPr preferRelativeResize="0"/>
          <p:nvPr/>
        </p:nvPicPr>
        <p:blipFill rotWithShape="1">
          <a:blip r:embed="rId2">
            <a:alphaModFix/>
          </a:blip>
          <a:srcRect b="0" l="0" r="0" t="0"/>
          <a:stretch/>
        </p:blipFill>
        <p:spPr>
          <a:xfrm>
            <a:off x="363818" y="4781550"/>
            <a:ext cx="588358" cy="23083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4"/>
          <p:cNvSpPr txBox="1"/>
          <p:nvPr>
            <p:ph idx="1" type="body"/>
          </p:nvPr>
        </p:nvSpPr>
        <p:spPr>
          <a:xfrm>
            <a:off x="311700" y="1228775"/>
            <a:ext cx="2808000" cy="3340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85" name="Google Shape;8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4"/>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pic>
        <p:nvPicPr>
          <p:cNvPr descr="C:\Users\lt107\Desktop\3x\Asset 2@3x.png" id="87" name="Google Shape;87;p14"/>
          <p:cNvPicPr preferRelativeResize="0"/>
          <p:nvPr/>
        </p:nvPicPr>
        <p:blipFill rotWithShape="1">
          <a:blip r:embed="rId2">
            <a:alphaModFix/>
          </a:blip>
          <a:srcRect b="0" l="0" r="0" t="0"/>
          <a:stretch/>
        </p:blipFill>
        <p:spPr>
          <a:xfrm>
            <a:off x="363818" y="4781550"/>
            <a:ext cx="588358" cy="230832"/>
          </a:xfrm>
          <a:prstGeom prst="rect">
            <a:avLst/>
          </a:prstGeom>
          <a:noFill/>
          <a:ln>
            <a:noFill/>
          </a:ln>
        </p:spPr>
      </p:pic>
      <p:sp>
        <p:nvSpPr>
          <p:cNvPr id="88" name="Google Shape;88;p14"/>
          <p:cNvSpPr txBox="1"/>
          <p:nvPr>
            <p:ph type="title"/>
          </p:nvPr>
        </p:nvSpPr>
        <p:spPr>
          <a:xfrm>
            <a:off x="311700" y="216425"/>
            <a:ext cx="8520600" cy="9348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89" name="Google Shape;89;p14"/>
          <p:cNvSpPr/>
          <p:nvPr/>
        </p:nvSpPr>
        <p:spPr>
          <a:xfrm>
            <a:off x="0" y="216419"/>
            <a:ext cx="152400" cy="9348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0" name="Shape 90"/>
        <p:cNvGrpSpPr/>
        <p:nvPr/>
      </p:nvGrpSpPr>
      <p:grpSpPr>
        <a:xfrm>
          <a:off x="0" y="0"/>
          <a:ext cx="0" cy="0"/>
          <a:chOff x="0" y="0"/>
          <a:chExt cx="0" cy="0"/>
        </a:xfrm>
      </p:grpSpPr>
      <p:sp>
        <p:nvSpPr>
          <p:cNvPr id="91" name="Google Shape;91;p1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92" name="Google Shape;92;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descr="C:\Users\lt107\Desktop\3x\Asset 2@3x.png" id="93" name="Google Shape;93;p15"/>
          <p:cNvPicPr preferRelativeResize="0"/>
          <p:nvPr/>
        </p:nvPicPr>
        <p:blipFill rotWithShape="1">
          <a:blip r:embed="rId2">
            <a:alphaModFix/>
          </a:blip>
          <a:srcRect b="0" l="0" r="0" t="0"/>
          <a:stretch/>
        </p:blipFill>
        <p:spPr>
          <a:xfrm>
            <a:off x="363818" y="4781550"/>
            <a:ext cx="588358" cy="23083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4" name="Shape 94"/>
        <p:cNvGrpSpPr/>
        <p:nvPr/>
      </p:nvGrpSpPr>
      <p:grpSpPr>
        <a:xfrm>
          <a:off x="0" y="0"/>
          <a:ext cx="0" cy="0"/>
          <a:chOff x="0" y="0"/>
          <a:chExt cx="0" cy="0"/>
        </a:xfrm>
      </p:grpSpPr>
      <p:sp>
        <p:nvSpPr>
          <p:cNvPr id="95" name="Google Shape;95;p1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97" name="Google Shape;97;p16"/>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8" name="Google Shape;98;p1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99" name="Google Shape;9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descr="C:\Users\lt107\Desktop\3x\Asset 2@3x.png" id="100" name="Google Shape;100;p16"/>
          <p:cNvPicPr preferRelativeResize="0"/>
          <p:nvPr/>
        </p:nvPicPr>
        <p:blipFill rotWithShape="1">
          <a:blip r:embed="rId2">
            <a:alphaModFix/>
          </a:blip>
          <a:srcRect b="0" l="0" r="0" t="0"/>
          <a:stretch/>
        </p:blipFill>
        <p:spPr>
          <a:xfrm>
            <a:off x="363818" y="4781550"/>
            <a:ext cx="588358" cy="230832"/>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1" name="Shape 101"/>
        <p:cNvGrpSpPr/>
        <p:nvPr/>
      </p:nvGrpSpPr>
      <p:grpSpPr>
        <a:xfrm>
          <a:off x="0" y="0"/>
          <a:ext cx="0" cy="0"/>
          <a:chOff x="0" y="0"/>
          <a:chExt cx="0" cy="0"/>
        </a:xfrm>
      </p:grpSpPr>
      <p:sp>
        <p:nvSpPr>
          <p:cNvPr id="102" name="Google Shape;102;p1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03" name="Google Shape;103;p17"/>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104" name="Google Shape;104;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descr="C:\Users\lt107\Desktop\3x\Asset 2@3x.png" id="105" name="Google Shape;105;p17"/>
          <p:cNvPicPr preferRelativeResize="0"/>
          <p:nvPr/>
        </p:nvPicPr>
        <p:blipFill rotWithShape="1">
          <a:blip r:embed="rId2">
            <a:alphaModFix/>
          </a:blip>
          <a:srcRect b="0" l="0" r="0" t="0"/>
          <a:stretch/>
        </p:blipFill>
        <p:spPr>
          <a:xfrm>
            <a:off x="363818" y="4781550"/>
            <a:ext cx="588358" cy="230832"/>
          </a:xfrm>
          <a:prstGeom prst="rect">
            <a:avLst/>
          </a:prstGeom>
          <a:noFill/>
          <a:ln>
            <a:noFill/>
          </a:ln>
        </p:spPr>
      </p:pic>
      <p:sp>
        <p:nvSpPr>
          <p:cNvPr id="106" name="Google Shape;106;p17"/>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Frame">
  <p:cSld name="BIG_NUMBER_1">
    <p:spTree>
      <p:nvGrpSpPr>
        <p:cNvPr id="107" name="Shape 107"/>
        <p:cNvGrpSpPr/>
        <p:nvPr/>
      </p:nvGrpSpPr>
      <p:grpSpPr>
        <a:xfrm>
          <a:off x="0" y="0"/>
          <a:ext cx="0" cy="0"/>
          <a:chOff x="0" y="0"/>
          <a:chExt cx="0" cy="0"/>
        </a:xfrm>
      </p:grpSpPr>
      <p:sp>
        <p:nvSpPr>
          <p:cNvPr id="108" name="Google Shape;108;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descr="C:\Users\lt107\Desktop\3x\Asset 2@3x.png" id="109" name="Google Shape;109;p18"/>
          <p:cNvPicPr preferRelativeResize="0"/>
          <p:nvPr/>
        </p:nvPicPr>
        <p:blipFill rotWithShape="1">
          <a:blip r:embed="rId2">
            <a:alphaModFix/>
          </a:blip>
          <a:srcRect b="0" l="0" r="0" t="0"/>
          <a:stretch/>
        </p:blipFill>
        <p:spPr>
          <a:xfrm>
            <a:off x="363818" y="4781550"/>
            <a:ext cx="588358" cy="230832"/>
          </a:xfrm>
          <a:prstGeom prst="rect">
            <a:avLst/>
          </a:prstGeom>
          <a:noFill/>
          <a:ln>
            <a:noFill/>
          </a:ln>
        </p:spPr>
      </p:pic>
      <p:sp>
        <p:nvSpPr>
          <p:cNvPr id="110" name="Google Shape;110;p18"/>
          <p:cNvSpPr/>
          <p:nvPr/>
        </p:nvSpPr>
        <p:spPr>
          <a:xfrm rot="10800000">
            <a:off x="8564662" y="827"/>
            <a:ext cx="585000" cy="572100"/>
          </a:xfrm>
          <a:prstGeom prst="rtTriangle">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1" name="Shape 111"/>
        <p:cNvGrpSpPr/>
        <p:nvPr/>
      </p:nvGrpSpPr>
      <p:grpSpPr>
        <a:xfrm>
          <a:off x="0" y="0"/>
          <a:ext cx="0" cy="0"/>
          <a:chOff x="0" y="0"/>
          <a:chExt cx="0" cy="0"/>
        </a:xfrm>
      </p:grpSpPr>
      <p:sp>
        <p:nvSpPr>
          <p:cNvPr id="112" name="Google Shape;112;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3">
  <p:cSld name="BLANK_3">
    <p:spTree>
      <p:nvGrpSpPr>
        <p:cNvPr id="113" name="Shape 113"/>
        <p:cNvGrpSpPr/>
        <p:nvPr/>
      </p:nvGrpSpPr>
      <p:grpSpPr>
        <a:xfrm>
          <a:off x="0" y="0"/>
          <a:ext cx="0" cy="0"/>
          <a:chOff x="0" y="0"/>
          <a:chExt cx="0" cy="0"/>
        </a:xfrm>
      </p:grpSpPr>
      <p:sp>
        <p:nvSpPr>
          <p:cNvPr id="114" name="Google Shape;114;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20"/>
          <p:cNvSpPr/>
          <p:nvPr/>
        </p:nvSpPr>
        <p:spPr>
          <a:xfrm>
            <a:off x="3408394" y="326707"/>
            <a:ext cx="152400" cy="492300"/>
          </a:xfrm>
          <a:prstGeom prst="rect">
            <a:avLst/>
          </a:prstGeom>
          <a:solidFill>
            <a:srgbClr val="2074B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 sz="1800">
                <a:solidFill>
                  <a:srgbClr val="FFFFFF"/>
                </a:solidFill>
                <a:latin typeface="Calibri"/>
                <a:ea typeface="Calibri"/>
                <a:cs typeface="Calibri"/>
                <a:sym typeface="Calibri"/>
              </a:rPr>
              <a:t> </a:t>
            </a:r>
            <a:endParaRPr sz="1800">
              <a:solidFill>
                <a:srgbClr val="FFFFFF"/>
              </a:solidFill>
              <a:latin typeface="Calibri"/>
              <a:ea typeface="Calibri"/>
              <a:cs typeface="Calibri"/>
              <a:sym typeface="Calibri"/>
            </a:endParaRPr>
          </a:p>
        </p:txBody>
      </p:sp>
      <p:sp>
        <p:nvSpPr>
          <p:cNvPr id="116" name="Google Shape;116;p20"/>
          <p:cNvSpPr txBox="1"/>
          <p:nvPr>
            <p:ph type="title"/>
          </p:nvPr>
        </p:nvSpPr>
        <p:spPr>
          <a:xfrm>
            <a:off x="3764000" y="328450"/>
            <a:ext cx="34398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2600"/>
              <a:buNone/>
              <a:defRPr b="1"/>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pic>
        <p:nvPicPr>
          <p:cNvPr descr="C:\Users\lt107\Desktop\3x\Asset 2@3x.png" id="117" name="Google Shape;117;p20"/>
          <p:cNvPicPr preferRelativeResize="0"/>
          <p:nvPr/>
        </p:nvPicPr>
        <p:blipFill rotWithShape="1">
          <a:blip r:embed="rId2">
            <a:alphaModFix/>
          </a:blip>
          <a:srcRect b="0" l="0" r="0" t="0"/>
          <a:stretch/>
        </p:blipFill>
        <p:spPr>
          <a:xfrm>
            <a:off x="3560793" y="4775250"/>
            <a:ext cx="588358" cy="23083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2">
  <p:cSld name="BLANK_2">
    <p:spTree>
      <p:nvGrpSpPr>
        <p:cNvPr id="118" name="Shape 118"/>
        <p:cNvGrpSpPr/>
        <p:nvPr/>
      </p:nvGrpSpPr>
      <p:grpSpPr>
        <a:xfrm>
          <a:off x="0" y="0"/>
          <a:ext cx="0" cy="0"/>
          <a:chOff x="0" y="0"/>
          <a:chExt cx="0" cy="0"/>
        </a:xfrm>
      </p:grpSpPr>
      <p:sp>
        <p:nvSpPr>
          <p:cNvPr id="119" name="Google Shape;119;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descr="C:\Users\lt107\Desktop\3x\Asset 2@3x.png" id="120" name="Google Shape;120;p21"/>
          <p:cNvPicPr preferRelativeResize="0"/>
          <p:nvPr/>
        </p:nvPicPr>
        <p:blipFill rotWithShape="1">
          <a:blip r:embed="rId2">
            <a:alphaModFix/>
          </a:blip>
          <a:srcRect b="0" l="0" r="0" t="0"/>
          <a:stretch/>
        </p:blipFill>
        <p:spPr>
          <a:xfrm>
            <a:off x="363818" y="4781550"/>
            <a:ext cx="588358" cy="23083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2074B9"/>
        </a:solidFill>
      </p:bgPr>
    </p:bg>
    <p:spTree>
      <p:nvGrpSpPr>
        <p:cNvPr id="121" name="Shape 121"/>
        <p:cNvGrpSpPr/>
        <p:nvPr/>
      </p:nvGrpSpPr>
      <p:grpSpPr>
        <a:xfrm>
          <a:off x="0" y="0"/>
          <a:ext cx="0" cy="0"/>
          <a:chOff x="0" y="0"/>
          <a:chExt cx="0" cy="0"/>
        </a:xfrm>
      </p:grpSpPr>
      <p:sp>
        <p:nvSpPr>
          <p:cNvPr id="122" name="Google Shape;122;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pic>
        <p:nvPicPr>
          <p:cNvPr descr="C:\Users\lt107\Desktop\3x\Asset 1@3x.png" id="123" name="Google Shape;123;p22"/>
          <p:cNvPicPr preferRelativeResize="0"/>
          <p:nvPr/>
        </p:nvPicPr>
        <p:blipFill rotWithShape="1">
          <a:blip r:embed="rId2">
            <a:alphaModFix/>
          </a:blip>
          <a:srcRect b="0" l="0" r="0" t="0"/>
          <a:stretch/>
        </p:blipFill>
        <p:spPr>
          <a:xfrm>
            <a:off x="365263" y="4761576"/>
            <a:ext cx="598075" cy="196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1">
  <p:cSld name="BLANK_1_1">
    <p:bg>
      <p:bgPr>
        <a:solidFill>
          <a:srgbClr val="2074B9"/>
        </a:solidFill>
      </p:bgPr>
    </p:bg>
    <p:spTree>
      <p:nvGrpSpPr>
        <p:cNvPr id="124" name="Shape 124"/>
        <p:cNvGrpSpPr/>
        <p:nvPr/>
      </p:nvGrpSpPr>
      <p:grpSpPr>
        <a:xfrm>
          <a:off x="0" y="0"/>
          <a:ext cx="0" cy="0"/>
          <a:chOff x="0" y="0"/>
          <a:chExt cx="0" cy="0"/>
        </a:xfrm>
      </p:grpSpPr>
      <p:sp>
        <p:nvSpPr>
          <p:cNvPr id="125" name="Google Shape;125;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164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1pPr>
            <a:lvl2pPr lvl="1">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2pPr>
            <a:lvl3pPr lvl="2">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3pPr>
            <a:lvl4pPr lvl="3">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4pPr>
            <a:lvl5pPr lvl="4">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5pPr>
            <a:lvl6pPr lvl="5">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6pPr>
            <a:lvl7pPr lvl="6">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7pPr>
            <a:lvl8pPr lvl="7">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8pPr>
            <a:lvl9pPr lvl="8">
              <a:spcBef>
                <a:spcPts val="0"/>
              </a:spcBef>
              <a:spcAft>
                <a:spcPts val="0"/>
              </a:spcAft>
              <a:buClr>
                <a:schemeClr val="dk1"/>
              </a:buClr>
              <a:buSzPts val="2600"/>
              <a:buFont typeface="Montserrat"/>
              <a:buNone/>
              <a:defRPr sz="2600">
                <a:solidFill>
                  <a:schemeClr val="dk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13.png"/><Relationship Id="rId7" Type="http://schemas.openxmlformats.org/officeDocument/2006/relationships/image" Target="../media/image12.png"/><Relationship Id="rId8"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Errors and Exceptions</a:t>
            </a:r>
            <a:endParaRPr/>
          </a:p>
        </p:txBody>
      </p:sp>
      <p:sp>
        <p:nvSpPr>
          <p:cNvPr id="131" name="Google Shape;131;p2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Errors are the mistake made while writing a program.</a:t>
            </a:r>
            <a:endParaRPr/>
          </a:p>
        </p:txBody>
      </p:sp>
      <p:sp>
        <p:nvSpPr>
          <p:cNvPr id="137" name="Google Shape;137;p25"/>
          <p:cNvSpPr/>
          <p:nvPr/>
        </p:nvSpPr>
        <p:spPr>
          <a:xfrm>
            <a:off x="2908075" y="1323825"/>
            <a:ext cx="2686500" cy="5727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rPr>
              <a:t>Types of Error</a:t>
            </a:r>
            <a:endParaRPr b="1" sz="1800">
              <a:solidFill>
                <a:srgbClr val="FFFFFF"/>
              </a:solidFill>
            </a:endParaRPr>
          </a:p>
        </p:txBody>
      </p:sp>
      <p:sp>
        <p:nvSpPr>
          <p:cNvPr id="138" name="Google Shape;138;p25"/>
          <p:cNvSpPr/>
          <p:nvPr/>
        </p:nvSpPr>
        <p:spPr>
          <a:xfrm>
            <a:off x="393475" y="2847825"/>
            <a:ext cx="2686500" cy="5727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rPr>
              <a:t>Syntax Error</a:t>
            </a:r>
            <a:endParaRPr b="1" sz="1800">
              <a:solidFill>
                <a:srgbClr val="FFFFFF"/>
              </a:solidFill>
            </a:endParaRPr>
          </a:p>
        </p:txBody>
      </p:sp>
      <p:sp>
        <p:nvSpPr>
          <p:cNvPr id="139" name="Google Shape;139;p25"/>
          <p:cNvSpPr/>
          <p:nvPr/>
        </p:nvSpPr>
        <p:spPr>
          <a:xfrm>
            <a:off x="5498875" y="2847825"/>
            <a:ext cx="2686500" cy="5727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FFFFFF"/>
                </a:solidFill>
              </a:rPr>
              <a:t>Logical Error / Exception</a:t>
            </a:r>
            <a:endParaRPr b="1" sz="1800">
              <a:solidFill>
                <a:srgbClr val="FFFFFF"/>
              </a:solidFill>
            </a:endParaRPr>
          </a:p>
        </p:txBody>
      </p:sp>
      <p:cxnSp>
        <p:nvCxnSpPr>
          <p:cNvPr id="140" name="Google Shape;140;p25"/>
          <p:cNvCxnSpPr>
            <a:stCxn id="137" idx="2"/>
          </p:cNvCxnSpPr>
          <p:nvPr/>
        </p:nvCxnSpPr>
        <p:spPr>
          <a:xfrm>
            <a:off x="4251325" y="1896525"/>
            <a:ext cx="0" cy="339600"/>
          </a:xfrm>
          <a:prstGeom prst="straightConnector1">
            <a:avLst/>
          </a:prstGeom>
          <a:noFill/>
          <a:ln cap="flat" cmpd="sng" w="19050">
            <a:solidFill>
              <a:schemeClr val="dk2"/>
            </a:solidFill>
            <a:prstDash val="solid"/>
            <a:round/>
            <a:headEnd len="med" w="med" type="none"/>
            <a:tailEnd len="med" w="med" type="triangle"/>
          </a:ln>
        </p:spPr>
      </p:cxnSp>
      <p:cxnSp>
        <p:nvCxnSpPr>
          <p:cNvPr id="141" name="Google Shape;141;p25"/>
          <p:cNvCxnSpPr/>
          <p:nvPr/>
        </p:nvCxnSpPr>
        <p:spPr>
          <a:xfrm>
            <a:off x="1736725" y="2236075"/>
            <a:ext cx="5176200" cy="0"/>
          </a:xfrm>
          <a:prstGeom prst="straightConnector1">
            <a:avLst/>
          </a:prstGeom>
          <a:noFill/>
          <a:ln cap="flat" cmpd="sng" w="19050">
            <a:solidFill>
              <a:schemeClr val="dk2"/>
            </a:solidFill>
            <a:prstDash val="solid"/>
            <a:round/>
            <a:headEnd len="med" w="med" type="none"/>
            <a:tailEnd len="med" w="med" type="none"/>
          </a:ln>
        </p:spPr>
      </p:cxnSp>
      <p:cxnSp>
        <p:nvCxnSpPr>
          <p:cNvPr id="142" name="Google Shape;142;p25"/>
          <p:cNvCxnSpPr>
            <a:endCxn id="138" idx="0"/>
          </p:cNvCxnSpPr>
          <p:nvPr/>
        </p:nvCxnSpPr>
        <p:spPr>
          <a:xfrm>
            <a:off x="1736725" y="2257725"/>
            <a:ext cx="0" cy="590100"/>
          </a:xfrm>
          <a:prstGeom prst="straightConnector1">
            <a:avLst/>
          </a:prstGeom>
          <a:noFill/>
          <a:ln cap="flat" cmpd="sng" w="19050">
            <a:solidFill>
              <a:schemeClr val="dk2"/>
            </a:solidFill>
            <a:prstDash val="solid"/>
            <a:round/>
            <a:headEnd len="med" w="med" type="none"/>
            <a:tailEnd len="med" w="med" type="triangle"/>
          </a:ln>
        </p:spPr>
      </p:cxnSp>
      <p:cxnSp>
        <p:nvCxnSpPr>
          <p:cNvPr id="143" name="Google Shape;143;p25"/>
          <p:cNvCxnSpPr/>
          <p:nvPr/>
        </p:nvCxnSpPr>
        <p:spPr>
          <a:xfrm>
            <a:off x="6918325" y="2257750"/>
            <a:ext cx="0" cy="5901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1000"/>
                                        <p:tgtEl>
                                          <p:spTgt spid="137"/>
                                        </p:tgtEl>
                                      </p:cBhvr>
                                    </p:animEffect>
                                  </p:childTnLst>
                                </p:cTn>
                              </p:par>
                              <p:par>
                                <p:cTn fill="hold" nodeType="with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1000"/>
                                        <p:tgtEl>
                                          <p:spTgt spid="138"/>
                                        </p:tgtEl>
                                      </p:cBhvr>
                                    </p:animEffect>
                                  </p:childTnLst>
                                </p:cTn>
                              </p:par>
                              <p:par>
                                <p:cTn fill="hold" nodeType="with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par>
                                <p:cTn fill="hold" nodeType="with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par>
                                <p:cTn fill="hold" nodeType="with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1000"/>
                                        <p:tgtEl>
                                          <p:spTgt spid="141"/>
                                        </p:tgtEl>
                                      </p:cBhvr>
                                    </p:animEffect>
                                  </p:childTnLst>
                                </p:cTn>
                              </p:par>
                              <p:par>
                                <p:cTn fill="hold" nodeType="with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par>
                                <p:cTn fill="hold" nodeType="with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10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900"/>
              <a:t>Syntax error are the mistakes in the use of python language and are analogous to the grammatical mistakes in language like English</a:t>
            </a:r>
            <a:endParaRPr sz="1900"/>
          </a:p>
        </p:txBody>
      </p:sp>
      <p:sp>
        <p:nvSpPr>
          <p:cNvPr id="149" name="Google Shape;149;p26"/>
          <p:cNvSpPr txBox="1"/>
          <p:nvPr>
            <p:ph idx="1" type="body"/>
          </p:nvPr>
        </p:nvSpPr>
        <p:spPr>
          <a:xfrm>
            <a:off x="1039425" y="1869625"/>
            <a:ext cx="7848900" cy="22287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450">
                <a:solidFill>
                  <a:srgbClr val="008000"/>
                </a:solidFill>
                <a:highlight>
                  <a:srgbClr val="FFFFFE"/>
                </a:highlight>
                <a:latin typeface="Courier New"/>
                <a:ea typeface="Courier New"/>
                <a:cs typeface="Courier New"/>
                <a:sym typeface="Courier New"/>
              </a:rPr>
              <a:t># initialize the variable</a:t>
            </a:r>
            <a:endParaRPr sz="14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450">
                <a:solidFill>
                  <a:schemeClr val="dk1"/>
                </a:solidFill>
                <a:highlight>
                  <a:srgbClr val="FFFFFE"/>
                </a:highlight>
                <a:latin typeface="Courier New"/>
                <a:ea typeface="Courier New"/>
                <a:cs typeface="Courier New"/>
                <a:sym typeface="Courier New"/>
              </a:rPr>
              <a:t>threshold = </a:t>
            </a:r>
            <a:r>
              <a:rPr lang="en" sz="1450">
                <a:solidFill>
                  <a:srgbClr val="09885A"/>
                </a:solidFill>
                <a:highlight>
                  <a:srgbClr val="FFFFFE"/>
                </a:highlight>
                <a:latin typeface="Courier New"/>
                <a:ea typeface="Courier New"/>
                <a:cs typeface="Courier New"/>
                <a:sym typeface="Courier New"/>
              </a:rPr>
              <a:t>100</a:t>
            </a:r>
            <a:endParaRPr sz="14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450">
                <a:solidFill>
                  <a:schemeClr val="dk1"/>
                </a:solidFill>
                <a:highlight>
                  <a:srgbClr val="FFFFFE"/>
                </a:highlight>
                <a:latin typeface="Courier New"/>
                <a:ea typeface="Courier New"/>
                <a:cs typeface="Courier New"/>
                <a:sym typeface="Courier New"/>
              </a:rPr>
              <a:t>number = </a:t>
            </a:r>
            <a:r>
              <a:rPr lang="en" sz="1450">
                <a:solidFill>
                  <a:srgbClr val="09885A"/>
                </a:solidFill>
                <a:highlight>
                  <a:srgbClr val="FFFFFE"/>
                </a:highlight>
                <a:latin typeface="Courier New"/>
                <a:ea typeface="Courier New"/>
                <a:cs typeface="Courier New"/>
                <a:sym typeface="Courier New"/>
              </a:rPr>
              <a:t>2</a:t>
            </a:r>
            <a:endParaRPr sz="14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4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450">
                <a:solidFill>
                  <a:srgbClr val="008000"/>
                </a:solidFill>
                <a:highlight>
                  <a:srgbClr val="FFFFFE"/>
                </a:highlight>
                <a:latin typeface="Courier New"/>
                <a:ea typeface="Courier New"/>
                <a:cs typeface="Courier New"/>
                <a:sym typeface="Courier New"/>
              </a:rPr>
              <a:t># check if the number is smaller than threshold</a:t>
            </a:r>
            <a:endParaRPr sz="14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450">
                <a:solidFill>
                  <a:srgbClr val="AF00DB"/>
                </a:solidFill>
                <a:highlight>
                  <a:srgbClr val="FFFFFE"/>
                </a:highlight>
                <a:latin typeface="Courier New"/>
                <a:ea typeface="Courier New"/>
                <a:cs typeface="Courier New"/>
                <a:sym typeface="Courier New"/>
              </a:rPr>
              <a:t>if</a:t>
            </a:r>
            <a:r>
              <a:rPr lang="en" sz="1450">
                <a:solidFill>
                  <a:schemeClr val="dk1"/>
                </a:solidFill>
                <a:highlight>
                  <a:srgbClr val="FFFFFE"/>
                </a:highlight>
                <a:latin typeface="Courier New"/>
                <a:ea typeface="Courier New"/>
                <a:cs typeface="Courier New"/>
                <a:sym typeface="Courier New"/>
              </a:rPr>
              <a:t> (number&lt;threshold)</a:t>
            </a:r>
            <a:endParaRPr sz="14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450">
                <a:solidFill>
                  <a:schemeClr val="dk1"/>
                </a:solidFill>
                <a:highlight>
                  <a:srgbClr val="FFFFFE"/>
                </a:highlight>
                <a:latin typeface="Courier New"/>
                <a:ea typeface="Courier New"/>
                <a:cs typeface="Courier New"/>
                <a:sym typeface="Courier New"/>
              </a:rPr>
              <a:t>   </a:t>
            </a:r>
            <a:r>
              <a:rPr lang="en" sz="1450">
                <a:solidFill>
                  <a:srgbClr val="795E26"/>
                </a:solidFill>
                <a:highlight>
                  <a:srgbClr val="FFFFFE"/>
                </a:highlight>
                <a:latin typeface="Courier New"/>
                <a:ea typeface="Courier New"/>
                <a:cs typeface="Courier New"/>
                <a:sym typeface="Courier New"/>
              </a:rPr>
              <a:t>print</a:t>
            </a:r>
            <a:r>
              <a:rPr lang="en" sz="1450">
                <a:solidFill>
                  <a:schemeClr val="dk1"/>
                </a:solidFill>
                <a:highlight>
                  <a:srgbClr val="FFFFFE"/>
                </a:highlight>
                <a:latin typeface="Courier New"/>
                <a:ea typeface="Courier New"/>
                <a:cs typeface="Courier New"/>
                <a:sym typeface="Courier New"/>
              </a:rPr>
              <a:t>(</a:t>
            </a:r>
            <a:r>
              <a:rPr lang="en" sz="1450">
                <a:solidFill>
                  <a:srgbClr val="A31515"/>
                </a:solidFill>
                <a:highlight>
                  <a:srgbClr val="FFFFFE"/>
                </a:highlight>
                <a:latin typeface="Courier New"/>
                <a:ea typeface="Courier New"/>
                <a:cs typeface="Courier New"/>
                <a:sym typeface="Courier New"/>
              </a:rPr>
              <a:t>"The number is smaller than the threshold"</a:t>
            </a:r>
            <a:r>
              <a:rPr lang="en" sz="1450">
                <a:solidFill>
                  <a:schemeClr val="dk1"/>
                </a:solidFill>
                <a:highlight>
                  <a:srgbClr val="FFFFFE"/>
                </a:highlight>
                <a:latin typeface="Courier New"/>
                <a:ea typeface="Courier New"/>
                <a:cs typeface="Courier New"/>
                <a:sym typeface="Courier New"/>
              </a:rPr>
              <a:t>)</a:t>
            </a:r>
            <a:endParaRPr sz="2200"/>
          </a:p>
        </p:txBody>
      </p:sp>
      <p:sp>
        <p:nvSpPr>
          <p:cNvPr id="150" name="Google Shape;150;p26"/>
          <p:cNvSpPr txBox="1"/>
          <p:nvPr/>
        </p:nvSpPr>
        <p:spPr>
          <a:xfrm>
            <a:off x="2490825" y="1221400"/>
            <a:ext cx="49461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Montserrat"/>
                <a:ea typeface="Montserrat"/>
                <a:cs typeface="Montserrat"/>
                <a:sym typeface="Montserrat"/>
              </a:rPr>
              <a:t>Can you identify syntax error in the code?</a:t>
            </a:r>
            <a:endParaRPr b="1" sz="1700">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10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1000"/>
                                        <p:tgtEl>
                                          <p:spTgt spid="1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27"/>
          <p:cNvPicPr preferRelativeResize="0"/>
          <p:nvPr/>
        </p:nvPicPr>
        <p:blipFill>
          <a:blip r:embed="rId3">
            <a:alphaModFix/>
          </a:blip>
          <a:stretch>
            <a:fillRect/>
          </a:stretch>
        </p:blipFill>
        <p:spPr>
          <a:xfrm>
            <a:off x="0" y="2698136"/>
            <a:ext cx="5480076" cy="966040"/>
          </a:xfrm>
          <a:prstGeom prst="rect">
            <a:avLst/>
          </a:prstGeom>
          <a:noFill/>
          <a:ln>
            <a:noFill/>
          </a:ln>
        </p:spPr>
      </p:pic>
      <p:pic>
        <p:nvPicPr>
          <p:cNvPr id="156" name="Google Shape;156;p27"/>
          <p:cNvPicPr preferRelativeResize="0"/>
          <p:nvPr/>
        </p:nvPicPr>
        <p:blipFill>
          <a:blip r:embed="rId4">
            <a:alphaModFix/>
          </a:blip>
          <a:stretch>
            <a:fillRect/>
          </a:stretch>
        </p:blipFill>
        <p:spPr>
          <a:xfrm>
            <a:off x="391300" y="304450"/>
            <a:ext cx="5420299" cy="1549700"/>
          </a:xfrm>
          <a:prstGeom prst="rect">
            <a:avLst/>
          </a:prstGeom>
          <a:noFill/>
          <a:ln>
            <a:noFill/>
          </a:ln>
        </p:spPr>
      </p:pic>
      <p:sp>
        <p:nvSpPr>
          <p:cNvPr id="157" name="Google Shape;157;p27"/>
          <p:cNvSpPr txBox="1"/>
          <p:nvPr/>
        </p:nvSpPr>
        <p:spPr>
          <a:xfrm>
            <a:off x="6014325" y="2745525"/>
            <a:ext cx="3129600" cy="15498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Font typeface="Montserrat"/>
              <a:buAutoNum type="arabicPeriod"/>
            </a:pPr>
            <a:r>
              <a:rPr b="1" lang="en" sz="1600">
                <a:latin typeface="Montserrat"/>
                <a:ea typeface="Montserrat"/>
                <a:cs typeface="Montserrat"/>
                <a:sym typeface="Montserrat"/>
              </a:rPr>
              <a:t>File name</a:t>
            </a:r>
            <a:endParaRPr b="1" sz="1600">
              <a:latin typeface="Montserrat"/>
              <a:ea typeface="Montserrat"/>
              <a:cs typeface="Montserrat"/>
              <a:sym typeface="Montserrat"/>
            </a:endParaRPr>
          </a:p>
          <a:p>
            <a:pPr indent="-330200" lvl="0" marL="457200" rtl="0" algn="l">
              <a:lnSpc>
                <a:spcPct val="150000"/>
              </a:lnSpc>
              <a:spcBef>
                <a:spcPts val="0"/>
              </a:spcBef>
              <a:spcAft>
                <a:spcPts val="0"/>
              </a:spcAft>
              <a:buSzPts val="1600"/>
              <a:buFont typeface="Montserrat"/>
              <a:buAutoNum type="arabicPeriod"/>
            </a:pPr>
            <a:r>
              <a:rPr b="1" lang="en" sz="1600">
                <a:latin typeface="Montserrat"/>
                <a:ea typeface="Montserrat"/>
                <a:cs typeface="Montserrat"/>
                <a:sym typeface="Montserrat"/>
              </a:rPr>
              <a:t>The line number </a:t>
            </a:r>
            <a:endParaRPr b="1" sz="1600">
              <a:latin typeface="Montserrat"/>
              <a:ea typeface="Montserrat"/>
              <a:cs typeface="Montserrat"/>
              <a:sym typeface="Montserrat"/>
            </a:endParaRPr>
          </a:p>
          <a:p>
            <a:pPr indent="-330200" lvl="0" marL="457200" rtl="0" algn="l">
              <a:lnSpc>
                <a:spcPct val="150000"/>
              </a:lnSpc>
              <a:spcBef>
                <a:spcPts val="0"/>
              </a:spcBef>
              <a:spcAft>
                <a:spcPts val="0"/>
              </a:spcAft>
              <a:buSzPts val="1600"/>
              <a:buFont typeface="Montserrat"/>
              <a:buAutoNum type="arabicPeriod"/>
            </a:pPr>
            <a:r>
              <a:rPr b="1" lang="en" sz="1600">
                <a:latin typeface="Montserrat"/>
                <a:ea typeface="Montserrat"/>
                <a:cs typeface="Montserrat"/>
                <a:sym typeface="Montserrat"/>
              </a:rPr>
              <a:t>The proximate location</a:t>
            </a:r>
            <a:endParaRPr b="1" sz="1600">
              <a:latin typeface="Montserrat"/>
              <a:ea typeface="Montserrat"/>
              <a:cs typeface="Montserrat"/>
              <a:sym typeface="Montserrat"/>
            </a:endParaRPr>
          </a:p>
          <a:p>
            <a:pPr indent="-330200" lvl="0" marL="457200" rtl="0" algn="l">
              <a:lnSpc>
                <a:spcPct val="150000"/>
              </a:lnSpc>
              <a:spcBef>
                <a:spcPts val="0"/>
              </a:spcBef>
              <a:spcAft>
                <a:spcPts val="0"/>
              </a:spcAft>
              <a:buSzPts val="1600"/>
              <a:buFont typeface="Montserrat"/>
              <a:buAutoNum type="arabicPeriod"/>
            </a:pPr>
            <a:r>
              <a:rPr b="1" lang="en" sz="1600">
                <a:latin typeface="Montserrat"/>
                <a:ea typeface="Montserrat"/>
                <a:cs typeface="Montserrat"/>
                <a:sym typeface="Montserrat"/>
              </a:rPr>
              <a:t>Error Type</a:t>
            </a:r>
            <a:endParaRPr b="1" sz="1600">
              <a:latin typeface="Montserrat"/>
              <a:ea typeface="Montserrat"/>
              <a:cs typeface="Montserrat"/>
              <a:sym typeface="Montserrat"/>
            </a:endParaRPr>
          </a:p>
        </p:txBody>
      </p:sp>
      <p:sp>
        <p:nvSpPr>
          <p:cNvPr id="158" name="Google Shape;158;p27"/>
          <p:cNvSpPr/>
          <p:nvPr/>
        </p:nvSpPr>
        <p:spPr>
          <a:xfrm>
            <a:off x="1054638" y="2663950"/>
            <a:ext cx="3370800" cy="273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7"/>
          <p:cNvSpPr/>
          <p:nvPr/>
        </p:nvSpPr>
        <p:spPr>
          <a:xfrm>
            <a:off x="5134889" y="2698125"/>
            <a:ext cx="357300" cy="273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7"/>
          <p:cNvSpPr/>
          <p:nvPr/>
        </p:nvSpPr>
        <p:spPr>
          <a:xfrm>
            <a:off x="2884971" y="3178650"/>
            <a:ext cx="245100" cy="1734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7"/>
          <p:cNvSpPr/>
          <p:nvPr/>
        </p:nvSpPr>
        <p:spPr>
          <a:xfrm>
            <a:off x="105733" y="3383925"/>
            <a:ext cx="1414200" cy="273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7"/>
          <p:cNvSpPr txBox="1"/>
          <p:nvPr/>
        </p:nvSpPr>
        <p:spPr>
          <a:xfrm>
            <a:off x="6095825" y="2277450"/>
            <a:ext cx="3048300" cy="4002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FFFF"/>
                </a:solidFill>
                <a:latin typeface="Montserrat"/>
                <a:ea typeface="Montserrat"/>
                <a:cs typeface="Montserrat"/>
                <a:sym typeface="Montserrat"/>
              </a:rPr>
              <a:t>Informations in error message</a:t>
            </a:r>
            <a:endParaRPr b="1">
              <a:solidFill>
                <a:srgbClr val="FFFFF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0" st="0"/>
                                            </p:txEl>
                                          </p:spTgt>
                                        </p:tgtEl>
                                        <p:attrNameLst>
                                          <p:attrName>style.visibility</p:attrName>
                                        </p:attrNameLst>
                                      </p:cBhvr>
                                      <p:to>
                                        <p:strVal val="visible"/>
                                      </p:to>
                                    </p:set>
                                    <p:animEffect filter="fade" transition="in">
                                      <p:cBhvr>
                                        <p:cTn dur="1000"/>
                                        <p:tgtEl>
                                          <p:spTgt spid="1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1" st="1"/>
                                            </p:txEl>
                                          </p:spTgt>
                                        </p:tgtEl>
                                        <p:attrNameLst>
                                          <p:attrName>style.visibility</p:attrName>
                                        </p:attrNameLst>
                                      </p:cBhvr>
                                      <p:to>
                                        <p:strVal val="visible"/>
                                      </p:to>
                                    </p:set>
                                    <p:animEffect filter="fade" transition="in">
                                      <p:cBhvr>
                                        <p:cTn dur="1000"/>
                                        <p:tgtEl>
                                          <p:spTgt spid="1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2" st="2"/>
                                            </p:txEl>
                                          </p:spTgt>
                                        </p:tgtEl>
                                        <p:attrNameLst>
                                          <p:attrName>style.visibility</p:attrName>
                                        </p:attrNameLst>
                                      </p:cBhvr>
                                      <p:to>
                                        <p:strVal val="visible"/>
                                      </p:to>
                                    </p:set>
                                    <p:animEffect filter="fade" transition="in">
                                      <p:cBhvr>
                                        <p:cTn dur="1000"/>
                                        <p:tgtEl>
                                          <p:spTgt spid="1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xEl>
                                              <p:pRg end="3" st="3"/>
                                            </p:txEl>
                                          </p:spTgt>
                                        </p:tgtEl>
                                        <p:attrNameLst>
                                          <p:attrName>style.visibility</p:attrName>
                                        </p:attrNameLst>
                                      </p:cBhvr>
                                      <p:to>
                                        <p:strVal val="visible"/>
                                      </p:to>
                                    </p:set>
                                    <p:animEffect filter="fade" transition="in">
                                      <p:cBhvr>
                                        <p:cTn dur="1000"/>
                                        <p:tgtEl>
                                          <p:spTgt spid="1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1000"/>
                                        <p:tgtEl>
                                          <p:spTgt spid="158"/>
                                        </p:tgtEl>
                                      </p:cBhvr>
                                    </p:animEffect>
                                  </p:childTnLst>
                                </p:cTn>
                              </p:par>
                              <p:par>
                                <p:cTn fill="hold" nodeType="with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10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8"/>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900"/>
              <a:t>Logical Errors/Exceptions occurs due to the illegal operations that are not allowed.</a:t>
            </a:r>
            <a:endParaRPr sz="1900"/>
          </a:p>
        </p:txBody>
      </p:sp>
      <p:sp>
        <p:nvSpPr>
          <p:cNvPr id="168" name="Google Shape;168;p28"/>
          <p:cNvSpPr txBox="1"/>
          <p:nvPr/>
        </p:nvSpPr>
        <p:spPr>
          <a:xfrm>
            <a:off x="1956525" y="1151650"/>
            <a:ext cx="3048300" cy="4464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rgbClr val="FFFFFF"/>
                </a:solidFill>
                <a:latin typeface="Montserrat"/>
                <a:ea typeface="Montserrat"/>
                <a:cs typeface="Montserrat"/>
                <a:sym typeface="Montserrat"/>
              </a:rPr>
              <a:t>Few logical </a:t>
            </a:r>
            <a:r>
              <a:rPr b="1" lang="en" sz="1700">
                <a:solidFill>
                  <a:srgbClr val="FFFFFF"/>
                </a:solidFill>
                <a:latin typeface="Montserrat"/>
                <a:ea typeface="Montserrat"/>
                <a:cs typeface="Montserrat"/>
                <a:sym typeface="Montserrat"/>
              </a:rPr>
              <a:t>errors:</a:t>
            </a:r>
            <a:endParaRPr b="1" sz="1700">
              <a:solidFill>
                <a:srgbClr val="FFFFFF"/>
              </a:solidFill>
              <a:latin typeface="Montserrat"/>
              <a:ea typeface="Montserrat"/>
              <a:cs typeface="Montserrat"/>
              <a:sym typeface="Montserrat"/>
            </a:endParaRPr>
          </a:p>
        </p:txBody>
      </p:sp>
      <p:sp>
        <p:nvSpPr>
          <p:cNvPr id="169" name="Google Shape;169;p28"/>
          <p:cNvSpPr txBox="1"/>
          <p:nvPr/>
        </p:nvSpPr>
        <p:spPr>
          <a:xfrm>
            <a:off x="144425" y="3136300"/>
            <a:ext cx="167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Divide a number by zero</a:t>
            </a:r>
            <a:endParaRPr>
              <a:latin typeface="Montserrat"/>
              <a:ea typeface="Montserrat"/>
              <a:cs typeface="Montserrat"/>
              <a:sym typeface="Montserrat"/>
            </a:endParaRPr>
          </a:p>
        </p:txBody>
      </p:sp>
      <p:sp>
        <p:nvSpPr>
          <p:cNvPr id="170" name="Google Shape;170;p28"/>
          <p:cNvSpPr txBox="1"/>
          <p:nvPr/>
        </p:nvSpPr>
        <p:spPr>
          <a:xfrm>
            <a:off x="2504150" y="3243988"/>
            <a:ext cx="1671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Read a file that doesn’t exist</a:t>
            </a:r>
            <a:endParaRPr>
              <a:latin typeface="Montserrat"/>
              <a:ea typeface="Montserrat"/>
              <a:cs typeface="Montserrat"/>
              <a:sym typeface="Montserrat"/>
            </a:endParaRPr>
          </a:p>
        </p:txBody>
      </p:sp>
      <p:pic>
        <p:nvPicPr>
          <p:cNvPr descr="\frac{1}{0}" id="171" name="Google Shape;171;p28" title="MathEquation,#000000"/>
          <p:cNvPicPr preferRelativeResize="0"/>
          <p:nvPr/>
        </p:nvPicPr>
        <p:blipFill>
          <a:blip r:embed="rId3">
            <a:alphaModFix/>
          </a:blip>
          <a:stretch>
            <a:fillRect/>
          </a:stretch>
        </p:blipFill>
        <p:spPr>
          <a:xfrm>
            <a:off x="653150" y="2089150"/>
            <a:ext cx="334430" cy="634999"/>
          </a:xfrm>
          <a:prstGeom prst="rect">
            <a:avLst/>
          </a:prstGeom>
          <a:noFill/>
          <a:ln>
            <a:noFill/>
          </a:ln>
        </p:spPr>
      </p:pic>
      <p:sp>
        <p:nvSpPr>
          <p:cNvPr id="172" name="Google Shape;172;p28"/>
          <p:cNvSpPr/>
          <p:nvPr/>
        </p:nvSpPr>
        <p:spPr>
          <a:xfrm>
            <a:off x="2883950" y="2036111"/>
            <a:ext cx="911700" cy="1071300"/>
          </a:xfrm>
          <a:prstGeom prst="snip1Rect">
            <a:avLst>
              <a:gd fmla="val 26637" name="adj"/>
            </a:avLst>
          </a:prstGeom>
          <a:solidFill>
            <a:srgbClr val="FFFFFF"/>
          </a:solidFill>
          <a:ln cap="flat" cmpd="sng" w="19050">
            <a:solidFill>
              <a:srgbClr val="3A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8"/>
          <p:cNvSpPr txBox="1"/>
          <p:nvPr/>
        </p:nvSpPr>
        <p:spPr>
          <a:xfrm>
            <a:off x="4953000" y="3244000"/>
            <a:ext cx="2194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Import module that doesn’t exist</a:t>
            </a:r>
            <a:endParaRPr>
              <a:latin typeface="Montserrat"/>
              <a:ea typeface="Montserrat"/>
              <a:cs typeface="Montserrat"/>
              <a:sym typeface="Montserrat"/>
            </a:endParaRPr>
          </a:p>
        </p:txBody>
      </p:sp>
      <p:sp>
        <p:nvSpPr>
          <p:cNvPr id="174" name="Google Shape;174;p28"/>
          <p:cNvSpPr txBox="1"/>
          <p:nvPr/>
        </p:nvSpPr>
        <p:spPr>
          <a:xfrm>
            <a:off x="4858150" y="2062600"/>
            <a:ext cx="2289300" cy="4464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550">
                <a:solidFill>
                  <a:srgbClr val="AF00DB"/>
                </a:solidFill>
                <a:highlight>
                  <a:srgbClr val="FFFFFE"/>
                </a:highlight>
                <a:latin typeface="Courier New"/>
                <a:ea typeface="Courier New"/>
                <a:cs typeface="Courier New"/>
                <a:sym typeface="Courier New"/>
              </a:rPr>
              <a:t>from</a:t>
            </a:r>
            <a:r>
              <a:rPr lang="en" sz="1550">
                <a:solidFill>
                  <a:schemeClr val="dk1"/>
                </a:solidFill>
                <a:highlight>
                  <a:srgbClr val="FFFFFE"/>
                </a:highlight>
                <a:latin typeface="Courier New"/>
                <a:ea typeface="Courier New"/>
                <a:cs typeface="Courier New"/>
                <a:sym typeface="Courier New"/>
              </a:rPr>
              <a:t> math </a:t>
            </a:r>
            <a:r>
              <a:rPr lang="en" sz="1550">
                <a:solidFill>
                  <a:srgbClr val="AF00DB"/>
                </a:solidFill>
                <a:highlight>
                  <a:srgbClr val="FFFFFE"/>
                </a:highlight>
                <a:latin typeface="Courier New"/>
                <a:ea typeface="Courier New"/>
                <a:cs typeface="Courier New"/>
                <a:sym typeface="Courier New"/>
              </a:rPr>
              <a:t>import</a:t>
            </a:r>
            <a:r>
              <a:rPr lang="en" sz="1550">
                <a:solidFill>
                  <a:schemeClr val="dk1"/>
                </a:solidFill>
                <a:highlight>
                  <a:srgbClr val="FFFFFE"/>
                </a:highlight>
                <a:latin typeface="Courier New"/>
                <a:ea typeface="Courier New"/>
                <a:cs typeface="Courier New"/>
                <a:sym typeface="Courier New"/>
              </a:rPr>
              <a:t> square</a:t>
            </a:r>
            <a:endParaRPr sz="15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sz="1900">
              <a:latin typeface="Montserrat"/>
              <a:ea typeface="Montserrat"/>
              <a:cs typeface="Montserrat"/>
              <a:sym typeface="Montserrat"/>
            </a:endParaRPr>
          </a:p>
        </p:txBody>
      </p:sp>
      <p:sp>
        <p:nvSpPr>
          <p:cNvPr id="175" name="Google Shape;175;p28"/>
          <p:cNvSpPr txBox="1"/>
          <p:nvPr/>
        </p:nvSpPr>
        <p:spPr>
          <a:xfrm>
            <a:off x="7624450" y="3244000"/>
            <a:ext cx="144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a</a:t>
            </a:r>
            <a:r>
              <a:rPr lang="en">
                <a:latin typeface="Montserrat"/>
                <a:ea typeface="Montserrat"/>
                <a:cs typeface="Montserrat"/>
                <a:sym typeface="Montserrat"/>
              </a:rPr>
              <a:t>nd so on…...</a:t>
            </a:r>
            <a:endParaRPr>
              <a:latin typeface="Montserrat"/>
              <a:ea typeface="Montserrat"/>
              <a:cs typeface="Montserrat"/>
              <a:sym typeface="Montserrat"/>
            </a:endParaRPr>
          </a:p>
        </p:txBody>
      </p:sp>
      <p:sp>
        <p:nvSpPr>
          <p:cNvPr id="176" name="Google Shape;176;p28"/>
          <p:cNvSpPr txBox="1"/>
          <p:nvPr/>
        </p:nvSpPr>
        <p:spPr>
          <a:xfrm>
            <a:off x="10325" y="3954100"/>
            <a:ext cx="1939500" cy="392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350">
                <a:solidFill>
                  <a:srgbClr val="001080"/>
                </a:solidFill>
                <a:highlight>
                  <a:srgbClr val="FFFFFE"/>
                </a:highlight>
                <a:latin typeface="Courier New"/>
                <a:ea typeface="Courier New"/>
                <a:cs typeface="Courier New"/>
                <a:sym typeface="Courier New"/>
              </a:rPr>
              <a:t>ZeroDivisionError</a:t>
            </a:r>
            <a:endParaRPr sz="1700">
              <a:latin typeface="Montserrat"/>
              <a:ea typeface="Montserrat"/>
              <a:cs typeface="Montserrat"/>
              <a:sym typeface="Montserrat"/>
            </a:endParaRPr>
          </a:p>
        </p:txBody>
      </p:sp>
      <p:sp>
        <p:nvSpPr>
          <p:cNvPr id="177" name="Google Shape;177;p28"/>
          <p:cNvSpPr txBox="1"/>
          <p:nvPr/>
        </p:nvSpPr>
        <p:spPr>
          <a:xfrm>
            <a:off x="2444625" y="3933475"/>
            <a:ext cx="1939500" cy="674400"/>
          </a:xfrm>
          <a:prstGeom prst="rect">
            <a:avLst/>
          </a:prstGeom>
          <a:noFill/>
          <a:ln>
            <a:noFill/>
          </a:ln>
        </p:spPr>
        <p:txBody>
          <a:bodyPr anchorCtr="0" anchor="t" bIns="91425" lIns="91425" spcFirstLastPara="1" rIns="91425" wrap="square" tIns="91425">
            <a:spAutoFit/>
          </a:bodyPr>
          <a:lstStyle/>
          <a:p>
            <a:pPr indent="0" lvl="0" marL="0" marR="0" rtl="0" algn="l">
              <a:lnSpc>
                <a:spcPct val="135714"/>
              </a:lnSpc>
              <a:spcBef>
                <a:spcPts val="0"/>
              </a:spcBef>
              <a:spcAft>
                <a:spcPts val="0"/>
              </a:spcAft>
              <a:buNone/>
            </a:pPr>
            <a:r>
              <a:rPr lang="en" sz="1350">
                <a:solidFill>
                  <a:srgbClr val="001080"/>
                </a:solidFill>
                <a:highlight>
                  <a:srgbClr val="FFFFFE"/>
                </a:highlight>
                <a:latin typeface="Courier New"/>
                <a:ea typeface="Courier New"/>
                <a:cs typeface="Courier New"/>
                <a:sym typeface="Courier New"/>
              </a:rPr>
              <a:t>FileNotFoundError</a:t>
            </a:r>
            <a:endParaRPr sz="1350">
              <a:solidFill>
                <a:srgbClr val="001080"/>
              </a:solidFill>
              <a:highlight>
                <a:srgbClr val="FFFFFE"/>
              </a:highlight>
              <a:latin typeface="Courier New"/>
              <a:ea typeface="Courier New"/>
              <a:cs typeface="Courier New"/>
              <a:sym typeface="Courier New"/>
            </a:endParaRPr>
          </a:p>
          <a:p>
            <a:pPr indent="0" lvl="0" marL="0" marR="0" rtl="0" algn="l">
              <a:lnSpc>
                <a:spcPct val="135714"/>
              </a:lnSpc>
              <a:spcBef>
                <a:spcPts val="0"/>
              </a:spcBef>
              <a:spcAft>
                <a:spcPts val="0"/>
              </a:spcAft>
              <a:buNone/>
            </a:pPr>
            <a:r>
              <a:t/>
            </a:r>
            <a:endParaRPr sz="1350">
              <a:solidFill>
                <a:srgbClr val="001080"/>
              </a:solidFill>
              <a:highlight>
                <a:srgbClr val="FFFFFE"/>
              </a:highlight>
              <a:latin typeface="Courier New"/>
              <a:ea typeface="Courier New"/>
              <a:cs typeface="Courier New"/>
              <a:sym typeface="Courier New"/>
            </a:endParaRPr>
          </a:p>
        </p:txBody>
      </p:sp>
      <p:sp>
        <p:nvSpPr>
          <p:cNvPr id="178" name="Google Shape;178;p28"/>
          <p:cNvSpPr txBox="1"/>
          <p:nvPr/>
        </p:nvSpPr>
        <p:spPr>
          <a:xfrm>
            <a:off x="4883025" y="3933475"/>
            <a:ext cx="1939500" cy="674400"/>
          </a:xfrm>
          <a:prstGeom prst="rect">
            <a:avLst/>
          </a:prstGeom>
          <a:noFill/>
          <a:ln>
            <a:noFill/>
          </a:ln>
        </p:spPr>
        <p:txBody>
          <a:bodyPr anchorCtr="0" anchor="t" bIns="91425" lIns="91425" spcFirstLastPara="1" rIns="91425" wrap="square" tIns="91425">
            <a:spAutoFit/>
          </a:bodyPr>
          <a:lstStyle/>
          <a:p>
            <a:pPr indent="0" lvl="0" marL="0" marR="0" rtl="0" algn="l">
              <a:lnSpc>
                <a:spcPct val="135714"/>
              </a:lnSpc>
              <a:spcBef>
                <a:spcPts val="0"/>
              </a:spcBef>
              <a:spcAft>
                <a:spcPts val="0"/>
              </a:spcAft>
              <a:buNone/>
            </a:pPr>
            <a:r>
              <a:rPr lang="en" sz="1350">
                <a:solidFill>
                  <a:srgbClr val="001080"/>
                </a:solidFill>
                <a:highlight>
                  <a:srgbClr val="FFFFFE"/>
                </a:highlight>
                <a:latin typeface="Courier New"/>
                <a:ea typeface="Courier New"/>
                <a:cs typeface="Courier New"/>
                <a:sym typeface="Courier New"/>
              </a:rPr>
              <a:t>Import</a:t>
            </a:r>
            <a:r>
              <a:rPr lang="en" sz="1350">
                <a:solidFill>
                  <a:srgbClr val="001080"/>
                </a:solidFill>
                <a:highlight>
                  <a:srgbClr val="FFFFFE"/>
                </a:highlight>
                <a:latin typeface="Courier New"/>
                <a:ea typeface="Courier New"/>
                <a:cs typeface="Courier New"/>
                <a:sym typeface="Courier New"/>
              </a:rPr>
              <a:t>Error</a:t>
            </a:r>
            <a:endParaRPr sz="1350">
              <a:solidFill>
                <a:srgbClr val="001080"/>
              </a:solidFill>
              <a:highlight>
                <a:srgbClr val="FFFFFE"/>
              </a:highlight>
              <a:latin typeface="Courier New"/>
              <a:ea typeface="Courier New"/>
              <a:cs typeface="Courier New"/>
              <a:sym typeface="Courier New"/>
            </a:endParaRPr>
          </a:p>
          <a:p>
            <a:pPr indent="0" lvl="0" marL="0" marR="0" rtl="0" algn="l">
              <a:lnSpc>
                <a:spcPct val="135714"/>
              </a:lnSpc>
              <a:spcBef>
                <a:spcPts val="0"/>
              </a:spcBef>
              <a:spcAft>
                <a:spcPts val="0"/>
              </a:spcAft>
              <a:buNone/>
            </a:pPr>
            <a:r>
              <a:t/>
            </a:r>
            <a:endParaRPr sz="1350">
              <a:solidFill>
                <a:srgbClr val="001080"/>
              </a:solidFill>
              <a:highlight>
                <a:srgbClr val="FFFFFE"/>
              </a:highlight>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par>
                                <p:cTn fill="hold" nodeType="with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par>
                                <p:cTn fill="hold" nodeType="with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1000"/>
                                        <p:tgtEl>
                                          <p:spTgt spid="172"/>
                                        </p:tgtEl>
                                      </p:cBhvr>
                                    </p:animEffect>
                                  </p:childTnLst>
                                </p:cTn>
                              </p:par>
                              <p:par>
                                <p:cTn fill="hold" nodeType="with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000"/>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1000"/>
                                        <p:tgtEl>
                                          <p:spTgt spid="174"/>
                                        </p:tgtEl>
                                      </p:cBhvr>
                                    </p:animEffect>
                                  </p:childTnLst>
                                </p:cTn>
                              </p:par>
                              <p:par>
                                <p:cTn fill="hold" nodeType="with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1000"/>
                                        <p:tgtEl>
                                          <p:spTgt spid="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1000"/>
                                        <p:tgtEl>
                                          <p:spTgt spid="176"/>
                                        </p:tgtEl>
                                      </p:cBhvr>
                                    </p:animEffect>
                                  </p:childTnLst>
                                </p:cTn>
                              </p:par>
                              <p:par>
                                <p:cTn fill="hold" nodeType="with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000"/>
                                        <p:tgtEl>
                                          <p:spTgt spid="177"/>
                                        </p:tgtEl>
                                      </p:cBhvr>
                                    </p:animEffect>
                                  </p:childTnLst>
                                </p:cTn>
                              </p:par>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1000"/>
                                        <p:tgtEl>
                                          <p:spTgt spid="1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9"/>
          <p:cNvPicPr preferRelativeResize="0"/>
          <p:nvPr/>
        </p:nvPicPr>
        <p:blipFill>
          <a:blip r:embed="rId3">
            <a:alphaModFix/>
          </a:blip>
          <a:stretch>
            <a:fillRect/>
          </a:stretch>
        </p:blipFill>
        <p:spPr>
          <a:xfrm>
            <a:off x="0" y="792400"/>
            <a:ext cx="3019750" cy="666750"/>
          </a:xfrm>
          <a:prstGeom prst="rect">
            <a:avLst/>
          </a:prstGeom>
          <a:noFill/>
          <a:ln>
            <a:noFill/>
          </a:ln>
        </p:spPr>
      </p:pic>
      <p:pic>
        <p:nvPicPr>
          <p:cNvPr id="184" name="Google Shape;184;p29"/>
          <p:cNvPicPr preferRelativeResize="0"/>
          <p:nvPr/>
        </p:nvPicPr>
        <p:blipFill>
          <a:blip r:embed="rId4">
            <a:alphaModFix/>
          </a:blip>
          <a:stretch>
            <a:fillRect/>
          </a:stretch>
        </p:blipFill>
        <p:spPr>
          <a:xfrm>
            <a:off x="3359675" y="682375"/>
            <a:ext cx="5784325" cy="1191600"/>
          </a:xfrm>
          <a:prstGeom prst="rect">
            <a:avLst/>
          </a:prstGeom>
          <a:noFill/>
          <a:ln>
            <a:noFill/>
          </a:ln>
        </p:spPr>
      </p:pic>
      <p:pic>
        <p:nvPicPr>
          <p:cNvPr id="185" name="Google Shape;185;p29"/>
          <p:cNvPicPr preferRelativeResize="0"/>
          <p:nvPr/>
        </p:nvPicPr>
        <p:blipFill>
          <a:blip r:embed="rId5">
            <a:alphaModFix/>
          </a:blip>
          <a:stretch>
            <a:fillRect/>
          </a:stretch>
        </p:blipFill>
        <p:spPr>
          <a:xfrm>
            <a:off x="66025" y="2483575"/>
            <a:ext cx="3153650" cy="911800"/>
          </a:xfrm>
          <a:prstGeom prst="rect">
            <a:avLst/>
          </a:prstGeom>
          <a:noFill/>
          <a:ln>
            <a:noFill/>
          </a:ln>
        </p:spPr>
      </p:pic>
      <p:pic>
        <p:nvPicPr>
          <p:cNvPr id="186" name="Google Shape;186;p29"/>
          <p:cNvPicPr preferRelativeResize="0"/>
          <p:nvPr/>
        </p:nvPicPr>
        <p:blipFill>
          <a:blip r:embed="rId6">
            <a:alphaModFix/>
          </a:blip>
          <a:stretch>
            <a:fillRect/>
          </a:stretch>
        </p:blipFill>
        <p:spPr>
          <a:xfrm>
            <a:off x="3359675" y="2368350"/>
            <a:ext cx="5707725" cy="1191600"/>
          </a:xfrm>
          <a:prstGeom prst="rect">
            <a:avLst/>
          </a:prstGeom>
          <a:noFill/>
          <a:ln>
            <a:noFill/>
          </a:ln>
        </p:spPr>
      </p:pic>
      <p:pic>
        <p:nvPicPr>
          <p:cNvPr id="187" name="Google Shape;187;p29"/>
          <p:cNvPicPr preferRelativeResize="0"/>
          <p:nvPr/>
        </p:nvPicPr>
        <p:blipFill>
          <a:blip r:embed="rId7">
            <a:alphaModFix/>
          </a:blip>
          <a:stretch>
            <a:fillRect/>
          </a:stretch>
        </p:blipFill>
        <p:spPr>
          <a:xfrm>
            <a:off x="3283075" y="3947775"/>
            <a:ext cx="5784325" cy="1511675"/>
          </a:xfrm>
          <a:prstGeom prst="rect">
            <a:avLst/>
          </a:prstGeom>
          <a:noFill/>
          <a:ln>
            <a:noFill/>
          </a:ln>
        </p:spPr>
      </p:pic>
      <p:pic>
        <p:nvPicPr>
          <p:cNvPr id="188" name="Google Shape;188;p29"/>
          <p:cNvPicPr preferRelativeResize="0"/>
          <p:nvPr/>
        </p:nvPicPr>
        <p:blipFill>
          <a:blip r:embed="rId8">
            <a:alphaModFix/>
          </a:blip>
          <a:stretch>
            <a:fillRect/>
          </a:stretch>
        </p:blipFill>
        <p:spPr>
          <a:xfrm>
            <a:off x="66025" y="4001300"/>
            <a:ext cx="2599000" cy="737050"/>
          </a:xfrm>
          <a:prstGeom prst="rect">
            <a:avLst/>
          </a:prstGeom>
          <a:noFill/>
          <a:ln>
            <a:noFill/>
          </a:ln>
        </p:spPr>
      </p:pic>
      <p:cxnSp>
        <p:nvCxnSpPr>
          <p:cNvPr id="189" name="Google Shape;189;p29"/>
          <p:cNvCxnSpPr/>
          <p:nvPr/>
        </p:nvCxnSpPr>
        <p:spPr>
          <a:xfrm>
            <a:off x="2650" y="2096750"/>
            <a:ext cx="9128100" cy="0"/>
          </a:xfrm>
          <a:prstGeom prst="straightConnector1">
            <a:avLst/>
          </a:prstGeom>
          <a:noFill/>
          <a:ln cap="flat" cmpd="sng" w="38100">
            <a:solidFill>
              <a:schemeClr val="dk2"/>
            </a:solidFill>
            <a:prstDash val="solid"/>
            <a:round/>
            <a:headEnd len="med" w="med" type="none"/>
            <a:tailEnd len="med" w="med" type="none"/>
          </a:ln>
        </p:spPr>
      </p:cxnSp>
      <p:cxnSp>
        <p:nvCxnSpPr>
          <p:cNvPr id="190" name="Google Shape;190;p29"/>
          <p:cNvCxnSpPr/>
          <p:nvPr/>
        </p:nvCxnSpPr>
        <p:spPr>
          <a:xfrm>
            <a:off x="2650" y="3696950"/>
            <a:ext cx="9128100" cy="0"/>
          </a:xfrm>
          <a:prstGeom prst="straightConnector1">
            <a:avLst/>
          </a:prstGeom>
          <a:noFill/>
          <a:ln cap="flat" cmpd="sng" w="38100">
            <a:solidFill>
              <a:schemeClr val="dk2"/>
            </a:solidFill>
            <a:prstDash val="solid"/>
            <a:round/>
            <a:headEnd len="med" w="med" type="none"/>
            <a:tailEnd len="med" w="med" type="none"/>
          </a:ln>
        </p:spPr>
      </p:cxnSp>
      <p:sp>
        <p:nvSpPr>
          <p:cNvPr id="191" name="Google Shape;191;p29"/>
          <p:cNvSpPr/>
          <p:nvPr/>
        </p:nvSpPr>
        <p:spPr>
          <a:xfrm>
            <a:off x="282075" y="1138425"/>
            <a:ext cx="643200" cy="32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9"/>
          <p:cNvSpPr/>
          <p:nvPr/>
        </p:nvSpPr>
        <p:spPr>
          <a:xfrm>
            <a:off x="3330075" y="1595625"/>
            <a:ext cx="1469100" cy="320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gtEl>
                                        <p:attrNameLst>
                                          <p:attrName>style.visibility</p:attrName>
                                        </p:attrNameLst>
                                      </p:cBhvr>
                                      <p:to>
                                        <p:strVal val="visible"/>
                                      </p:to>
                                    </p:set>
                                    <p:animEffect filter="fade" transition="in">
                                      <p:cBhvr>
                                        <p:cTn dur="1000"/>
                                        <p:tgtEl>
                                          <p:spTgt spid="191"/>
                                        </p:tgtEl>
                                      </p:cBhvr>
                                    </p:animEffect>
                                  </p:childTnLst>
                                </p:cTn>
                              </p:par>
                              <p:par>
                                <p:cTn fill="hold" nodeType="with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1000"/>
                                        <p:tgtEl>
                                          <p:spTgt spid="1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a:t>
            </a:r>
            <a:endParaRPr sz="3500">
              <a:solidFill>
                <a:srgbClr val="FFFFFF"/>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1"/>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Built-in Exceptions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2"/>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lnSpc>
                <a:spcPct val="135714"/>
              </a:lnSpc>
              <a:spcBef>
                <a:spcPts val="0"/>
              </a:spcBef>
              <a:spcAft>
                <a:spcPts val="0"/>
              </a:spcAft>
              <a:buNone/>
            </a:pPr>
            <a:r>
              <a:rPr b="1" lang="en" sz="2050">
                <a:solidFill>
                  <a:srgbClr val="000000"/>
                </a:solidFill>
                <a:highlight>
                  <a:srgbClr val="FFFFFE"/>
                </a:highlight>
              </a:rPr>
              <a:t>Built-in Exceptions:</a:t>
            </a:r>
            <a:r>
              <a:rPr lang="en" sz="1750">
                <a:solidFill>
                  <a:srgbClr val="795E26"/>
                </a:solidFill>
                <a:highlight>
                  <a:srgbClr val="FFFFFE"/>
                </a:highlight>
                <a:latin typeface="Courier New"/>
                <a:ea typeface="Courier New"/>
                <a:cs typeface="Courier New"/>
                <a:sym typeface="Courier New"/>
              </a:rPr>
              <a:t> print</a:t>
            </a:r>
            <a:r>
              <a:rPr lang="en" sz="1750">
                <a:highlight>
                  <a:srgbClr val="FFFFFE"/>
                </a:highlight>
                <a:latin typeface="Courier New"/>
                <a:ea typeface="Courier New"/>
                <a:cs typeface="Courier New"/>
                <a:sym typeface="Courier New"/>
              </a:rPr>
              <a:t>(</a:t>
            </a:r>
            <a:r>
              <a:rPr lang="en" sz="1750">
                <a:solidFill>
                  <a:srgbClr val="795E26"/>
                </a:solidFill>
                <a:highlight>
                  <a:srgbClr val="FFFFFE"/>
                </a:highlight>
                <a:latin typeface="Courier New"/>
                <a:ea typeface="Courier New"/>
                <a:cs typeface="Courier New"/>
                <a:sym typeface="Courier New"/>
              </a:rPr>
              <a:t>dir</a:t>
            </a:r>
            <a:r>
              <a:rPr lang="en" sz="1750">
                <a:highlight>
                  <a:srgbClr val="FFFFFE"/>
                </a:highlight>
                <a:latin typeface="Courier New"/>
                <a:ea typeface="Courier New"/>
                <a:cs typeface="Courier New"/>
                <a:sym typeface="Courier New"/>
              </a:rPr>
              <a:t>(</a:t>
            </a:r>
            <a:r>
              <a:rPr lang="en" sz="1750">
                <a:solidFill>
                  <a:srgbClr val="795E26"/>
                </a:solidFill>
                <a:highlight>
                  <a:srgbClr val="FFFFFE"/>
                </a:highlight>
                <a:latin typeface="Courier New"/>
                <a:ea typeface="Courier New"/>
                <a:cs typeface="Courier New"/>
                <a:sym typeface="Courier New"/>
              </a:rPr>
              <a:t>locals</a:t>
            </a:r>
            <a:r>
              <a:rPr lang="en" sz="1750">
                <a:highlight>
                  <a:srgbClr val="FFFFFE"/>
                </a:highlight>
                <a:latin typeface="Courier New"/>
                <a:ea typeface="Courier New"/>
                <a:cs typeface="Courier New"/>
                <a:sym typeface="Courier New"/>
              </a:rPr>
              <a:t>()[</a:t>
            </a:r>
            <a:r>
              <a:rPr lang="en" sz="1750">
                <a:solidFill>
                  <a:srgbClr val="A31515"/>
                </a:solidFill>
                <a:highlight>
                  <a:srgbClr val="FFFFFE"/>
                </a:highlight>
                <a:latin typeface="Courier New"/>
                <a:ea typeface="Courier New"/>
                <a:cs typeface="Courier New"/>
                <a:sym typeface="Courier New"/>
              </a:rPr>
              <a:t>'__builtins__'</a:t>
            </a:r>
            <a:r>
              <a:rPr lang="en" sz="1750">
                <a:highlight>
                  <a:srgbClr val="FFFFFE"/>
                </a:highlight>
                <a:latin typeface="Courier New"/>
                <a:ea typeface="Courier New"/>
                <a:cs typeface="Courier New"/>
                <a:sym typeface="Courier New"/>
              </a:rPr>
              <a:t>]))</a:t>
            </a:r>
            <a:endParaRPr sz="3300"/>
          </a:p>
        </p:txBody>
      </p:sp>
      <p:graphicFrame>
        <p:nvGraphicFramePr>
          <p:cNvPr id="208" name="Google Shape;208;p32"/>
          <p:cNvGraphicFramePr/>
          <p:nvPr/>
        </p:nvGraphicFramePr>
        <p:xfrm>
          <a:off x="163250" y="1196400"/>
          <a:ext cx="3000000" cy="3000000"/>
        </p:xfrm>
        <a:graphic>
          <a:graphicData uri="http://schemas.openxmlformats.org/drawingml/2006/table">
            <a:tbl>
              <a:tblPr>
                <a:noFill/>
                <a:tableStyleId>{1B5416F0-A4F9-437A-B9EC-89D51B6F8897}</a:tableStyleId>
              </a:tblPr>
              <a:tblGrid>
                <a:gridCol w="2326850"/>
                <a:gridCol w="6585150"/>
              </a:tblGrid>
              <a:tr h="422250">
                <a:tc>
                  <a:txBody>
                    <a:bodyPr/>
                    <a:lstStyle/>
                    <a:p>
                      <a:pPr indent="0" lvl="0" marL="0" rtl="0" algn="l">
                        <a:spcBef>
                          <a:spcPts val="0"/>
                        </a:spcBef>
                        <a:spcAft>
                          <a:spcPts val="0"/>
                        </a:spcAft>
                        <a:buNone/>
                      </a:pPr>
                      <a:r>
                        <a:rPr b="1" lang="en" sz="1600">
                          <a:solidFill>
                            <a:srgbClr val="FFFFFF"/>
                          </a:solidFill>
                          <a:latin typeface="Montserrat"/>
                          <a:ea typeface="Montserrat"/>
                          <a:cs typeface="Montserrat"/>
                          <a:sym typeface="Montserrat"/>
                        </a:rPr>
                        <a:t>Built-in Exceptions</a:t>
                      </a:r>
                      <a:endParaRPr b="1" sz="1600">
                        <a:solidFill>
                          <a:srgbClr val="FFFFFF"/>
                        </a:solidFill>
                        <a:latin typeface="Montserrat"/>
                        <a:ea typeface="Montserrat"/>
                        <a:cs typeface="Montserrat"/>
                        <a:sym typeface="Montserrat"/>
                      </a:endParaRPr>
                    </a:p>
                  </a:txBody>
                  <a:tcPr marT="91425" marB="91425" marR="91425" marL="91425">
                    <a:lnL cap="flat" cmpd="sng" w="9525">
                      <a:solidFill>
                        <a:srgbClr val="4E4F50"/>
                      </a:solidFill>
                      <a:prstDash val="solid"/>
                      <a:round/>
                      <a:headEnd len="sm" w="sm" type="none"/>
                      <a:tailEnd len="sm" w="sm" type="none"/>
                    </a:lnL>
                    <a:lnR cap="flat" cmpd="sng" w="9525">
                      <a:solidFill>
                        <a:srgbClr val="4E4F50"/>
                      </a:solidFill>
                      <a:prstDash val="solid"/>
                      <a:round/>
                      <a:headEnd len="sm" w="sm" type="none"/>
                      <a:tailEnd len="sm" w="sm" type="none"/>
                    </a:lnR>
                    <a:lnT cap="flat" cmpd="sng" w="9525">
                      <a:solidFill>
                        <a:srgbClr val="4E4F50"/>
                      </a:solidFill>
                      <a:prstDash val="solid"/>
                      <a:round/>
                      <a:headEnd len="sm" w="sm" type="none"/>
                      <a:tailEnd len="sm" w="sm" type="none"/>
                    </a:lnT>
                    <a:lnB cap="flat" cmpd="sng" w="9525">
                      <a:solidFill>
                        <a:srgbClr val="4E4F50"/>
                      </a:solidFill>
                      <a:prstDash val="solid"/>
                      <a:round/>
                      <a:headEnd len="sm" w="sm" type="none"/>
                      <a:tailEnd len="sm" w="sm" type="none"/>
                    </a:lnB>
                    <a:solidFill>
                      <a:srgbClr val="2074B9"/>
                    </a:solidFill>
                  </a:tcPr>
                </a:tc>
                <a:tc>
                  <a:txBody>
                    <a:bodyPr/>
                    <a:lstStyle/>
                    <a:p>
                      <a:pPr indent="0" lvl="0" marL="0" rtl="0" algn="l">
                        <a:spcBef>
                          <a:spcPts val="0"/>
                        </a:spcBef>
                        <a:spcAft>
                          <a:spcPts val="0"/>
                        </a:spcAft>
                        <a:buNone/>
                      </a:pPr>
                      <a:r>
                        <a:rPr b="1" lang="en" sz="1600">
                          <a:solidFill>
                            <a:srgbClr val="FFFFFF"/>
                          </a:solidFill>
                          <a:latin typeface="Montserrat"/>
                          <a:ea typeface="Montserrat"/>
                          <a:cs typeface="Montserrat"/>
                          <a:sym typeface="Montserrat"/>
                        </a:rPr>
                        <a:t>Description</a:t>
                      </a:r>
                      <a:endParaRPr b="1" sz="1600">
                        <a:solidFill>
                          <a:srgbClr val="FFFFFF"/>
                        </a:solidFill>
                        <a:latin typeface="Montserrat"/>
                        <a:ea typeface="Montserrat"/>
                        <a:cs typeface="Montserrat"/>
                        <a:sym typeface="Montserrat"/>
                      </a:endParaRPr>
                    </a:p>
                  </a:txBody>
                  <a:tcPr marT="91425" marB="91425" marR="91425" marL="91425">
                    <a:lnL cap="flat" cmpd="sng" w="9525">
                      <a:solidFill>
                        <a:srgbClr val="4E4F50"/>
                      </a:solidFill>
                      <a:prstDash val="solid"/>
                      <a:round/>
                      <a:headEnd len="sm" w="sm" type="none"/>
                      <a:tailEnd len="sm" w="sm" type="none"/>
                    </a:lnL>
                    <a:lnR cap="flat" cmpd="sng" w="9525">
                      <a:solidFill>
                        <a:srgbClr val="4E4F50"/>
                      </a:solidFill>
                      <a:prstDash val="solid"/>
                      <a:round/>
                      <a:headEnd len="sm" w="sm" type="none"/>
                      <a:tailEnd len="sm" w="sm" type="none"/>
                    </a:lnR>
                    <a:lnT cap="flat" cmpd="sng" w="9525">
                      <a:solidFill>
                        <a:srgbClr val="4E4F50"/>
                      </a:solidFill>
                      <a:prstDash val="solid"/>
                      <a:round/>
                      <a:headEnd len="sm" w="sm" type="none"/>
                      <a:tailEnd len="sm" w="sm" type="none"/>
                    </a:lnT>
                    <a:lnB cap="flat" cmpd="sng" w="9525">
                      <a:solidFill>
                        <a:srgbClr val="4E4F50"/>
                      </a:solidFill>
                      <a:prstDash val="solid"/>
                      <a:round/>
                      <a:headEnd len="sm" w="sm" type="none"/>
                      <a:tailEnd len="sm" w="sm" type="none"/>
                    </a:lnB>
                    <a:solidFill>
                      <a:srgbClr val="2074B9"/>
                    </a:solidFill>
                  </a:tcPr>
                </a:tc>
              </a:tr>
              <a:tr h="426700">
                <a:tc>
                  <a:txBody>
                    <a:bodyPr/>
                    <a:lstStyle/>
                    <a:p>
                      <a:pPr indent="0" lvl="0" marL="0" rtl="0" algn="ctr">
                        <a:spcBef>
                          <a:spcPts val="0"/>
                        </a:spcBef>
                        <a:spcAft>
                          <a:spcPts val="0"/>
                        </a:spcAft>
                        <a:buNone/>
                      </a:pPr>
                      <a:r>
                        <a:rPr b="1" lang="en" sz="1600">
                          <a:latin typeface="Montserrat"/>
                          <a:ea typeface="Montserrat"/>
                          <a:cs typeface="Montserrat"/>
                          <a:sym typeface="Montserrat"/>
                        </a:rPr>
                        <a:t>ArithmeticError</a:t>
                      </a:r>
                      <a:r>
                        <a:rPr b="1" lang="en" sz="1600">
                          <a:latin typeface="Montserrat"/>
                          <a:ea typeface="Montserrat"/>
                          <a:cs typeface="Montserrat"/>
                          <a:sym typeface="Montserrat"/>
                        </a:rPr>
                        <a:t>     </a:t>
                      </a:r>
                      <a:endParaRPr b="1" sz="1600">
                        <a:latin typeface="Montserrat"/>
                        <a:ea typeface="Montserrat"/>
                        <a:cs typeface="Montserrat"/>
                        <a:sym typeface="Montserrat"/>
                      </a:endParaRPr>
                    </a:p>
                  </a:txBody>
                  <a:tcPr marT="91425" marB="91425" marR="91425" marL="91425">
                    <a:lnL cap="flat" cmpd="sng" w="9525">
                      <a:solidFill>
                        <a:srgbClr val="4E4F50"/>
                      </a:solidFill>
                      <a:prstDash val="solid"/>
                      <a:round/>
                      <a:headEnd len="sm" w="sm" type="none"/>
                      <a:tailEnd len="sm" w="sm" type="none"/>
                    </a:lnL>
                    <a:lnR cap="flat" cmpd="sng" w="9525">
                      <a:solidFill>
                        <a:srgbClr val="4E4F50"/>
                      </a:solidFill>
                      <a:prstDash val="solid"/>
                      <a:round/>
                      <a:headEnd len="sm" w="sm" type="none"/>
                      <a:tailEnd len="sm" w="sm" type="none"/>
                    </a:lnR>
                    <a:lnT cap="flat" cmpd="sng" w="9525">
                      <a:solidFill>
                        <a:srgbClr val="4E4F50"/>
                      </a:solidFill>
                      <a:prstDash val="solid"/>
                      <a:round/>
                      <a:headEnd len="sm" w="sm" type="none"/>
                      <a:tailEnd len="sm" w="sm" type="none"/>
                    </a:lnT>
                    <a:lnB cap="flat" cmpd="sng" w="9525">
                      <a:solidFill>
                        <a:srgbClr val="4E4F5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Montserrat"/>
                          <a:ea typeface="Montserrat"/>
                          <a:cs typeface="Montserrat"/>
                          <a:sym typeface="Montserrat"/>
                        </a:rPr>
                        <a:t>It occurs due to error in arithmetic operation</a:t>
                      </a:r>
                      <a:endParaRPr sz="1500">
                        <a:latin typeface="Montserrat"/>
                        <a:ea typeface="Montserrat"/>
                        <a:cs typeface="Montserrat"/>
                        <a:sym typeface="Montserrat"/>
                      </a:endParaRPr>
                    </a:p>
                  </a:txBody>
                  <a:tcPr marT="91425" marB="91425" marR="91425" marL="91425">
                    <a:lnL cap="flat" cmpd="sng" w="9525">
                      <a:solidFill>
                        <a:srgbClr val="4E4F50"/>
                      </a:solidFill>
                      <a:prstDash val="solid"/>
                      <a:round/>
                      <a:headEnd len="sm" w="sm" type="none"/>
                      <a:tailEnd len="sm" w="sm" type="none"/>
                    </a:lnL>
                    <a:lnR cap="flat" cmpd="sng" w="9525">
                      <a:solidFill>
                        <a:srgbClr val="4E4F50"/>
                      </a:solidFill>
                      <a:prstDash val="solid"/>
                      <a:round/>
                      <a:headEnd len="sm" w="sm" type="none"/>
                      <a:tailEnd len="sm" w="sm" type="none"/>
                    </a:lnR>
                    <a:lnT cap="flat" cmpd="sng" w="9525">
                      <a:solidFill>
                        <a:srgbClr val="4E4F50"/>
                      </a:solidFill>
                      <a:prstDash val="solid"/>
                      <a:round/>
                      <a:headEnd len="sm" w="sm" type="none"/>
                      <a:tailEnd len="sm" w="sm" type="none"/>
                    </a:lnT>
                    <a:lnB cap="flat" cmpd="sng" w="9525">
                      <a:solidFill>
                        <a:srgbClr val="4E4F50"/>
                      </a:solidFill>
                      <a:prstDash val="solid"/>
                      <a:round/>
                      <a:headEnd len="sm" w="sm" type="none"/>
                      <a:tailEnd len="sm" w="sm" type="none"/>
                    </a:lnB>
                  </a:tcPr>
                </a:tc>
              </a:tr>
              <a:tr h="426700">
                <a:tc>
                  <a:txBody>
                    <a:bodyPr/>
                    <a:lstStyle/>
                    <a:p>
                      <a:pPr indent="0" lvl="0" marL="0" rtl="0" algn="ctr">
                        <a:spcBef>
                          <a:spcPts val="0"/>
                        </a:spcBef>
                        <a:spcAft>
                          <a:spcPts val="0"/>
                        </a:spcAft>
                        <a:buNone/>
                      </a:pPr>
                      <a:r>
                        <a:rPr b="1" lang="en" sz="1600">
                          <a:latin typeface="Montserrat"/>
                          <a:ea typeface="Montserrat"/>
                          <a:cs typeface="Montserrat"/>
                          <a:sym typeface="Montserrat"/>
                        </a:rPr>
                        <a:t>KeyError</a:t>
                      </a:r>
                      <a:endParaRPr b="1" sz="1600">
                        <a:latin typeface="Montserrat"/>
                        <a:ea typeface="Montserrat"/>
                        <a:cs typeface="Montserrat"/>
                        <a:sym typeface="Montserrat"/>
                      </a:endParaRPr>
                    </a:p>
                  </a:txBody>
                  <a:tcPr marT="91425" marB="91425" marR="91425" marL="91425">
                    <a:lnL cap="flat" cmpd="sng" w="9525">
                      <a:solidFill>
                        <a:srgbClr val="4E4F50"/>
                      </a:solidFill>
                      <a:prstDash val="solid"/>
                      <a:round/>
                      <a:headEnd len="sm" w="sm" type="none"/>
                      <a:tailEnd len="sm" w="sm" type="none"/>
                    </a:lnL>
                    <a:lnR cap="flat" cmpd="sng" w="9525">
                      <a:solidFill>
                        <a:srgbClr val="4E4F50"/>
                      </a:solidFill>
                      <a:prstDash val="solid"/>
                      <a:round/>
                      <a:headEnd len="sm" w="sm" type="none"/>
                      <a:tailEnd len="sm" w="sm" type="none"/>
                    </a:lnR>
                    <a:lnT cap="flat" cmpd="sng" w="9525">
                      <a:solidFill>
                        <a:srgbClr val="4E4F50"/>
                      </a:solidFill>
                      <a:prstDash val="solid"/>
                      <a:round/>
                      <a:headEnd len="sm" w="sm" type="none"/>
                      <a:tailEnd len="sm" w="sm" type="none"/>
                    </a:lnT>
                    <a:lnB cap="flat" cmpd="sng" w="9525">
                      <a:solidFill>
                        <a:srgbClr val="4E4F5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Montserrat"/>
                          <a:ea typeface="Montserrat"/>
                          <a:cs typeface="Montserrat"/>
                          <a:sym typeface="Montserrat"/>
                        </a:rPr>
                        <a:t>It occurs when the key of dictionary is not found.</a:t>
                      </a:r>
                      <a:endParaRPr sz="1500">
                        <a:latin typeface="Montserrat"/>
                        <a:ea typeface="Montserrat"/>
                        <a:cs typeface="Montserrat"/>
                        <a:sym typeface="Montserrat"/>
                      </a:endParaRPr>
                    </a:p>
                  </a:txBody>
                  <a:tcPr marT="91425" marB="91425" marR="91425" marL="91425">
                    <a:lnL cap="flat" cmpd="sng" w="9525">
                      <a:solidFill>
                        <a:srgbClr val="4E4F50"/>
                      </a:solidFill>
                      <a:prstDash val="solid"/>
                      <a:round/>
                      <a:headEnd len="sm" w="sm" type="none"/>
                      <a:tailEnd len="sm" w="sm" type="none"/>
                    </a:lnL>
                    <a:lnR cap="flat" cmpd="sng" w="9525">
                      <a:solidFill>
                        <a:srgbClr val="4E4F50"/>
                      </a:solidFill>
                      <a:prstDash val="solid"/>
                      <a:round/>
                      <a:headEnd len="sm" w="sm" type="none"/>
                      <a:tailEnd len="sm" w="sm" type="none"/>
                    </a:lnR>
                    <a:lnT cap="flat" cmpd="sng" w="9525">
                      <a:solidFill>
                        <a:srgbClr val="4E4F50"/>
                      </a:solidFill>
                      <a:prstDash val="solid"/>
                      <a:round/>
                      <a:headEnd len="sm" w="sm" type="none"/>
                      <a:tailEnd len="sm" w="sm" type="none"/>
                    </a:lnT>
                    <a:lnB cap="flat" cmpd="sng" w="9525">
                      <a:solidFill>
                        <a:srgbClr val="4E4F50"/>
                      </a:solidFill>
                      <a:prstDash val="solid"/>
                      <a:round/>
                      <a:headEnd len="sm" w="sm" type="none"/>
                      <a:tailEnd len="sm" w="sm" type="none"/>
                    </a:lnB>
                  </a:tcPr>
                </a:tc>
              </a:tr>
              <a:tr h="426700">
                <a:tc>
                  <a:txBody>
                    <a:bodyPr/>
                    <a:lstStyle/>
                    <a:p>
                      <a:pPr indent="0" lvl="0" marL="0" rtl="0" algn="ctr">
                        <a:spcBef>
                          <a:spcPts val="0"/>
                        </a:spcBef>
                        <a:spcAft>
                          <a:spcPts val="0"/>
                        </a:spcAft>
                        <a:buNone/>
                      </a:pPr>
                      <a:r>
                        <a:rPr b="1" lang="en" sz="1600">
                          <a:latin typeface="Montserrat"/>
                          <a:ea typeface="Montserrat"/>
                          <a:cs typeface="Montserrat"/>
                          <a:sym typeface="Montserrat"/>
                        </a:rPr>
                        <a:t>MemoryError</a:t>
                      </a:r>
                      <a:endParaRPr b="1" sz="1600">
                        <a:latin typeface="Montserrat"/>
                        <a:ea typeface="Montserrat"/>
                        <a:cs typeface="Montserrat"/>
                        <a:sym typeface="Montserrat"/>
                      </a:endParaRPr>
                    </a:p>
                  </a:txBody>
                  <a:tcPr marT="91425" marB="91425" marR="91425" marL="91425">
                    <a:lnL cap="flat" cmpd="sng" w="9525">
                      <a:solidFill>
                        <a:srgbClr val="4E4F50"/>
                      </a:solidFill>
                      <a:prstDash val="solid"/>
                      <a:round/>
                      <a:headEnd len="sm" w="sm" type="none"/>
                      <a:tailEnd len="sm" w="sm" type="none"/>
                    </a:lnL>
                    <a:lnR cap="flat" cmpd="sng" w="9525">
                      <a:solidFill>
                        <a:srgbClr val="4E4F50"/>
                      </a:solidFill>
                      <a:prstDash val="solid"/>
                      <a:round/>
                      <a:headEnd len="sm" w="sm" type="none"/>
                      <a:tailEnd len="sm" w="sm" type="none"/>
                    </a:lnR>
                    <a:lnT cap="flat" cmpd="sng" w="9525">
                      <a:solidFill>
                        <a:srgbClr val="4E4F50"/>
                      </a:solidFill>
                      <a:prstDash val="solid"/>
                      <a:round/>
                      <a:headEnd len="sm" w="sm" type="none"/>
                      <a:tailEnd len="sm" w="sm" type="none"/>
                    </a:lnT>
                    <a:lnB cap="flat" cmpd="sng" w="9525">
                      <a:solidFill>
                        <a:srgbClr val="4E4F5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Montserrat"/>
                          <a:ea typeface="Montserrat"/>
                          <a:cs typeface="Montserrat"/>
                          <a:sym typeface="Montserrat"/>
                        </a:rPr>
                        <a:t>It occurs when the program run out of memory</a:t>
                      </a:r>
                      <a:endParaRPr sz="1500">
                        <a:latin typeface="Montserrat"/>
                        <a:ea typeface="Montserrat"/>
                        <a:cs typeface="Montserrat"/>
                        <a:sym typeface="Montserrat"/>
                      </a:endParaRPr>
                    </a:p>
                  </a:txBody>
                  <a:tcPr marT="91425" marB="91425" marR="91425" marL="91425">
                    <a:lnL cap="flat" cmpd="sng" w="9525">
                      <a:solidFill>
                        <a:srgbClr val="4E4F50"/>
                      </a:solidFill>
                      <a:prstDash val="solid"/>
                      <a:round/>
                      <a:headEnd len="sm" w="sm" type="none"/>
                      <a:tailEnd len="sm" w="sm" type="none"/>
                    </a:lnL>
                    <a:lnR cap="flat" cmpd="sng" w="9525">
                      <a:solidFill>
                        <a:srgbClr val="4E4F50"/>
                      </a:solidFill>
                      <a:prstDash val="solid"/>
                      <a:round/>
                      <a:headEnd len="sm" w="sm" type="none"/>
                      <a:tailEnd len="sm" w="sm" type="none"/>
                    </a:lnR>
                    <a:lnT cap="flat" cmpd="sng" w="9525">
                      <a:solidFill>
                        <a:srgbClr val="4E4F50"/>
                      </a:solidFill>
                      <a:prstDash val="solid"/>
                      <a:round/>
                      <a:headEnd len="sm" w="sm" type="none"/>
                      <a:tailEnd len="sm" w="sm" type="none"/>
                    </a:lnT>
                    <a:lnB cap="flat" cmpd="sng" w="9525">
                      <a:solidFill>
                        <a:srgbClr val="4E4F50"/>
                      </a:solidFill>
                      <a:prstDash val="solid"/>
                      <a:round/>
                      <a:headEnd len="sm" w="sm" type="none"/>
                      <a:tailEnd len="sm" w="sm" type="none"/>
                    </a:lnB>
                  </a:tcPr>
                </a:tc>
              </a:tr>
              <a:tr h="426700">
                <a:tc>
                  <a:txBody>
                    <a:bodyPr/>
                    <a:lstStyle/>
                    <a:p>
                      <a:pPr indent="0" lvl="0" marL="0" rtl="0" algn="ctr">
                        <a:spcBef>
                          <a:spcPts val="0"/>
                        </a:spcBef>
                        <a:spcAft>
                          <a:spcPts val="0"/>
                        </a:spcAft>
                        <a:buNone/>
                      </a:pPr>
                      <a:r>
                        <a:rPr b="1" lang="en" sz="1600">
                          <a:latin typeface="Montserrat"/>
                          <a:ea typeface="Montserrat"/>
                          <a:cs typeface="Montserrat"/>
                          <a:sym typeface="Montserrat"/>
                        </a:rPr>
                        <a:t>StopIteration</a:t>
                      </a:r>
                      <a:endParaRPr b="1" sz="1600">
                        <a:latin typeface="Montserrat"/>
                        <a:ea typeface="Montserrat"/>
                        <a:cs typeface="Montserrat"/>
                        <a:sym typeface="Montserrat"/>
                      </a:endParaRPr>
                    </a:p>
                  </a:txBody>
                  <a:tcPr marT="91425" marB="91425" marR="91425" marL="91425">
                    <a:lnL cap="flat" cmpd="sng" w="9525">
                      <a:solidFill>
                        <a:srgbClr val="4E4F50"/>
                      </a:solidFill>
                      <a:prstDash val="solid"/>
                      <a:round/>
                      <a:headEnd len="sm" w="sm" type="none"/>
                      <a:tailEnd len="sm" w="sm" type="none"/>
                    </a:lnL>
                    <a:lnR cap="flat" cmpd="sng" w="9525">
                      <a:solidFill>
                        <a:srgbClr val="4E4F50"/>
                      </a:solidFill>
                      <a:prstDash val="solid"/>
                      <a:round/>
                      <a:headEnd len="sm" w="sm" type="none"/>
                      <a:tailEnd len="sm" w="sm" type="none"/>
                    </a:lnR>
                    <a:lnT cap="flat" cmpd="sng" w="9525">
                      <a:solidFill>
                        <a:srgbClr val="4E4F50"/>
                      </a:solidFill>
                      <a:prstDash val="solid"/>
                      <a:round/>
                      <a:headEnd len="sm" w="sm" type="none"/>
                      <a:tailEnd len="sm" w="sm" type="none"/>
                    </a:lnT>
                    <a:lnB cap="flat" cmpd="sng" w="9525">
                      <a:solidFill>
                        <a:srgbClr val="4E4F50"/>
                      </a:solidFill>
                      <a:prstDash val="solid"/>
                      <a:round/>
                      <a:headEnd len="sm" w="sm" type="none"/>
                      <a:tailEnd len="sm" w="sm" type="none"/>
                    </a:lnB>
                  </a:tcPr>
                </a:tc>
                <a:tc>
                  <a:txBody>
                    <a:bodyPr/>
                    <a:lstStyle/>
                    <a:p>
                      <a:pPr indent="0" lvl="0" marL="0" rtl="0" algn="l">
                        <a:spcBef>
                          <a:spcPts val="0"/>
                        </a:spcBef>
                        <a:spcAft>
                          <a:spcPts val="0"/>
                        </a:spcAft>
                        <a:buNone/>
                      </a:pPr>
                      <a:r>
                        <a:rPr lang="en" sz="1600">
                          <a:solidFill>
                            <a:schemeClr val="dk1"/>
                          </a:solidFill>
                        </a:rPr>
                        <a:t>It is raised by built-in function next() or iterator's </a:t>
                      </a:r>
                      <a:r>
                        <a:rPr b="1" lang="en" sz="1600">
                          <a:solidFill>
                            <a:schemeClr val="dk1"/>
                          </a:solidFill>
                        </a:rPr>
                        <a:t>next</a:t>
                      </a:r>
                      <a:r>
                        <a:rPr lang="en" sz="1600">
                          <a:solidFill>
                            <a:schemeClr val="dk1"/>
                          </a:solidFill>
                        </a:rPr>
                        <a:t>() method </a:t>
                      </a:r>
                      <a:endParaRPr sz="1500">
                        <a:latin typeface="Montserrat"/>
                        <a:ea typeface="Montserrat"/>
                        <a:cs typeface="Montserrat"/>
                        <a:sym typeface="Montserrat"/>
                      </a:endParaRPr>
                    </a:p>
                  </a:txBody>
                  <a:tcPr marT="91425" marB="91425" marR="91425" marL="91425">
                    <a:lnL cap="flat" cmpd="sng" w="9525">
                      <a:solidFill>
                        <a:srgbClr val="4E4F50"/>
                      </a:solidFill>
                      <a:prstDash val="solid"/>
                      <a:round/>
                      <a:headEnd len="sm" w="sm" type="none"/>
                      <a:tailEnd len="sm" w="sm" type="none"/>
                    </a:lnL>
                    <a:lnR cap="flat" cmpd="sng" w="9525">
                      <a:solidFill>
                        <a:srgbClr val="4E4F50"/>
                      </a:solidFill>
                      <a:prstDash val="solid"/>
                      <a:round/>
                      <a:headEnd len="sm" w="sm" type="none"/>
                      <a:tailEnd len="sm" w="sm" type="none"/>
                    </a:lnR>
                    <a:lnT cap="flat" cmpd="sng" w="9525">
                      <a:solidFill>
                        <a:srgbClr val="4E4F50"/>
                      </a:solidFill>
                      <a:prstDash val="solid"/>
                      <a:round/>
                      <a:headEnd len="sm" w="sm" type="none"/>
                      <a:tailEnd len="sm" w="sm" type="none"/>
                    </a:lnT>
                    <a:lnB cap="flat" cmpd="sng" w="9525">
                      <a:solidFill>
                        <a:srgbClr val="4E4F50"/>
                      </a:solidFill>
                      <a:prstDash val="solid"/>
                      <a:round/>
                      <a:headEnd len="sm" w="sm" type="none"/>
                      <a:tailEnd len="sm" w="sm" type="none"/>
                    </a:lnB>
                  </a:tcPr>
                </a:tc>
              </a:tr>
              <a:tr h="422250">
                <a:tc>
                  <a:txBody>
                    <a:bodyPr/>
                    <a:lstStyle/>
                    <a:p>
                      <a:pPr indent="0" lvl="0" marL="0" rtl="0" algn="ctr">
                        <a:spcBef>
                          <a:spcPts val="0"/>
                        </a:spcBef>
                        <a:spcAft>
                          <a:spcPts val="0"/>
                        </a:spcAft>
                        <a:buNone/>
                      </a:pPr>
                      <a:r>
                        <a:rPr b="1" lang="en" sz="1600">
                          <a:latin typeface="Montserrat"/>
                          <a:ea typeface="Montserrat"/>
                          <a:cs typeface="Montserrat"/>
                          <a:sym typeface="Montserrat"/>
                        </a:rPr>
                        <a:t>TabError</a:t>
                      </a:r>
                      <a:endParaRPr b="1" sz="1600">
                        <a:latin typeface="Montserrat"/>
                        <a:ea typeface="Montserrat"/>
                        <a:cs typeface="Montserrat"/>
                        <a:sym typeface="Montserrat"/>
                      </a:endParaRPr>
                    </a:p>
                  </a:txBody>
                  <a:tcPr marT="91425" marB="91425" marR="91425" marL="91425">
                    <a:lnL cap="flat" cmpd="sng" w="9525">
                      <a:solidFill>
                        <a:srgbClr val="4E4F50"/>
                      </a:solidFill>
                      <a:prstDash val="solid"/>
                      <a:round/>
                      <a:headEnd len="sm" w="sm" type="none"/>
                      <a:tailEnd len="sm" w="sm" type="none"/>
                    </a:lnL>
                    <a:lnR cap="flat" cmpd="sng" w="9525">
                      <a:solidFill>
                        <a:srgbClr val="4E4F50"/>
                      </a:solidFill>
                      <a:prstDash val="solid"/>
                      <a:round/>
                      <a:headEnd len="sm" w="sm" type="none"/>
                      <a:tailEnd len="sm" w="sm" type="none"/>
                    </a:lnR>
                    <a:lnT cap="flat" cmpd="sng" w="9525">
                      <a:solidFill>
                        <a:srgbClr val="4E4F50"/>
                      </a:solidFill>
                      <a:prstDash val="solid"/>
                      <a:round/>
                      <a:headEnd len="sm" w="sm" type="none"/>
                      <a:tailEnd len="sm" w="sm" type="none"/>
                    </a:lnT>
                    <a:lnB cap="flat" cmpd="sng" w="9525">
                      <a:solidFill>
                        <a:srgbClr val="4E4F50"/>
                      </a:solidFill>
                      <a:prstDash val="solid"/>
                      <a:round/>
                      <a:headEnd len="sm" w="sm" type="none"/>
                      <a:tailEnd len="sm" w="sm" type="none"/>
                    </a:lnB>
                  </a:tcPr>
                </a:tc>
                <a:tc>
                  <a:txBody>
                    <a:bodyPr/>
                    <a:lstStyle/>
                    <a:p>
                      <a:pPr indent="0" lvl="0" marL="0" rtl="0" algn="l">
                        <a:spcBef>
                          <a:spcPts val="0"/>
                        </a:spcBef>
                        <a:spcAft>
                          <a:spcPts val="0"/>
                        </a:spcAft>
                        <a:buNone/>
                      </a:pPr>
                      <a:r>
                        <a:rPr lang="en" sz="1500">
                          <a:latin typeface="Montserrat"/>
                          <a:ea typeface="Montserrat"/>
                          <a:cs typeface="Montserrat"/>
                          <a:sym typeface="Montserrat"/>
                        </a:rPr>
                        <a:t>It occurs when the indentation contains an inconsistent use of tabs and spaces.</a:t>
                      </a:r>
                      <a:endParaRPr sz="1500">
                        <a:latin typeface="Montserrat"/>
                        <a:ea typeface="Montserrat"/>
                        <a:cs typeface="Montserrat"/>
                        <a:sym typeface="Montserrat"/>
                      </a:endParaRPr>
                    </a:p>
                  </a:txBody>
                  <a:tcPr marT="91425" marB="91425" marR="91425" marL="91425">
                    <a:lnL cap="flat" cmpd="sng" w="9525">
                      <a:solidFill>
                        <a:srgbClr val="4E4F50"/>
                      </a:solidFill>
                      <a:prstDash val="solid"/>
                      <a:round/>
                      <a:headEnd len="sm" w="sm" type="none"/>
                      <a:tailEnd len="sm" w="sm" type="none"/>
                    </a:lnL>
                    <a:lnR cap="flat" cmpd="sng" w="9525">
                      <a:solidFill>
                        <a:srgbClr val="4E4F50"/>
                      </a:solidFill>
                      <a:prstDash val="solid"/>
                      <a:round/>
                      <a:headEnd len="sm" w="sm" type="none"/>
                      <a:tailEnd len="sm" w="sm" type="none"/>
                    </a:lnR>
                    <a:lnT cap="flat" cmpd="sng" w="9525">
                      <a:solidFill>
                        <a:srgbClr val="4E4F50"/>
                      </a:solidFill>
                      <a:prstDash val="solid"/>
                      <a:round/>
                      <a:headEnd len="sm" w="sm" type="none"/>
                      <a:tailEnd len="sm" w="sm" type="none"/>
                    </a:lnT>
                    <a:lnB cap="flat" cmpd="sng" w="9525">
                      <a:solidFill>
                        <a:srgbClr val="4E4F50"/>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0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3"/>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Hierarchy</a:t>
            </a:r>
            <a:r>
              <a:rPr lang="en"/>
              <a:t> of the exceptions</a:t>
            </a:r>
            <a:endParaRPr/>
          </a:p>
        </p:txBody>
      </p:sp>
      <p:sp>
        <p:nvSpPr>
          <p:cNvPr id="214" name="Google Shape;214;p33"/>
          <p:cNvSpPr txBox="1"/>
          <p:nvPr/>
        </p:nvSpPr>
        <p:spPr>
          <a:xfrm>
            <a:off x="304625" y="1363050"/>
            <a:ext cx="1788900" cy="4002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FFFF"/>
                </a:solidFill>
                <a:latin typeface="Montserrat"/>
                <a:ea typeface="Montserrat"/>
                <a:cs typeface="Montserrat"/>
                <a:sym typeface="Montserrat"/>
              </a:rPr>
              <a:t>BaseException</a:t>
            </a:r>
            <a:endParaRPr b="1">
              <a:solidFill>
                <a:srgbClr val="FFFFFF"/>
              </a:solidFill>
              <a:latin typeface="Montserrat"/>
              <a:ea typeface="Montserrat"/>
              <a:cs typeface="Montserrat"/>
              <a:sym typeface="Montserrat"/>
            </a:endParaRPr>
          </a:p>
        </p:txBody>
      </p:sp>
      <p:sp>
        <p:nvSpPr>
          <p:cNvPr id="215" name="Google Shape;215;p33"/>
          <p:cNvSpPr txBox="1"/>
          <p:nvPr/>
        </p:nvSpPr>
        <p:spPr>
          <a:xfrm>
            <a:off x="781900" y="1839450"/>
            <a:ext cx="1439700" cy="4002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FFFF"/>
                </a:solidFill>
                <a:latin typeface="Montserrat"/>
                <a:ea typeface="Montserrat"/>
                <a:cs typeface="Montserrat"/>
                <a:sym typeface="Montserrat"/>
              </a:rPr>
              <a:t>SystemExit</a:t>
            </a:r>
            <a:endParaRPr b="1">
              <a:solidFill>
                <a:srgbClr val="FFFFFF"/>
              </a:solidFill>
              <a:latin typeface="Montserrat"/>
              <a:ea typeface="Montserrat"/>
              <a:cs typeface="Montserrat"/>
              <a:sym typeface="Montserrat"/>
            </a:endParaRPr>
          </a:p>
        </p:txBody>
      </p:sp>
      <p:sp>
        <p:nvSpPr>
          <p:cNvPr id="216" name="Google Shape;216;p33"/>
          <p:cNvSpPr txBox="1"/>
          <p:nvPr/>
        </p:nvSpPr>
        <p:spPr>
          <a:xfrm>
            <a:off x="781900" y="2296650"/>
            <a:ext cx="1922100" cy="4002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FFFF"/>
                </a:solidFill>
                <a:latin typeface="Montserrat"/>
                <a:ea typeface="Montserrat"/>
                <a:cs typeface="Montserrat"/>
                <a:sym typeface="Montserrat"/>
              </a:rPr>
              <a:t>KeyboardInterrupt</a:t>
            </a:r>
            <a:endParaRPr b="1">
              <a:solidFill>
                <a:srgbClr val="FFFFFF"/>
              </a:solidFill>
              <a:latin typeface="Montserrat"/>
              <a:ea typeface="Montserrat"/>
              <a:cs typeface="Montserrat"/>
              <a:sym typeface="Montserrat"/>
            </a:endParaRPr>
          </a:p>
        </p:txBody>
      </p:sp>
      <p:sp>
        <p:nvSpPr>
          <p:cNvPr id="217" name="Google Shape;217;p33"/>
          <p:cNvSpPr txBox="1"/>
          <p:nvPr/>
        </p:nvSpPr>
        <p:spPr>
          <a:xfrm>
            <a:off x="781900" y="2753850"/>
            <a:ext cx="1788900" cy="4002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FFFF"/>
                </a:solidFill>
                <a:latin typeface="Montserrat"/>
                <a:ea typeface="Montserrat"/>
                <a:cs typeface="Montserrat"/>
                <a:sym typeface="Montserrat"/>
              </a:rPr>
              <a:t>GeneratorExit</a:t>
            </a:r>
            <a:endParaRPr b="1">
              <a:solidFill>
                <a:srgbClr val="FFFFFF"/>
              </a:solidFill>
              <a:latin typeface="Montserrat"/>
              <a:ea typeface="Montserrat"/>
              <a:cs typeface="Montserrat"/>
              <a:sym typeface="Montserrat"/>
            </a:endParaRPr>
          </a:p>
        </p:txBody>
      </p:sp>
      <p:sp>
        <p:nvSpPr>
          <p:cNvPr id="218" name="Google Shape;218;p33"/>
          <p:cNvSpPr txBox="1"/>
          <p:nvPr/>
        </p:nvSpPr>
        <p:spPr>
          <a:xfrm>
            <a:off x="781900" y="3211050"/>
            <a:ext cx="1439700" cy="400200"/>
          </a:xfrm>
          <a:prstGeom prst="rect">
            <a:avLst/>
          </a:prstGeom>
          <a:solidFill>
            <a:srgbClr val="FF99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FFFF"/>
                </a:solidFill>
                <a:latin typeface="Montserrat"/>
                <a:ea typeface="Montserrat"/>
                <a:cs typeface="Montserrat"/>
                <a:sym typeface="Montserrat"/>
              </a:rPr>
              <a:t>Exception</a:t>
            </a:r>
            <a:endParaRPr b="1">
              <a:solidFill>
                <a:srgbClr val="FFFFFF"/>
              </a:solidFill>
              <a:latin typeface="Montserrat"/>
              <a:ea typeface="Montserrat"/>
              <a:cs typeface="Montserrat"/>
              <a:sym typeface="Montserrat"/>
            </a:endParaRPr>
          </a:p>
        </p:txBody>
      </p:sp>
      <p:sp>
        <p:nvSpPr>
          <p:cNvPr id="219" name="Google Shape;219;p33"/>
          <p:cNvSpPr txBox="1"/>
          <p:nvPr/>
        </p:nvSpPr>
        <p:spPr>
          <a:xfrm>
            <a:off x="5430100" y="1382250"/>
            <a:ext cx="1439700" cy="400200"/>
          </a:xfrm>
          <a:prstGeom prst="rect">
            <a:avLst/>
          </a:prstGeom>
          <a:solidFill>
            <a:srgbClr val="FF9900"/>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FFFF"/>
                </a:solidFill>
                <a:latin typeface="Montserrat"/>
                <a:ea typeface="Montserrat"/>
                <a:cs typeface="Montserrat"/>
                <a:sym typeface="Montserrat"/>
              </a:rPr>
              <a:t>Exception</a:t>
            </a:r>
            <a:endParaRPr b="1">
              <a:solidFill>
                <a:srgbClr val="FFFFFF"/>
              </a:solidFill>
              <a:latin typeface="Montserrat"/>
              <a:ea typeface="Montserrat"/>
              <a:cs typeface="Montserrat"/>
              <a:sym typeface="Montserrat"/>
            </a:endParaRPr>
          </a:p>
        </p:txBody>
      </p:sp>
      <p:sp>
        <p:nvSpPr>
          <p:cNvPr id="220" name="Google Shape;220;p33"/>
          <p:cNvSpPr txBox="1"/>
          <p:nvPr/>
        </p:nvSpPr>
        <p:spPr>
          <a:xfrm>
            <a:off x="6039700" y="1839450"/>
            <a:ext cx="1439700" cy="4002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FFFF"/>
                </a:solidFill>
                <a:latin typeface="Montserrat"/>
                <a:ea typeface="Montserrat"/>
                <a:cs typeface="Montserrat"/>
                <a:sym typeface="Montserrat"/>
              </a:rPr>
              <a:t>StopIteration</a:t>
            </a:r>
            <a:endParaRPr b="1">
              <a:solidFill>
                <a:srgbClr val="FFFFFF"/>
              </a:solidFill>
              <a:latin typeface="Montserrat"/>
              <a:ea typeface="Montserrat"/>
              <a:cs typeface="Montserrat"/>
              <a:sym typeface="Montserrat"/>
            </a:endParaRPr>
          </a:p>
        </p:txBody>
      </p:sp>
      <p:sp>
        <p:nvSpPr>
          <p:cNvPr id="221" name="Google Shape;221;p33"/>
          <p:cNvSpPr txBox="1"/>
          <p:nvPr/>
        </p:nvSpPr>
        <p:spPr>
          <a:xfrm>
            <a:off x="6039700" y="2296650"/>
            <a:ext cx="1668300" cy="4002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FFFF"/>
                </a:solidFill>
                <a:latin typeface="Montserrat"/>
                <a:ea typeface="Montserrat"/>
                <a:cs typeface="Montserrat"/>
                <a:sym typeface="Montserrat"/>
              </a:rPr>
              <a:t>ArithmeticError</a:t>
            </a:r>
            <a:endParaRPr b="1">
              <a:solidFill>
                <a:srgbClr val="FFFFFF"/>
              </a:solidFill>
              <a:latin typeface="Montserrat"/>
              <a:ea typeface="Montserrat"/>
              <a:cs typeface="Montserrat"/>
              <a:sym typeface="Montserrat"/>
            </a:endParaRPr>
          </a:p>
        </p:txBody>
      </p:sp>
      <p:sp>
        <p:nvSpPr>
          <p:cNvPr id="222" name="Google Shape;222;p33"/>
          <p:cNvSpPr txBox="1"/>
          <p:nvPr/>
        </p:nvSpPr>
        <p:spPr>
          <a:xfrm>
            <a:off x="6039700" y="2753850"/>
            <a:ext cx="1439700" cy="4002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FFFF"/>
                </a:solidFill>
                <a:latin typeface="Montserrat"/>
                <a:ea typeface="Montserrat"/>
                <a:cs typeface="Montserrat"/>
                <a:sym typeface="Montserrat"/>
              </a:rPr>
              <a:t>BufferError</a:t>
            </a:r>
            <a:endParaRPr b="1">
              <a:solidFill>
                <a:srgbClr val="FFFFFF"/>
              </a:solidFill>
              <a:latin typeface="Montserrat"/>
              <a:ea typeface="Montserrat"/>
              <a:cs typeface="Montserrat"/>
              <a:sym typeface="Montserrat"/>
            </a:endParaRPr>
          </a:p>
        </p:txBody>
      </p:sp>
      <p:sp>
        <p:nvSpPr>
          <p:cNvPr id="223" name="Google Shape;223;p33"/>
          <p:cNvSpPr txBox="1"/>
          <p:nvPr/>
        </p:nvSpPr>
        <p:spPr>
          <a:xfrm>
            <a:off x="6039700" y="3211050"/>
            <a:ext cx="1439700" cy="4002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FFFF"/>
                </a:solidFill>
                <a:latin typeface="Montserrat"/>
                <a:ea typeface="Montserrat"/>
                <a:cs typeface="Montserrat"/>
                <a:sym typeface="Montserrat"/>
              </a:rPr>
              <a:t>ImportError</a:t>
            </a:r>
            <a:endParaRPr b="1">
              <a:solidFill>
                <a:srgbClr val="FFFFFF"/>
              </a:solidFill>
              <a:latin typeface="Montserrat"/>
              <a:ea typeface="Montserrat"/>
              <a:cs typeface="Montserrat"/>
              <a:sym typeface="Montserrat"/>
            </a:endParaRPr>
          </a:p>
        </p:txBody>
      </p:sp>
      <p:sp>
        <p:nvSpPr>
          <p:cNvPr id="224" name="Google Shape;224;p33"/>
          <p:cNvSpPr txBox="1"/>
          <p:nvPr/>
        </p:nvSpPr>
        <p:spPr>
          <a:xfrm>
            <a:off x="6039700" y="3668250"/>
            <a:ext cx="1439700" cy="4002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rgbClr val="FFFFFF"/>
                </a:solidFill>
                <a:latin typeface="Montserrat"/>
                <a:ea typeface="Montserrat"/>
                <a:cs typeface="Montserrat"/>
                <a:sym typeface="Montserrat"/>
              </a:rPr>
              <a:t>MemoryError</a:t>
            </a:r>
            <a:endParaRPr b="1">
              <a:solidFill>
                <a:srgbClr val="FFFFF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1000"/>
                                        <p:tgtEl>
                                          <p:spTgt spid="215"/>
                                        </p:tgtEl>
                                      </p:cBhvr>
                                    </p:animEffect>
                                  </p:childTnLst>
                                </p:cTn>
                              </p:par>
                              <p:par>
                                <p:cTn fill="hold" nodeType="with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1000"/>
                                        <p:tgtEl>
                                          <p:spTgt spid="216"/>
                                        </p:tgtEl>
                                      </p:cBhvr>
                                    </p:animEffect>
                                  </p:childTnLst>
                                </p:cTn>
                              </p:par>
                              <p:par>
                                <p:cTn fill="hold" nodeType="with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1000"/>
                                        <p:tgtEl>
                                          <p:spTgt spid="217"/>
                                        </p:tgtEl>
                                      </p:cBhvr>
                                    </p:animEffect>
                                  </p:childTnLst>
                                </p:cTn>
                              </p:par>
                              <p:par>
                                <p:cTn fill="hold" nodeType="with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par>
                                <p:cTn fill="hold" nodeType="with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par>
                                <p:cTn fill="hold" nodeType="with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par>
                                <p:cTn fill="hold" nodeType="with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1000"/>
                                        <p:tgtEl>
                                          <p:spTgt spid="222"/>
                                        </p:tgtEl>
                                      </p:cBhvr>
                                    </p:animEffect>
                                  </p:childTnLst>
                                </p:cTn>
                              </p:par>
                              <p:par>
                                <p:cTn fill="hold" nodeType="with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1000"/>
                                        <p:tgtEl>
                                          <p:spTgt spid="223"/>
                                        </p:tgtEl>
                                      </p:cBhvr>
                                    </p:animEffect>
                                  </p:childTnLst>
                                </p:cTn>
                              </p:par>
                              <p:par>
                                <p:cTn fill="hold" nodeType="with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1000"/>
                                        <p:tgtEl>
                                          <p:spTgt spid="2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4"/>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Exception Handling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5"/>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000"/>
              <a:t>Exception Handling provides an alternative flow of execution to avoid crashing the program unexpectedly.</a:t>
            </a:r>
            <a:endParaRPr sz="2000"/>
          </a:p>
        </p:txBody>
      </p:sp>
      <p:sp>
        <p:nvSpPr>
          <p:cNvPr id="235" name="Google Shape;235;p35"/>
          <p:cNvSpPr/>
          <p:nvPr/>
        </p:nvSpPr>
        <p:spPr>
          <a:xfrm>
            <a:off x="1927050" y="2002858"/>
            <a:ext cx="1449000" cy="1293000"/>
          </a:xfrm>
          <a:prstGeom prst="ellipse">
            <a:avLst/>
          </a:prstGeom>
          <a:solidFill>
            <a:srgbClr val="3C78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rgbClr val="FFFFFF"/>
                </a:solidFill>
              </a:rPr>
              <a:t>Code</a:t>
            </a:r>
            <a:endParaRPr b="1" sz="2100">
              <a:solidFill>
                <a:srgbClr val="FFFFFF"/>
              </a:solidFill>
            </a:endParaRPr>
          </a:p>
        </p:txBody>
      </p:sp>
      <p:sp>
        <p:nvSpPr>
          <p:cNvPr id="236" name="Google Shape;236;p35"/>
          <p:cNvSpPr/>
          <p:nvPr/>
        </p:nvSpPr>
        <p:spPr>
          <a:xfrm>
            <a:off x="5312642" y="1300425"/>
            <a:ext cx="1538100" cy="1293000"/>
          </a:xfrm>
          <a:prstGeom prst="ellipse">
            <a:avLst/>
          </a:prstGeom>
          <a:solidFill>
            <a:srgbClr val="274E1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rgbClr val="FFFFFF"/>
                </a:solidFill>
              </a:rPr>
              <a:t>Do this</a:t>
            </a:r>
            <a:endParaRPr b="1" sz="2100">
              <a:solidFill>
                <a:srgbClr val="FFFFFF"/>
              </a:solidFill>
            </a:endParaRPr>
          </a:p>
        </p:txBody>
      </p:sp>
      <p:sp>
        <p:nvSpPr>
          <p:cNvPr id="237" name="Google Shape;237;p35"/>
          <p:cNvSpPr/>
          <p:nvPr/>
        </p:nvSpPr>
        <p:spPr>
          <a:xfrm>
            <a:off x="5223550" y="3144300"/>
            <a:ext cx="1627200" cy="12930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2100">
                <a:solidFill>
                  <a:srgbClr val="FFFFFF"/>
                </a:solidFill>
              </a:rPr>
              <a:t>Do that</a:t>
            </a:r>
            <a:endParaRPr b="1" sz="2100">
              <a:solidFill>
                <a:srgbClr val="FFFFFF"/>
              </a:solidFill>
            </a:endParaRPr>
          </a:p>
        </p:txBody>
      </p:sp>
      <p:cxnSp>
        <p:nvCxnSpPr>
          <p:cNvPr id="238" name="Google Shape;238;p35"/>
          <p:cNvCxnSpPr>
            <a:stCxn id="235" idx="6"/>
            <a:endCxn id="237" idx="1"/>
          </p:cNvCxnSpPr>
          <p:nvPr/>
        </p:nvCxnSpPr>
        <p:spPr>
          <a:xfrm>
            <a:off x="3376050" y="2649358"/>
            <a:ext cx="2085900" cy="684300"/>
          </a:xfrm>
          <a:prstGeom prst="straightConnector1">
            <a:avLst/>
          </a:prstGeom>
          <a:noFill/>
          <a:ln cap="flat" cmpd="sng" w="28575">
            <a:solidFill>
              <a:schemeClr val="dk2"/>
            </a:solidFill>
            <a:prstDash val="solid"/>
            <a:round/>
            <a:headEnd len="med" w="med" type="none"/>
            <a:tailEnd len="med" w="med" type="triangle"/>
          </a:ln>
        </p:spPr>
      </p:cxnSp>
      <p:cxnSp>
        <p:nvCxnSpPr>
          <p:cNvPr id="239" name="Google Shape;239;p35"/>
          <p:cNvCxnSpPr>
            <a:stCxn id="235" idx="6"/>
            <a:endCxn id="236" idx="2"/>
          </p:cNvCxnSpPr>
          <p:nvPr/>
        </p:nvCxnSpPr>
        <p:spPr>
          <a:xfrm flipH="1" rot="10800000">
            <a:off x="3376050" y="1947058"/>
            <a:ext cx="1936500" cy="702300"/>
          </a:xfrm>
          <a:prstGeom prst="straightConnector1">
            <a:avLst/>
          </a:prstGeom>
          <a:noFill/>
          <a:ln cap="flat" cmpd="sng" w="28575">
            <a:solidFill>
              <a:schemeClr val="dk2"/>
            </a:solidFill>
            <a:prstDash val="solid"/>
            <a:round/>
            <a:headEnd len="med" w="med" type="none"/>
            <a:tailEnd len="med" w="med" type="triangle"/>
          </a:ln>
        </p:spPr>
      </p:cxnSp>
      <p:sp>
        <p:nvSpPr>
          <p:cNvPr id="240" name="Google Shape;240;p35"/>
          <p:cNvSpPr txBox="1"/>
          <p:nvPr/>
        </p:nvSpPr>
        <p:spPr>
          <a:xfrm rot="-1167172">
            <a:off x="3428756" y="1825151"/>
            <a:ext cx="1933152" cy="400301"/>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No exception</a:t>
            </a:r>
            <a:endParaRPr>
              <a:latin typeface="Montserrat"/>
              <a:ea typeface="Montserrat"/>
              <a:cs typeface="Montserrat"/>
              <a:sym typeface="Montserrat"/>
            </a:endParaRPr>
          </a:p>
        </p:txBody>
      </p:sp>
      <p:sp>
        <p:nvSpPr>
          <p:cNvPr id="241" name="Google Shape;241;p35"/>
          <p:cNvSpPr txBox="1"/>
          <p:nvPr/>
        </p:nvSpPr>
        <p:spPr>
          <a:xfrm rot="959688">
            <a:off x="3615571" y="2947862"/>
            <a:ext cx="1385955" cy="400309"/>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E</a:t>
            </a:r>
            <a:r>
              <a:rPr lang="en">
                <a:latin typeface="Montserrat"/>
                <a:ea typeface="Montserrat"/>
                <a:cs typeface="Montserrat"/>
                <a:sym typeface="Montserrat"/>
              </a:rPr>
              <a:t>xception</a:t>
            </a:r>
            <a:endParaRPr>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10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par>
                                <p:cTn fill="hold" nodeType="with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1000"/>
                                        <p:tgtEl>
                                          <p:spTgt spid="237"/>
                                        </p:tgtEl>
                                      </p:cBhvr>
                                    </p:animEffect>
                                  </p:childTnLst>
                                </p:cTn>
                              </p:par>
                              <p:par>
                                <p:cTn fill="hold" nodeType="with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1000"/>
                                        <p:tgtEl>
                                          <p:spTgt spid="238"/>
                                        </p:tgtEl>
                                      </p:cBhvr>
                                    </p:animEffect>
                                  </p:childTnLst>
                                </p:cTn>
                              </p:par>
                              <p:par>
                                <p:cTn fill="hold" nodeType="with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1000"/>
                                        <p:tgtEl>
                                          <p:spTgt spid="239"/>
                                        </p:tgtEl>
                                      </p:cBhvr>
                                    </p:animEffect>
                                  </p:childTnLst>
                                </p:cTn>
                              </p:par>
                              <p:par>
                                <p:cTn fill="hold" nodeType="with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par>
                                <p:cTn fill="hold" nodeType="with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6"/>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a:t>
            </a:r>
            <a:r>
              <a:rPr lang="en"/>
              <a:t>ry, except, finally</a:t>
            </a:r>
            <a:endParaRPr/>
          </a:p>
        </p:txBody>
      </p:sp>
      <p:sp>
        <p:nvSpPr>
          <p:cNvPr id="247" name="Google Shape;247;p36"/>
          <p:cNvSpPr txBox="1"/>
          <p:nvPr>
            <p:ph idx="1" type="body"/>
          </p:nvPr>
        </p:nvSpPr>
        <p:spPr>
          <a:xfrm>
            <a:off x="304150" y="1682500"/>
            <a:ext cx="1868100" cy="16863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950">
                <a:solidFill>
                  <a:srgbClr val="AF00DB"/>
                </a:solidFill>
                <a:highlight>
                  <a:srgbClr val="FFFFFE"/>
                </a:highlight>
                <a:latin typeface="Courier New"/>
                <a:ea typeface="Courier New"/>
                <a:cs typeface="Courier New"/>
                <a:sym typeface="Courier New"/>
              </a:rPr>
              <a:t>try</a:t>
            </a:r>
            <a:r>
              <a:rPr lang="en" sz="1950">
                <a:solidFill>
                  <a:schemeClr val="dk1"/>
                </a:solidFill>
                <a:highlight>
                  <a:srgbClr val="FFFFFE"/>
                </a:highlight>
                <a:latin typeface="Courier New"/>
                <a:ea typeface="Courier New"/>
                <a:cs typeface="Courier New"/>
                <a:sym typeface="Courier New"/>
              </a:rPr>
              <a:t>:</a:t>
            </a:r>
            <a:endParaRPr sz="19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950">
                <a:solidFill>
                  <a:schemeClr val="dk1"/>
                </a:solidFill>
                <a:highlight>
                  <a:srgbClr val="FFFFFE"/>
                </a:highlight>
                <a:latin typeface="Courier New"/>
                <a:ea typeface="Courier New"/>
                <a:cs typeface="Courier New"/>
                <a:sym typeface="Courier New"/>
              </a:rPr>
              <a:t>   </a:t>
            </a:r>
            <a:r>
              <a:rPr lang="en" sz="1950">
                <a:solidFill>
                  <a:srgbClr val="008000"/>
                </a:solidFill>
                <a:highlight>
                  <a:srgbClr val="FFFFFE"/>
                </a:highlight>
                <a:latin typeface="Courier New"/>
                <a:ea typeface="Courier New"/>
                <a:cs typeface="Courier New"/>
                <a:sym typeface="Courier New"/>
              </a:rPr>
              <a:t># Code</a:t>
            </a:r>
            <a:endParaRPr sz="19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950">
                <a:solidFill>
                  <a:srgbClr val="AF00DB"/>
                </a:solidFill>
                <a:highlight>
                  <a:srgbClr val="FFFFFE"/>
                </a:highlight>
                <a:latin typeface="Courier New"/>
                <a:ea typeface="Courier New"/>
                <a:cs typeface="Courier New"/>
                <a:sym typeface="Courier New"/>
              </a:rPr>
              <a:t>except</a:t>
            </a:r>
            <a:r>
              <a:rPr lang="en" sz="1950">
                <a:solidFill>
                  <a:schemeClr val="dk1"/>
                </a:solidFill>
                <a:highlight>
                  <a:srgbClr val="FFFFFE"/>
                </a:highlight>
                <a:latin typeface="Courier New"/>
                <a:ea typeface="Courier New"/>
                <a:cs typeface="Courier New"/>
                <a:sym typeface="Courier New"/>
              </a:rPr>
              <a:t>:</a:t>
            </a:r>
            <a:endParaRPr sz="19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950">
                <a:solidFill>
                  <a:schemeClr val="dk1"/>
                </a:solidFill>
                <a:highlight>
                  <a:srgbClr val="FFFFFE"/>
                </a:highlight>
                <a:latin typeface="Courier New"/>
                <a:ea typeface="Courier New"/>
                <a:cs typeface="Courier New"/>
                <a:sym typeface="Courier New"/>
              </a:rPr>
              <a:t>   </a:t>
            </a:r>
            <a:r>
              <a:rPr lang="en" sz="1950">
                <a:solidFill>
                  <a:srgbClr val="008000"/>
                </a:solidFill>
                <a:highlight>
                  <a:srgbClr val="FFFFFE"/>
                </a:highlight>
                <a:latin typeface="Courier New"/>
                <a:ea typeface="Courier New"/>
                <a:cs typeface="Courier New"/>
                <a:sym typeface="Courier New"/>
              </a:rPr>
              <a:t># Code</a:t>
            </a:r>
            <a:endParaRPr sz="2700"/>
          </a:p>
        </p:txBody>
      </p:sp>
      <p:sp>
        <p:nvSpPr>
          <p:cNvPr id="248" name="Google Shape;248;p36"/>
          <p:cNvSpPr txBox="1"/>
          <p:nvPr/>
        </p:nvSpPr>
        <p:spPr>
          <a:xfrm>
            <a:off x="227950" y="925700"/>
            <a:ext cx="1868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latin typeface="Montserrat"/>
                <a:ea typeface="Montserrat"/>
                <a:cs typeface="Montserrat"/>
                <a:sym typeface="Montserrat"/>
              </a:rPr>
              <a:t>Syntax:</a:t>
            </a:r>
            <a:endParaRPr b="1" sz="1800">
              <a:latin typeface="Montserrat"/>
              <a:ea typeface="Montserrat"/>
              <a:cs typeface="Montserrat"/>
              <a:sym typeface="Montserrat"/>
            </a:endParaRPr>
          </a:p>
        </p:txBody>
      </p:sp>
      <p:sp>
        <p:nvSpPr>
          <p:cNvPr id="249" name="Google Shape;249;p36"/>
          <p:cNvSpPr/>
          <p:nvPr/>
        </p:nvSpPr>
        <p:spPr>
          <a:xfrm>
            <a:off x="321000" y="1760975"/>
            <a:ext cx="1658100" cy="753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6"/>
          <p:cNvSpPr txBox="1"/>
          <p:nvPr/>
        </p:nvSpPr>
        <p:spPr>
          <a:xfrm>
            <a:off x="3244225" y="1693975"/>
            <a:ext cx="5175000" cy="6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Try to run this code. If an exception is raised, stop the execution.</a:t>
            </a:r>
            <a:endParaRPr>
              <a:latin typeface="Montserrat"/>
              <a:ea typeface="Montserrat"/>
              <a:cs typeface="Montserrat"/>
              <a:sym typeface="Montserrat"/>
            </a:endParaRPr>
          </a:p>
        </p:txBody>
      </p:sp>
      <p:cxnSp>
        <p:nvCxnSpPr>
          <p:cNvPr id="251" name="Google Shape;251;p36"/>
          <p:cNvCxnSpPr>
            <a:stCxn id="250" idx="1"/>
            <a:endCxn id="249" idx="3"/>
          </p:cNvCxnSpPr>
          <p:nvPr/>
        </p:nvCxnSpPr>
        <p:spPr>
          <a:xfrm flipH="1">
            <a:off x="1979125" y="2001775"/>
            <a:ext cx="1265100" cy="135900"/>
          </a:xfrm>
          <a:prstGeom prst="straightConnector1">
            <a:avLst/>
          </a:prstGeom>
          <a:noFill/>
          <a:ln cap="flat" cmpd="sng" w="9525">
            <a:solidFill>
              <a:schemeClr val="dk2"/>
            </a:solidFill>
            <a:prstDash val="solid"/>
            <a:round/>
            <a:headEnd len="med" w="med" type="none"/>
            <a:tailEnd len="med" w="med" type="triangle"/>
          </a:ln>
        </p:spPr>
      </p:cxnSp>
      <p:sp>
        <p:nvSpPr>
          <p:cNvPr id="252" name="Google Shape;252;p36"/>
          <p:cNvSpPr/>
          <p:nvPr/>
        </p:nvSpPr>
        <p:spPr>
          <a:xfrm>
            <a:off x="321000" y="2599175"/>
            <a:ext cx="1658100" cy="7536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6"/>
          <p:cNvSpPr txBox="1"/>
          <p:nvPr/>
        </p:nvSpPr>
        <p:spPr>
          <a:xfrm>
            <a:off x="3244225" y="2532175"/>
            <a:ext cx="5175000" cy="6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Montserrat"/>
                <a:ea typeface="Montserrat"/>
                <a:cs typeface="Montserrat"/>
                <a:sym typeface="Montserrat"/>
              </a:rPr>
              <a:t>Run this if an exception is raised in the try block. Otherwise skit it.</a:t>
            </a:r>
            <a:endParaRPr>
              <a:latin typeface="Montserrat"/>
              <a:ea typeface="Montserrat"/>
              <a:cs typeface="Montserrat"/>
              <a:sym typeface="Montserrat"/>
            </a:endParaRPr>
          </a:p>
        </p:txBody>
      </p:sp>
      <p:cxnSp>
        <p:nvCxnSpPr>
          <p:cNvPr id="254" name="Google Shape;254;p36"/>
          <p:cNvCxnSpPr>
            <a:stCxn id="253" idx="1"/>
            <a:endCxn id="252" idx="3"/>
          </p:cNvCxnSpPr>
          <p:nvPr/>
        </p:nvCxnSpPr>
        <p:spPr>
          <a:xfrm flipH="1">
            <a:off x="1979125" y="2839975"/>
            <a:ext cx="1265100" cy="135900"/>
          </a:xfrm>
          <a:prstGeom prst="straightConnector1">
            <a:avLst/>
          </a:prstGeom>
          <a:noFill/>
          <a:ln cap="flat" cmpd="sng" w="9525">
            <a:solidFill>
              <a:schemeClr val="dk2"/>
            </a:solidFill>
            <a:prstDash val="solid"/>
            <a:round/>
            <a:headEnd len="med" w="med" type="none"/>
            <a:tailEnd len="med" w="med" type="triangle"/>
          </a:ln>
        </p:spPr>
      </p:cxnSp>
      <p:sp>
        <p:nvSpPr>
          <p:cNvPr id="255" name="Google Shape;255;p36"/>
          <p:cNvSpPr txBox="1"/>
          <p:nvPr/>
        </p:nvSpPr>
        <p:spPr>
          <a:xfrm>
            <a:off x="295025" y="3424825"/>
            <a:ext cx="2026500" cy="1215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dk1"/>
              </a:buClr>
              <a:buSzPts val="1100"/>
              <a:buFont typeface="Arial"/>
              <a:buNone/>
            </a:pPr>
            <a:r>
              <a:rPr lang="en" sz="1950">
                <a:solidFill>
                  <a:srgbClr val="AF00DB"/>
                </a:solidFill>
                <a:highlight>
                  <a:srgbClr val="FFFFFE"/>
                </a:highlight>
                <a:latin typeface="Courier New"/>
                <a:ea typeface="Courier New"/>
                <a:cs typeface="Courier New"/>
                <a:sym typeface="Courier New"/>
              </a:rPr>
              <a:t>finally</a:t>
            </a:r>
            <a:r>
              <a:rPr lang="en" sz="1950">
                <a:solidFill>
                  <a:schemeClr val="dk1"/>
                </a:solidFill>
                <a:highlight>
                  <a:srgbClr val="FFFFFE"/>
                </a:highlight>
                <a:latin typeface="Courier New"/>
                <a:ea typeface="Courier New"/>
                <a:cs typeface="Courier New"/>
                <a:sym typeface="Courier New"/>
              </a:rPr>
              <a:t>:</a:t>
            </a:r>
            <a:endParaRPr sz="19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950">
                <a:solidFill>
                  <a:schemeClr val="dk1"/>
                </a:solidFill>
                <a:highlight>
                  <a:srgbClr val="FFFFFE"/>
                </a:highlight>
                <a:latin typeface="Courier New"/>
                <a:ea typeface="Courier New"/>
                <a:cs typeface="Courier New"/>
                <a:sym typeface="Courier New"/>
              </a:rPr>
              <a:t>   </a:t>
            </a:r>
            <a:r>
              <a:rPr lang="en" sz="1950">
                <a:solidFill>
                  <a:srgbClr val="008000"/>
                </a:solidFill>
                <a:highlight>
                  <a:srgbClr val="FFFFFE"/>
                </a:highlight>
                <a:latin typeface="Courier New"/>
                <a:ea typeface="Courier New"/>
                <a:cs typeface="Courier New"/>
                <a:sym typeface="Courier New"/>
              </a:rPr>
              <a:t># Code</a:t>
            </a:r>
            <a:endParaRPr sz="1950">
              <a:solidFill>
                <a:srgbClr val="008000"/>
              </a:solidFill>
              <a:highlight>
                <a:srgbClr val="FFFFFE"/>
              </a:highlight>
              <a:latin typeface="Courier New"/>
              <a:ea typeface="Courier New"/>
              <a:cs typeface="Courier New"/>
              <a:sym typeface="Courier New"/>
            </a:endParaRPr>
          </a:p>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1000"/>
                                        <p:tgtEl>
                                          <p:spTgt spid="247"/>
                                        </p:tgtEl>
                                      </p:cBhvr>
                                    </p:animEffect>
                                  </p:childTnLst>
                                </p:cTn>
                              </p:par>
                              <p:par>
                                <p:cTn fill="hold" nodeType="withEffect" presetClass="entr" presetID="10" presetSubtype="0">
                                  <p:stCondLst>
                                    <p:cond delay="0"/>
                                  </p:stCondLst>
                                  <p:childTnLst>
                                    <p:set>
                                      <p:cBhvr>
                                        <p:cTn dur="1" fill="hold">
                                          <p:stCondLst>
                                            <p:cond delay="0"/>
                                          </p:stCondLst>
                                        </p:cTn>
                                        <p:tgtEl>
                                          <p:spTgt spid="248"/>
                                        </p:tgtEl>
                                        <p:attrNameLst>
                                          <p:attrName>style.visibility</p:attrName>
                                        </p:attrNameLst>
                                      </p:cBhvr>
                                      <p:to>
                                        <p:strVal val="visible"/>
                                      </p:to>
                                    </p:set>
                                    <p:animEffect filter="fade" transition="in">
                                      <p:cBhvr>
                                        <p:cTn dur="1000"/>
                                        <p:tgtEl>
                                          <p:spTgt spid="2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1000"/>
                                        <p:tgtEl>
                                          <p:spTgt spid="249"/>
                                        </p:tgtEl>
                                      </p:cBhvr>
                                    </p:animEffect>
                                  </p:childTnLst>
                                </p:cTn>
                              </p:par>
                              <p:par>
                                <p:cTn fill="hold" nodeType="with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par>
                                <p:cTn fill="hold" nodeType="with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000"/>
                                        <p:tgtEl>
                                          <p:spTgt spid="252"/>
                                        </p:tgtEl>
                                      </p:cBhvr>
                                    </p:animEffect>
                                  </p:childTnLst>
                                </p:cTn>
                              </p:par>
                              <p:par>
                                <p:cTn fill="hold" nodeType="with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1000"/>
                                        <p:tgtEl>
                                          <p:spTgt spid="254"/>
                                        </p:tgtEl>
                                      </p:cBhvr>
                                    </p:animEffect>
                                  </p:childTnLst>
                                </p:cTn>
                              </p:par>
                              <p:par>
                                <p:cTn fill="hold" nodeType="with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100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1000"/>
                                        <p:tgtEl>
                                          <p:spTgt spid="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7"/>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Example:</a:t>
            </a:r>
            <a:endParaRPr/>
          </a:p>
        </p:txBody>
      </p:sp>
      <p:sp>
        <p:nvSpPr>
          <p:cNvPr id="261" name="Google Shape;261;p37"/>
          <p:cNvSpPr txBox="1"/>
          <p:nvPr>
            <p:ph idx="1" type="body"/>
          </p:nvPr>
        </p:nvSpPr>
        <p:spPr>
          <a:xfrm>
            <a:off x="227950" y="859200"/>
            <a:ext cx="5418600" cy="14769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650">
                <a:solidFill>
                  <a:schemeClr val="dk1"/>
                </a:solidFill>
                <a:highlight>
                  <a:srgbClr val="FFFFFE"/>
                </a:highlight>
                <a:latin typeface="Courier New"/>
                <a:ea typeface="Courier New"/>
                <a:cs typeface="Courier New"/>
                <a:sym typeface="Courier New"/>
              </a:rPr>
              <a:t>numerator = int(</a:t>
            </a:r>
            <a:r>
              <a:rPr lang="en" sz="1650">
                <a:solidFill>
                  <a:srgbClr val="795E26"/>
                </a:solidFill>
                <a:highlight>
                  <a:srgbClr val="FFFFFE"/>
                </a:highlight>
                <a:latin typeface="Courier New"/>
                <a:ea typeface="Courier New"/>
                <a:cs typeface="Courier New"/>
                <a:sym typeface="Courier New"/>
              </a:rPr>
              <a:t>input</a:t>
            </a:r>
            <a:r>
              <a:rPr lang="en" sz="1650">
                <a:solidFill>
                  <a:schemeClr val="dk1"/>
                </a:solidFill>
                <a:highlight>
                  <a:srgbClr val="FFFFFE"/>
                </a:highlight>
                <a:latin typeface="Courier New"/>
                <a:ea typeface="Courier New"/>
                <a:cs typeface="Courier New"/>
                <a:sym typeface="Courier New"/>
              </a:rPr>
              <a:t>(</a:t>
            </a:r>
            <a:r>
              <a:rPr lang="en" sz="1650">
                <a:solidFill>
                  <a:srgbClr val="A31515"/>
                </a:solidFill>
                <a:highlight>
                  <a:srgbClr val="FFFFFE"/>
                </a:highlight>
                <a:latin typeface="Courier New"/>
                <a:ea typeface="Courier New"/>
                <a:cs typeface="Courier New"/>
                <a:sym typeface="Courier New"/>
              </a:rPr>
              <a:t>"Numerator:"</a:t>
            </a:r>
            <a:r>
              <a:rPr lang="en" sz="1650">
                <a:solidFill>
                  <a:schemeClr val="dk1"/>
                </a:solidFill>
                <a:highlight>
                  <a:srgbClr val="FFFFFE"/>
                </a:highlight>
                <a:latin typeface="Courier New"/>
                <a:ea typeface="Courier New"/>
                <a:cs typeface="Courier New"/>
                <a:sym typeface="Courier New"/>
              </a:rPr>
              <a:t>))</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650">
                <a:solidFill>
                  <a:schemeClr val="dk1"/>
                </a:solidFill>
                <a:highlight>
                  <a:srgbClr val="FFFFFE"/>
                </a:highlight>
                <a:latin typeface="Courier New"/>
                <a:ea typeface="Courier New"/>
                <a:cs typeface="Courier New"/>
                <a:sym typeface="Courier New"/>
              </a:rPr>
              <a:t>denominator = int(</a:t>
            </a:r>
            <a:r>
              <a:rPr lang="en" sz="1650">
                <a:solidFill>
                  <a:srgbClr val="795E26"/>
                </a:solidFill>
                <a:highlight>
                  <a:srgbClr val="FFFFFE"/>
                </a:highlight>
                <a:latin typeface="Courier New"/>
                <a:ea typeface="Courier New"/>
                <a:cs typeface="Courier New"/>
                <a:sym typeface="Courier New"/>
              </a:rPr>
              <a:t>input</a:t>
            </a:r>
            <a:r>
              <a:rPr lang="en" sz="1650">
                <a:solidFill>
                  <a:schemeClr val="dk1"/>
                </a:solidFill>
                <a:highlight>
                  <a:srgbClr val="FFFFFE"/>
                </a:highlight>
                <a:latin typeface="Courier New"/>
                <a:ea typeface="Courier New"/>
                <a:cs typeface="Courier New"/>
                <a:sym typeface="Courier New"/>
              </a:rPr>
              <a:t>(</a:t>
            </a:r>
            <a:r>
              <a:rPr lang="en" sz="1650">
                <a:solidFill>
                  <a:srgbClr val="A31515"/>
                </a:solidFill>
                <a:highlight>
                  <a:srgbClr val="FFFFFE"/>
                </a:highlight>
                <a:latin typeface="Courier New"/>
                <a:ea typeface="Courier New"/>
                <a:cs typeface="Courier New"/>
                <a:sym typeface="Courier New"/>
              </a:rPr>
              <a:t>"Denominator:"</a:t>
            </a:r>
            <a:r>
              <a:rPr lang="en" sz="1650">
                <a:solidFill>
                  <a:schemeClr val="dk1"/>
                </a:solidFill>
                <a:highlight>
                  <a:srgbClr val="FFFFFE"/>
                </a:highlight>
                <a:latin typeface="Courier New"/>
                <a:ea typeface="Courier New"/>
                <a:cs typeface="Courier New"/>
                <a:sym typeface="Courier New"/>
              </a:rPr>
              <a:t>))</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650">
                <a:solidFill>
                  <a:schemeClr val="dk1"/>
                </a:solidFill>
                <a:highlight>
                  <a:srgbClr val="FFFFFE"/>
                </a:highlight>
                <a:latin typeface="Courier New"/>
                <a:ea typeface="Courier New"/>
                <a:cs typeface="Courier New"/>
                <a:sym typeface="Courier New"/>
              </a:rPr>
              <a:t>result = numerator/denominator</a:t>
            </a:r>
            <a:endParaRPr sz="16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650">
                <a:solidFill>
                  <a:srgbClr val="795E26"/>
                </a:solidFill>
                <a:highlight>
                  <a:srgbClr val="FFFFFE"/>
                </a:highlight>
                <a:latin typeface="Courier New"/>
                <a:ea typeface="Courier New"/>
                <a:cs typeface="Courier New"/>
                <a:sym typeface="Courier New"/>
              </a:rPr>
              <a:t>print</a:t>
            </a:r>
            <a:r>
              <a:rPr lang="en" sz="1650">
                <a:solidFill>
                  <a:schemeClr val="dk1"/>
                </a:solidFill>
                <a:highlight>
                  <a:srgbClr val="FFFFFE"/>
                </a:highlight>
                <a:latin typeface="Courier New"/>
                <a:ea typeface="Courier New"/>
                <a:cs typeface="Courier New"/>
                <a:sym typeface="Courier New"/>
              </a:rPr>
              <a:t>(result)</a:t>
            </a:r>
            <a:endParaRPr sz="2400"/>
          </a:p>
        </p:txBody>
      </p:sp>
      <p:sp>
        <p:nvSpPr>
          <p:cNvPr id="262" name="Google Shape;262;p37"/>
          <p:cNvSpPr/>
          <p:nvPr/>
        </p:nvSpPr>
        <p:spPr>
          <a:xfrm>
            <a:off x="187000" y="4647375"/>
            <a:ext cx="870900" cy="418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37"/>
          <p:cNvSpPr txBox="1"/>
          <p:nvPr/>
        </p:nvSpPr>
        <p:spPr>
          <a:xfrm>
            <a:off x="187000" y="2771675"/>
            <a:ext cx="5844900" cy="2959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dk1"/>
              </a:buClr>
              <a:buSzPts val="1100"/>
              <a:buFont typeface="Arial"/>
              <a:buNone/>
            </a:pPr>
            <a:r>
              <a:rPr lang="en" sz="1550">
                <a:solidFill>
                  <a:schemeClr val="dk1"/>
                </a:solidFill>
                <a:highlight>
                  <a:srgbClr val="FFFFFE"/>
                </a:highlight>
                <a:latin typeface="Courier New"/>
                <a:ea typeface="Courier New"/>
                <a:cs typeface="Courier New"/>
                <a:sym typeface="Courier New"/>
              </a:rPr>
              <a:t>numerator = int(</a:t>
            </a:r>
            <a:r>
              <a:rPr lang="en" sz="1550">
                <a:solidFill>
                  <a:srgbClr val="795E26"/>
                </a:solidFill>
                <a:highlight>
                  <a:srgbClr val="FFFFFE"/>
                </a:highlight>
                <a:latin typeface="Courier New"/>
                <a:ea typeface="Courier New"/>
                <a:cs typeface="Courier New"/>
                <a:sym typeface="Courier New"/>
              </a:rPr>
              <a:t>input</a:t>
            </a:r>
            <a:r>
              <a:rPr lang="en" sz="1550">
                <a:solidFill>
                  <a:schemeClr val="dk1"/>
                </a:solidFill>
                <a:highlight>
                  <a:srgbClr val="FFFFFE"/>
                </a:highlight>
                <a:latin typeface="Courier New"/>
                <a:ea typeface="Courier New"/>
                <a:cs typeface="Courier New"/>
                <a:sym typeface="Courier New"/>
              </a:rPr>
              <a:t>(</a:t>
            </a:r>
            <a:r>
              <a:rPr lang="en" sz="1550">
                <a:solidFill>
                  <a:srgbClr val="A31515"/>
                </a:solidFill>
                <a:highlight>
                  <a:srgbClr val="FFFFFE"/>
                </a:highlight>
                <a:latin typeface="Courier New"/>
                <a:ea typeface="Courier New"/>
                <a:cs typeface="Courier New"/>
                <a:sym typeface="Courier New"/>
              </a:rPr>
              <a:t>"Numerator:"</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chemeClr val="dk1"/>
                </a:solidFill>
                <a:highlight>
                  <a:srgbClr val="FFFFFE"/>
                </a:highlight>
                <a:latin typeface="Courier New"/>
                <a:ea typeface="Courier New"/>
                <a:cs typeface="Courier New"/>
                <a:sym typeface="Courier New"/>
              </a:rPr>
              <a:t>denominator = int(</a:t>
            </a:r>
            <a:r>
              <a:rPr lang="en" sz="1550">
                <a:solidFill>
                  <a:srgbClr val="795E26"/>
                </a:solidFill>
                <a:highlight>
                  <a:srgbClr val="FFFFFE"/>
                </a:highlight>
                <a:latin typeface="Courier New"/>
                <a:ea typeface="Courier New"/>
                <a:cs typeface="Courier New"/>
                <a:sym typeface="Courier New"/>
              </a:rPr>
              <a:t>input</a:t>
            </a:r>
            <a:r>
              <a:rPr lang="en" sz="1550">
                <a:solidFill>
                  <a:schemeClr val="dk1"/>
                </a:solidFill>
                <a:highlight>
                  <a:srgbClr val="FFFFFE"/>
                </a:highlight>
                <a:latin typeface="Courier New"/>
                <a:ea typeface="Courier New"/>
                <a:cs typeface="Courier New"/>
                <a:sym typeface="Courier New"/>
              </a:rPr>
              <a:t>(</a:t>
            </a:r>
            <a:r>
              <a:rPr lang="en" sz="1550">
                <a:solidFill>
                  <a:srgbClr val="A31515"/>
                </a:solidFill>
                <a:highlight>
                  <a:srgbClr val="FFFFFE"/>
                </a:highlight>
                <a:latin typeface="Courier New"/>
                <a:ea typeface="Courier New"/>
                <a:cs typeface="Courier New"/>
                <a:sym typeface="Courier New"/>
              </a:rPr>
              <a:t>"Denominator:"</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rgbClr val="AF00DB"/>
                </a:solidFill>
                <a:highlight>
                  <a:srgbClr val="FFFFFE"/>
                </a:highlight>
                <a:latin typeface="Courier New"/>
                <a:ea typeface="Courier New"/>
                <a:cs typeface="Courier New"/>
                <a:sym typeface="Courier New"/>
              </a:rPr>
              <a:t>try</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chemeClr val="dk1"/>
                </a:solidFill>
                <a:highlight>
                  <a:srgbClr val="FFFFFE"/>
                </a:highlight>
                <a:latin typeface="Courier New"/>
                <a:ea typeface="Courier New"/>
                <a:cs typeface="Courier New"/>
                <a:sym typeface="Courier New"/>
              </a:rPr>
              <a:t>   result = numerator/denominator</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chemeClr val="dk1"/>
                </a:solidFill>
                <a:highlight>
                  <a:srgbClr val="FFFFFE"/>
                </a:highlight>
                <a:latin typeface="Courier New"/>
                <a:ea typeface="Courier New"/>
                <a:cs typeface="Courier New"/>
                <a:sym typeface="Courier New"/>
              </a:rPr>
              <a:t>   </a:t>
            </a:r>
            <a:r>
              <a:rPr lang="en" sz="1550">
                <a:solidFill>
                  <a:srgbClr val="795E26"/>
                </a:solidFill>
                <a:highlight>
                  <a:srgbClr val="FFFFFE"/>
                </a:highlight>
                <a:latin typeface="Courier New"/>
                <a:ea typeface="Courier New"/>
                <a:cs typeface="Courier New"/>
                <a:sym typeface="Courier New"/>
              </a:rPr>
              <a:t>print</a:t>
            </a:r>
            <a:r>
              <a:rPr lang="en" sz="1550">
                <a:solidFill>
                  <a:schemeClr val="dk1"/>
                </a:solidFill>
                <a:highlight>
                  <a:srgbClr val="FFFFFE"/>
                </a:highlight>
                <a:latin typeface="Courier New"/>
                <a:ea typeface="Courier New"/>
                <a:cs typeface="Courier New"/>
                <a:sym typeface="Courier New"/>
              </a:rPr>
              <a:t>(result)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rgbClr val="AF00DB"/>
                </a:solidFill>
                <a:highlight>
                  <a:srgbClr val="FFFFFE"/>
                </a:highlight>
                <a:latin typeface="Courier New"/>
                <a:ea typeface="Courier New"/>
                <a:cs typeface="Courier New"/>
                <a:sym typeface="Courier New"/>
              </a:rPr>
              <a:t>except</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chemeClr val="dk1"/>
                </a:solidFill>
                <a:highlight>
                  <a:srgbClr val="FFFFFE"/>
                </a:highlight>
                <a:latin typeface="Courier New"/>
                <a:ea typeface="Courier New"/>
                <a:cs typeface="Courier New"/>
                <a:sym typeface="Courier New"/>
              </a:rPr>
              <a:t>   </a:t>
            </a:r>
            <a:r>
              <a:rPr lang="en" sz="1550">
                <a:solidFill>
                  <a:srgbClr val="795E26"/>
                </a:solidFill>
                <a:highlight>
                  <a:srgbClr val="FFFFFE"/>
                </a:highlight>
                <a:latin typeface="Courier New"/>
                <a:ea typeface="Courier New"/>
                <a:cs typeface="Courier New"/>
                <a:sym typeface="Courier New"/>
              </a:rPr>
              <a:t>print</a:t>
            </a:r>
            <a:r>
              <a:rPr lang="en" sz="1550">
                <a:solidFill>
                  <a:schemeClr val="dk1"/>
                </a:solidFill>
                <a:highlight>
                  <a:srgbClr val="FFFFFE"/>
                </a:highlight>
                <a:latin typeface="Courier New"/>
                <a:ea typeface="Courier New"/>
                <a:cs typeface="Courier New"/>
                <a:sym typeface="Courier New"/>
              </a:rPr>
              <a:t>(</a:t>
            </a:r>
            <a:r>
              <a:rPr lang="en" sz="1550">
                <a:solidFill>
                  <a:srgbClr val="A31515"/>
                </a:solidFill>
                <a:highlight>
                  <a:srgbClr val="FFFFFE"/>
                </a:highlight>
                <a:latin typeface="Courier New"/>
                <a:ea typeface="Courier New"/>
                <a:cs typeface="Courier New"/>
                <a:sym typeface="Courier New"/>
              </a:rPr>
              <a:t>"Division by zero is not allowed."</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a:latin typeface="Montserrat"/>
              <a:ea typeface="Montserrat"/>
              <a:cs typeface="Montserrat"/>
              <a:sym typeface="Montserrat"/>
            </a:endParaRPr>
          </a:p>
        </p:txBody>
      </p:sp>
      <p:sp>
        <p:nvSpPr>
          <p:cNvPr id="264" name="Google Shape;264;p37"/>
          <p:cNvSpPr/>
          <p:nvPr/>
        </p:nvSpPr>
        <p:spPr>
          <a:xfrm>
            <a:off x="187000" y="3475050"/>
            <a:ext cx="870900" cy="301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37"/>
          <p:cNvSpPr/>
          <p:nvPr/>
        </p:nvSpPr>
        <p:spPr>
          <a:xfrm>
            <a:off x="187000" y="4465650"/>
            <a:ext cx="870900" cy="301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6" name="Google Shape;266;p37"/>
          <p:cNvCxnSpPr/>
          <p:nvPr/>
        </p:nvCxnSpPr>
        <p:spPr>
          <a:xfrm>
            <a:off x="-13950" y="2470225"/>
            <a:ext cx="9144000" cy="0"/>
          </a:xfrm>
          <a:prstGeom prst="straightConnector1">
            <a:avLst/>
          </a:prstGeom>
          <a:noFill/>
          <a:ln cap="flat" cmpd="sng" w="38100">
            <a:solidFill>
              <a:schemeClr val="dk2"/>
            </a:solidFill>
            <a:prstDash val="solid"/>
            <a:round/>
            <a:headEnd len="med" w="med" type="none"/>
            <a:tailEnd len="med" w="med" type="none"/>
          </a:ln>
        </p:spPr>
      </p:cxnSp>
      <p:sp>
        <p:nvSpPr>
          <p:cNvPr id="267" name="Google Shape;267;p37"/>
          <p:cNvSpPr txBox="1"/>
          <p:nvPr/>
        </p:nvSpPr>
        <p:spPr>
          <a:xfrm>
            <a:off x="6440100" y="2547450"/>
            <a:ext cx="2392200" cy="1394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dk1"/>
              </a:buClr>
              <a:buSzPts val="1100"/>
              <a:buFont typeface="Arial"/>
              <a:buNone/>
            </a:pPr>
            <a:r>
              <a:rPr lang="en" sz="1550">
                <a:solidFill>
                  <a:srgbClr val="AF00DB"/>
                </a:solidFill>
                <a:highlight>
                  <a:srgbClr val="FFFFFE"/>
                </a:highlight>
                <a:latin typeface="Courier New"/>
                <a:ea typeface="Courier New"/>
                <a:cs typeface="Courier New"/>
                <a:sym typeface="Courier New"/>
              </a:rPr>
              <a:t>try</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chemeClr val="dk1"/>
                </a:solidFill>
                <a:highlight>
                  <a:srgbClr val="FFFFFE"/>
                </a:highlight>
                <a:latin typeface="Courier New"/>
                <a:ea typeface="Courier New"/>
                <a:cs typeface="Courier New"/>
                <a:sym typeface="Courier New"/>
              </a:rPr>
              <a:t>  </a:t>
            </a:r>
            <a:r>
              <a:rPr lang="en" sz="1550">
                <a:solidFill>
                  <a:srgbClr val="008000"/>
                </a:solidFill>
                <a:highlight>
                  <a:srgbClr val="FFFFFE"/>
                </a:highlight>
                <a:latin typeface="Courier New"/>
                <a:ea typeface="Courier New"/>
                <a:cs typeface="Courier New"/>
                <a:sym typeface="Courier New"/>
              </a:rPr>
              <a:t># Code</a:t>
            </a:r>
            <a:endParaRPr sz="1550">
              <a:solidFill>
                <a:srgbClr val="008000"/>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rgbClr val="AF00DB"/>
                </a:solidFill>
                <a:highlight>
                  <a:srgbClr val="FFFFFE"/>
                </a:highlight>
                <a:latin typeface="Courier New"/>
                <a:ea typeface="Courier New"/>
                <a:cs typeface="Courier New"/>
                <a:sym typeface="Courier New"/>
              </a:rPr>
              <a:t>except</a:t>
            </a:r>
            <a:r>
              <a:rPr lang="en" sz="1550">
                <a:solidFill>
                  <a:schemeClr val="dk1"/>
                </a:solidFill>
                <a:highlight>
                  <a:srgbClr val="FFFFFE"/>
                </a:highlight>
                <a:latin typeface="Courier New"/>
                <a:ea typeface="Courier New"/>
                <a:cs typeface="Courier New"/>
                <a:sym typeface="Courier New"/>
              </a:rPr>
              <a:t> &lt;name&gt; :</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rgbClr val="008000"/>
                </a:solidFill>
                <a:highlight>
                  <a:srgbClr val="FFFFFE"/>
                </a:highlight>
                <a:latin typeface="Courier New"/>
                <a:ea typeface="Courier New"/>
                <a:cs typeface="Courier New"/>
                <a:sym typeface="Courier New"/>
              </a:rPr>
              <a:t># Code</a:t>
            </a:r>
            <a:endParaRPr sz="1900">
              <a:latin typeface="Montserrat"/>
              <a:ea typeface="Montserrat"/>
              <a:cs typeface="Montserrat"/>
              <a:sym typeface="Montserrat"/>
            </a:endParaRPr>
          </a:p>
        </p:txBody>
      </p:sp>
      <p:cxnSp>
        <p:nvCxnSpPr>
          <p:cNvPr id="268" name="Google Shape;268;p37"/>
          <p:cNvCxnSpPr/>
          <p:nvPr/>
        </p:nvCxnSpPr>
        <p:spPr>
          <a:xfrm>
            <a:off x="6149025" y="2436725"/>
            <a:ext cx="0" cy="2713200"/>
          </a:xfrm>
          <a:prstGeom prst="straightConnector1">
            <a:avLst/>
          </a:prstGeom>
          <a:noFill/>
          <a:ln cap="flat" cmpd="sng" w="38100">
            <a:solidFill>
              <a:schemeClr val="dk2"/>
            </a:solidFill>
            <a:prstDash val="solid"/>
            <a:round/>
            <a:headEnd len="med" w="med" type="none"/>
            <a:tailEnd len="med" w="med" type="none"/>
          </a:ln>
        </p:spPr>
      </p:cxnSp>
      <p:sp>
        <p:nvSpPr>
          <p:cNvPr id="269" name="Google Shape;269;p37"/>
          <p:cNvSpPr/>
          <p:nvPr/>
        </p:nvSpPr>
        <p:spPr>
          <a:xfrm>
            <a:off x="7304600" y="3246450"/>
            <a:ext cx="870900" cy="301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7"/>
          <p:cNvSpPr txBox="1"/>
          <p:nvPr/>
        </p:nvSpPr>
        <p:spPr>
          <a:xfrm>
            <a:off x="4742275" y="6070875"/>
            <a:ext cx="7341900" cy="85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71" name="Google Shape;271;p37"/>
          <p:cNvSpPr txBox="1"/>
          <p:nvPr/>
        </p:nvSpPr>
        <p:spPr>
          <a:xfrm>
            <a:off x="6440100" y="3861900"/>
            <a:ext cx="2392200" cy="747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50">
                <a:solidFill>
                  <a:srgbClr val="AF00DB"/>
                </a:solidFill>
                <a:highlight>
                  <a:srgbClr val="FFFFFE"/>
                </a:highlight>
                <a:latin typeface="Courier New"/>
                <a:ea typeface="Courier New"/>
                <a:cs typeface="Courier New"/>
                <a:sym typeface="Courier New"/>
              </a:rPr>
              <a:t>except</a:t>
            </a:r>
            <a:r>
              <a:rPr lang="en" sz="1550">
                <a:solidFill>
                  <a:schemeClr val="dk1"/>
                </a:solidFill>
                <a:highlight>
                  <a:srgbClr val="FFFFFE"/>
                </a:highlight>
                <a:latin typeface="Courier New"/>
                <a:ea typeface="Courier New"/>
                <a:cs typeface="Courier New"/>
                <a:sym typeface="Courier New"/>
              </a:rPr>
              <a:t> &lt;name2&gt; :</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rgbClr val="008000"/>
                </a:solidFill>
                <a:highlight>
                  <a:srgbClr val="FFFFFE"/>
                </a:highlight>
                <a:latin typeface="Courier New"/>
                <a:ea typeface="Courier New"/>
                <a:cs typeface="Courier New"/>
                <a:sym typeface="Courier New"/>
              </a:rPr>
              <a:t># Code</a:t>
            </a:r>
            <a:endParaRPr sz="1900">
              <a:latin typeface="Montserrat"/>
              <a:ea typeface="Montserrat"/>
              <a:cs typeface="Montserrat"/>
              <a:sym typeface="Montserrat"/>
            </a:endParaRPr>
          </a:p>
        </p:txBody>
      </p:sp>
      <p:sp>
        <p:nvSpPr>
          <p:cNvPr id="272" name="Google Shape;272;p37"/>
          <p:cNvSpPr txBox="1"/>
          <p:nvPr/>
        </p:nvSpPr>
        <p:spPr>
          <a:xfrm>
            <a:off x="6440100" y="4471500"/>
            <a:ext cx="2392200" cy="7470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550">
                <a:solidFill>
                  <a:srgbClr val="AF00DB"/>
                </a:solidFill>
                <a:highlight>
                  <a:srgbClr val="FFFFFE"/>
                </a:highlight>
                <a:latin typeface="Courier New"/>
                <a:ea typeface="Courier New"/>
                <a:cs typeface="Courier New"/>
                <a:sym typeface="Courier New"/>
              </a:rPr>
              <a:t>except</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rgbClr val="008000"/>
                </a:solidFill>
                <a:highlight>
                  <a:srgbClr val="FFFFFE"/>
                </a:highlight>
                <a:latin typeface="Courier New"/>
                <a:ea typeface="Courier New"/>
                <a:cs typeface="Courier New"/>
                <a:sym typeface="Courier New"/>
              </a:rPr>
              <a:t># Code</a:t>
            </a:r>
            <a:endParaRPr sz="1900">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000"/>
                                        <p:tgtEl>
                                          <p:spTgt spid="263"/>
                                        </p:tgtEl>
                                      </p:cBhvr>
                                    </p:animEffect>
                                  </p:childTnLst>
                                </p:cTn>
                              </p:par>
                              <p:par>
                                <p:cTn fill="hold" nodeType="with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1000"/>
                                        <p:tgtEl>
                                          <p:spTgt spid="266"/>
                                        </p:tgtEl>
                                      </p:cBhvr>
                                    </p:animEffect>
                                  </p:childTnLst>
                                </p:cTn>
                              </p:par>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1000"/>
                                        <p:tgtEl>
                                          <p:spTgt spid="264"/>
                                        </p:tgtEl>
                                      </p:cBhvr>
                                    </p:animEffect>
                                  </p:childTnLst>
                                </p:cTn>
                              </p:par>
                              <p:par>
                                <p:cTn fill="hold" nodeType="with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0"/>
                                        <p:tgtEl>
                                          <p:spTgt spid="267"/>
                                        </p:tgtEl>
                                      </p:cBhvr>
                                    </p:animEffect>
                                  </p:childTnLst>
                                </p:cTn>
                              </p:par>
                              <p:par>
                                <p:cTn fill="hold" nodeType="with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1000"/>
                                        <p:tgtEl>
                                          <p:spTgt spid="268"/>
                                        </p:tgtEl>
                                      </p:cBhvr>
                                    </p:animEffect>
                                  </p:childTnLst>
                                </p:cTn>
                              </p:par>
                              <p:par>
                                <p:cTn fill="hold" nodeType="with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8"/>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a:t>
            </a:r>
            <a:endParaRPr sz="3500">
              <a:solidFill>
                <a:srgbClr val="FFFFFF"/>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9"/>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raise, assert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0"/>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Illegal Operations:</a:t>
            </a:r>
            <a:endParaRPr/>
          </a:p>
        </p:txBody>
      </p:sp>
      <p:sp>
        <p:nvSpPr>
          <p:cNvPr id="288" name="Google Shape;288;p40"/>
          <p:cNvSpPr txBox="1"/>
          <p:nvPr>
            <p:ph idx="1" type="body"/>
          </p:nvPr>
        </p:nvSpPr>
        <p:spPr>
          <a:xfrm>
            <a:off x="311700" y="1152475"/>
            <a:ext cx="3559800" cy="18033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550">
                <a:solidFill>
                  <a:srgbClr val="0000FF"/>
                </a:solidFill>
                <a:highlight>
                  <a:srgbClr val="FFFFFE"/>
                </a:highlight>
                <a:latin typeface="Courier New"/>
                <a:ea typeface="Courier New"/>
                <a:cs typeface="Courier New"/>
                <a:sym typeface="Courier New"/>
              </a:rPr>
              <a:t>def</a:t>
            </a:r>
            <a:r>
              <a:rPr lang="en" sz="1550">
                <a:solidFill>
                  <a:schemeClr val="dk1"/>
                </a:solidFill>
                <a:highlight>
                  <a:srgbClr val="FFFFFE"/>
                </a:highlight>
                <a:latin typeface="Courier New"/>
                <a:ea typeface="Courier New"/>
                <a:cs typeface="Courier New"/>
                <a:sym typeface="Courier New"/>
              </a:rPr>
              <a:t> </a:t>
            </a:r>
            <a:r>
              <a:rPr lang="en" sz="1550">
                <a:solidFill>
                  <a:srgbClr val="795E26"/>
                </a:solidFill>
                <a:highlight>
                  <a:srgbClr val="FFFFFE"/>
                </a:highlight>
                <a:latin typeface="Courier New"/>
                <a:ea typeface="Courier New"/>
                <a:cs typeface="Courier New"/>
                <a:sym typeface="Courier New"/>
              </a:rPr>
              <a:t>factorial</a:t>
            </a:r>
            <a:r>
              <a:rPr lang="en" sz="1550">
                <a:solidFill>
                  <a:schemeClr val="dk1"/>
                </a:solidFill>
                <a:highlight>
                  <a:srgbClr val="FFFFFE"/>
                </a:highlight>
                <a:latin typeface="Courier New"/>
                <a:ea typeface="Courier New"/>
                <a:cs typeface="Courier New"/>
                <a:sym typeface="Courier New"/>
              </a:rPr>
              <a:t>(</a:t>
            </a:r>
            <a:r>
              <a:rPr lang="en" sz="1550">
                <a:solidFill>
                  <a:srgbClr val="001080"/>
                </a:solidFill>
                <a:highlight>
                  <a:srgbClr val="FFFFFE"/>
                </a:highlight>
                <a:latin typeface="Courier New"/>
                <a:ea typeface="Courier New"/>
                <a:cs typeface="Courier New"/>
                <a:sym typeface="Courier New"/>
              </a:rPr>
              <a:t>n</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chemeClr val="dk1"/>
                </a:solidFill>
                <a:highlight>
                  <a:srgbClr val="FFFFFE"/>
                </a:highlight>
                <a:latin typeface="Courier New"/>
                <a:ea typeface="Courier New"/>
                <a:cs typeface="Courier New"/>
                <a:sym typeface="Courier New"/>
              </a:rPr>
              <a:t> </a:t>
            </a:r>
            <a:r>
              <a:rPr lang="en" sz="1550">
                <a:solidFill>
                  <a:srgbClr val="AF00DB"/>
                </a:solidFill>
                <a:highlight>
                  <a:srgbClr val="FFFFFE"/>
                </a:highlight>
                <a:latin typeface="Courier New"/>
                <a:ea typeface="Courier New"/>
                <a:cs typeface="Courier New"/>
                <a:sym typeface="Courier New"/>
              </a:rPr>
              <a:t>if</a:t>
            </a:r>
            <a:r>
              <a:rPr lang="en" sz="1550">
                <a:solidFill>
                  <a:schemeClr val="dk1"/>
                </a:solidFill>
                <a:highlight>
                  <a:srgbClr val="FFFFFE"/>
                </a:highlight>
                <a:latin typeface="Courier New"/>
                <a:ea typeface="Courier New"/>
                <a:cs typeface="Courier New"/>
                <a:sym typeface="Courier New"/>
              </a:rPr>
              <a:t> n==</a:t>
            </a:r>
            <a:r>
              <a:rPr lang="en" sz="1550">
                <a:solidFill>
                  <a:srgbClr val="09885A"/>
                </a:solidFill>
                <a:highlight>
                  <a:srgbClr val="FFFFFE"/>
                </a:highlight>
                <a:latin typeface="Courier New"/>
                <a:ea typeface="Courier New"/>
                <a:cs typeface="Courier New"/>
                <a:sym typeface="Courier New"/>
              </a:rPr>
              <a:t>0</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chemeClr val="dk1"/>
                </a:solidFill>
                <a:highlight>
                  <a:srgbClr val="FFFFFE"/>
                </a:highlight>
                <a:latin typeface="Courier New"/>
                <a:ea typeface="Courier New"/>
                <a:cs typeface="Courier New"/>
                <a:sym typeface="Courier New"/>
              </a:rPr>
              <a:t>   </a:t>
            </a:r>
            <a:r>
              <a:rPr lang="en" sz="1550">
                <a:solidFill>
                  <a:srgbClr val="AF00DB"/>
                </a:solidFill>
                <a:highlight>
                  <a:srgbClr val="FFFFFE"/>
                </a:highlight>
                <a:latin typeface="Courier New"/>
                <a:ea typeface="Courier New"/>
                <a:cs typeface="Courier New"/>
                <a:sym typeface="Courier New"/>
              </a:rPr>
              <a:t>return</a:t>
            </a:r>
            <a:r>
              <a:rPr lang="en" sz="1550">
                <a:solidFill>
                  <a:schemeClr val="dk1"/>
                </a:solidFill>
                <a:highlight>
                  <a:srgbClr val="FFFFFE"/>
                </a:highlight>
                <a:latin typeface="Courier New"/>
                <a:ea typeface="Courier New"/>
                <a:cs typeface="Courier New"/>
                <a:sym typeface="Courier New"/>
              </a:rPr>
              <a:t> </a:t>
            </a:r>
            <a:r>
              <a:rPr lang="en" sz="1550">
                <a:solidFill>
                  <a:srgbClr val="09885A"/>
                </a:solidFill>
                <a:highlight>
                  <a:srgbClr val="FFFFFE"/>
                </a:highlight>
                <a:latin typeface="Courier New"/>
                <a:ea typeface="Courier New"/>
                <a:cs typeface="Courier New"/>
                <a:sym typeface="Courier New"/>
              </a:rPr>
              <a:t>1</a:t>
            </a:r>
            <a:endParaRPr sz="1550">
              <a:solidFill>
                <a:srgbClr val="09885A"/>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chemeClr val="dk1"/>
                </a:solidFill>
                <a:highlight>
                  <a:srgbClr val="FFFFFE"/>
                </a:highlight>
                <a:latin typeface="Courier New"/>
                <a:ea typeface="Courier New"/>
                <a:cs typeface="Courier New"/>
                <a:sym typeface="Courier New"/>
              </a:rPr>
              <a:t> </a:t>
            </a:r>
            <a:r>
              <a:rPr lang="en" sz="1550">
                <a:solidFill>
                  <a:srgbClr val="AF00DB"/>
                </a:solidFill>
                <a:highlight>
                  <a:srgbClr val="FFFFFE"/>
                </a:highlight>
                <a:latin typeface="Courier New"/>
                <a:ea typeface="Courier New"/>
                <a:cs typeface="Courier New"/>
                <a:sym typeface="Courier New"/>
              </a:rPr>
              <a:t>else</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chemeClr val="dk1"/>
                </a:solidFill>
                <a:highlight>
                  <a:srgbClr val="FFFFFE"/>
                </a:highlight>
                <a:latin typeface="Courier New"/>
                <a:ea typeface="Courier New"/>
                <a:cs typeface="Courier New"/>
                <a:sym typeface="Courier New"/>
              </a:rPr>
              <a:t>   </a:t>
            </a:r>
            <a:r>
              <a:rPr lang="en" sz="1550">
                <a:solidFill>
                  <a:srgbClr val="AF00DB"/>
                </a:solidFill>
                <a:highlight>
                  <a:srgbClr val="FFFFFE"/>
                </a:highlight>
                <a:latin typeface="Courier New"/>
                <a:ea typeface="Courier New"/>
                <a:cs typeface="Courier New"/>
                <a:sym typeface="Courier New"/>
              </a:rPr>
              <a:t>return</a:t>
            </a:r>
            <a:r>
              <a:rPr lang="en" sz="1550">
                <a:solidFill>
                  <a:schemeClr val="dk1"/>
                </a:solidFill>
                <a:highlight>
                  <a:srgbClr val="FFFFFE"/>
                </a:highlight>
                <a:latin typeface="Courier New"/>
                <a:ea typeface="Courier New"/>
                <a:cs typeface="Courier New"/>
                <a:sym typeface="Courier New"/>
              </a:rPr>
              <a:t> n*factorial(n</a:t>
            </a:r>
            <a:r>
              <a:rPr lang="en" sz="1550">
                <a:solidFill>
                  <a:srgbClr val="09885A"/>
                </a:solidFill>
                <a:highlight>
                  <a:srgbClr val="FFFFFE"/>
                </a:highlight>
                <a:latin typeface="Courier New"/>
                <a:ea typeface="Courier New"/>
                <a:cs typeface="Courier New"/>
                <a:sym typeface="Courier New"/>
              </a:rPr>
              <a:t>-1</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1600"/>
              </a:spcAft>
              <a:buNone/>
            </a:pPr>
            <a:r>
              <a:t/>
            </a:r>
            <a:endParaRPr sz="2300"/>
          </a:p>
        </p:txBody>
      </p:sp>
      <p:sp>
        <p:nvSpPr>
          <p:cNvPr id="289" name="Google Shape;289;p40"/>
          <p:cNvSpPr txBox="1"/>
          <p:nvPr/>
        </p:nvSpPr>
        <p:spPr>
          <a:xfrm>
            <a:off x="-3150" y="2955775"/>
            <a:ext cx="4189500" cy="423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Clr>
                <a:schemeClr val="dk1"/>
              </a:buClr>
              <a:buSzPts val="1100"/>
              <a:buFont typeface="Arial"/>
              <a:buNone/>
            </a:pPr>
            <a:r>
              <a:rPr lang="en" sz="1550">
                <a:solidFill>
                  <a:srgbClr val="795E26"/>
                </a:solidFill>
                <a:highlight>
                  <a:srgbClr val="FFFFFE"/>
                </a:highlight>
                <a:latin typeface="Courier New"/>
                <a:ea typeface="Courier New"/>
                <a:cs typeface="Courier New"/>
                <a:sym typeface="Courier New"/>
              </a:rPr>
              <a:t>factorial</a:t>
            </a:r>
            <a:r>
              <a:rPr lang="en" sz="1550">
                <a:solidFill>
                  <a:schemeClr val="dk1"/>
                </a:solidFill>
                <a:highlight>
                  <a:srgbClr val="FFFFFE"/>
                </a:highlight>
                <a:latin typeface="Courier New"/>
                <a:ea typeface="Courier New"/>
                <a:cs typeface="Courier New"/>
                <a:sym typeface="Courier New"/>
              </a:rPr>
              <a:t>(</a:t>
            </a:r>
            <a:r>
              <a:rPr lang="en" sz="1550">
                <a:solidFill>
                  <a:srgbClr val="001080"/>
                </a:solidFill>
                <a:highlight>
                  <a:srgbClr val="FFFFFE"/>
                </a:highlight>
                <a:latin typeface="Courier New"/>
                <a:ea typeface="Courier New"/>
                <a:cs typeface="Courier New"/>
                <a:sym typeface="Courier New"/>
              </a:rPr>
              <a:t>-5</a:t>
            </a:r>
            <a:r>
              <a:rPr lang="en" sz="1550">
                <a:solidFill>
                  <a:schemeClr val="dk1"/>
                </a:solidFill>
                <a:highlight>
                  <a:srgbClr val="FFFFFE"/>
                </a:highlight>
                <a:latin typeface="Courier New"/>
                <a:ea typeface="Courier New"/>
                <a:cs typeface="Courier New"/>
                <a:sym typeface="Courier New"/>
              </a:rPr>
              <a:t>) #illegal operation</a:t>
            </a:r>
            <a:endParaRPr>
              <a:latin typeface="Montserrat"/>
              <a:ea typeface="Montserrat"/>
              <a:cs typeface="Montserrat"/>
              <a:sym typeface="Montserrat"/>
            </a:endParaRPr>
          </a:p>
        </p:txBody>
      </p:sp>
      <p:sp>
        <p:nvSpPr>
          <p:cNvPr id="290" name="Google Shape;290;p40"/>
          <p:cNvSpPr txBox="1"/>
          <p:nvPr>
            <p:ph idx="1" type="body"/>
          </p:nvPr>
        </p:nvSpPr>
        <p:spPr>
          <a:xfrm>
            <a:off x="4330200" y="1152475"/>
            <a:ext cx="4189500" cy="28083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550">
                <a:solidFill>
                  <a:srgbClr val="0000FF"/>
                </a:solidFill>
                <a:highlight>
                  <a:srgbClr val="FFFFFE"/>
                </a:highlight>
                <a:latin typeface="Courier New"/>
                <a:ea typeface="Courier New"/>
                <a:cs typeface="Courier New"/>
                <a:sym typeface="Courier New"/>
              </a:rPr>
              <a:t>def</a:t>
            </a:r>
            <a:r>
              <a:rPr lang="en" sz="1550">
                <a:solidFill>
                  <a:schemeClr val="dk1"/>
                </a:solidFill>
                <a:highlight>
                  <a:srgbClr val="FFFFFE"/>
                </a:highlight>
                <a:latin typeface="Courier New"/>
                <a:ea typeface="Courier New"/>
                <a:cs typeface="Courier New"/>
                <a:sym typeface="Courier New"/>
              </a:rPr>
              <a:t> </a:t>
            </a:r>
            <a:r>
              <a:rPr lang="en" sz="1550">
                <a:solidFill>
                  <a:srgbClr val="795E26"/>
                </a:solidFill>
                <a:highlight>
                  <a:srgbClr val="FFFFFE"/>
                </a:highlight>
                <a:latin typeface="Courier New"/>
                <a:ea typeface="Courier New"/>
                <a:cs typeface="Courier New"/>
                <a:sym typeface="Courier New"/>
              </a:rPr>
              <a:t>factorial</a:t>
            </a:r>
            <a:r>
              <a:rPr lang="en" sz="1550">
                <a:solidFill>
                  <a:schemeClr val="dk1"/>
                </a:solidFill>
                <a:highlight>
                  <a:srgbClr val="FFFFFE"/>
                </a:highlight>
                <a:latin typeface="Courier New"/>
                <a:ea typeface="Courier New"/>
                <a:cs typeface="Courier New"/>
                <a:sym typeface="Courier New"/>
              </a:rPr>
              <a:t>(</a:t>
            </a:r>
            <a:r>
              <a:rPr lang="en" sz="1550">
                <a:solidFill>
                  <a:srgbClr val="001080"/>
                </a:solidFill>
                <a:highlight>
                  <a:srgbClr val="FFFFFE"/>
                </a:highlight>
                <a:latin typeface="Courier New"/>
                <a:ea typeface="Courier New"/>
                <a:cs typeface="Courier New"/>
                <a:sym typeface="Courier New"/>
              </a:rPr>
              <a:t>n</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rgbClr val="AF00DB"/>
                </a:solidFill>
                <a:highlight>
                  <a:srgbClr val="FFFFFE"/>
                </a:highlight>
                <a:latin typeface="Courier New"/>
                <a:ea typeface="Courier New"/>
                <a:cs typeface="Courier New"/>
                <a:sym typeface="Courier New"/>
              </a:rPr>
              <a:t> if</a:t>
            </a:r>
            <a:r>
              <a:rPr lang="en" sz="1550">
                <a:solidFill>
                  <a:schemeClr val="dk1"/>
                </a:solidFill>
                <a:highlight>
                  <a:srgbClr val="FFFFFE"/>
                </a:highlight>
                <a:latin typeface="Courier New"/>
                <a:ea typeface="Courier New"/>
                <a:cs typeface="Courier New"/>
                <a:sym typeface="Courier New"/>
              </a:rPr>
              <a:t> n &lt; </a:t>
            </a:r>
            <a:r>
              <a:rPr lang="en" sz="1550">
                <a:solidFill>
                  <a:srgbClr val="09885A"/>
                </a:solidFill>
                <a:highlight>
                  <a:srgbClr val="FFFFFE"/>
                </a:highlight>
                <a:latin typeface="Courier New"/>
                <a:ea typeface="Courier New"/>
                <a:cs typeface="Courier New"/>
                <a:sym typeface="Courier New"/>
              </a:rPr>
              <a:t>0</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rgbClr val="AF00DB"/>
                </a:solidFill>
                <a:highlight>
                  <a:srgbClr val="FFFFFE"/>
                </a:highlight>
                <a:latin typeface="Courier New"/>
                <a:ea typeface="Courier New"/>
                <a:cs typeface="Courier New"/>
                <a:sym typeface="Courier New"/>
              </a:rPr>
              <a:t>raise</a:t>
            </a:r>
            <a:r>
              <a:rPr lang="en" sz="1550">
                <a:solidFill>
                  <a:schemeClr val="dk1"/>
                </a:solidFill>
                <a:highlight>
                  <a:srgbClr val="FFFFFE"/>
                </a:highlight>
                <a:latin typeface="Courier New"/>
                <a:ea typeface="Courier New"/>
                <a:cs typeface="Courier New"/>
                <a:sym typeface="Courier New"/>
              </a:rPr>
              <a:t> Exception(</a:t>
            </a:r>
            <a:r>
              <a:rPr lang="en" sz="1550">
                <a:solidFill>
                  <a:srgbClr val="A31515"/>
                </a:solidFill>
                <a:highlight>
                  <a:srgbClr val="FFFFFE"/>
                </a:highlight>
                <a:latin typeface="Courier New"/>
                <a:ea typeface="Courier New"/>
                <a:cs typeface="Courier New"/>
                <a:sym typeface="Courier New"/>
              </a:rPr>
              <a:t>"The factorial of negative integer is not defined."</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rgbClr val="AF00DB"/>
                </a:solidFill>
                <a:highlight>
                  <a:srgbClr val="FFFFFE"/>
                </a:highlight>
                <a:latin typeface="Courier New"/>
                <a:ea typeface="Courier New"/>
                <a:cs typeface="Courier New"/>
                <a:sym typeface="Courier New"/>
              </a:rPr>
              <a:t>if</a:t>
            </a:r>
            <a:r>
              <a:rPr lang="en" sz="1550">
                <a:solidFill>
                  <a:schemeClr val="dk1"/>
                </a:solidFill>
                <a:highlight>
                  <a:srgbClr val="FFFFFE"/>
                </a:highlight>
                <a:latin typeface="Courier New"/>
                <a:ea typeface="Courier New"/>
                <a:cs typeface="Courier New"/>
                <a:sym typeface="Courier New"/>
              </a:rPr>
              <a:t> n==</a:t>
            </a:r>
            <a:r>
              <a:rPr lang="en" sz="1550">
                <a:solidFill>
                  <a:srgbClr val="09885A"/>
                </a:solidFill>
                <a:highlight>
                  <a:srgbClr val="FFFFFE"/>
                </a:highlight>
                <a:latin typeface="Courier New"/>
                <a:ea typeface="Courier New"/>
                <a:cs typeface="Courier New"/>
                <a:sym typeface="Courier New"/>
              </a:rPr>
              <a:t>0</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rgbClr val="AF00DB"/>
                </a:solidFill>
                <a:highlight>
                  <a:srgbClr val="FFFFFE"/>
                </a:highlight>
                <a:latin typeface="Courier New"/>
                <a:ea typeface="Courier New"/>
                <a:cs typeface="Courier New"/>
                <a:sym typeface="Courier New"/>
              </a:rPr>
              <a:t>return</a:t>
            </a:r>
            <a:r>
              <a:rPr lang="en" sz="1550">
                <a:solidFill>
                  <a:schemeClr val="dk1"/>
                </a:solidFill>
                <a:highlight>
                  <a:srgbClr val="FFFFFE"/>
                </a:highlight>
                <a:latin typeface="Courier New"/>
                <a:ea typeface="Courier New"/>
                <a:cs typeface="Courier New"/>
                <a:sym typeface="Courier New"/>
              </a:rPr>
              <a:t> 1</a:t>
            </a:r>
            <a:endParaRPr sz="1550">
              <a:solidFill>
                <a:srgbClr val="AF00DB"/>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rgbClr val="AF00DB"/>
                </a:solidFill>
                <a:highlight>
                  <a:srgbClr val="FFFFFE"/>
                </a:highlight>
                <a:latin typeface="Courier New"/>
                <a:ea typeface="Courier New"/>
                <a:cs typeface="Courier New"/>
                <a:sym typeface="Courier New"/>
              </a:rPr>
              <a:t>else</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rgbClr val="AF00DB"/>
                </a:solidFill>
                <a:highlight>
                  <a:srgbClr val="FFFFFE"/>
                </a:highlight>
                <a:latin typeface="Courier New"/>
                <a:ea typeface="Courier New"/>
                <a:cs typeface="Courier New"/>
                <a:sym typeface="Courier New"/>
              </a:rPr>
              <a:t>return</a:t>
            </a:r>
            <a:r>
              <a:rPr lang="en" sz="1550">
                <a:solidFill>
                  <a:schemeClr val="dk1"/>
                </a:solidFill>
                <a:highlight>
                  <a:srgbClr val="FFFFFE"/>
                </a:highlight>
                <a:latin typeface="Courier New"/>
                <a:ea typeface="Courier New"/>
                <a:cs typeface="Courier New"/>
                <a:sym typeface="Courier New"/>
              </a:rPr>
              <a:t> n*factorial(n</a:t>
            </a:r>
            <a:r>
              <a:rPr lang="en" sz="1550">
                <a:solidFill>
                  <a:srgbClr val="09885A"/>
                </a:solidFill>
                <a:highlight>
                  <a:srgbClr val="FFFFFE"/>
                </a:highlight>
                <a:latin typeface="Courier New"/>
                <a:ea typeface="Courier New"/>
                <a:cs typeface="Courier New"/>
                <a:sym typeface="Courier New"/>
              </a:rPr>
              <a:t>-1</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1600"/>
              </a:spcAft>
              <a:buNone/>
            </a:pPr>
            <a:r>
              <a:t/>
            </a:r>
            <a:endParaRPr sz="2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000"/>
                                        <p:tgtEl>
                                          <p:spTgt spid="2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1000"/>
                                        <p:tgtEl>
                                          <p:spTgt spid="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1"/>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assert</a:t>
            </a:r>
            <a:endParaRPr/>
          </a:p>
        </p:txBody>
      </p:sp>
      <p:sp>
        <p:nvSpPr>
          <p:cNvPr id="296" name="Google Shape;296;p41"/>
          <p:cNvSpPr txBox="1"/>
          <p:nvPr>
            <p:ph idx="1" type="body"/>
          </p:nvPr>
        </p:nvSpPr>
        <p:spPr>
          <a:xfrm>
            <a:off x="311700" y="1466700"/>
            <a:ext cx="8520600" cy="5727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550">
                <a:solidFill>
                  <a:srgbClr val="AF00DB"/>
                </a:solidFill>
                <a:highlight>
                  <a:srgbClr val="FFFFFE"/>
                </a:highlight>
                <a:latin typeface="Courier New"/>
                <a:ea typeface="Courier New"/>
                <a:cs typeface="Courier New"/>
                <a:sym typeface="Courier New"/>
              </a:rPr>
              <a:t>assert</a:t>
            </a:r>
            <a:r>
              <a:rPr lang="en" sz="1550">
                <a:solidFill>
                  <a:schemeClr val="dk1"/>
                </a:solidFill>
                <a:highlight>
                  <a:srgbClr val="FFFFFE"/>
                </a:highlight>
                <a:latin typeface="Courier New"/>
                <a:ea typeface="Courier New"/>
                <a:cs typeface="Courier New"/>
                <a:sym typeface="Courier New"/>
              </a:rPr>
              <a:t> &lt;condition&gt; &lt;</a:t>
            </a:r>
            <a:r>
              <a:rPr lang="en" sz="1550">
                <a:solidFill>
                  <a:srgbClr val="A31515"/>
                </a:solidFill>
                <a:highlight>
                  <a:srgbClr val="FFFFFE"/>
                </a:highlight>
                <a:latin typeface="Courier New"/>
                <a:ea typeface="Courier New"/>
                <a:cs typeface="Courier New"/>
                <a:sym typeface="Courier New"/>
              </a:rPr>
              <a:t>”string to display error if the condition fails”</a:t>
            </a:r>
            <a:r>
              <a:rPr lang="en" sz="1550">
                <a:solidFill>
                  <a:schemeClr val="dk1"/>
                </a:solidFill>
                <a:highlight>
                  <a:srgbClr val="FFFFFE"/>
                </a:highlight>
                <a:latin typeface="Courier New"/>
                <a:ea typeface="Courier New"/>
                <a:cs typeface="Courier New"/>
                <a:sym typeface="Courier New"/>
              </a:rPr>
              <a:t>&gt;</a:t>
            </a:r>
            <a:endParaRPr sz="15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1600"/>
              </a:spcAft>
              <a:buNone/>
            </a:pPr>
            <a:r>
              <a:t/>
            </a:r>
            <a:endParaRPr sz="2300"/>
          </a:p>
        </p:txBody>
      </p:sp>
      <p:sp>
        <p:nvSpPr>
          <p:cNvPr id="297" name="Google Shape;297;p41"/>
          <p:cNvSpPr txBox="1"/>
          <p:nvPr/>
        </p:nvSpPr>
        <p:spPr>
          <a:xfrm>
            <a:off x="321000" y="988925"/>
            <a:ext cx="1189200" cy="4311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FFFFF"/>
                </a:solidFill>
                <a:latin typeface="Montserrat"/>
                <a:ea typeface="Montserrat"/>
                <a:cs typeface="Montserrat"/>
                <a:sym typeface="Montserrat"/>
              </a:rPr>
              <a:t>Syntax:</a:t>
            </a:r>
            <a:endParaRPr b="1" sz="1600">
              <a:solidFill>
                <a:srgbClr val="FFFFFF"/>
              </a:solidFill>
              <a:latin typeface="Montserrat"/>
              <a:ea typeface="Montserrat"/>
              <a:cs typeface="Montserrat"/>
              <a:sym typeface="Montserrat"/>
            </a:endParaRPr>
          </a:p>
        </p:txBody>
      </p:sp>
      <p:sp>
        <p:nvSpPr>
          <p:cNvPr id="298" name="Google Shape;298;p41"/>
          <p:cNvSpPr txBox="1"/>
          <p:nvPr>
            <p:ph idx="1" type="body"/>
          </p:nvPr>
        </p:nvSpPr>
        <p:spPr>
          <a:xfrm>
            <a:off x="321000" y="2086075"/>
            <a:ext cx="8708700" cy="21594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550">
                <a:solidFill>
                  <a:srgbClr val="0000FF"/>
                </a:solidFill>
                <a:highlight>
                  <a:srgbClr val="FFFFFE"/>
                </a:highlight>
                <a:latin typeface="Courier New"/>
                <a:ea typeface="Courier New"/>
                <a:cs typeface="Courier New"/>
                <a:sym typeface="Courier New"/>
              </a:rPr>
              <a:t>def</a:t>
            </a:r>
            <a:r>
              <a:rPr lang="en" sz="1550">
                <a:solidFill>
                  <a:schemeClr val="dk1"/>
                </a:solidFill>
                <a:highlight>
                  <a:srgbClr val="FFFFFE"/>
                </a:highlight>
                <a:latin typeface="Courier New"/>
                <a:ea typeface="Courier New"/>
                <a:cs typeface="Courier New"/>
                <a:sym typeface="Courier New"/>
              </a:rPr>
              <a:t> </a:t>
            </a:r>
            <a:r>
              <a:rPr lang="en" sz="1550">
                <a:solidFill>
                  <a:srgbClr val="795E26"/>
                </a:solidFill>
                <a:highlight>
                  <a:srgbClr val="FFFFFE"/>
                </a:highlight>
                <a:latin typeface="Courier New"/>
                <a:ea typeface="Courier New"/>
                <a:cs typeface="Courier New"/>
                <a:sym typeface="Courier New"/>
              </a:rPr>
              <a:t>factorial</a:t>
            </a:r>
            <a:r>
              <a:rPr lang="en" sz="1550">
                <a:solidFill>
                  <a:schemeClr val="dk1"/>
                </a:solidFill>
                <a:highlight>
                  <a:srgbClr val="FFFFFE"/>
                </a:highlight>
                <a:latin typeface="Courier New"/>
                <a:ea typeface="Courier New"/>
                <a:cs typeface="Courier New"/>
                <a:sym typeface="Courier New"/>
              </a:rPr>
              <a:t>(</a:t>
            </a:r>
            <a:r>
              <a:rPr lang="en" sz="1550">
                <a:solidFill>
                  <a:srgbClr val="001080"/>
                </a:solidFill>
                <a:highlight>
                  <a:srgbClr val="FFFFFE"/>
                </a:highlight>
                <a:latin typeface="Courier New"/>
                <a:ea typeface="Courier New"/>
                <a:cs typeface="Courier New"/>
                <a:sym typeface="Courier New"/>
              </a:rPr>
              <a:t>n</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rgbClr val="AF00DB"/>
                </a:solidFill>
                <a:highlight>
                  <a:srgbClr val="FFFFFE"/>
                </a:highlight>
                <a:latin typeface="Courier New"/>
                <a:ea typeface="Courier New"/>
                <a:cs typeface="Courier New"/>
                <a:sym typeface="Courier New"/>
              </a:rPr>
              <a:t> </a:t>
            </a:r>
            <a:r>
              <a:rPr lang="en" sz="1550">
                <a:solidFill>
                  <a:srgbClr val="AF00DB"/>
                </a:solidFill>
                <a:highlight>
                  <a:srgbClr val="FFFFFE"/>
                </a:highlight>
                <a:latin typeface="Courier New"/>
                <a:ea typeface="Courier New"/>
                <a:cs typeface="Courier New"/>
                <a:sym typeface="Courier New"/>
              </a:rPr>
              <a:t>a</a:t>
            </a:r>
            <a:r>
              <a:rPr lang="en" sz="1550">
                <a:solidFill>
                  <a:srgbClr val="AF00DB"/>
                </a:solidFill>
                <a:highlight>
                  <a:srgbClr val="FFFFFE"/>
                </a:highlight>
                <a:latin typeface="Courier New"/>
                <a:ea typeface="Courier New"/>
                <a:cs typeface="Courier New"/>
                <a:sym typeface="Courier New"/>
              </a:rPr>
              <a:t>ssert</a:t>
            </a:r>
            <a:r>
              <a:rPr lang="en" sz="1550">
                <a:solidFill>
                  <a:schemeClr val="dk1"/>
                </a:solidFill>
                <a:highlight>
                  <a:srgbClr val="FFFFFE"/>
                </a:highlight>
                <a:latin typeface="Courier New"/>
                <a:ea typeface="Courier New"/>
                <a:cs typeface="Courier New"/>
                <a:sym typeface="Courier New"/>
              </a:rPr>
              <a:t> n&gt;=</a:t>
            </a:r>
            <a:r>
              <a:rPr lang="en" sz="1550">
                <a:solidFill>
                  <a:srgbClr val="09885A"/>
                </a:solidFill>
                <a:highlight>
                  <a:srgbClr val="FFFFFE"/>
                </a:highlight>
                <a:latin typeface="Courier New"/>
                <a:ea typeface="Courier New"/>
                <a:cs typeface="Courier New"/>
                <a:sym typeface="Courier New"/>
              </a:rPr>
              <a:t>0</a:t>
            </a:r>
            <a:r>
              <a:rPr lang="en" sz="1550">
                <a:solidFill>
                  <a:schemeClr val="dk1"/>
                </a:solidFill>
                <a:highlight>
                  <a:srgbClr val="FFFFFE"/>
                </a:highlight>
                <a:latin typeface="Courier New"/>
                <a:ea typeface="Courier New"/>
                <a:cs typeface="Courier New"/>
                <a:sym typeface="Courier New"/>
              </a:rPr>
              <a:t> “</a:t>
            </a:r>
            <a:r>
              <a:rPr lang="en" sz="1550">
                <a:solidFill>
                  <a:srgbClr val="A31515"/>
                </a:solidFill>
                <a:highlight>
                  <a:srgbClr val="FFFFFE"/>
                </a:highlight>
                <a:latin typeface="Courier New"/>
                <a:ea typeface="Courier New"/>
                <a:cs typeface="Courier New"/>
                <a:sym typeface="Courier New"/>
              </a:rPr>
              <a:t>The factorial of negative integer is not defined</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rgbClr val="AF00DB"/>
                </a:solidFill>
                <a:highlight>
                  <a:srgbClr val="FFFFFE"/>
                </a:highlight>
                <a:latin typeface="Courier New"/>
                <a:ea typeface="Courier New"/>
                <a:cs typeface="Courier New"/>
                <a:sym typeface="Courier New"/>
              </a:rPr>
              <a:t>if</a:t>
            </a:r>
            <a:r>
              <a:rPr lang="en" sz="1550">
                <a:solidFill>
                  <a:schemeClr val="dk1"/>
                </a:solidFill>
                <a:highlight>
                  <a:srgbClr val="FFFFFE"/>
                </a:highlight>
                <a:latin typeface="Courier New"/>
                <a:ea typeface="Courier New"/>
                <a:cs typeface="Courier New"/>
                <a:sym typeface="Courier New"/>
              </a:rPr>
              <a:t> n==</a:t>
            </a:r>
            <a:r>
              <a:rPr lang="en" sz="1550">
                <a:solidFill>
                  <a:srgbClr val="09885A"/>
                </a:solidFill>
                <a:highlight>
                  <a:srgbClr val="FFFFFE"/>
                </a:highlight>
                <a:latin typeface="Courier New"/>
                <a:ea typeface="Courier New"/>
                <a:cs typeface="Courier New"/>
                <a:sym typeface="Courier New"/>
              </a:rPr>
              <a:t>0</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rgbClr val="AF00DB"/>
                </a:solidFill>
                <a:highlight>
                  <a:srgbClr val="FFFFFE"/>
                </a:highlight>
                <a:latin typeface="Courier New"/>
                <a:ea typeface="Courier New"/>
                <a:cs typeface="Courier New"/>
                <a:sym typeface="Courier New"/>
              </a:rPr>
              <a:t>return</a:t>
            </a:r>
            <a:r>
              <a:rPr lang="en" sz="1550">
                <a:solidFill>
                  <a:schemeClr val="dk1"/>
                </a:solidFill>
                <a:highlight>
                  <a:srgbClr val="FFFFFE"/>
                </a:highlight>
                <a:latin typeface="Courier New"/>
                <a:ea typeface="Courier New"/>
                <a:cs typeface="Courier New"/>
                <a:sym typeface="Courier New"/>
              </a:rPr>
              <a:t> 1</a:t>
            </a:r>
            <a:endParaRPr sz="1550">
              <a:solidFill>
                <a:srgbClr val="AF00DB"/>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rgbClr val="AF00DB"/>
                </a:solidFill>
                <a:highlight>
                  <a:srgbClr val="FFFFFE"/>
                </a:highlight>
                <a:latin typeface="Courier New"/>
                <a:ea typeface="Courier New"/>
                <a:cs typeface="Courier New"/>
                <a:sym typeface="Courier New"/>
              </a:rPr>
              <a:t>else</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550">
                <a:solidFill>
                  <a:schemeClr val="dk1"/>
                </a:solidFill>
                <a:highlight>
                  <a:srgbClr val="FFFFFE"/>
                </a:highlight>
                <a:latin typeface="Courier New"/>
                <a:ea typeface="Courier New"/>
                <a:cs typeface="Courier New"/>
                <a:sym typeface="Courier New"/>
              </a:rPr>
              <a:t>   </a:t>
            </a:r>
            <a:r>
              <a:rPr lang="en" sz="1550">
                <a:solidFill>
                  <a:srgbClr val="AF00DB"/>
                </a:solidFill>
                <a:highlight>
                  <a:srgbClr val="FFFFFE"/>
                </a:highlight>
                <a:latin typeface="Courier New"/>
                <a:ea typeface="Courier New"/>
                <a:cs typeface="Courier New"/>
                <a:sym typeface="Courier New"/>
              </a:rPr>
              <a:t>return</a:t>
            </a:r>
            <a:r>
              <a:rPr lang="en" sz="1550">
                <a:solidFill>
                  <a:schemeClr val="dk1"/>
                </a:solidFill>
                <a:highlight>
                  <a:srgbClr val="FFFFFE"/>
                </a:highlight>
                <a:latin typeface="Courier New"/>
                <a:ea typeface="Courier New"/>
                <a:cs typeface="Courier New"/>
                <a:sym typeface="Courier New"/>
              </a:rPr>
              <a:t> n*factorial(n</a:t>
            </a:r>
            <a:r>
              <a:rPr lang="en" sz="1550">
                <a:solidFill>
                  <a:srgbClr val="09885A"/>
                </a:solidFill>
                <a:highlight>
                  <a:srgbClr val="FFFFFE"/>
                </a:highlight>
                <a:latin typeface="Courier New"/>
                <a:ea typeface="Courier New"/>
                <a:cs typeface="Courier New"/>
                <a:sym typeface="Courier New"/>
              </a:rPr>
              <a:t>-1</a:t>
            </a:r>
            <a:r>
              <a:rPr lang="en" sz="1550">
                <a:solidFill>
                  <a:schemeClr val="dk1"/>
                </a:solidFill>
                <a:highlight>
                  <a:srgbClr val="FFFFFE"/>
                </a:highlight>
                <a:latin typeface="Courier New"/>
                <a:ea typeface="Courier New"/>
                <a:cs typeface="Courier New"/>
                <a:sym typeface="Courier New"/>
              </a:rPr>
              <a:t>)</a:t>
            </a:r>
            <a:endParaRPr sz="15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1600"/>
              </a:spcAft>
              <a:buNone/>
            </a:pPr>
            <a:r>
              <a:t/>
            </a:r>
            <a:endParaRPr sz="2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1000"/>
                                        <p:tgtEl>
                                          <p:spTgt spid="297"/>
                                        </p:tgtEl>
                                      </p:cBhvr>
                                    </p:animEffect>
                                  </p:childTnLst>
                                </p:cTn>
                              </p:par>
                              <p:par>
                                <p:cTn fill="hold" nodeType="with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1000"/>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1000"/>
                                        <p:tgtEl>
                                          <p:spTgt spid="2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2"/>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a:t>
            </a:r>
            <a:endParaRPr sz="3500">
              <a:solidFill>
                <a:srgbClr val="FFFFFF"/>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3"/>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User-defined Exception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4"/>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900"/>
              <a:t>How to define a user-defined exception?</a:t>
            </a:r>
            <a:endParaRPr sz="1900"/>
          </a:p>
        </p:txBody>
      </p:sp>
      <p:sp>
        <p:nvSpPr>
          <p:cNvPr id="314" name="Google Shape;314;p44"/>
          <p:cNvSpPr txBox="1"/>
          <p:nvPr>
            <p:ph idx="1" type="body"/>
          </p:nvPr>
        </p:nvSpPr>
        <p:spPr>
          <a:xfrm>
            <a:off x="448550" y="1321150"/>
            <a:ext cx="4411800" cy="8604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550">
                <a:solidFill>
                  <a:srgbClr val="0000FF"/>
                </a:solidFill>
                <a:highlight>
                  <a:srgbClr val="FFFFFE"/>
                </a:highlight>
                <a:latin typeface="Courier New"/>
                <a:ea typeface="Courier New"/>
                <a:cs typeface="Courier New"/>
                <a:sym typeface="Courier New"/>
              </a:rPr>
              <a:t>class</a:t>
            </a:r>
            <a:r>
              <a:rPr lang="en" sz="1550">
                <a:solidFill>
                  <a:schemeClr val="dk1"/>
                </a:solidFill>
                <a:highlight>
                  <a:srgbClr val="FFFFFE"/>
                </a:highlight>
                <a:latin typeface="Courier New"/>
                <a:ea typeface="Courier New"/>
                <a:cs typeface="Courier New"/>
                <a:sym typeface="Courier New"/>
              </a:rPr>
              <a:t> &lt;exception_name&gt;(</a:t>
            </a:r>
            <a:r>
              <a:rPr lang="en" sz="1350">
                <a:solidFill>
                  <a:srgbClr val="267F99"/>
                </a:solidFill>
                <a:highlight>
                  <a:srgbClr val="FFFFFE"/>
                </a:highlight>
                <a:latin typeface="Courier New"/>
                <a:ea typeface="Courier New"/>
                <a:cs typeface="Courier New"/>
                <a:sym typeface="Courier New"/>
              </a:rPr>
              <a:t>Exception):</a:t>
            </a:r>
            <a:endParaRPr sz="15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550">
                <a:solidFill>
                  <a:schemeClr val="dk1"/>
                </a:solidFill>
                <a:highlight>
                  <a:srgbClr val="FFFFFE"/>
                </a:highlight>
                <a:latin typeface="Courier New"/>
                <a:ea typeface="Courier New"/>
                <a:cs typeface="Courier New"/>
                <a:sym typeface="Courier New"/>
              </a:rPr>
              <a:t>   </a:t>
            </a:r>
            <a:r>
              <a:rPr lang="en" sz="1550">
                <a:solidFill>
                  <a:srgbClr val="008000"/>
                </a:solidFill>
                <a:highlight>
                  <a:srgbClr val="FFFFFE"/>
                </a:highlight>
                <a:latin typeface="Courier New"/>
                <a:ea typeface="Courier New"/>
                <a:cs typeface="Courier New"/>
                <a:sym typeface="Courier New"/>
              </a:rPr>
              <a:t># Code</a:t>
            </a:r>
            <a:endParaRPr sz="1550">
              <a:solidFill>
                <a:srgbClr val="008000"/>
              </a:solidFill>
              <a:highlight>
                <a:srgbClr val="FFFFFE"/>
              </a:highlight>
              <a:latin typeface="Courier New"/>
              <a:ea typeface="Courier New"/>
              <a:cs typeface="Courier New"/>
              <a:sym typeface="Courier New"/>
            </a:endParaRPr>
          </a:p>
          <a:p>
            <a:pPr indent="0" lvl="0" marL="0" rtl="0" algn="l">
              <a:spcBef>
                <a:spcPts val="0"/>
              </a:spcBef>
              <a:spcAft>
                <a:spcPts val="1600"/>
              </a:spcAft>
              <a:buNone/>
            </a:pPr>
            <a:r>
              <a:t/>
            </a:r>
            <a:endParaRPr sz="2300"/>
          </a:p>
        </p:txBody>
      </p:sp>
      <p:sp>
        <p:nvSpPr>
          <p:cNvPr id="315" name="Google Shape;315;p44"/>
          <p:cNvSpPr txBox="1"/>
          <p:nvPr/>
        </p:nvSpPr>
        <p:spPr>
          <a:xfrm>
            <a:off x="321000" y="836525"/>
            <a:ext cx="1189200" cy="4311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FFFFF"/>
                </a:solidFill>
                <a:latin typeface="Montserrat"/>
                <a:ea typeface="Montserrat"/>
                <a:cs typeface="Montserrat"/>
                <a:sym typeface="Montserrat"/>
              </a:rPr>
              <a:t>Syntax:</a:t>
            </a:r>
            <a:endParaRPr b="1" sz="1600">
              <a:solidFill>
                <a:srgbClr val="FFFFFF"/>
              </a:solidFill>
              <a:latin typeface="Montserrat"/>
              <a:ea typeface="Montserrat"/>
              <a:cs typeface="Montserrat"/>
              <a:sym typeface="Montserrat"/>
            </a:endParaRPr>
          </a:p>
        </p:txBody>
      </p:sp>
      <p:cxnSp>
        <p:nvCxnSpPr>
          <p:cNvPr id="316" name="Google Shape;316;p44"/>
          <p:cNvCxnSpPr/>
          <p:nvPr/>
        </p:nvCxnSpPr>
        <p:spPr>
          <a:xfrm>
            <a:off x="-13950" y="2089225"/>
            <a:ext cx="9144000" cy="0"/>
          </a:xfrm>
          <a:prstGeom prst="straightConnector1">
            <a:avLst/>
          </a:prstGeom>
          <a:noFill/>
          <a:ln cap="flat" cmpd="sng" w="38100">
            <a:solidFill>
              <a:schemeClr val="dk2"/>
            </a:solidFill>
            <a:prstDash val="solid"/>
            <a:round/>
            <a:headEnd len="med" w="med" type="none"/>
            <a:tailEnd len="med" w="med" type="none"/>
          </a:ln>
        </p:spPr>
      </p:cxnSp>
      <p:sp>
        <p:nvSpPr>
          <p:cNvPr id="317" name="Google Shape;317;p44"/>
          <p:cNvSpPr txBox="1"/>
          <p:nvPr>
            <p:ph idx="1" type="body"/>
          </p:nvPr>
        </p:nvSpPr>
        <p:spPr>
          <a:xfrm>
            <a:off x="209075" y="2114550"/>
            <a:ext cx="4411800" cy="8604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350">
                <a:solidFill>
                  <a:srgbClr val="0000FF"/>
                </a:solidFill>
                <a:highlight>
                  <a:srgbClr val="FFFFFE"/>
                </a:highlight>
                <a:latin typeface="Courier New"/>
                <a:ea typeface="Courier New"/>
                <a:cs typeface="Courier New"/>
                <a:sym typeface="Courier New"/>
              </a:rPr>
              <a:t>class</a:t>
            </a:r>
            <a:r>
              <a:rPr lang="en" sz="1350">
                <a:solidFill>
                  <a:schemeClr val="dk1"/>
                </a:solidFill>
                <a:highlight>
                  <a:srgbClr val="FFFFFE"/>
                </a:highlight>
                <a:latin typeface="Courier New"/>
                <a:ea typeface="Courier New"/>
                <a:cs typeface="Courier New"/>
                <a:sym typeface="Courier New"/>
              </a:rPr>
              <a:t> </a:t>
            </a:r>
            <a:r>
              <a:rPr lang="en" sz="1350">
                <a:solidFill>
                  <a:srgbClr val="267F99"/>
                </a:solidFill>
                <a:highlight>
                  <a:srgbClr val="FFFFFE"/>
                </a:highlight>
                <a:latin typeface="Courier New"/>
                <a:ea typeface="Courier New"/>
                <a:cs typeface="Courier New"/>
                <a:sym typeface="Courier New"/>
              </a:rPr>
              <a:t>CustomError</a:t>
            </a:r>
            <a:r>
              <a:rPr lang="en" sz="1350">
                <a:solidFill>
                  <a:schemeClr val="dk1"/>
                </a:solidFill>
                <a:highlight>
                  <a:srgbClr val="FFFFFE"/>
                </a:highlight>
                <a:latin typeface="Courier New"/>
                <a:ea typeface="Courier New"/>
                <a:cs typeface="Courier New"/>
                <a:sym typeface="Courier New"/>
              </a:rPr>
              <a:t>(</a:t>
            </a:r>
            <a:r>
              <a:rPr lang="en" sz="1350">
                <a:solidFill>
                  <a:srgbClr val="267F99"/>
                </a:solidFill>
                <a:highlight>
                  <a:srgbClr val="FFFFFE"/>
                </a:highlight>
                <a:latin typeface="Courier New"/>
                <a:ea typeface="Courier New"/>
                <a:cs typeface="Courier New"/>
                <a:sym typeface="Courier New"/>
              </a:rPr>
              <a:t>Exception</a:t>
            </a:r>
            <a:r>
              <a:rPr lang="en" sz="1350">
                <a:solidFill>
                  <a:schemeClr val="dk1"/>
                </a:solidFill>
                <a:highlight>
                  <a:srgbClr val="FFFFFE"/>
                </a:highlight>
                <a:latin typeface="Courier New"/>
                <a:ea typeface="Courier New"/>
                <a:cs typeface="Courier New"/>
                <a:sym typeface="Courier New"/>
              </a:rPr>
              <a:t>):</a:t>
            </a:r>
            <a:endParaRPr sz="13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350">
                <a:solidFill>
                  <a:schemeClr val="dk1"/>
                </a:solidFill>
                <a:highlight>
                  <a:srgbClr val="FFFFFE"/>
                </a:highlight>
                <a:latin typeface="Courier New"/>
                <a:ea typeface="Courier New"/>
                <a:cs typeface="Courier New"/>
                <a:sym typeface="Courier New"/>
              </a:rPr>
              <a:t>   </a:t>
            </a:r>
            <a:r>
              <a:rPr lang="en" sz="1350">
                <a:solidFill>
                  <a:srgbClr val="AF00DB"/>
                </a:solidFill>
                <a:highlight>
                  <a:srgbClr val="FFFFFE"/>
                </a:highlight>
                <a:latin typeface="Courier New"/>
                <a:ea typeface="Courier New"/>
                <a:cs typeface="Courier New"/>
                <a:sym typeface="Courier New"/>
              </a:rPr>
              <a:t>pass</a:t>
            </a:r>
            <a:endParaRPr sz="1350">
              <a:solidFill>
                <a:srgbClr val="AF00DB"/>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t/>
            </a:r>
            <a:endParaRPr sz="1350">
              <a:solidFill>
                <a:schemeClr val="dk1"/>
              </a:solidFill>
              <a:highlight>
                <a:srgbClr val="FFFFFE"/>
              </a:highlight>
              <a:latin typeface="Courier New"/>
              <a:ea typeface="Courier New"/>
              <a:cs typeface="Courier New"/>
              <a:sym typeface="Courier New"/>
            </a:endParaRPr>
          </a:p>
          <a:p>
            <a:pPr indent="0" lvl="0" marL="0" rtl="0" algn="l">
              <a:lnSpc>
                <a:spcPct val="135714"/>
              </a:lnSpc>
              <a:spcBef>
                <a:spcPts val="0"/>
              </a:spcBef>
              <a:spcAft>
                <a:spcPts val="0"/>
              </a:spcAft>
              <a:buClr>
                <a:schemeClr val="dk1"/>
              </a:buClr>
              <a:buSzPts val="1100"/>
              <a:buFont typeface="Arial"/>
              <a:buNone/>
            </a:pPr>
            <a:r>
              <a:rPr lang="en" sz="1350">
                <a:solidFill>
                  <a:srgbClr val="AF00DB"/>
                </a:solidFill>
                <a:highlight>
                  <a:srgbClr val="FFFFFE"/>
                </a:highlight>
                <a:latin typeface="Courier New"/>
                <a:ea typeface="Courier New"/>
                <a:cs typeface="Courier New"/>
                <a:sym typeface="Courier New"/>
              </a:rPr>
              <a:t>raise</a:t>
            </a:r>
            <a:r>
              <a:rPr lang="en" sz="1350">
                <a:solidFill>
                  <a:schemeClr val="dk1"/>
                </a:solidFill>
                <a:highlight>
                  <a:srgbClr val="FFFFFE"/>
                </a:highlight>
                <a:latin typeface="Courier New"/>
                <a:ea typeface="Courier New"/>
                <a:cs typeface="Courier New"/>
                <a:sym typeface="Courier New"/>
              </a:rPr>
              <a:t> CustomError</a:t>
            </a:r>
            <a:endParaRPr sz="1350">
              <a:solidFill>
                <a:schemeClr val="dk1"/>
              </a:solidFill>
              <a:highlight>
                <a:srgbClr val="FFFFFE"/>
              </a:highlight>
              <a:latin typeface="Courier New"/>
              <a:ea typeface="Courier New"/>
              <a:cs typeface="Courier New"/>
              <a:sym typeface="Courier New"/>
            </a:endParaRPr>
          </a:p>
          <a:p>
            <a:pPr indent="0" lvl="0" marL="0" rtl="0" algn="l">
              <a:spcBef>
                <a:spcPts val="0"/>
              </a:spcBef>
              <a:spcAft>
                <a:spcPts val="1600"/>
              </a:spcAft>
              <a:buNone/>
            </a:pPr>
            <a:r>
              <a:t/>
            </a:r>
            <a:endParaRPr sz="1850">
              <a:solidFill>
                <a:srgbClr val="0000FF"/>
              </a:solidFill>
              <a:highlight>
                <a:srgbClr val="FFFFFE"/>
              </a:highlight>
              <a:latin typeface="Courier New"/>
              <a:ea typeface="Courier New"/>
              <a:cs typeface="Courier New"/>
              <a:sym typeface="Courier New"/>
            </a:endParaRPr>
          </a:p>
        </p:txBody>
      </p:sp>
      <p:pic>
        <p:nvPicPr>
          <p:cNvPr id="318" name="Google Shape;318;p44"/>
          <p:cNvPicPr preferRelativeResize="0"/>
          <p:nvPr/>
        </p:nvPicPr>
        <p:blipFill>
          <a:blip r:embed="rId3">
            <a:alphaModFix/>
          </a:blip>
          <a:stretch>
            <a:fillRect/>
          </a:stretch>
        </p:blipFill>
        <p:spPr>
          <a:xfrm>
            <a:off x="1510200" y="3456500"/>
            <a:ext cx="7619851" cy="1510225"/>
          </a:xfrm>
          <a:prstGeom prst="rect">
            <a:avLst/>
          </a:prstGeom>
          <a:noFill/>
          <a:ln>
            <a:noFill/>
          </a:ln>
        </p:spPr>
      </p:pic>
      <p:cxnSp>
        <p:nvCxnSpPr>
          <p:cNvPr id="319" name="Google Shape;319;p44"/>
          <p:cNvCxnSpPr/>
          <p:nvPr/>
        </p:nvCxnSpPr>
        <p:spPr>
          <a:xfrm>
            <a:off x="-13950" y="3384625"/>
            <a:ext cx="9144000" cy="0"/>
          </a:xfrm>
          <a:prstGeom prst="straightConnector1">
            <a:avLst/>
          </a:prstGeom>
          <a:noFill/>
          <a:ln cap="flat" cmpd="sng" w="38100">
            <a:solidFill>
              <a:schemeClr val="dk2"/>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par>
                                <p:cTn fill="hold" nodeType="withEffect" presetClass="entr" presetID="10" presetSubtype="0">
                                  <p:stCondLst>
                                    <p:cond delay="0"/>
                                  </p:stCondLst>
                                  <p:childTnLst>
                                    <p:set>
                                      <p:cBhvr>
                                        <p:cTn dur="1" fill="hold">
                                          <p:stCondLst>
                                            <p:cond delay="0"/>
                                          </p:stCondLst>
                                        </p:cTn>
                                        <p:tgtEl>
                                          <p:spTgt spid="314"/>
                                        </p:tgtEl>
                                        <p:attrNameLst>
                                          <p:attrName>style.visibility</p:attrName>
                                        </p:attrNameLst>
                                      </p:cBhvr>
                                      <p:to>
                                        <p:strVal val="visible"/>
                                      </p:to>
                                    </p:set>
                                    <p:animEffect filter="fade" transition="in">
                                      <p:cBhvr>
                                        <p:cTn dur="1000"/>
                                        <p:tgtEl>
                                          <p:spTgt spid="3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par>
                                <p:cTn fill="hold" nodeType="with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1000"/>
                                        <p:tgtEl>
                                          <p:spTgt spid="318"/>
                                        </p:tgtEl>
                                      </p:cBhvr>
                                    </p:animEffect>
                                  </p:childTnLst>
                                </p:cTn>
                              </p:par>
                              <p:par>
                                <p:cTn fill="hold" nodeType="with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1000"/>
                                        <p:tgtEl>
                                          <p:spTgt spid="3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5"/>
          <p:cNvSpPr txBox="1"/>
          <p:nvPr/>
        </p:nvSpPr>
        <p:spPr>
          <a:xfrm>
            <a:off x="12475" y="12475"/>
            <a:ext cx="9144000" cy="749100"/>
          </a:xfrm>
          <a:prstGeom prst="rect">
            <a:avLst/>
          </a:prstGeom>
          <a:solidFill>
            <a:srgbClr val="0B5394"/>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3500">
                <a:solidFill>
                  <a:srgbClr val="FFFFFF"/>
                </a:solidFill>
                <a:latin typeface="Montserrat"/>
                <a:ea typeface="Montserrat"/>
                <a:cs typeface="Montserrat"/>
                <a:sym typeface="Montserrat"/>
              </a:rPr>
              <a:t>Code Demo</a:t>
            </a:r>
            <a:endParaRPr sz="3500">
              <a:solidFill>
                <a:srgbClr val="FFFFFF"/>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6"/>
          <p:cNvSpPr txBox="1"/>
          <p:nvPr>
            <p:ph type="title"/>
          </p:nvPr>
        </p:nvSpPr>
        <p:spPr>
          <a:xfrm>
            <a:off x="540300" y="2990425"/>
            <a:ext cx="8093700" cy="167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Debugging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7"/>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000"/>
              <a:t>Bugs are errors, mistakes, fault or problems that cause the program to crash.</a:t>
            </a:r>
            <a:endParaRPr sz="2000"/>
          </a:p>
        </p:txBody>
      </p:sp>
      <p:sp>
        <p:nvSpPr>
          <p:cNvPr id="335" name="Google Shape;335;p47"/>
          <p:cNvSpPr txBox="1"/>
          <p:nvPr>
            <p:ph idx="1" type="body"/>
          </p:nvPr>
        </p:nvSpPr>
        <p:spPr>
          <a:xfrm>
            <a:off x="311700" y="1228675"/>
            <a:ext cx="146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a:t>Causes:</a:t>
            </a:r>
            <a:endParaRPr b="1"/>
          </a:p>
        </p:txBody>
      </p:sp>
      <p:sp>
        <p:nvSpPr>
          <p:cNvPr id="336" name="Google Shape;336;p47"/>
          <p:cNvSpPr txBox="1"/>
          <p:nvPr/>
        </p:nvSpPr>
        <p:spPr>
          <a:xfrm>
            <a:off x="866500" y="1649825"/>
            <a:ext cx="2447400" cy="5850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E</a:t>
            </a:r>
            <a:r>
              <a:rPr lang="en" sz="1300">
                <a:solidFill>
                  <a:schemeClr val="dk1"/>
                </a:solidFill>
                <a:latin typeface="Montserrat"/>
                <a:ea typeface="Montserrat"/>
                <a:cs typeface="Montserrat"/>
                <a:sym typeface="Montserrat"/>
              </a:rPr>
              <a:t>rroneous logic</a:t>
            </a:r>
            <a:endParaRPr sz="1300">
              <a:solidFill>
                <a:schemeClr val="dk1"/>
              </a:solidFill>
              <a:latin typeface="Montserrat"/>
              <a:ea typeface="Montserrat"/>
              <a:cs typeface="Montserrat"/>
              <a:sym typeface="Montserrat"/>
            </a:endParaRPr>
          </a:p>
          <a:p>
            <a:pPr indent="-311150" lvl="0" marL="457200" rtl="0" algn="l">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Human error</a:t>
            </a:r>
            <a:endParaRPr sz="1300">
              <a:solidFill>
                <a:schemeClr val="dk1"/>
              </a:solidFill>
              <a:latin typeface="Montserrat"/>
              <a:ea typeface="Montserrat"/>
              <a:cs typeface="Montserrat"/>
              <a:sym typeface="Montserrat"/>
            </a:endParaRPr>
          </a:p>
        </p:txBody>
      </p:sp>
      <p:sp>
        <p:nvSpPr>
          <p:cNvPr id="337" name="Google Shape;337;p47"/>
          <p:cNvSpPr txBox="1"/>
          <p:nvPr>
            <p:ph idx="1" type="body"/>
          </p:nvPr>
        </p:nvSpPr>
        <p:spPr>
          <a:xfrm>
            <a:off x="464100" y="2905075"/>
            <a:ext cx="1680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a:t>Debugging</a:t>
            </a:r>
            <a:endParaRPr b="1"/>
          </a:p>
        </p:txBody>
      </p:sp>
      <p:sp>
        <p:nvSpPr>
          <p:cNvPr id="338" name="Google Shape;338;p47"/>
          <p:cNvSpPr txBox="1"/>
          <p:nvPr>
            <p:ph idx="1" type="body"/>
          </p:nvPr>
        </p:nvSpPr>
        <p:spPr>
          <a:xfrm>
            <a:off x="464100" y="3362275"/>
            <a:ext cx="4107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a:t>Debugger: </a:t>
            </a:r>
            <a:r>
              <a:rPr lang="en" sz="1500"/>
              <a:t>A tool used for debugging</a:t>
            </a:r>
            <a:endParaRPr sz="1500"/>
          </a:p>
        </p:txBody>
      </p:sp>
      <p:cxnSp>
        <p:nvCxnSpPr>
          <p:cNvPr id="339" name="Google Shape;339;p47"/>
          <p:cNvCxnSpPr/>
          <p:nvPr/>
        </p:nvCxnSpPr>
        <p:spPr>
          <a:xfrm>
            <a:off x="4625025" y="882325"/>
            <a:ext cx="0" cy="4091400"/>
          </a:xfrm>
          <a:prstGeom prst="straightConnector1">
            <a:avLst/>
          </a:prstGeom>
          <a:noFill/>
          <a:ln cap="flat" cmpd="sng" w="38100">
            <a:solidFill>
              <a:schemeClr val="dk2"/>
            </a:solidFill>
            <a:prstDash val="solid"/>
            <a:round/>
            <a:headEnd len="med" w="med" type="none"/>
            <a:tailEnd len="med" w="med" type="none"/>
          </a:ln>
        </p:spPr>
      </p:cxnSp>
      <p:sp>
        <p:nvSpPr>
          <p:cNvPr id="340" name="Google Shape;340;p47"/>
          <p:cNvSpPr txBox="1"/>
          <p:nvPr>
            <p:ph idx="1" type="body"/>
          </p:nvPr>
        </p:nvSpPr>
        <p:spPr>
          <a:xfrm>
            <a:off x="5088350" y="923875"/>
            <a:ext cx="3095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a:t>Debugging process</a:t>
            </a:r>
            <a:endParaRPr b="1"/>
          </a:p>
        </p:txBody>
      </p:sp>
      <p:sp>
        <p:nvSpPr>
          <p:cNvPr id="341" name="Google Shape;341;p47"/>
          <p:cNvSpPr txBox="1"/>
          <p:nvPr/>
        </p:nvSpPr>
        <p:spPr>
          <a:xfrm>
            <a:off x="5395900" y="1345025"/>
            <a:ext cx="3664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Montserrat"/>
                <a:ea typeface="Montserrat"/>
                <a:cs typeface="Montserrat"/>
                <a:sym typeface="Montserrat"/>
              </a:rPr>
              <a:t>1. Reproduce problem</a:t>
            </a:r>
            <a:endParaRPr sz="1300">
              <a:solidFill>
                <a:schemeClr val="dk1"/>
              </a:solidFill>
              <a:latin typeface="Montserrat"/>
              <a:ea typeface="Montserrat"/>
              <a:cs typeface="Montserrat"/>
              <a:sym typeface="Montserrat"/>
            </a:endParaRPr>
          </a:p>
        </p:txBody>
      </p:sp>
      <p:sp>
        <p:nvSpPr>
          <p:cNvPr id="342" name="Google Shape;342;p47"/>
          <p:cNvSpPr txBox="1"/>
          <p:nvPr/>
        </p:nvSpPr>
        <p:spPr>
          <a:xfrm>
            <a:off x="5395900" y="1802225"/>
            <a:ext cx="3664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Montserrat"/>
                <a:ea typeface="Montserrat"/>
                <a:cs typeface="Montserrat"/>
                <a:sym typeface="Montserrat"/>
              </a:rPr>
              <a:t>2. Record the program snapshot</a:t>
            </a:r>
            <a:endParaRPr sz="1300">
              <a:solidFill>
                <a:schemeClr val="dk1"/>
              </a:solidFill>
              <a:latin typeface="Montserrat"/>
              <a:ea typeface="Montserrat"/>
              <a:cs typeface="Montserrat"/>
              <a:sym typeface="Montserrat"/>
            </a:endParaRPr>
          </a:p>
        </p:txBody>
      </p:sp>
      <p:sp>
        <p:nvSpPr>
          <p:cNvPr id="343" name="Google Shape;343;p47"/>
          <p:cNvSpPr txBox="1"/>
          <p:nvPr/>
        </p:nvSpPr>
        <p:spPr>
          <a:xfrm>
            <a:off x="5395900" y="2259425"/>
            <a:ext cx="3664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Montserrat"/>
                <a:ea typeface="Montserrat"/>
                <a:cs typeface="Montserrat"/>
                <a:sym typeface="Montserrat"/>
              </a:rPr>
              <a:t>3. Analyze the snapshot</a:t>
            </a:r>
            <a:endParaRPr sz="1300">
              <a:solidFill>
                <a:schemeClr val="dk1"/>
              </a:solidFill>
              <a:latin typeface="Montserrat"/>
              <a:ea typeface="Montserrat"/>
              <a:cs typeface="Montserrat"/>
              <a:sym typeface="Montserrat"/>
            </a:endParaRPr>
          </a:p>
        </p:txBody>
      </p:sp>
      <p:sp>
        <p:nvSpPr>
          <p:cNvPr id="344" name="Google Shape;344;p47"/>
          <p:cNvSpPr txBox="1"/>
          <p:nvPr/>
        </p:nvSpPr>
        <p:spPr>
          <a:xfrm>
            <a:off x="5395900" y="2716625"/>
            <a:ext cx="3664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Montserrat"/>
                <a:ea typeface="Montserrat"/>
                <a:cs typeface="Montserrat"/>
                <a:sym typeface="Montserrat"/>
              </a:rPr>
              <a:t>4. Fix the bug</a:t>
            </a:r>
            <a:endParaRPr sz="1300">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1000"/>
                                        <p:tgtEl>
                                          <p:spTgt spid="335"/>
                                        </p:tgtEl>
                                      </p:cBhvr>
                                    </p:animEffect>
                                  </p:childTnLst>
                                </p:cTn>
                              </p:par>
                              <p:par>
                                <p:cTn fill="hold" nodeType="with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1000"/>
                                        <p:tgtEl>
                                          <p:spTgt spid="3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1000"/>
                                        <p:tgtEl>
                                          <p:spTgt spid="339"/>
                                        </p:tgtEl>
                                      </p:cBhvr>
                                    </p:animEffect>
                                  </p:childTnLst>
                                </p:cTn>
                              </p:par>
                              <p:par>
                                <p:cTn fill="hold" nodeType="with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1000"/>
                                        <p:tgtEl>
                                          <p:spTgt spid="3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1000"/>
                                        <p:tgtEl>
                                          <p:spTgt spid="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1000"/>
                                        <p:tgtEl>
                                          <p:spTgt spid="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8"/>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t>Debugging tools and techniques</a:t>
            </a:r>
            <a:endParaRPr sz="2400"/>
          </a:p>
        </p:txBody>
      </p:sp>
      <p:sp>
        <p:nvSpPr>
          <p:cNvPr id="350" name="Google Shape;350;p48"/>
          <p:cNvSpPr txBox="1"/>
          <p:nvPr/>
        </p:nvSpPr>
        <p:spPr>
          <a:xfrm>
            <a:off x="549600" y="1141325"/>
            <a:ext cx="2350200" cy="4311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FFFFF"/>
                </a:solidFill>
                <a:latin typeface="Montserrat"/>
                <a:ea typeface="Montserrat"/>
                <a:cs typeface="Montserrat"/>
                <a:sym typeface="Montserrat"/>
              </a:rPr>
              <a:t>Exception Handling</a:t>
            </a:r>
            <a:endParaRPr b="1" sz="1600">
              <a:solidFill>
                <a:srgbClr val="FFFFFF"/>
              </a:solidFill>
              <a:latin typeface="Montserrat"/>
              <a:ea typeface="Montserrat"/>
              <a:cs typeface="Montserrat"/>
              <a:sym typeface="Montserrat"/>
            </a:endParaRPr>
          </a:p>
        </p:txBody>
      </p:sp>
      <p:sp>
        <p:nvSpPr>
          <p:cNvPr id="351" name="Google Shape;351;p48"/>
          <p:cNvSpPr txBox="1"/>
          <p:nvPr/>
        </p:nvSpPr>
        <p:spPr>
          <a:xfrm>
            <a:off x="1616400" y="1827125"/>
            <a:ext cx="2350200" cy="4311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FFFFF"/>
                </a:solidFill>
                <a:latin typeface="Montserrat"/>
                <a:ea typeface="Montserrat"/>
                <a:cs typeface="Montserrat"/>
                <a:sym typeface="Montserrat"/>
              </a:rPr>
              <a:t>Assertion</a:t>
            </a:r>
            <a:endParaRPr b="1" sz="1600">
              <a:solidFill>
                <a:srgbClr val="FFFFFF"/>
              </a:solidFill>
              <a:latin typeface="Montserrat"/>
              <a:ea typeface="Montserrat"/>
              <a:cs typeface="Montserrat"/>
              <a:sym typeface="Montserrat"/>
            </a:endParaRPr>
          </a:p>
        </p:txBody>
      </p:sp>
      <p:sp>
        <p:nvSpPr>
          <p:cNvPr id="352" name="Google Shape;352;p48"/>
          <p:cNvSpPr txBox="1"/>
          <p:nvPr/>
        </p:nvSpPr>
        <p:spPr>
          <a:xfrm>
            <a:off x="2530800" y="2512925"/>
            <a:ext cx="2948700" cy="4311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FFFFF"/>
                </a:solidFill>
                <a:latin typeface="Montserrat"/>
                <a:ea typeface="Montserrat"/>
                <a:cs typeface="Montserrat"/>
                <a:sym typeface="Montserrat"/>
              </a:rPr>
              <a:t>Python logging modules</a:t>
            </a:r>
            <a:endParaRPr b="1" sz="1600">
              <a:solidFill>
                <a:srgbClr val="FFFFFF"/>
              </a:solidFill>
              <a:latin typeface="Montserrat"/>
              <a:ea typeface="Montserrat"/>
              <a:cs typeface="Montserrat"/>
              <a:sym typeface="Montserrat"/>
            </a:endParaRPr>
          </a:p>
        </p:txBody>
      </p:sp>
      <p:sp>
        <p:nvSpPr>
          <p:cNvPr id="353" name="Google Shape;353;p48"/>
          <p:cNvSpPr txBox="1"/>
          <p:nvPr/>
        </p:nvSpPr>
        <p:spPr>
          <a:xfrm>
            <a:off x="3445200" y="3198725"/>
            <a:ext cx="3533400" cy="4311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FFFFF"/>
                </a:solidFill>
                <a:latin typeface="Montserrat"/>
                <a:ea typeface="Montserrat"/>
                <a:cs typeface="Montserrat"/>
                <a:sym typeface="Montserrat"/>
              </a:rPr>
              <a:t>Python debugger module(pdb)</a:t>
            </a:r>
            <a:endParaRPr b="1" sz="1600">
              <a:solidFill>
                <a:srgbClr val="FFFFFF"/>
              </a:solidFill>
              <a:latin typeface="Montserrat"/>
              <a:ea typeface="Montserrat"/>
              <a:cs typeface="Montserrat"/>
              <a:sym typeface="Montserrat"/>
            </a:endParaRPr>
          </a:p>
        </p:txBody>
      </p:sp>
      <p:sp>
        <p:nvSpPr>
          <p:cNvPr id="354" name="Google Shape;354;p48"/>
          <p:cNvSpPr txBox="1"/>
          <p:nvPr/>
        </p:nvSpPr>
        <p:spPr>
          <a:xfrm>
            <a:off x="4435800" y="3884525"/>
            <a:ext cx="2350200" cy="431100"/>
          </a:xfrm>
          <a:prstGeom prst="rect">
            <a:avLst/>
          </a:prstGeom>
          <a:solidFill>
            <a:srgbClr val="6D9EE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rgbClr val="FFFFFF"/>
                </a:solidFill>
                <a:latin typeface="Montserrat"/>
                <a:ea typeface="Montserrat"/>
                <a:cs typeface="Montserrat"/>
                <a:sym typeface="Montserrat"/>
              </a:rPr>
              <a:t>Jupyter Notebook</a:t>
            </a:r>
            <a:endParaRPr b="1" sz="1600">
              <a:solidFill>
                <a:srgbClr val="FFFFF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1000"/>
                                        <p:tgtEl>
                                          <p:spTgt spid="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2"/>
                                        </p:tgtEl>
                                        <p:attrNameLst>
                                          <p:attrName>style.visibility</p:attrName>
                                        </p:attrNameLst>
                                      </p:cBhvr>
                                      <p:to>
                                        <p:strVal val="visible"/>
                                      </p:to>
                                    </p:set>
                                    <p:animEffect filter="fade" transition="in">
                                      <p:cBhvr>
                                        <p:cTn dur="1000"/>
                                        <p:tgtEl>
                                          <p:spTgt spid="3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3"/>
                                        </p:tgtEl>
                                        <p:attrNameLst>
                                          <p:attrName>style.visibility</p:attrName>
                                        </p:attrNameLst>
                                      </p:cBhvr>
                                      <p:to>
                                        <p:strVal val="visible"/>
                                      </p:to>
                                    </p:set>
                                    <p:animEffect filter="fade" transition="in">
                                      <p:cBhvr>
                                        <p:cTn dur="1000"/>
                                        <p:tgtEl>
                                          <p:spTgt spid="3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4"/>
                                        </p:tgtEl>
                                        <p:attrNameLst>
                                          <p:attrName>style.visibility</p:attrName>
                                        </p:attrNameLst>
                                      </p:cBhvr>
                                      <p:to>
                                        <p:strVal val="visible"/>
                                      </p:to>
                                    </p:set>
                                    <p:animEffect filter="fade" transition="in">
                                      <p:cBhvr>
                                        <p:cTn dur="1000"/>
                                        <p:tgtEl>
                                          <p:spTgt spid="3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9"/>
          <p:cNvSpPr txBox="1"/>
          <p:nvPr>
            <p:ph type="title"/>
          </p:nvPr>
        </p:nvSpPr>
        <p:spPr>
          <a:xfrm>
            <a:off x="311700" y="286500"/>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Key Takeaways</a:t>
            </a:r>
            <a:endParaRPr/>
          </a:p>
        </p:txBody>
      </p:sp>
      <p:sp>
        <p:nvSpPr>
          <p:cNvPr id="360" name="Google Shape;360;p49"/>
          <p:cNvSpPr txBox="1"/>
          <p:nvPr>
            <p:ph idx="1" type="body"/>
          </p:nvPr>
        </p:nvSpPr>
        <p:spPr>
          <a:xfrm>
            <a:off x="311700" y="10185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Errors are generally classified as </a:t>
            </a:r>
            <a:r>
              <a:rPr b="1" lang="en"/>
              <a:t>Syntax error and logical error.</a:t>
            </a:r>
            <a:endParaRPr b="1"/>
          </a:p>
          <a:p>
            <a:pPr indent="0" lvl="0" marL="0" rtl="0" algn="l">
              <a:spcBef>
                <a:spcPts val="1600"/>
              </a:spcBef>
              <a:spcAft>
                <a:spcPts val="0"/>
              </a:spcAft>
              <a:buNone/>
            </a:pPr>
            <a:r>
              <a:rPr lang="en"/>
              <a:t>Python raises an exception with the error message when it encounters the mistakes in a program.</a:t>
            </a:r>
            <a:endParaRPr/>
          </a:p>
          <a:p>
            <a:pPr indent="0" lvl="0" marL="0" rtl="0" algn="l">
              <a:spcBef>
                <a:spcPts val="1600"/>
              </a:spcBef>
              <a:spcAft>
                <a:spcPts val="0"/>
              </a:spcAft>
              <a:buNone/>
            </a:pPr>
            <a:r>
              <a:rPr b="1" lang="en"/>
              <a:t>try/catch/finally</a:t>
            </a:r>
            <a:r>
              <a:rPr lang="en"/>
              <a:t> statements are used to handle exceptions.</a:t>
            </a:r>
            <a:endParaRPr/>
          </a:p>
          <a:p>
            <a:pPr indent="0" lvl="0" marL="0" rtl="0" algn="l">
              <a:spcBef>
                <a:spcPts val="1600"/>
              </a:spcBef>
              <a:spcAft>
                <a:spcPts val="0"/>
              </a:spcAft>
              <a:buNone/>
            </a:pPr>
            <a:r>
              <a:rPr b="1" lang="en"/>
              <a:t>r</a:t>
            </a:r>
            <a:r>
              <a:rPr b="1" lang="en"/>
              <a:t>aise</a:t>
            </a:r>
            <a:r>
              <a:rPr lang="en"/>
              <a:t> statement is used to </a:t>
            </a:r>
            <a:r>
              <a:rPr lang="en"/>
              <a:t>explicitly</a:t>
            </a:r>
            <a:r>
              <a:rPr lang="en"/>
              <a:t> raise an exception based on the requirement.</a:t>
            </a:r>
            <a:endParaRPr/>
          </a:p>
          <a:p>
            <a:pPr indent="0" lvl="0" marL="0" rtl="0" algn="l">
              <a:spcBef>
                <a:spcPts val="1600"/>
              </a:spcBef>
              <a:spcAft>
                <a:spcPts val="1600"/>
              </a:spcAft>
              <a:buNone/>
            </a:pPr>
            <a:r>
              <a:rPr b="1" lang="en"/>
              <a:t>Exception handling, assertion, logging module, debugger module,</a:t>
            </a:r>
            <a:r>
              <a:rPr lang="en"/>
              <a:t> etc are used for debugging the program.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0" st="0"/>
                                            </p:txEl>
                                          </p:spTgt>
                                        </p:tgtEl>
                                        <p:attrNameLst>
                                          <p:attrName>style.visibility</p:attrName>
                                        </p:attrNameLst>
                                      </p:cBhvr>
                                      <p:to>
                                        <p:strVal val="visible"/>
                                      </p:to>
                                    </p:set>
                                    <p:animEffect filter="fade" transition="in">
                                      <p:cBhvr>
                                        <p:cTn dur="1000"/>
                                        <p:tgtEl>
                                          <p:spTgt spid="3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1" st="1"/>
                                            </p:txEl>
                                          </p:spTgt>
                                        </p:tgtEl>
                                        <p:attrNameLst>
                                          <p:attrName>style.visibility</p:attrName>
                                        </p:attrNameLst>
                                      </p:cBhvr>
                                      <p:to>
                                        <p:strVal val="visible"/>
                                      </p:to>
                                    </p:set>
                                    <p:animEffect filter="fade" transition="in">
                                      <p:cBhvr>
                                        <p:cTn dur="1000"/>
                                        <p:tgtEl>
                                          <p:spTgt spid="36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2" st="2"/>
                                            </p:txEl>
                                          </p:spTgt>
                                        </p:tgtEl>
                                        <p:attrNameLst>
                                          <p:attrName>style.visibility</p:attrName>
                                        </p:attrNameLst>
                                      </p:cBhvr>
                                      <p:to>
                                        <p:strVal val="visible"/>
                                      </p:to>
                                    </p:set>
                                    <p:animEffect filter="fade" transition="in">
                                      <p:cBhvr>
                                        <p:cTn dur="1000"/>
                                        <p:tgtEl>
                                          <p:spTgt spid="36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3" st="3"/>
                                            </p:txEl>
                                          </p:spTgt>
                                        </p:tgtEl>
                                        <p:attrNameLst>
                                          <p:attrName>style.visibility</p:attrName>
                                        </p:attrNameLst>
                                      </p:cBhvr>
                                      <p:to>
                                        <p:strVal val="visible"/>
                                      </p:to>
                                    </p:set>
                                    <p:animEffect filter="fade" transition="in">
                                      <p:cBhvr>
                                        <p:cTn dur="1000"/>
                                        <p:tgtEl>
                                          <p:spTgt spid="36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xEl>
                                              <p:pRg end="4" st="4"/>
                                            </p:txEl>
                                          </p:spTgt>
                                        </p:tgtEl>
                                        <p:attrNameLst>
                                          <p:attrName>style.visibility</p:attrName>
                                        </p:attrNameLst>
                                      </p:cBhvr>
                                      <p:to>
                                        <p:strVal val="visible"/>
                                      </p:to>
                                    </p:set>
                                    <p:animEffect filter="fade" transition="in">
                                      <p:cBhvr>
                                        <p:cTn dur="1000"/>
                                        <p:tgtEl>
                                          <p:spTgt spid="36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3A3A3A"/>
      </a:dk2>
      <a:lt2>
        <a:srgbClr val="4E4F50"/>
      </a:lt2>
      <a:accent1>
        <a:srgbClr val="2074B9"/>
      </a:accent1>
      <a:accent2>
        <a:srgbClr val="58A4E2"/>
      </a:accent2>
      <a:accent3>
        <a:srgbClr val="2EBFCA"/>
      </a:accent3>
      <a:accent4>
        <a:srgbClr val="FDBA4D"/>
      </a:accent4>
      <a:accent5>
        <a:srgbClr val="8BB762"/>
      </a:accent5>
      <a:accent6>
        <a:srgbClr val="E85B5B"/>
      </a:accent6>
      <a:hlink>
        <a:srgbClr val="2071B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