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5143500" cx="9144000"/>
  <p:notesSz cx="6858000" cy="9144000"/>
  <p:embeddedFontLst>
    <p:embeddedFont>
      <p:font typeface="Roboto"/>
      <p:regular r:id="rId36"/>
      <p:bold r:id="rId37"/>
      <p:italic r:id="rId38"/>
      <p:boldItalic r:id="rId39"/>
    </p:embeddedFont>
    <p:embeddedFont>
      <p:font typeface="Montserrat"/>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Deleted user"/>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79CA92D-E91C-4AF9-BA6C-B29E1A8C6FB0}">
  <a:tblStyle styleId="{A79CA92D-E91C-4AF9-BA6C-B29E1A8C6FB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Montserrat-regular.fntdata"/><Relationship Id="rId20" Type="http://schemas.openxmlformats.org/officeDocument/2006/relationships/slide" Target="slides/slide14.xml"/><Relationship Id="rId42" Type="http://schemas.openxmlformats.org/officeDocument/2006/relationships/font" Target="fonts/Montserrat-italic.fntdata"/><Relationship Id="rId41" Type="http://schemas.openxmlformats.org/officeDocument/2006/relationships/font" Target="fonts/Montserrat-bold.fntdata"/><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Montserrat-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Roboto-bold.fntdata"/><Relationship Id="rId14" Type="http://schemas.openxmlformats.org/officeDocument/2006/relationships/slide" Target="slides/slide8.xml"/><Relationship Id="rId36" Type="http://schemas.openxmlformats.org/officeDocument/2006/relationships/font" Target="fonts/Roboto-regular.fntdata"/><Relationship Id="rId17" Type="http://schemas.openxmlformats.org/officeDocument/2006/relationships/slide" Target="slides/slide11.xml"/><Relationship Id="rId39" Type="http://schemas.openxmlformats.org/officeDocument/2006/relationships/font" Target="fonts/Roboto-boldItalic.fntdata"/><Relationship Id="rId16" Type="http://schemas.openxmlformats.org/officeDocument/2006/relationships/slide" Target="slides/slide10.xml"/><Relationship Id="rId38" Type="http://schemas.openxmlformats.org/officeDocument/2006/relationships/font" Target="fonts/Roboto-italic.fntdata"/><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1-03-15T08:46:07.469">
    <p:pos x="6000" y="0"/>
    <p:text>visualization for next() method if possible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1-03-15T08:46:44.315">
    <p:pos x="6000" y="0"/>
    <p:text>add visualization</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 and welcome to this unit on Functional programming. In this unit we’ll dive into the concepts of higher order functions, list and dictionary comprehension, iterator and generator.</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b9ce9180a6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b9ce9180a6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begin with a brief introduction first class function and pure function.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ba8c8d554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ba8c8d55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you might already know, an object i</a:t>
            </a:r>
            <a:r>
              <a:rPr lang="en" sz="1200">
                <a:solidFill>
                  <a:srgbClr val="212121"/>
                </a:solidFill>
                <a:highlight>
                  <a:srgbClr val="FFFFFF"/>
                </a:highlight>
                <a:latin typeface="Roboto"/>
                <a:ea typeface="Roboto"/>
                <a:cs typeface="Roboto"/>
                <a:sym typeface="Roboto"/>
              </a:rPr>
              <a:t>s a data type defined by the user. Surprisingly, in python, everything is an object. </a:t>
            </a:r>
            <a:r>
              <a:rPr lang="en" sz="1200">
                <a:solidFill>
                  <a:srgbClr val="212121"/>
                </a:solidFill>
                <a:highlight>
                  <a:srgbClr val="FFFFFF"/>
                </a:highlight>
                <a:latin typeface="Roboto"/>
                <a:ea typeface="Roboto"/>
                <a:cs typeface="Roboto"/>
                <a:sym typeface="Roboto"/>
              </a:rPr>
              <a:t>Every object is associated with a class. In python we can use the type() method to check the underlying class of an object.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Click</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For example, in the figure above, a is an integer. On checking its type we see that it is an object of the int class.</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Click</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Similarly, the user defined function sum is also an object of the class function</a:t>
            </a:r>
            <a:endParaRPr sz="1200">
              <a:solidFill>
                <a:srgbClr val="212121"/>
              </a:solidFill>
              <a:highlight>
                <a:srgbClr val="FFFFFF"/>
              </a:highlight>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ba8c8d554e_0_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ba8c8d554e_0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Since, python treats function as an object, function in python are called first class functions. First class functions are those functions that are treated like any other variables. Due to this nature, functions in python can be,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Click</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Created at runtime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Click</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Assigned to a variable or element in a data structure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Click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Passed as an argument to the function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Click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Returned as a result of the function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c525373ef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c525373ef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move on to another important concept in python, pure function. A function is said to be a pure function if it doesn't have any side effects.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Click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For a given input or arguments, a pure function always returns the same output if the input remains unchanged</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Click</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A pure function doesn't change the value of input or data that exists outside the function's scope.</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c8558bbd7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c8558bbd7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Let's define a function named square that takes a list of numbers as input and returns the square of each number as output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verify that the above function is a pure function, let's create a list and print its elements before passing it to the function</a:t>
            </a:r>
            <a:endParaRPr/>
          </a:p>
          <a:p>
            <a:pPr indent="0" lvl="0" marL="0" rtl="0" algn="l">
              <a:spcBef>
                <a:spcPts val="0"/>
              </a:spcBef>
              <a:spcAft>
                <a:spcPts val="0"/>
              </a:spcAft>
              <a:buNone/>
            </a:pPr>
            <a:r>
              <a:t/>
            </a:r>
            <a:endParaRPr/>
          </a:p>
          <a:p>
            <a:pPr indent="0" lvl="0" marL="0" rtl="0" algn="l">
              <a:lnSpc>
                <a:spcPct val="135714"/>
              </a:lnSpc>
              <a:spcBef>
                <a:spcPts val="0"/>
              </a:spcBef>
              <a:spcAft>
                <a:spcPts val="0"/>
              </a:spcAft>
              <a:buNone/>
            </a:pPr>
            <a:r>
              <a:rPr lang="en" sz="1050">
                <a:solidFill>
                  <a:schemeClr val="dk1"/>
                </a:solidFill>
                <a:highlight>
                  <a:srgbClr val="FFFFFE"/>
                </a:highlight>
                <a:latin typeface="Courier New"/>
                <a:ea typeface="Courier New"/>
                <a:cs typeface="Courier New"/>
                <a:sym typeface="Courier New"/>
              </a:rPr>
              <a:t>original_list = [</a:t>
            </a:r>
            <a:r>
              <a:rPr lang="en" sz="1050">
                <a:solidFill>
                  <a:srgbClr val="09885A"/>
                </a:solidFill>
                <a:highlight>
                  <a:srgbClr val="FFFFFE"/>
                </a:highlight>
                <a:latin typeface="Courier New"/>
                <a:ea typeface="Courier New"/>
                <a:cs typeface="Courier New"/>
                <a:sym typeface="Courier New"/>
              </a:rPr>
              <a:t>1</a:t>
            </a:r>
            <a:r>
              <a:rPr lang="en" sz="1050">
                <a:solidFill>
                  <a:schemeClr val="dk1"/>
                </a:solidFill>
                <a:highlight>
                  <a:srgbClr val="FFFFFE"/>
                </a:highlight>
                <a:latin typeface="Courier New"/>
                <a:ea typeface="Courier New"/>
                <a:cs typeface="Courier New"/>
                <a:sym typeface="Courier New"/>
              </a:rPr>
              <a:t>, </a:t>
            </a:r>
            <a:r>
              <a:rPr lang="en" sz="1050">
                <a:solidFill>
                  <a:srgbClr val="09885A"/>
                </a:solidFill>
                <a:highlight>
                  <a:srgbClr val="FFFFFE"/>
                </a:highlight>
                <a:latin typeface="Courier New"/>
                <a:ea typeface="Courier New"/>
                <a:cs typeface="Courier New"/>
                <a:sym typeface="Courier New"/>
              </a:rPr>
              <a:t>4</a:t>
            </a:r>
            <a:r>
              <a:rPr lang="en" sz="1050">
                <a:solidFill>
                  <a:schemeClr val="dk1"/>
                </a:solidFill>
                <a:highlight>
                  <a:srgbClr val="FFFFFE"/>
                </a:highlight>
                <a:latin typeface="Courier New"/>
                <a:ea typeface="Courier New"/>
                <a:cs typeface="Courier New"/>
                <a:sym typeface="Courier New"/>
              </a:rPr>
              <a:t>, </a:t>
            </a:r>
            <a:r>
              <a:rPr lang="en" sz="1050">
                <a:solidFill>
                  <a:srgbClr val="09885A"/>
                </a:solidFill>
                <a:highlight>
                  <a:srgbClr val="FFFFFE"/>
                </a:highlight>
                <a:latin typeface="Courier New"/>
                <a:ea typeface="Courier New"/>
                <a:cs typeface="Courier New"/>
                <a:sym typeface="Courier New"/>
              </a:rPr>
              <a:t>7</a:t>
            </a:r>
            <a:r>
              <a:rPr lang="en" sz="1050">
                <a:solidFill>
                  <a:schemeClr val="dk1"/>
                </a:solidFill>
                <a:highlight>
                  <a:srgbClr val="FFFFFE"/>
                </a:highlight>
                <a:latin typeface="Courier New"/>
                <a:ea typeface="Courier New"/>
                <a:cs typeface="Courier New"/>
                <a:sym typeface="Courier New"/>
              </a:rPr>
              <a:t>]</a:t>
            </a:r>
            <a:endParaRPr sz="105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rPr lang="en"/>
              <a:t>Print inside parentheses original_list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let's pass the original_list to the square() function and store the result in the squared variable</a:t>
            </a:r>
            <a:endParaRPr/>
          </a:p>
          <a:p>
            <a:pPr indent="0" lvl="0" marL="0" rtl="0" algn="l">
              <a:lnSpc>
                <a:spcPct val="135714"/>
              </a:lnSpc>
              <a:spcBef>
                <a:spcPts val="0"/>
              </a:spcBef>
              <a:spcAft>
                <a:spcPts val="0"/>
              </a:spcAft>
              <a:buNone/>
            </a:pPr>
            <a:r>
              <a:rPr lang="en" sz="1050">
                <a:solidFill>
                  <a:schemeClr val="dk1"/>
                </a:solidFill>
                <a:highlight>
                  <a:srgbClr val="FFFFFE"/>
                </a:highlight>
                <a:latin typeface="Courier New"/>
                <a:ea typeface="Courier New"/>
                <a:cs typeface="Courier New"/>
                <a:sym typeface="Courier New"/>
              </a:rPr>
              <a:t>squared = square inside parentheses original_list</a:t>
            </a:r>
            <a:endParaRPr sz="1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highlight>
                  <a:srgbClr val="FFFFFE"/>
                </a:highlight>
                <a:latin typeface="Courier New"/>
                <a:ea typeface="Courier New"/>
                <a:cs typeface="Courier New"/>
                <a:sym typeface="Courier New"/>
              </a:rPr>
              <a:t>Print inside parentheses squared</a:t>
            </a:r>
            <a:endParaRPr sz="1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a:highlight>
                  <a:srgbClr val="FFFFFE"/>
                </a:highlight>
              </a:rPr>
              <a:t>We see that the squared variable now has a new list which contains square of each element in the previous list</a:t>
            </a:r>
            <a:endParaRPr>
              <a:highlight>
                <a:srgbClr val="FFFFFE"/>
              </a:highlight>
            </a:endParaRPr>
          </a:p>
          <a:p>
            <a:pPr indent="0" lvl="0" marL="0" rtl="0" algn="l">
              <a:lnSpc>
                <a:spcPct val="135714"/>
              </a:lnSpc>
              <a:spcBef>
                <a:spcPts val="0"/>
              </a:spcBef>
              <a:spcAft>
                <a:spcPts val="0"/>
              </a:spcAft>
              <a:buNone/>
            </a:pPr>
            <a:r>
              <a:t/>
            </a:r>
            <a:endParaRPr sz="1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a:solidFill>
                  <a:schemeClr val="dk1"/>
                </a:solidFill>
                <a:highlight>
                  <a:srgbClr val="FFFFFE"/>
                </a:highlight>
              </a:rPr>
              <a:t> Let's check the elements of the original list after function execution</a:t>
            </a:r>
            <a:endParaRPr>
              <a:solidFill>
                <a:schemeClr val="dk1"/>
              </a:solidFill>
              <a:highlight>
                <a:srgbClr val="FFFFFE"/>
              </a:highlight>
            </a:endParaRPr>
          </a:p>
          <a:p>
            <a:pPr indent="0" lvl="0" marL="0" rtl="0" algn="l">
              <a:lnSpc>
                <a:spcPct val="135714"/>
              </a:lnSpc>
              <a:spcBef>
                <a:spcPts val="0"/>
              </a:spcBef>
              <a:spcAft>
                <a:spcPts val="0"/>
              </a:spcAft>
              <a:buNone/>
            </a:pPr>
            <a:r>
              <a:rPr lang="en">
                <a:solidFill>
                  <a:schemeClr val="dk1"/>
                </a:solidFill>
                <a:highlight>
                  <a:srgbClr val="FFFFFE"/>
                </a:highlight>
              </a:rPr>
              <a:t>Print inside parentheses original list</a:t>
            </a:r>
            <a:endParaRPr>
              <a:solidFill>
                <a:schemeClr val="dk1"/>
              </a:solidFill>
              <a:highlight>
                <a:srgbClr val="FFFFFE"/>
              </a:highlight>
            </a:endParaRPr>
          </a:p>
          <a:p>
            <a:pPr indent="0" lvl="0" marL="0" rtl="0" algn="l">
              <a:lnSpc>
                <a:spcPct val="135714"/>
              </a:lnSpc>
              <a:spcBef>
                <a:spcPts val="0"/>
              </a:spcBef>
              <a:spcAft>
                <a:spcPts val="0"/>
              </a:spcAft>
              <a:buNone/>
            </a:pPr>
            <a:r>
              <a:t/>
            </a:r>
            <a:endParaRPr>
              <a:solidFill>
                <a:schemeClr val="dk1"/>
              </a:solidFill>
              <a:highlight>
                <a:srgbClr val="FFFFFE"/>
              </a:highlight>
            </a:endParaRPr>
          </a:p>
          <a:p>
            <a:pPr indent="0" lvl="0" marL="0" rtl="0" algn="l">
              <a:lnSpc>
                <a:spcPct val="135714"/>
              </a:lnSpc>
              <a:spcBef>
                <a:spcPts val="0"/>
              </a:spcBef>
              <a:spcAft>
                <a:spcPts val="0"/>
              </a:spcAft>
              <a:buNone/>
            </a:pPr>
            <a:r>
              <a:rPr lang="en">
                <a:solidFill>
                  <a:schemeClr val="dk1"/>
                </a:solidFill>
                <a:highlight>
                  <a:srgbClr val="FFFFFE"/>
                </a:highlight>
              </a:rPr>
              <a:t>We see that the elements of the original list haven't changed. Hence the above square function is a pure function.</a:t>
            </a:r>
            <a:endParaRPr>
              <a:solidFill>
                <a:schemeClr val="dk1"/>
              </a:solidFill>
              <a:highlight>
                <a:srgbClr val="FFFFFE"/>
              </a:highlight>
            </a:endParaRPr>
          </a:p>
          <a:p>
            <a:pPr indent="0" lvl="0" marL="0" rtl="0" algn="l">
              <a:spcBef>
                <a:spcPts val="0"/>
              </a:spcBef>
              <a:spcAft>
                <a:spcPts val="0"/>
              </a:spcAft>
              <a:buNone/>
            </a:pPr>
            <a:r>
              <a:rPr lang="en"/>
              <a:t> It is also noteworthy that the output of pure function depends entirely upon the input. If the input doesn't change the output doesn't change either.</a:t>
            </a:r>
            <a:endParaRPr/>
          </a:p>
          <a:p>
            <a:pPr indent="0" lvl="0" marL="0" rtl="0" algn="l">
              <a:spcBef>
                <a:spcPts val="0"/>
              </a:spcBef>
              <a:spcAft>
                <a:spcPts val="0"/>
              </a:spcAft>
              <a:buNone/>
            </a:pPr>
            <a:r>
              <a:rPr lang="en"/>
              <a:t> Let's verify this by creating a new list with the same element and printing the output from the square function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list2 = [1, 4, 7]</a:t>
            </a:r>
            <a:endParaRPr/>
          </a:p>
          <a:p>
            <a:pPr indent="0" lvl="0" marL="0" rtl="0" algn="l">
              <a:spcBef>
                <a:spcPts val="0"/>
              </a:spcBef>
              <a:spcAft>
                <a:spcPts val="0"/>
              </a:spcAft>
              <a:buNone/>
            </a:pPr>
            <a:r>
              <a:rPr lang="en"/>
              <a:t>list2_squared = square and inside parentheses list2</a:t>
            </a:r>
            <a:endParaRPr/>
          </a:p>
          <a:p>
            <a:pPr indent="0" lvl="0" marL="0" rtl="0" algn="l">
              <a:spcBef>
                <a:spcPts val="0"/>
              </a:spcBef>
              <a:spcAft>
                <a:spcPts val="0"/>
              </a:spcAft>
              <a:buNone/>
            </a:pPr>
            <a:r>
              <a:rPr lang="en"/>
              <a:t>Print inside parentheses list2_squared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 expected there is no change in the output. Hence the above function is a pure function.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c44b81931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c44b81931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 and welcome back. In this video we will discuss higher order functions.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bad04a3268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bad04a3268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A function that takes function as an argument or returns a function as the result is called a higher order function.</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Here, func A takes a function as argument and hence is a higher order function</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Click</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Similarly, func B returns a function as the output and hence is a higher order function</a:t>
            </a:r>
            <a:endParaRPr sz="1200">
              <a:solidFill>
                <a:srgbClr val="212121"/>
              </a:solidFill>
              <a:highlight>
                <a:srgbClr val="FFFFFF"/>
              </a:highlight>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c44b81931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c44b81931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Map, filter, and reduce are some common higher order </a:t>
            </a:r>
            <a:r>
              <a:rPr lang="en"/>
              <a:t>function</a:t>
            </a:r>
            <a:r>
              <a:rPr lang="en"/>
              <a:t> available in python.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Click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functions take an iterable and a function as an input and return an iterable as the output. Let’s discuss in brief how each of these functions work starting with the map function.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bad04a3268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bad04a3268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map function takes two arguments: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A function, and</a:t>
            </a:r>
            <a:endParaRPr/>
          </a:p>
          <a:p>
            <a:pPr indent="0" lvl="0" marL="0" rtl="0" algn="l">
              <a:spcBef>
                <a:spcPts val="0"/>
              </a:spcBef>
              <a:spcAft>
                <a:spcPts val="0"/>
              </a:spcAft>
              <a:buNone/>
            </a:pPr>
            <a:r>
              <a:rPr lang="en"/>
              <a:t>An iterable. It applies </a:t>
            </a:r>
            <a:r>
              <a:rPr lang="en" sz="1200">
                <a:solidFill>
                  <a:srgbClr val="212121"/>
                </a:solidFill>
                <a:highlight>
                  <a:srgbClr val="FFFFFF"/>
                </a:highlight>
                <a:latin typeface="Roboto"/>
                <a:ea typeface="Roboto"/>
                <a:cs typeface="Roboto"/>
                <a:sym typeface="Roboto"/>
              </a:rPr>
              <a:t>the function to each element of the iterable and returns an iterable.</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121"/>
              </a:solidFill>
              <a:highlight>
                <a:srgbClr val="FFFFFF"/>
              </a:highlight>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c525373ef0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c525373ef0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say we have a function to compute factorial of a number and a list of numbers from 1 to 10.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Click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we pass the function and the list to the map function, the map function applies the factorial function to each element of the list and returns the result.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Click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we look at the result, we will find that it contains factorial of all numbers from 1 to 10</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c525373ef0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c525373ef0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Like map function, the filter function takes a function and an iterable as the input and applies the function to each element of the iterable.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Click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But, unlike map function, the function provided as input to the filter function should return true or false for each element of the iterable. The final output is then an iterable that contains all the elements for which the function returned true.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c525373ef0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c525373ef0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look at an example. The filter odd function returns true for odd number and false for the even numbers.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Click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we pass numbers from 1 to 10 and the filter odd function to the filter function,</a:t>
            </a:r>
            <a:endParaRPr/>
          </a:p>
          <a:p>
            <a:pPr indent="0" lvl="0" marL="0" rtl="0" algn="l">
              <a:spcBef>
                <a:spcPts val="0"/>
              </a:spcBef>
              <a:spcAft>
                <a:spcPts val="0"/>
              </a:spcAft>
              <a:buNone/>
            </a:pPr>
            <a:r>
              <a:rPr lang="en"/>
              <a:t>Click</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the filter function will filter the list and only return odd numbers.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c525373ef0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c525373ef0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Finally, let’s discuss the reduce </a:t>
            </a:r>
            <a:r>
              <a:rPr lang="en"/>
              <a:t>function</a:t>
            </a:r>
            <a:r>
              <a:rPr lang="en"/>
              <a:t>. Like the previous functions it takes a function and an iterable as input. The reduce </a:t>
            </a:r>
            <a:r>
              <a:rPr lang="en"/>
              <a:t>function</a:t>
            </a:r>
            <a:r>
              <a:rPr lang="en"/>
              <a:t> iteratively applies the input function to two elements of an iterable and reduces it to a single value.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c44b44d33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c44b44d33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look at an example.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Click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use the reduce </a:t>
            </a:r>
            <a:r>
              <a:rPr lang="en"/>
              <a:t>function</a:t>
            </a:r>
            <a:r>
              <a:rPr lang="en"/>
              <a:t> we need to import it from the functools module. </a:t>
            </a:r>
            <a:endParaRPr/>
          </a:p>
          <a:p>
            <a:pPr indent="0" lvl="0" marL="0" rtl="0" algn="l">
              <a:spcBef>
                <a:spcPts val="0"/>
              </a:spcBef>
              <a:spcAft>
                <a:spcPts val="0"/>
              </a:spcAft>
              <a:buNone/>
            </a:pPr>
            <a:r>
              <a:rPr lang="en"/>
              <a:t>Click</a:t>
            </a:r>
            <a:endParaRPr/>
          </a:p>
          <a:p>
            <a:pPr indent="0" lvl="0" marL="0" rtl="0" algn="l">
              <a:spcBef>
                <a:spcPts val="0"/>
              </a:spcBef>
              <a:spcAft>
                <a:spcPts val="0"/>
              </a:spcAft>
              <a:buNone/>
            </a:pPr>
            <a:r>
              <a:rPr lang="en"/>
              <a:t>The get_product function takes two arguments as input and returns their product.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Click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we pass a list of number and the get_product function to the reduce function, the reduce function iteratively computes product of all elements in the list and returns the result.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Click</a:t>
            </a:r>
            <a:endParaRPr/>
          </a:p>
          <a:p>
            <a:pPr indent="0" lvl="0" marL="0" rtl="0" algn="l">
              <a:spcBef>
                <a:spcPts val="0"/>
              </a:spcBef>
              <a:spcAft>
                <a:spcPts val="0"/>
              </a:spcAft>
              <a:buNone/>
            </a:pPr>
            <a:r>
              <a:rPr lang="en"/>
              <a:t>In our case, we get 24 as the final result.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c8558bbd7b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c8558bbd7b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 higher order function either takes another function as an argument or returns another function as output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Let's define a higher order function, operation that takes a function and a list of items as arguments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def operation and inside parentheses func comma args colon</a:t>
            </a:r>
            <a:endParaRPr/>
          </a:p>
          <a:p>
            <a:pPr indent="0" lvl="0" marL="0" rtl="0" algn="l">
              <a:spcBef>
                <a:spcPts val="0"/>
              </a:spcBef>
              <a:spcAft>
                <a:spcPts val="0"/>
              </a:spcAft>
              <a:buNone/>
            </a:pPr>
            <a:r>
              <a:rPr lang="en"/>
              <a:t>  You can then call the function with the passed arguments</a:t>
            </a:r>
            <a:endParaRPr/>
          </a:p>
          <a:p>
            <a:pPr indent="0" lvl="0" marL="0" rtl="0" algn="l">
              <a:spcBef>
                <a:spcPts val="0"/>
              </a:spcBef>
              <a:spcAft>
                <a:spcPts val="0"/>
              </a:spcAft>
              <a:buNone/>
            </a:pPr>
            <a:r>
              <a:rPr lang="en"/>
              <a:t>  result equals  func and inside parenthesis args</a:t>
            </a:r>
            <a:endParaRPr/>
          </a:p>
          <a:p>
            <a:pPr indent="0" lvl="0" marL="0" rtl="0" algn="l">
              <a:spcBef>
                <a:spcPts val="0"/>
              </a:spcBef>
              <a:spcAft>
                <a:spcPts val="0"/>
              </a:spcAft>
              <a:buNone/>
            </a:pPr>
            <a:r>
              <a:rPr lang="en"/>
              <a:t>  return result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Let's check the result of the operation by Passing the built in sum function and a list of elements as input</a:t>
            </a:r>
            <a:endParaRPr/>
          </a:p>
          <a:p>
            <a:pPr indent="0" lvl="0" marL="0" rtl="0" algn="l">
              <a:spcBef>
                <a:spcPts val="0"/>
              </a:spcBef>
              <a:spcAft>
                <a:spcPts val="0"/>
              </a:spcAft>
              <a:buNone/>
            </a:pPr>
            <a:r>
              <a:rPr lang="en"/>
              <a:t>Print inside parentheses operation inside parenthesis sum comma and inside brackets 1,2,3 ,4, 5</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Let's define two function compute sum and compute product that compute sum and product of two elements respectively</a:t>
            </a:r>
            <a:endParaRPr/>
          </a:p>
          <a:p>
            <a:pPr indent="0" lvl="0" marL="0" rtl="0" algn="l">
              <a:spcBef>
                <a:spcPts val="0"/>
              </a:spcBef>
              <a:spcAft>
                <a:spcPts val="0"/>
              </a:spcAft>
              <a:buNone/>
            </a:pPr>
            <a:r>
              <a:rPr lang="en"/>
              <a:t>def compute_sum inside parentheses num1, num2 colon</a:t>
            </a:r>
            <a:endParaRPr/>
          </a:p>
          <a:p>
            <a:pPr indent="0" lvl="0" marL="0" rtl="0" algn="l">
              <a:spcBef>
                <a:spcPts val="0"/>
              </a:spcBef>
              <a:spcAft>
                <a:spcPts val="0"/>
              </a:spcAft>
              <a:buNone/>
            </a:pPr>
            <a:r>
              <a:rPr lang="en"/>
              <a:t>  return num1 + num2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def compute_product </a:t>
            </a:r>
            <a:r>
              <a:rPr lang="en">
                <a:solidFill>
                  <a:schemeClr val="dk1"/>
                </a:solidFill>
              </a:rPr>
              <a:t>inside parentheses </a:t>
            </a:r>
            <a:r>
              <a:rPr lang="en"/>
              <a:t>num1, num2 colon</a:t>
            </a:r>
            <a:endParaRPr/>
          </a:p>
          <a:p>
            <a:pPr indent="0" lvl="0" marL="0" rtl="0" algn="l">
              <a:spcBef>
                <a:spcPts val="0"/>
              </a:spcBef>
              <a:spcAft>
                <a:spcPts val="0"/>
              </a:spcAft>
              <a:buNone/>
            </a:pPr>
            <a:r>
              <a:rPr lang="en"/>
              <a:t>  return num1 * num2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Let's define a higher order function that takes operation name as input and returns the compute_sum function if operation name is</a:t>
            </a:r>
            <a:endParaRPr/>
          </a:p>
          <a:p>
            <a:pPr indent="0" lvl="0" marL="0" rtl="0" algn="l">
              <a:spcBef>
                <a:spcPts val="0"/>
              </a:spcBef>
              <a:spcAft>
                <a:spcPts val="0"/>
              </a:spcAft>
              <a:buNone/>
            </a:pPr>
            <a:r>
              <a:rPr lang="en"/>
              <a:t>sum and returns compute_product function if the operation name is product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def get_operation </a:t>
            </a:r>
            <a:r>
              <a:rPr lang="en">
                <a:solidFill>
                  <a:schemeClr val="dk1"/>
                </a:solidFill>
              </a:rPr>
              <a:t>inside parentheses </a:t>
            </a:r>
            <a:r>
              <a:rPr lang="en"/>
              <a:t>operation_name colon </a:t>
            </a:r>
            <a:endParaRPr/>
          </a:p>
          <a:p>
            <a:pPr indent="0" lvl="0" marL="0" rtl="0" algn="l">
              <a:spcBef>
                <a:spcPts val="0"/>
              </a:spcBef>
              <a:spcAft>
                <a:spcPts val="0"/>
              </a:spcAft>
              <a:buNone/>
            </a:pPr>
            <a:r>
              <a:rPr lang="en"/>
              <a:t> if operation_name == 'sum':</a:t>
            </a:r>
            <a:endParaRPr/>
          </a:p>
          <a:p>
            <a:pPr indent="0" lvl="0" marL="0" rtl="0" algn="l">
              <a:spcBef>
                <a:spcPts val="0"/>
              </a:spcBef>
              <a:spcAft>
                <a:spcPts val="0"/>
              </a:spcAft>
              <a:buNone/>
            </a:pPr>
            <a:r>
              <a:rPr lang="en"/>
              <a:t>    return compute_sum</a:t>
            </a:r>
            <a:endParaRPr/>
          </a:p>
          <a:p>
            <a:pPr indent="0" lvl="0" marL="0" rtl="0" algn="l">
              <a:spcBef>
                <a:spcPts val="0"/>
              </a:spcBef>
              <a:spcAft>
                <a:spcPts val="0"/>
              </a:spcAft>
              <a:buNone/>
            </a:pPr>
            <a:r>
              <a:rPr lang="en"/>
              <a:t>  elif operation_name == 'product':</a:t>
            </a:r>
            <a:endParaRPr/>
          </a:p>
          <a:p>
            <a:pPr indent="0" lvl="0" marL="0" rtl="0" algn="l">
              <a:spcBef>
                <a:spcPts val="0"/>
              </a:spcBef>
              <a:spcAft>
                <a:spcPts val="0"/>
              </a:spcAft>
              <a:buNone/>
            </a:pPr>
            <a:r>
              <a:rPr lang="en"/>
              <a:t>    return compute_product</a:t>
            </a:r>
            <a:endParaRPr/>
          </a:p>
          <a:p>
            <a:pPr indent="0" lvl="0" marL="0" rtl="0" algn="l">
              <a:spcBef>
                <a:spcPts val="0"/>
              </a:spcBef>
              <a:spcAft>
                <a:spcPts val="0"/>
              </a:spcAft>
              <a:buNone/>
            </a:pPr>
            <a:r>
              <a:rPr lang="en"/>
              <a:t>  else:</a:t>
            </a:r>
            <a:endParaRPr/>
          </a:p>
          <a:p>
            <a:pPr indent="0" lvl="0" marL="0" rtl="0" algn="l">
              <a:spcBef>
                <a:spcPts val="0"/>
              </a:spcBef>
              <a:spcAft>
                <a:spcPts val="0"/>
              </a:spcAft>
              <a:buNone/>
            </a:pPr>
            <a:r>
              <a:rPr lang="en"/>
              <a:t>    print("The operation doesn't exist")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we can call the get_operation method by passing  sum to get the function that can add 2 elements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add = get_operation </a:t>
            </a:r>
            <a:r>
              <a:rPr lang="en"/>
              <a:t>inside</a:t>
            </a:r>
            <a:r>
              <a:rPr lang="en"/>
              <a:t> parentheses, sum enclosed within single quotes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We can pass 2 elements to the add function to print their sum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Add inside parentheses 5 comma 7 and run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Similarly, we can call the get_operation method by passing  product to get the function that can multiply 2 elements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product = get_operation inside parentheses 'product' enclosed within single quotes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pass 2 elements to the product function to print their product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Product inside parentheses 5 comma 7 and run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try out the map method let's create a recursive function to compute the factorial of a number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def factorial inside parentheses n:</a:t>
            </a:r>
            <a:endParaRPr/>
          </a:p>
          <a:p>
            <a:pPr indent="0" lvl="0" marL="0" rtl="0" algn="l">
              <a:spcBef>
                <a:spcPts val="0"/>
              </a:spcBef>
              <a:spcAft>
                <a:spcPts val="0"/>
              </a:spcAft>
              <a:buNone/>
            </a:pPr>
            <a:r>
              <a:rPr lang="en"/>
              <a:t>  return 1 if n &lt; 2 else n * factorial(n-1)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lets create a list of numbers from 0 to 9 using the range method</a:t>
            </a:r>
            <a:endParaRPr/>
          </a:p>
          <a:p>
            <a:pPr indent="0" lvl="0" marL="0" rtl="0" algn="l">
              <a:spcBef>
                <a:spcPts val="0"/>
              </a:spcBef>
              <a:spcAft>
                <a:spcPts val="0"/>
              </a:spcAft>
              <a:buNone/>
            </a:pPr>
            <a:r>
              <a:rPr lang="en"/>
              <a:t>numbers = range inside parentheses 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Let's use the map method to compute factorial of each of the number. We will store the result in mapped_items</a:t>
            </a:r>
            <a:endParaRPr/>
          </a:p>
          <a:p>
            <a:pPr indent="0" lvl="0" marL="0" rtl="0" algn="l">
              <a:spcBef>
                <a:spcPts val="0"/>
              </a:spcBef>
              <a:spcAft>
                <a:spcPts val="0"/>
              </a:spcAft>
              <a:buNone/>
            </a:pPr>
            <a:r>
              <a:rPr lang="en"/>
              <a:t>Mapped </a:t>
            </a:r>
            <a:r>
              <a:rPr lang="en">
                <a:solidFill>
                  <a:schemeClr val="dk1"/>
                </a:solidFill>
              </a:rPr>
              <a:t>underscore </a:t>
            </a:r>
            <a:r>
              <a:rPr lang="en"/>
              <a:t>items = map inside parentheses factorial comma numbers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mapped items is a map object, so let's change it into a list and print its value</a:t>
            </a:r>
            <a:endParaRPr/>
          </a:p>
          <a:p>
            <a:pPr indent="0" lvl="0" marL="0" rtl="0" algn="l">
              <a:spcBef>
                <a:spcPts val="0"/>
              </a:spcBef>
              <a:spcAft>
                <a:spcPts val="0"/>
              </a:spcAft>
              <a:buNone/>
            </a:pPr>
            <a:r>
              <a:rPr lang="en"/>
              <a:t>Print inside parentheses mapped underscore items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above factorial function takes only one argument but if we have a function that can take more than one argument then we can pass more than one iterable to the map method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let's create a function named conctenate_string that takes two strings and concatenates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def concatenate_string inside </a:t>
            </a:r>
            <a:r>
              <a:rPr lang="en"/>
              <a:t>parentheses</a:t>
            </a:r>
            <a:r>
              <a:rPr lang="en"/>
              <a:t> a comma b colon</a:t>
            </a:r>
            <a:endParaRPr/>
          </a:p>
          <a:p>
            <a:pPr indent="0" lvl="0" marL="0" rtl="0" algn="l">
              <a:spcBef>
                <a:spcPts val="0"/>
              </a:spcBef>
              <a:spcAft>
                <a:spcPts val="0"/>
              </a:spcAft>
              <a:buNone/>
            </a:pPr>
            <a:r>
              <a:rPr lang="en"/>
              <a:t>  return a + b</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we can pass two separate list of strings along with the concatenate_string function to the map function.</a:t>
            </a:r>
            <a:endParaRPr/>
          </a:p>
          <a:p>
            <a:pPr indent="0" lvl="0" marL="0" rtl="0" algn="l">
              <a:spcBef>
                <a:spcPts val="0"/>
              </a:spcBef>
              <a:spcAft>
                <a:spcPts val="0"/>
              </a:spcAft>
              <a:buNone/>
            </a:pPr>
            <a:r>
              <a:rPr lang="en"/>
              <a:t>x = map inside parenthesis concatenate_string comma  list containing the strings 'apple', 'banana', 'cherry' comma list containing strings 'orange', 'lemon', 'pineapple'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print("The concatenated strings are braces"  dot format inside parentheses list inside parentheses x</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 expected the map method correctly concatenates corresponding elements of the two lists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try out the filter method let's create a function that returns true if the number is odd and false if the number is even.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lets create a list of numbers from 0 to 9 using the range method</a:t>
            </a:r>
            <a:endParaRPr/>
          </a:p>
          <a:p>
            <a:pPr indent="0" lvl="0" marL="0" rtl="0" algn="l">
              <a:spcBef>
                <a:spcPts val="0"/>
              </a:spcBef>
              <a:spcAft>
                <a:spcPts val="0"/>
              </a:spcAft>
              <a:buNone/>
            </a:pPr>
            <a:r>
              <a:rPr lang="en"/>
              <a:t>numbers = range inside parentheses 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Let's use the filter method to filter only odd numbers by removing any even numbers.</a:t>
            </a:r>
            <a:endParaRPr/>
          </a:p>
          <a:p>
            <a:pPr indent="0" lvl="0" marL="0" rtl="0" algn="l">
              <a:spcBef>
                <a:spcPts val="0"/>
              </a:spcBef>
              <a:spcAft>
                <a:spcPts val="0"/>
              </a:spcAft>
              <a:buNone/>
            </a:pPr>
            <a:r>
              <a:rPr lang="en"/>
              <a:t>Odd underscore numbers = filter inside parentheses filter underscore odd, numbers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Print inside parenthesis list inside parentheses odd </a:t>
            </a:r>
            <a:r>
              <a:rPr lang="en"/>
              <a:t>underscore</a:t>
            </a:r>
            <a:r>
              <a:rPr lang="en"/>
              <a:t> numbers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 expected the odd_numbers list only contains the odd numbers. I.e the numbers 1,3 ,5 ,7 ,and 9</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Like the map method, we can pass multiple arguments to the filter method. You can try that on your own.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Let's use the filter method to filter out stop words like 'and', 'the', 'an', 'a', 'of' from the list of words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this, we will need to include all these stop words in a separate list called stop underscore words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Stop </a:t>
            </a:r>
            <a:r>
              <a:rPr lang="en"/>
              <a:t>underscore</a:t>
            </a:r>
            <a:r>
              <a:rPr lang="en"/>
              <a:t> words = inside square brackets 'and', 'the', 'an', 'a', 'of'</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Let's create a new list called word underscore list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word underscore list equals 'Hi', 'this', 'is', 'the', 'python', 'programming', 'language'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let's create a function that returns True if the word is not a stop word and returns false if the word is a stop word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def filter_stopwords inside parentheses word colon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If inside parentheses word not in stop_words colon</a:t>
            </a:r>
            <a:endParaRPr/>
          </a:p>
          <a:p>
            <a:pPr indent="0" lvl="0" marL="0" rtl="0" algn="l">
              <a:spcBef>
                <a:spcPts val="0"/>
              </a:spcBef>
              <a:spcAft>
                <a:spcPts val="0"/>
              </a:spcAft>
              <a:buNone/>
            </a:pPr>
            <a:r>
              <a:rPr lang="en"/>
              <a:t>        return True</a:t>
            </a:r>
            <a:endParaRPr/>
          </a:p>
          <a:p>
            <a:pPr indent="0" lvl="0" marL="0" rtl="0" algn="l">
              <a:spcBef>
                <a:spcPts val="0"/>
              </a:spcBef>
              <a:spcAft>
                <a:spcPts val="0"/>
              </a:spcAft>
              <a:buNone/>
            </a:pPr>
            <a:r>
              <a:rPr lang="en"/>
              <a:t>    Else colon</a:t>
            </a:r>
            <a:endParaRPr/>
          </a:p>
          <a:p>
            <a:pPr indent="0" lvl="0" marL="0" rtl="0" algn="l">
              <a:spcBef>
                <a:spcPts val="0"/>
              </a:spcBef>
              <a:spcAft>
                <a:spcPts val="0"/>
              </a:spcAft>
              <a:buNone/>
            </a:pPr>
            <a:r>
              <a:rPr lang="en"/>
              <a:t>        return False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Let's use the above filter_stopwords method to remove all the stopwords from the list of words in word_list variable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Filtered underscore words =list inside parentheses filter inside parenthesis filter underscore stopwords comma word underscore list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Print inside parentheses filtered underscore words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 expected the final list doesn't contain any word present in the stop underscore words list.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reduce method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use the reduce method we need to first import it from the functools module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from functools import reduce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Let's create a function get_product that takes two numbers and computes their product. We will use this function to reduce a list of numbers to a single value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def get_product inside parenthesis num1 comma num2 colon</a:t>
            </a:r>
            <a:endParaRPr/>
          </a:p>
          <a:p>
            <a:pPr indent="0" lvl="0" marL="0" rtl="0" algn="l">
              <a:spcBef>
                <a:spcPts val="0"/>
              </a:spcBef>
              <a:spcAft>
                <a:spcPts val="0"/>
              </a:spcAft>
              <a:buNone/>
            </a:pPr>
            <a:r>
              <a:rPr lang="en"/>
              <a:t>  return num1 times num2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Let's create a list of numbers and apply the reduce method to them using the get_product function defined above.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numbers = inside brackets 1, 2, 3, 4</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product = reduce inside parentheses get_product comma numbers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let's print the result of the reduce operation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Print inside parentheses product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 expected, the reduce method applied the get_product method to elements of the list and computed the product which is 24 in this case.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c44b81931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c44b81931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 and welcome back. After discussing higher order functions, let’s discuss list and dictionary  comprehension.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c44b44d338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c44b44d338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List comprehension is a special syntax in Python that allows us to conveniently create a list from an iterable. It simplifies the process of going through a for loop and creating a list.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Click</a:t>
            </a:r>
            <a:endParaRPr/>
          </a:p>
          <a:p>
            <a:pPr indent="0" lvl="0" marL="0" rtl="0" algn="l">
              <a:spcBef>
                <a:spcPts val="0"/>
              </a:spcBef>
              <a:spcAft>
                <a:spcPts val="0"/>
              </a:spcAft>
              <a:buNone/>
            </a:pPr>
            <a:r>
              <a:rPr lang="en"/>
              <a:t>The syntax for list comprehension is shown in the figure. The syntax consists of two parts</a:t>
            </a:r>
            <a:endParaRPr/>
          </a:p>
          <a:p>
            <a:pPr indent="0" lvl="0" marL="0" rtl="0" algn="l">
              <a:spcBef>
                <a:spcPts val="0"/>
              </a:spcBef>
              <a:spcAft>
                <a:spcPts val="0"/>
              </a:spcAft>
              <a:buNone/>
            </a:pPr>
            <a:r>
              <a:rPr lang="en"/>
              <a:t>Click</a:t>
            </a:r>
            <a:endParaRPr/>
          </a:p>
          <a:p>
            <a:pPr indent="0" lvl="0" marL="0" rtl="0" algn="l">
              <a:spcBef>
                <a:spcPts val="0"/>
              </a:spcBef>
              <a:spcAft>
                <a:spcPts val="0"/>
              </a:spcAft>
              <a:buNone/>
            </a:pPr>
            <a:r>
              <a:rPr lang="en"/>
              <a:t>a one line for loop to </a:t>
            </a:r>
            <a:r>
              <a:rPr lang="en"/>
              <a:t>iterate</a:t>
            </a:r>
            <a:r>
              <a:rPr lang="en"/>
              <a:t> through each element of the iterable</a:t>
            </a:r>
            <a:endParaRPr/>
          </a:p>
          <a:p>
            <a:pPr indent="0" lvl="0" marL="0" rtl="0" algn="l">
              <a:spcBef>
                <a:spcPts val="0"/>
              </a:spcBef>
              <a:spcAft>
                <a:spcPts val="0"/>
              </a:spcAft>
              <a:buNone/>
            </a:pPr>
            <a:r>
              <a:rPr lang="en"/>
              <a:t>Click</a:t>
            </a:r>
            <a:endParaRPr/>
          </a:p>
          <a:p>
            <a:pPr indent="0" lvl="0" marL="0" rtl="0" algn="l">
              <a:spcBef>
                <a:spcPts val="0"/>
              </a:spcBef>
              <a:spcAft>
                <a:spcPts val="0"/>
              </a:spcAft>
              <a:buNone/>
            </a:pPr>
            <a:r>
              <a:rPr lang="en"/>
              <a:t>And an expression that represents the actual elements that are stored in the list </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c44b44d338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c44b44d338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example, we have a for loop that goes through each number from 1 to 4 and for each number it stores it square in the squares variable. </a:t>
            </a:r>
            <a:endParaRPr/>
          </a:p>
          <a:p>
            <a:pPr indent="0" lvl="0" marL="0" rtl="0" algn="l">
              <a:spcBef>
                <a:spcPts val="0"/>
              </a:spcBef>
              <a:spcAft>
                <a:spcPts val="0"/>
              </a:spcAft>
              <a:buNone/>
            </a:pPr>
            <a:r>
              <a:rPr lang="en"/>
              <a:t>Click</a:t>
            </a:r>
            <a:endParaRPr/>
          </a:p>
          <a:p>
            <a:pPr indent="0" lvl="0" marL="0" rtl="0" algn="l">
              <a:spcBef>
                <a:spcPts val="0"/>
              </a:spcBef>
              <a:spcAft>
                <a:spcPts val="0"/>
              </a:spcAft>
              <a:buNone/>
            </a:pPr>
            <a:r>
              <a:rPr lang="en"/>
              <a:t>The squares variable contains the elements 1, 4, 9, and 16.</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c44b44d338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c44b44d338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Just like list comprehension, dictionary comprehension is a concise way to create dictionary in python. </a:t>
            </a:r>
            <a:endParaRPr/>
          </a:p>
          <a:p>
            <a:pPr indent="0" lvl="0" marL="0" rtl="0" algn="l">
              <a:spcBef>
                <a:spcPts val="0"/>
              </a:spcBef>
              <a:spcAft>
                <a:spcPts val="0"/>
              </a:spcAft>
              <a:buNone/>
            </a:pPr>
            <a:r>
              <a:rPr lang="en"/>
              <a:t>Click</a:t>
            </a:r>
            <a:endParaRPr/>
          </a:p>
          <a:p>
            <a:pPr indent="0" lvl="0" marL="0" rtl="0" algn="l">
              <a:spcBef>
                <a:spcPts val="0"/>
              </a:spcBef>
              <a:spcAft>
                <a:spcPts val="0"/>
              </a:spcAft>
              <a:buNone/>
            </a:pPr>
            <a:r>
              <a:rPr lang="en"/>
              <a:t>The syntax for a dictionary comprehension is shown here.</a:t>
            </a:r>
            <a:endParaRPr/>
          </a:p>
          <a:p>
            <a:pPr indent="0" lvl="0" marL="0" rtl="0" algn="l">
              <a:spcBef>
                <a:spcPts val="0"/>
              </a:spcBef>
              <a:spcAft>
                <a:spcPts val="0"/>
              </a:spcAft>
              <a:buNone/>
            </a:pPr>
            <a:r>
              <a:rPr lang="en"/>
              <a:t>Click</a:t>
            </a:r>
            <a:endParaRPr/>
          </a:p>
          <a:p>
            <a:pPr indent="0" lvl="0" marL="0" rtl="0" algn="l">
              <a:spcBef>
                <a:spcPts val="0"/>
              </a:spcBef>
              <a:spcAft>
                <a:spcPts val="0"/>
              </a:spcAft>
              <a:buNone/>
            </a:pPr>
            <a:r>
              <a:rPr lang="en"/>
              <a:t>The syntax consists of two parts</a:t>
            </a:r>
            <a:endParaRPr/>
          </a:p>
          <a:p>
            <a:pPr indent="0" lvl="0" marL="0" rtl="0" algn="l">
              <a:spcBef>
                <a:spcPts val="0"/>
              </a:spcBef>
              <a:spcAft>
                <a:spcPts val="0"/>
              </a:spcAft>
              <a:buNone/>
            </a:pPr>
            <a:r>
              <a:rPr lang="en"/>
              <a:t>Click</a:t>
            </a:r>
            <a:endParaRPr/>
          </a:p>
          <a:p>
            <a:pPr indent="0" lvl="0" marL="0" rtl="0" algn="l">
              <a:spcBef>
                <a:spcPts val="0"/>
              </a:spcBef>
              <a:spcAft>
                <a:spcPts val="0"/>
              </a:spcAft>
              <a:buNone/>
            </a:pPr>
            <a:r>
              <a:rPr lang="en"/>
              <a:t>One is the for loop to iterate through each element of the iterable</a:t>
            </a:r>
            <a:endParaRPr/>
          </a:p>
          <a:p>
            <a:pPr indent="0" lvl="0" marL="0" rtl="0" algn="l">
              <a:spcBef>
                <a:spcPts val="0"/>
              </a:spcBef>
              <a:spcAft>
                <a:spcPts val="0"/>
              </a:spcAft>
              <a:buNone/>
            </a:pPr>
            <a:r>
              <a:rPr lang="en"/>
              <a:t>Click</a:t>
            </a:r>
            <a:endParaRPr/>
          </a:p>
          <a:p>
            <a:pPr indent="0" lvl="0" marL="0" rtl="0" algn="l">
              <a:spcBef>
                <a:spcPts val="0"/>
              </a:spcBef>
              <a:spcAft>
                <a:spcPts val="0"/>
              </a:spcAft>
              <a:buNone/>
            </a:pPr>
            <a:r>
              <a:rPr lang="en"/>
              <a:t>Another one is the key and value to store in the dictionary. The key and value are derived using the elements of the iterable.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c44b44d338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c44b44d338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example here uses dictionary comprehension to create a dictionary. </a:t>
            </a:r>
            <a:r>
              <a:rPr lang="en">
                <a:solidFill>
                  <a:schemeClr val="dk1"/>
                </a:solidFill>
              </a:rPr>
              <a:t>W</a:t>
            </a:r>
            <a:r>
              <a:rPr lang="en">
                <a:solidFill>
                  <a:schemeClr val="dk1"/>
                </a:solidFill>
              </a:rPr>
              <a:t>e have a for loop that goes through each number from 1 to 4 and for each number it stores the number as key and its square as the value. The entire dictionary is stored in the squared dict variable. </a:t>
            </a:r>
            <a:endParaRPr>
              <a:solidFill>
                <a:schemeClr val="dk1"/>
              </a:solidFill>
            </a:endParaRPr>
          </a:p>
          <a:p>
            <a:pPr indent="0" lvl="0" marL="0" rtl="0" algn="l">
              <a:spcBef>
                <a:spcPts val="0"/>
              </a:spcBef>
              <a:spcAft>
                <a:spcPts val="0"/>
              </a:spcAft>
              <a:buNone/>
            </a:pPr>
            <a:r>
              <a:rPr lang="en">
                <a:solidFill>
                  <a:schemeClr val="dk1"/>
                </a:solidFill>
              </a:rPr>
              <a:t>Click</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As expected, the squared dict variable now contains 1,2,3 and 4 as the key and 1, 4, 9,and 16 as the corresponding value.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c956ac3bd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c956ac3bd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We use list comprehension when we need to create list from an iterable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Let's say we have an iterable containing numbers from 1 to 9 in the variable numbers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numbers = range inside parenthese 1 comma 10</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The list comprehension consists of a one line python statement inside square brackets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The statement consists of an expression resulting in a new element, this expression </a:t>
            </a:r>
            <a:endParaRPr/>
          </a:p>
          <a:p>
            <a:pPr indent="0" lvl="0" marL="0" rtl="0" algn="l">
              <a:spcBef>
                <a:spcPts val="0"/>
              </a:spcBef>
              <a:spcAft>
                <a:spcPts val="0"/>
              </a:spcAft>
              <a:buClr>
                <a:schemeClr val="dk1"/>
              </a:buClr>
              <a:buSzPts val="1100"/>
              <a:buFont typeface="Arial"/>
              <a:buNone/>
            </a:pPr>
            <a:r>
              <a:rPr lang="en"/>
              <a:t>is followed by a for loop to iterate over all elements of the iterable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Let's create a new list by squaring the elements in the numbers variable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squares = inside brackets x  times  x for x in numbers</a:t>
            </a:r>
            <a:endParaRPr/>
          </a:p>
          <a:p>
            <a:pPr indent="0" lvl="0" marL="0" rtl="0" algn="l">
              <a:spcBef>
                <a:spcPts val="0"/>
              </a:spcBef>
              <a:spcAft>
                <a:spcPts val="0"/>
              </a:spcAft>
              <a:buNone/>
            </a:pPr>
            <a:r>
              <a:rPr lang="en"/>
              <a:t>Print inside parentheses squares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 expected, the new list contains the squares of numbers from 1 to 9.</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also use functions inside the list comprehension. We call this function with each element of the iterables to generate a new list.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def factorial inside parentheses n colon</a:t>
            </a:r>
            <a:endParaRPr/>
          </a:p>
          <a:p>
            <a:pPr indent="0" lvl="0" marL="0" rtl="0" algn="l">
              <a:spcBef>
                <a:spcPts val="0"/>
              </a:spcBef>
              <a:spcAft>
                <a:spcPts val="0"/>
              </a:spcAft>
              <a:buNone/>
            </a:pPr>
            <a:r>
              <a:rPr lang="en"/>
              <a:t>  return 1 if n &lt; 2 else n times factorial(n-1)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factorials = inside square brackets factorial(x) for x in numbers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print(factorials)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 expected, the new list contains the factorial of numbers from 1 to 9</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also achieve list comprehension with nested loop. In such condition, the outer loop should be followed</a:t>
            </a:r>
            <a:endParaRPr/>
          </a:p>
          <a:p>
            <a:pPr indent="0" lvl="0" marL="0" rtl="0" algn="l">
              <a:spcBef>
                <a:spcPts val="0"/>
              </a:spcBef>
              <a:spcAft>
                <a:spcPts val="0"/>
              </a:spcAft>
              <a:buNone/>
            </a:pPr>
            <a:r>
              <a:rPr lang="en"/>
              <a:t>by an inner loop inside the square brackets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Let's create two lists</a:t>
            </a:r>
            <a:endParaRPr/>
          </a:p>
          <a:p>
            <a:pPr indent="0" lvl="0" marL="0" rtl="0" algn="l">
              <a:spcBef>
                <a:spcPts val="0"/>
              </a:spcBef>
              <a:spcAft>
                <a:spcPts val="0"/>
              </a:spcAft>
              <a:buNone/>
            </a:pPr>
            <a:r>
              <a:rPr lang="en"/>
              <a:t>x = inside square brackets 1, 2, 3</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 = inside square 4, 5, 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Let's use list comprehension to find the cross product of element of x with every element of 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Cross underscore product = inside square brackets i times j for i in x for j in 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Print inside parentheses cross underscore product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also use if condition inside the list comprehension. Let's use if statement in the above list comprehension to find teh cross product of </a:t>
            </a:r>
            <a:endParaRPr/>
          </a:p>
          <a:p>
            <a:pPr indent="0" lvl="0" marL="0" rtl="0" algn="l">
              <a:spcBef>
                <a:spcPts val="0"/>
              </a:spcBef>
              <a:spcAft>
                <a:spcPts val="0"/>
              </a:spcAft>
              <a:buNone/>
            </a:pPr>
            <a:r>
              <a:rPr lang="en"/>
              <a:t>even element in x with all elements in 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Cross underscore product </a:t>
            </a:r>
            <a:r>
              <a:rPr lang="en">
                <a:solidFill>
                  <a:schemeClr val="dk1"/>
                </a:solidFill>
              </a:rPr>
              <a:t>underscore </a:t>
            </a:r>
            <a:r>
              <a:rPr lang="en"/>
              <a:t>even = inside square brackets i * j for i in x for j in y if i%2==0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Print inside parenthese Cross </a:t>
            </a:r>
            <a:r>
              <a:rPr lang="en">
                <a:solidFill>
                  <a:schemeClr val="dk1"/>
                </a:solidFill>
              </a:rPr>
              <a:t>underscore </a:t>
            </a:r>
            <a:r>
              <a:rPr lang="en"/>
              <a:t>product </a:t>
            </a:r>
            <a:r>
              <a:rPr lang="en">
                <a:solidFill>
                  <a:schemeClr val="dk1"/>
                </a:solidFill>
              </a:rPr>
              <a:t>underscore </a:t>
            </a:r>
            <a:r>
              <a:rPr lang="en"/>
              <a:t>even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 expected the new list contains the result when 2 multiplies the elements of list y that is 4, 5, and 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Dictionary comprehension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Just like list comprehension, dictionary comprehension is a concise way to create dictionary in python.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syntax for dictionary comprehension is just like list comprehension, but the python statement needs to be enclosed within braces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addition to that, we need to add the name of key and a colon in the beginning. Let's use dictionary comprehension to </a:t>
            </a:r>
            <a:endParaRPr/>
          </a:p>
          <a:p>
            <a:pPr indent="0" lvl="0" marL="0" rtl="0" algn="l">
              <a:spcBef>
                <a:spcPts val="0"/>
              </a:spcBef>
              <a:spcAft>
                <a:spcPts val="0"/>
              </a:spcAft>
              <a:buNone/>
            </a:pPr>
            <a:r>
              <a:rPr lang="en"/>
              <a:t>create a dictionary that stores a number as key and its square as value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numbers = range inside parenthese 1 comma 10</a:t>
            </a:r>
            <a:endParaRPr/>
          </a:p>
          <a:p>
            <a:pPr indent="0" lvl="0" marL="0" rtl="0" algn="l">
              <a:spcBef>
                <a:spcPts val="0"/>
              </a:spcBef>
              <a:spcAft>
                <a:spcPts val="0"/>
              </a:spcAft>
              <a:buNone/>
            </a:pPr>
            <a:r>
              <a:rPr lang="en"/>
              <a:t>Squared underscore dict = inside braces num colon num </a:t>
            </a:r>
            <a:r>
              <a:rPr lang="en"/>
              <a:t>asterisk</a:t>
            </a:r>
            <a:r>
              <a:rPr lang="en"/>
              <a:t> </a:t>
            </a:r>
            <a:r>
              <a:rPr lang="en"/>
              <a:t>asterisk</a:t>
            </a:r>
            <a:r>
              <a:rPr lang="en"/>
              <a:t> 2 for num in numbers</a:t>
            </a:r>
            <a:endParaRPr/>
          </a:p>
          <a:p>
            <a:pPr indent="0" lvl="0" marL="0" rtl="0" algn="l">
              <a:spcBef>
                <a:spcPts val="0"/>
              </a:spcBef>
              <a:spcAft>
                <a:spcPts val="0"/>
              </a:spcAft>
              <a:buNone/>
            </a:pPr>
            <a:r>
              <a:rPr lang="en"/>
              <a:t>Print inside parentheses </a:t>
            </a:r>
            <a:r>
              <a:rPr lang="en">
                <a:solidFill>
                  <a:schemeClr val="dk1"/>
                </a:solidFill>
              </a:rPr>
              <a:t>Squared underscore dict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From above we can see that the syntax is very similar to list comprehension except that we need to enclose everything inside</a:t>
            </a:r>
            <a:endParaRPr>
              <a:solidFill>
                <a:schemeClr val="dk1"/>
              </a:solidFill>
            </a:endParaRPr>
          </a:p>
          <a:p>
            <a:pPr indent="0" lvl="0" marL="0" rtl="0" algn="l">
              <a:spcBef>
                <a:spcPts val="0"/>
              </a:spcBef>
              <a:spcAft>
                <a:spcPts val="0"/>
              </a:spcAft>
              <a:buNone/>
            </a:pPr>
            <a:r>
              <a:rPr lang="en">
                <a:solidFill>
                  <a:schemeClr val="dk1"/>
                </a:solidFill>
              </a:rPr>
              <a:t>braces and the statement in the braces begins with the key followed by colon.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Like list comprehension, dictionary comprehension also allow us to use the conditional statements</a:t>
            </a:r>
            <a:endParaRPr>
              <a:solidFill>
                <a:schemeClr val="dk1"/>
              </a:solidFill>
            </a:endParaRPr>
          </a:p>
          <a:p>
            <a:pPr indent="0" lvl="0" marL="0" rtl="0" algn="l">
              <a:spcBef>
                <a:spcPts val="0"/>
              </a:spcBef>
              <a:spcAft>
                <a:spcPts val="0"/>
              </a:spcAft>
              <a:buNone/>
            </a:pPr>
            <a:r>
              <a:rPr lang="en">
                <a:solidFill>
                  <a:schemeClr val="dk1"/>
                </a:solidFill>
              </a:rPr>
              <a:t>Let's use conditionals to create a dictionary containing even numbers as key and their squares as value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Even underscore dict = inside braces k colon k asterisk k for k in numbers if k % 2 == 0</a:t>
            </a:r>
            <a:endParaRPr>
              <a:solidFill>
                <a:schemeClr val="dk1"/>
              </a:solidFill>
            </a:endParaRPr>
          </a:p>
          <a:p>
            <a:pPr indent="0" lvl="0" marL="0" rtl="0" algn="l">
              <a:spcBef>
                <a:spcPts val="0"/>
              </a:spcBef>
              <a:spcAft>
                <a:spcPts val="0"/>
              </a:spcAft>
              <a:buNone/>
            </a:pPr>
            <a:r>
              <a:rPr lang="en">
                <a:solidFill>
                  <a:schemeClr val="dk1"/>
                </a:solidFill>
              </a:rPr>
              <a:t>Print inside parentheses Even underscore dict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b9ce9180a6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b9ce9180a6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earlier video, we discussed list comprehension and dictionary comprehension. In this video, we will discuss ways to iteratively access data items.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bad04a3268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bad04a3268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Iterables are python objects that allow us to access items one after another.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Click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List, tuple, dictionary and string are some common iterables available in python.</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c44b44d338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c44b44d338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python, for an object to be iterable it should implement the iter method.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Click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iter method in turn should return an iterator. But what is an iterator?</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c44b44d338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c44b44d338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iterator in python is an object, that implements the iterator protocol.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iterator </a:t>
            </a:r>
            <a:r>
              <a:rPr lang="en"/>
              <a:t>protocol</a:t>
            </a:r>
            <a:r>
              <a:rPr lang="en"/>
              <a:t> states that, for an object to be an iterator,</a:t>
            </a:r>
            <a:endParaRPr/>
          </a:p>
          <a:p>
            <a:pPr indent="0" lvl="0" marL="0" rtl="0" algn="l">
              <a:spcBef>
                <a:spcPts val="0"/>
              </a:spcBef>
              <a:spcAft>
                <a:spcPts val="0"/>
              </a:spcAft>
              <a:buNone/>
            </a:pPr>
            <a:r>
              <a:rPr lang="en"/>
              <a:t>Click</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it should implement two methods:</a:t>
            </a:r>
            <a:endParaRPr/>
          </a:p>
          <a:p>
            <a:pPr indent="-298450" lvl="0" marL="457200" rtl="0" algn="l">
              <a:spcBef>
                <a:spcPts val="0"/>
              </a:spcBef>
              <a:spcAft>
                <a:spcPts val="0"/>
              </a:spcAft>
              <a:buSzPts val="1100"/>
              <a:buChar char="-"/>
            </a:pPr>
            <a:r>
              <a:rPr lang="en"/>
              <a:t>The next method and</a:t>
            </a:r>
            <a:endParaRPr/>
          </a:p>
          <a:p>
            <a:pPr indent="-298450" lvl="0" marL="457200" rtl="0" algn="l">
              <a:spcBef>
                <a:spcPts val="0"/>
              </a:spcBef>
              <a:spcAft>
                <a:spcPts val="0"/>
              </a:spcAft>
              <a:buSzPts val="1100"/>
              <a:buChar char="-"/>
            </a:pPr>
            <a:r>
              <a:rPr lang="en"/>
              <a:t>the iter method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Click</a:t>
            </a:r>
            <a:endParaRPr/>
          </a:p>
          <a:p>
            <a:pPr indent="0" lvl="0" marL="0" rtl="0" algn="l">
              <a:spcBef>
                <a:spcPts val="0"/>
              </a:spcBef>
              <a:spcAft>
                <a:spcPts val="0"/>
              </a:spcAft>
              <a:buNone/>
            </a:pPr>
            <a:r>
              <a:rPr lang="en"/>
              <a:t>The next method should return the next element in the sequence and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Click</a:t>
            </a:r>
            <a:endParaRPr/>
          </a:p>
          <a:p>
            <a:pPr indent="0" lvl="0" marL="0" rtl="0" algn="l">
              <a:spcBef>
                <a:spcPts val="0"/>
              </a:spcBef>
              <a:spcAft>
                <a:spcPts val="0"/>
              </a:spcAft>
              <a:buNone/>
            </a:pPr>
            <a:r>
              <a:rPr lang="en"/>
              <a:t>The iter method should return a reference to itself. So, to create an iterator we need to implement these methods in python. Implementing these methods for a simple iterator is cumbersome. There is an alternative method of creating iterators in python without explicitly implementing the iterator protocol. All we need to do is use generators.</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c44b44d338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c44b44d338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A generator looks like an ordinary function, but uses a </a:t>
            </a:r>
            <a:r>
              <a:rPr lang="en">
                <a:solidFill>
                  <a:srgbClr val="212121"/>
                </a:solidFill>
              </a:rPr>
              <a:t>yield</a:t>
            </a:r>
            <a:r>
              <a:rPr lang="en" sz="1200">
                <a:solidFill>
                  <a:srgbClr val="212121"/>
                </a:solidFill>
                <a:highlight>
                  <a:srgbClr val="FFFFFF"/>
                </a:highlight>
                <a:latin typeface="Roboto"/>
                <a:ea typeface="Roboto"/>
                <a:cs typeface="Roboto"/>
                <a:sym typeface="Roboto"/>
              </a:rPr>
              <a:t> statement instead of the </a:t>
            </a:r>
            <a:r>
              <a:rPr lang="en">
                <a:solidFill>
                  <a:srgbClr val="212121"/>
                </a:solidFill>
              </a:rPr>
              <a:t>return</a:t>
            </a:r>
            <a:r>
              <a:rPr lang="en" sz="1200">
                <a:solidFill>
                  <a:srgbClr val="212121"/>
                </a:solidFill>
                <a:highlight>
                  <a:srgbClr val="FFFFFF"/>
                </a:highlight>
                <a:latin typeface="Roboto"/>
                <a:ea typeface="Roboto"/>
                <a:cs typeface="Roboto"/>
                <a:sym typeface="Roboto"/>
              </a:rPr>
              <a:t> statement. We use the yield keyword to return items in the sequence one by one.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Click</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Instead of terminating the function like the </a:t>
            </a:r>
            <a:r>
              <a:rPr lang="en">
                <a:solidFill>
                  <a:srgbClr val="212121"/>
                </a:solidFill>
              </a:rPr>
              <a:t>return</a:t>
            </a:r>
            <a:r>
              <a:rPr lang="en" sz="1200">
                <a:solidFill>
                  <a:srgbClr val="212121"/>
                </a:solidFill>
                <a:highlight>
                  <a:srgbClr val="FFFFFF"/>
                </a:highlight>
                <a:latin typeface="Roboto"/>
                <a:ea typeface="Roboto"/>
                <a:cs typeface="Roboto"/>
                <a:sym typeface="Roboto"/>
              </a:rPr>
              <a:t> statement, the </a:t>
            </a:r>
            <a:r>
              <a:rPr lang="en">
                <a:solidFill>
                  <a:srgbClr val="212121"/>
                </a:solidFill>
              </a:rPr>
              <a:t>yield</a:t>
            </a:r>
            <a:r>
              <a:rPr lang="en" sz="1200">
                <a:solidFill>
                  <a:srgbClr val="212121"/>
                </a:solidFill>
                <a:highlight>
                  <a:srgbClr val="FFFFFF"/>
                </a:highlight>
                <a:latin typeface="Roboto"/>
                <a:ea typeface="Roboto"/>
                <a:cs typeface="Roboto"/>
                <a:sym typeface="Roboto"/>
              </a:rPr>
              <a:t> statement pauses the function execution and can later continue where it left off.</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121"/>
              </a:solidFill>
              <a:highlight>
                <a:srgbClr val="FFFFFF"/>
              </a:highlight>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ca3c3b982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ca3c3b982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Let’s say we have a list of numbers from 1 to 5.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Click</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The function func A uses the return keyword, hence everytime[click]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it executes it will return 1 as the output.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Click</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Whereas the function func B uses the yield keyword and hence returns a generator object. We can then use the next method[click] </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of the generator object to sequentially get all elements in the list</a:t>
            </a:r>
            <a:endParaRPr sz="1200">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12121"/>
              </a:solidFill>
              <a:highlight>
                <a:srgbClr val="FFFFFF"/>
              </a:highlight>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c956ac3bdf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c956ac3bd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Iterables and iterators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An object is an iterable if it implements an iter method which in turn returns an iterator.</a:t>
            </a:r>
            <a:endParaRPr/>
          </a:p>
          <a:p>
            <a:pPr indent="0" lvl="0" marL="0" rtl="0" algn="l">
              <a:spcBef>
                <a:spcPts val="0"/>
              </a:spcBef>
              <a:spcAft>
                <a:spcPts val="0"/>
              </a:spcAft>
              <a:buClr>
                <a:schemeClr val="dk1"/>
              </a:buClr>
              <a:buSzPts val="1100"/>
              <a:buFont typeface="Arial"/>
              <a:buNone/>
            </a:pPr>
            <a:r>
              <a:rPr lang="en"/>
              <a:t>Python lists are an iterable. Let's verify that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l</a:t>
            </a:r>
            <a:r>
              <a:rPr lang="en"/>
              <a:t>et's create a list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list1 = inside square brackets 1, 2, 3</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Let's check if the list has an iter method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Iter underscore method = inside square brackets method for method in dir inside </a:t>
            </a:r>
            <a:r>
              <a:rPr lang="en"/>
              <a:t>parentheses</a:t>
            </a:r>
            <a:r>
              <a:rPr lang="en"/>
              <a:t> list if str inside parentheses method== single quote open underscore underscore iter </a:t>
            </a:r>
            <a:r>
              <a:rPr lang="en">
                <a:solidFill>
                  <a:schemeClr val="dk1"/>
                </a:solidFill>
              </a:rPr>
              <a:t>underscore underscore single quote close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P</a:t>
            </a:r>
            <a:r>
              <a:rPr lang="en">
                <a:solidFill>
                  <a:schemeClr val="dk1"/>
                </a:solidFill>
              </a:rPr>
              <a:t>rint parentheses open inside single quote The list method has braces open and close method single quote close dot format inside parentheses iter underscore method parentheses close.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As expected, we see that the list has an iter method.</a:t>
            </a:r>
            <a:endParaRPr>
              <a:solidFill>
                <a:schemeClr val="dk1"/>
              </a:solidFill>
            </a:endParaRPr>
          </a:p>
          <a:p>
            <a:pPr indent="0" lvl="0" marL="0" rtl="0" algn="l">
              <a:spcBef>
                <a:spcPts val="0"/>
              </a:spcBef>
              <a:spcAft>
                <a:spcPts val="0"/>
              </a:spcAft>
              <a:buNone/>
            </a:pPr>
            <a:r>
              <a:rPr lang="en">
                <a:solidFill>
                  <a:schemeClr val="dk1"/>
                </a:solidFill>
              </a:rPr>
              <a:t>Let's also check if the iter method returns an iterator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Print inside parentheses list1 dot underscore underscore iter underscore underscore parentheses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As expected, the iter method returns a list iterator upon calling. Hence, we verified that the python</a:t>
            </a:r>
            <a:endParaRPr>
              <a:solidFill>
                <a:schemeClr val="dk1"/>
              </a:solidFill>
            </a:endParaRPr>
          </a:p>
          <a:p>
            <a:pPr indent="0" lvl="0" marL="0" rtl="0" algn="l">
              <a:spcBef>
                <a:spcPts val="0"/>
              </a:spcBef>
              <a:spcAft>
                <a:spcPts val="0"/>
              </a:spcAft>
              <a:buNone/>
            </a:pPr>
            <a:r>
              <a:rPr lang="en">
                <a:solidFill>
                  <a:schemeClr val="dk1"/>
                </a:solidFill>
              </a:rPr>
              <a:t> list is an iterable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iterator in python should implement the next method which returns the next element, and the iter method</a:t>
            </a:r>
            <a:endParaRPr>
              <a:solidFill>
                <a:schemeClr val="dk1"/>
              </a:solidFill>
            </a:endParaRPr>
          </a:p>
          <a:p>
            <a:pPr indent="0" lvl="0" marL="0" rtl="0" algn="l">
              <a:spcBef>
                <a:spcPts val="0"/>
              </a:spcBef>
              <a:spcAft>
                <a:spcPts val="0"/>
              </a:spcAft>
              <a:buNone/>
            </a:pPr>
            <a:r>
              <a:rPr lang="en">
                <a:solidFill>
                  <a:schemeClr val="dk1"/>
                </a:solidFill>
              </a:rPr>
              <a:t> which returns the iterator object itself</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 Now, let's create an iterator and an iterable from scratch. We will create an iterable and iterator so that we can iterate</a:t>
            </a:r>
            <a:endParaRPr>
              <a:solidFill>
                <a:schemeClr val="dk1"/>
              </a:solidFill>
            </a:endParaRPr>
          </a:p>
          <a:p>
            <a:pPr indent="0" lvl="0" marL="0" rtl="0" algn="l">
              <a:spcBef>
                <a:spcPts val="0"/>
              </a:spcBef>
              <a:spcAft>
                <a:spcPts val="0"/>
              </a:spcAft>
              <a:buNone/>
            </a:pPr>
            <a:r>
              <a:rPr lang="en">
                <a:solidFill>
                  <a:schemeClr val="dk1"/>
                </a:solidFill>
              </a:rPr>
              <a:t> over each sentence in the provided text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Let's start with an iterable. We will create a sentence iterable class and implement the iter method</a:t>
            </a:r>
            <a:endParaRPr>
              <a:solidFill>
                <a:schemeClr val="dk1"/>
              </a:solidFill>
            </a:endParaRPr>
          </a:p>
          <a:p>
            <a:pPr indent="0" lvl="0" marL="0" rtl="0" algn="l">
              <a:spcBef>
                <a:spcPts val="0"/>
              </a:spcBef>
              <a:spcAft>
                <a:spcPts val="0"/>
              </a:spcAft>
              <a:buNone/>
            </a:pPr>
            <a:r>
              <a:rPr lang="en">
                <a:solidFill>
                  <a:schemeClr val="dk1"/>
                </a:solidFill>
              </a:rPr>
              <a:t> The iter method in the sentence iterable will need to return Sentence iterator that we will create next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class SentenceIterable colon</a:t>
            </a:r>
            <a:endParaRPr>
              <a:solidFill>
                <a:schemeClr val="dk1"/>
              </a:solidFill>
            </a:endParaRPr>
          </a:p>
          <a:p>
            <a:pPr indent="0" lvl="0" marL="0" rtl="0" algn="l">
              <a:spcBef>
                <a:spcPts val="0"/>
              </a:spcBef>
              <a:spcAft>
                <a:spcPts val="0"/>
              </a:spcAft>
              <a:buNone/>
            </a:pPr>
            <a:r>
              <a:rPr lang="en">
                <a:solidFill>
                  <a:schemeClr val="dk1"/>
                </a:solidFill>
              </a:rPr>
              <a:t>  def underscore underscore init underscore underscore inside parentheses self, text colon</a:t>
            </a:r>
            <a:endParaRPr>
              <a:solidFill>
                <a:schemeClr val="dk1"/>
              </a:solidFill>
            </a:endParaRPr>
          </a:p>
          <a:p>
            <a:pPr indent="0" lvl="0" marL="0" rtl="0" algn="l">
              <a:spcBef>
                <a:spcPts val="0"/>
              </a:spcBef>
              <a:spcAft>
                <a:spcPts val="0"/>
              </a:spcAft>
              <a:buNone/>
            </a:pPr>
            <a:r>
              <a:rPr lang="en">
                <a:solidFill>
                  <a:schemeClr val="dk1"/>
                </a:solidFill>
              </a:rPr>
              <a:t>    Self dot text = text</a:t>
            </a:r>
            <a:endParaRPr>
              <a:solidFill>
                <a:schemeClr val="dk1"/>
              </a:solidFill>
            </a:endParaRPr>
          </a:p>
          <a:p>
            <a:pPr indent="0" lvl="0" marL="0" rtl="0" algn="l">
              <a:spcBef>
                <a:spcPts val="0"/>
              </a:spcBef>
              <a:spcAft>
                <a:spcPts val="0"/>
              </a:spcAft>
              <a:buNone/>
            </a:pPr>
            <a:r>
              <a:rPr lang="en">
                <a:solidFill>
                  <a:schemeClr val="dk1"/>
                </a:solidFill>
              </a:rPr>
              <a:t>    Self dot sentences = text.split inside parentheses and within single quotes dot</a:t>
            </a:r>
            <a:endParaRPr>
              <a:solidFill>
                <a:schemeClr val="dk1"/>
              </a:solidFill>
            </a:endParaRPr>
          </a:p>
          <a:p>
            <a:pPr indent="0" lvl="0" marL="0" rtl="0" algn="l">
              <a:spcBef>
                <a:spcPts val="0"/>
              </a:spcBef>
              <a:spcAft>
                <a:spcPts val="0"/>
              </a:spcAft>
              <a:buNone/>
            </a:pPr>
            <a:r>
              <a:rPr lang="en">
                <a:solidFill>
                  <a:schemeClr val="dk1"/>
                </a:solidFill>
              </a:rPr>
              <a:t>  def underscore underscore iter underscore underscore inside parentheses self colon</a:t>
            </a:r>
            <a:endParaRPr>
              <a:solidFill>
                <a:schemeClr val="dk1"/>
              </a:solidFill>
            </a:endParaRPr>
          </a:p>
          <a:p>
            <a:pPr indent="0" lvl="0" marL="0" rtl="0" algn="l">
              <a:spcBef>
                <a:spcPts val="0"/>
              </a:spcBef>
              <a:spcAft>
                <a:spcPts val="0"/>
              </a:spcAft>
              <a:buNone/>
            </a:pPr>
            <a:r>
              <a:rPr lang="en">
                <a:solidFill>
                  <a:schemeClr val="dk1"/>
                </a:solidFill>
              </a:rPr>
              <a:t>    return SentenceIterator inside parentheses self.sentences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 Now, let's create a sentence iterator class. this class should implement two methods the next method and the iter method</a:t>
            </a:r>
            <a:endParaRPr>
              <a:solidFill>
                <a:schemeClr val="dk1"/>
              </a:solidFill>
            </a:endParaRPr>
          </a:p>
          <a:p>
            <a:pPr indent="0" lvl="0" marL="0" rtl="0" algn="l">
              <a:spcBef>
                <a:spcPts val="0"/>
              </a:spcBef>
              <a:spcAft>
                <a:spcPts val="0"/>
              </a:spcAft>
              <a:buNone/>
            </a:pPr>
            <a:r>
              <a:rPr lang="en">
                <a:solidFill>
                  <a:schemeClr val="dk1"/>
                </a:solidFill>
              </a:rPr>
              <a:t> the next method should return the next sentence whereas the iter method should return the self object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class SentenceIterator:</a:t>
            </a:r>
            <a:endParaRPr>
              <a:solidFill>
                <a:schemeClr val="dk1"/>
              </a:solidFill>
            </a:endParaRPr>
          </a:p>
          <a:p>
            <a:pPr indent="0" lvl="0" marL="0" rtl="0" algn="l">
              <a:spcBef>
                <a:spcPts val="0"/>
              </a:spcBef>
              <a:spcAft>
                <a:spcPts val="0"/>
              </a:spcAft>
              <a:buNone/>
            </a:pPr>
            <a:r>
              <a:rPr lang="en">
                <a:solidFill>
                  <a:schemeClr val="dk1"/>
                </a:solidFill>
              </a:rPr>
              <a:t>  def underscore underscore init underscore underscore inside parentheses self comma sentences colon</a:t>
            </a:r>
            <a:endParaRPr>
              <a:solidFill>
                <a:schemeClr val="dk1"/>
              </a:solidFill>
            </a:endParaRPr>
          </a:p>
          <a:p>
            <a:pPr indent="0" lvl="0" marL="0" rtl="0" algn="l">
              <a:spcBef>
                <a:spcPts val="0"/>
              </a:spcBef>
              <a:spcAft>
                <a:spcPts val="0"/>
              </a:spcAft>
              <a:buNone/>
            </a:pPr>
            <a:r>
              <a:rPr lang="en">
                <a:solidFill>
                  <a:schemeClr val="dk1"/>
                </a:solidFill>
              </a:rPr>
              <a:t>    Self dot sentences = sentences</a:t>
            </a:r>
            <a:endParaRPr>
              <a:solidFill>
                <a:schemeClr val="dk1"/>
              </a:solidFill>
            </a:endParaRPr>
          </a:p>
          <a:p>
            <a:pPr indent="0" lvl="0" marL="0" rtl="0" algn="l">
              <a:spcBef>
                <a:spcPts val="0"/>
              </a:spcBef>
              <a:spcAft>
                <a:spcPts val="0"/>
              </a:spcAft>
              <a:buNone/>
            </a:pPr>
            <a:r>
              <a:rPr lang="en">
                <a:solidFill>
                  <a:schemeClr val="dk1"/>
                </a:solidFill>
              </a:rPr>
              <a:t>    Self dot index = 0</a:t>
            </a:r>
            <a:endParaRPr>
              <a:solidFill>
                <a:schemeClr val="dk1"/>
              </a:solidFill>
            </a:endParaRPr>
          </a:p>
          <a:p>
            <a:pPr indent="0" lvl="0" marL="0" rtl="0" algn="l">
              <a:spcBef>
                <a:spcPts val="0"/>
              </a:spcBef>
              <a:spcAft>
                <a:spcPts val="0"/>
              </a:spcAft>
              <a:buNone/>
            </a:pP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  def underscore underscore next underscore underscore inside parentheses self colon</a:t>
            </a:r>
            <a:endParaRPr>
              <a:solidFill>
                <a:schemeClr val="dk1"/>
              </a:solidFill>
            </a:endParaRPr>
          </a:p>
          <a:p>
            <a:pPr indent="0" lvl="0" marL="0" rtl="0" algn="l">
              <a:spcBef>
                <a:spcPts val="0"/>
              </a:spcBef>
              <a:spcAft>
                <a:spcPts val="0"/>
              </a:spcAft>
              <a:buNone/>
            </a:pPr>
            <a:r>
              <a:rPr lang="en">
                <a:solidFill>
                  <a:schemeClr val="dk1"/>
                </a:solidFill>
              </a:rPr>
              <a:t>    Try colon</a:t>
            </a:r>
            <a:endParaRPr>
              <a:solidFill>
                <a:schemeClr val="dk1"/>
              </a:solidFill>
            </a:endParaRPr>
          </a:p>
          <a:p>
            <a:pPr indent="0" lvl="0" marL="0" rtl="0" algn="l">
              <a:spcBef>
                <a:spcPts val="0"/>
              </a:spcBef>
              <a:spcAft>
                <a:spcPts val="0"/>
              </a:spcAft>
              <a:buNone/>
            </a:pPr>
            <a:r>
              <a:rPr lang="en">
                <a:solidFill>
                  <a:schemeClr val="dk1"/>
                </a:solidFill>
              </a:rPr>
              <a:t>      sentence = self dot sentences inside brackets self dot index</a:t>
            </a:r>
            <a:endParaRPr>
              <a:solidFill>
                <a:schemeClr val="dk1"/>
              </a:solidFill>
            </a:endParaRPr>
          </a:p>
          <a:p>
            <a:pPr indent="0" lvl="0" marL="0" rtl="0" algn="l">
              <a:spcBef>
                <a:spcPts val="0"/>
              </a:spcBef>
              <a:spcAft>
                <a:spcPts val="0"/>
              </a:spcAft>
              <a:buNone/>
            </a:pPr>
            <a:r>
              <a:rPr lang="en">
                <a:solidFill>
                  <a:schemeClr val="dk1"/>
                </a:solidFill>
              </a:rPr>
              <a:t>    except IndexError colon</a:t>
            </a:r>
            <a:endParaRPr>
              <a:solidFill>
                <a:schemeClr val="dk1"/>
              </a:solidFill>
            </a:endParaRPr>
          </a:p>
          <a:p>
            <a:pPr indent="0" lvl="0" marL="0" rtl="0" algn="l">
              <a:spcBef>
                <a:spcPts val="0"/>
              </a:spcBef>
              <a:spcAft>
                <a:spcPts val="0"/>
              </a:spcAft>
              <a:buNone/>
            </a:pPr>
            <a:r>
              <a:rPr lang="en">
                <a:solidFill>
                  <a:schemeClr val="dk1"/>
                </a:solidFill>
              </a:rPr>
              <a:t>      raise Stop Iteration parentheses</a:t>
            </a:r>
            <a:endParaRPr>
              <a:solidFill>
                <a:schemeClr val="dk1"/>
              </a:solidFill>
            </a:endParaRPr>
          </a:p>
          <a:p>
            <a:pPr indent="0" lvl="0" marL="0" rtl="0" algn="l">
              <a:spcBef>
                <a:spcPts val="0"/>
              </a:spcBef>
              <a:spcAft>
                <a:spcPts val="0"/>
              </a:spcAft>
              <a:buNone/>
            </a:pPr>
            <a:r>
              <a:rPr lang="en">
                <a:solidFill>
                  <a:schemeClr val="dk1"/>
                </a:solidFill>
              </a:rPr>
              <a:t>    Self dot index plus equals 1</a:t>
            </a:r>
            <a:endParaRPr>
              <a:solidFill>
                <a:schemeClr val="dk1"/>
              </a:solidFill>
            </a:endParaRPr>
          </a:p>
          <a:p>
            <a:pPr indent="0" lvl="0" marL="0" rtl="0" algn="l">
              <a:spcBef>
                <a:spcPts val="0"/>
              </a:spcBef>
              <a:spcAft>
                <a:spcPts val="0"/>
              </a:spcAft>
              <a:buNone/>
            </a:pPr>
            <a:r>
              <a:rPr lang="en">
                <a:solidFill>
                  <a:schemeClr val="dk1"/>
                </a:solidFill>
              </a:rPr>
              <a:t>    return sentence</a:t>
            </a:r>
            <a:endParaRPr>
              <a:solidFill>
                <a:schemeClr val="dk1"/>
              </a:solidFill>
            </a:endParaRPr>
          </a:p>
          <a:p>
            <a:pPr indent="0" lvl="0" marL="0" rtl="0" algn="l">
              <a:spcBef>
                <a:spcPts val="0"/>
              </a:spcBef>
              <a:spcAft>
                <a:spcPts val="0"/>
              </a:spcAft>
              <a:buNone/>
            </a:pP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  def underscore underscore iter underscore underscore inside parentheses self colon</a:t>
            </a:r>
            <a:endParaRPr>
              <a:solidFill>
                <a:schemeClr val="dk1"/>
              </a:solidFill>
            </a:endParaRPr>
          </a:p>
          <a:p>
            <a:pPr indent="0" lvl="0" marL="0" rtl="0" algn="l">
              <a:spcBef>
                <a:spcPts val="0"/>
              </a:spcBef>
              <a:spcAft>
                <a:spcPts val="0"/>
              </a:spcAft>
              <a:buNone/>
            </a:pPr>
            <a:r>
              <a:rPr lang="en">
                <a:solidFill>
                  <a:schemeClr val="dk1"/>
                </a:solidFill>
              </a:rPr>
              <a:t>    return self</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 Now let's initialize a piece of text with 3 sentences in it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text =  inside quote Hello. This is an iterable. You can iterable through individual sentences in this iterable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Let's create an object of class sentence iterable and pass the text to it</a:t>
            </a:r>
            <a:endParaRPr>
              <a:solidFill>
                <a:schemeClr val="dk1"/>
              </a:solidFill>
            </a:endParaRPr>
          </a:p>
          <a:p>
            <a:pPr indent="0" lvl="0" marL="0" rtl="0" algn="l">
              <a:spcBef>
                <a:spcPts val="0"/>
              </a:spcBef>
              <a:spcAft>
                <a:spcPts val="0"/>
              </a:spcAft>
              <a:buNone/>
            </a:pPr>
            <a:r>
              <a:rPr lang="en">
                <a:solidFill>
                  <a:schemeClr val="dk1"/>
                </a:solidFill>
              </a:rPr>
              <a:t>iterable equals Sentence Iterable inside parentheses text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Let's use the for loop to verify that we can iterate over each sentence in the iterable object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for i in iterable:</a:t>
            </a:r>
            <a:endParaRPr>
              <a:solidFill>
                <a:schemeClr val="dk1"/>
              </a:solidFill>
            </a:endParaRPr>
          </a:p>
          <a:p>
            <a:pPr indent="0" lvl="0" marL="0" rtl="0" algn="l">
              <a:spcBef>
                <a:spcPts val="0"/>
              </a:spcBef>
              <a:spcAft>
                <a:spcPts val="0"/>
              </a:spcAft>
              <a:buNone/>
            </a:pPr>
            <a:r>
              <a:rPr lang="en">
                <a:solidFill>
                  <a:schemeClr val="dk1"/>
                </a:solidFill>
              </a:rPr>
              <a:t>  Print inside parentheses i</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As expected, we can iterate through each sentence in the text.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Now let’s talk about the generator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As we have already experienced, creating an iterator and an iterable is quite cumbersome. An easier</a:t>
            </a:r>
            <a:endParaRPr>
              <a:solidFill>
                <a:schemeClr val="dk1"/>
              </a:solidFill>
            </a:endParaRPr>
          </a:p>
          <a:p>
            <a:pPr indent="0" lvl="0" marL="0" rtl="0" algn="l">
              <a:spcBef>
                <a:spcPts val="0"/>
              </a:spcBef>
              <a:spcAft>
                <a:spcPts val="0"/>
              </a:spcAft>
              <a:buNone/>
            </a:pPr>
            <a:r>
              <a:rPr lang="en">
                <a:solidFill>
                  <a:schemeClr val="dk1"/>
                </a:solidFill>
              </a:rPr>
              <a:t>alternative is creating generator. Generator are defined and created just like normal function</a:t>
            </a:r>
            <a:endParaRPr>
              <a:solidFill>
                <a:schemeClr val="dk1"/>
              </a:solidFill>
            </a:endParaRPr>
          </a:p>
          <a:p>
            <a:pPr indent="0" lvl="0" marL="0" rtl="0" algn="l">
              <a:spcBef>
                <a:spcPts val="0"/>
              </a:spcBef>
              <a:spcAft>
                <a:spcPts val="0"/>
              </a:spcAft>
              <a:buNone/>
            </a:pPr>
            <a:r>
              <a:rPr lang="en">
                <a:solidFill>
                  <a:schemeClr val="dk1"/>
                </a:solidFill>
              </a:rPr>
              <a:t>with one exception. Instead of the return statement, generators use yield statement to return one item at a time.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let's create a generator function that allows us to retrieve each sentence in the text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def sentence underscore generator inside parentheses text colon</a:t>
            </a:r>
            <a:endParaRPr>
              <a:solidFill>
                <a:schemeClr val="dk1"/>
              </a:solidFill>
            </a:endParaRPr>
          </a:p>
          <a:p>
            <a:pPr indent="0" lvl="0" marL="0" rtl="0" algn="l">
              <a:spcBef>
                <a:spcPts val="0"/>
              </a:spcBef>
              <a:spcAft>
                <a:spcPts val="0"/>
              </a:spcAft>
              <a:buNone/>
            </a:pPr>
            <a:r>
              <a:rPr lang="en">
                <a:solidFill>
                  <a:schemeClr val="dk1"/>
                </a:solidFill>
              </a:rPr>
              <a:t>  First we will need to split the text</a:t>
            </a:r>
            <a:endParaRPr>
              <a:solidFill>
                <a:schemeClr val="dk1"/>
              </a:solidFill>
            </a:endParaRPr>
          </a:p>
          <a:p>
            <a:pPr indent="0" lvl="0" marL="0" rtl="0" algn="l">
              <a:spcBef>
                <a:spcPts val="0"/>
              </a:spcBef>
              <a:spcAft>
                <a:spcPts val="0"/>
              </a:spcAft>
              <a:buNone/>
            </a:pPr>
            <a:r>
              <a:rPr lang="en">
                <a:solidFill>
                  <a:schemeClr val="dk1"/>
                </a:solidFill>
              </a:rPr>
              <a:t>  Splitted underscore text = text dot split inside parentheses within single quotes dot</a:t>
            </a:r>
            <a:endParaRPr>
              <a:solidFill>
                <a:schemeClr val="dk1"/>
              </a:solidFill>
            </a:endParaRPr>
          </a:p>
          <a:p>
            <a:pPr indent="0" lvl="0" marL="0" rtl="0" algn="l">
              <a:spcBef>
                <a:spcPts val="0"/>
              </a:spcBef>
              <a:spcAft>
                <a:spcPts val="0"/>
              </a:spcAft>
              <a:buNone/>
            </a:pPr>
            <a:r>
              <a:rPr lang="en">
                <a:solidFill>
                  <a:schemeClr val="dk1"/>
                </a:solidFill>
              </a:rPr>
              <a:t>  Now, we can yield each item in the splitted text using for loop</a:t>
            </a:r>
            <a:endParaRPr>
              <a:solidFill>
                <a:schemeClr val="dk1"/>
              </a:solidFill>
            </a:endParaRPr>
          </a:p>
          <a:p>
            <a:pPr indent="0" lvl="0" marL="0" rtl="0" algn="l">
              <a:spcBef>
                <a:spcPts val="0"/>
              </a:spcBef>
              <a:spcAft>
                <a:spcPts val="0"/>
              </a:spcAft>
              <a:buNone/>
            </a:pPr>
            <a:r>
              <a:rPr lang="en">
                <a:solidFill>
                  <a:schemeClr val="dk1"/>
                </a:solidFill>
              </a:rPr>
              <a:t>  for sentence in splitted underscore text colon</a:t>
            </a:r>
            <a:endParaRPr>
              <a:solidFill>
                <a:schemeClr val="dk1"/>
              </a:solidFill>
            </a:endParaRPr>
          </a:p>
          <a:p>
            <a:pPr indent="0" lvl="0" marL="0" rtl="0" algn="l">
              <a:spcBef>
                <a:spcPts val="0"/>
              </a:spcBef>
              <a:spcAft>
                <a:spcPts val="0"/>
              </a:spcAft>
              <a:buNone/>
            </a:pPr>
            <a:r>
              <a:rPr lang="en">
                <a:solidFill>
                  <a:schemeClr val="dk1"/>
                </a:solidFill>
              </a:rPr>
              <a:t>    yield sentence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Now, let's create a sentence generator object</a:t>
            </a:r>
            <a:endParaRPr>
              <a:solidFill>
                <a:schemeClr val="dk1"/>
              </a:solidFill>
            </a:endParaRPr>
          </a:p>
          <a:p>
            <a:pPr indent="0" lvl="0" marL="0" rtl="0" algn="l">
              <a:spcBef>
                <a:spcPts val="0"/>
              </a:spcBef>
              <a:spcAft>
                <a:spcPts val="0"/>
              </a:spcAft>
              <a:buNone/>
            </a:pPr>
            <a:r>
              <a:rPr lang="en">
                <a:solidFill>
                  <a:schemeClr val="dk1"/>
                </a:solidFill>
              </a:rPr>
              <a:t>Sentence underscore gen = sentence underscore generator inside parentheses text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let's verify that we can iterate over each sentence in the text using the generator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for sentence in sentence underscore gen:</a:t>
            </a:r>
            <a:endParaRPr>
              <a:solidFill>
                <a:schemeClr val="dk1"/>
              </a:solidFill>
            </a:endParaRPr>
          </a:p>
          <a:p>
            <a:pPr indent="0" lvl="0" marL="0" rtl="0" algn="l">
              <a:spcBef>
                <a:spcPts val="0"/>
              </a:spcBef>
              <a:spcAft>
                <a:spcPts val="0"/>
              </a:spcAft>
              <a:buNone/>
            </a:pPr>
            <a:r>
              <a:rPr lang="en">
                <a:solidFill>
                  <a:schemeClr val="dk1"/>
                </a:solidFill>
              </a:rPr>
              <a:t>  Print inside parentheses sentence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As expected, we can iterate over each sentence in the text. Hence, generator provides an easy and convenient way</a:t>
            </a:r>
            <a:endParaRPr>
              <a:solidFill>
                <a:schemeClr val="dk1"/>
              </a:solidFill>
            </a:endParaRPr>
          </a:p>
          <a:p>
            <a:pPr indent="0" lvl="0" marL="0" rtl="0" algn="l">
              <a:spcBef>
                <a:spcPts val="0"/>
              </a:spcBef>
              <a:spcAft>
                <a:spcPts val="0"/>
              </a:spcAft>
              <a:buNone/>
            </a:pPr>
            <a:r>
              <a:rPr lang="en">
                <a:solidFill>
                  <a:schemeClr val="dk1"/>
                </a:solidFill>
              </a:rPr>
              <a:t>to create iterables.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FFFFFF"/>
              </a:buClr>
              <a:buSzPts val="3400"/>
              <a:buNone/>
              <a:defRPr b="1" sz="3400">
                <a:solidFill>
                  <a:srgbClr val="FFFFFF"/>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rgbClr val="FFFFFF"/>
              </a:buClr>
              <a:buSzPts val="2600"/>
              <a:buNone/>
              <a:defRPr sz="2600">
                <a:solidFill>
                  <a:srgbClr val="FFFFFF"/>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redits">
  <p:cSld name="TITLE_1">
    <p:bg>
      <p:bgPr>
        <a:blipFill>
          <a:blip r:embed="rId2">
            <a:alphaModFix/>
          </a:blip>
          <a:stretch>
            <a:fillRect/>
          </a:stretch>
        </a:blipFill>
      </p:bgPr>
    </p:bg>
    <p:spTree>
      <p:nvGrpSpPr>
        <p:cNvPr id="13" name="Shape 13"/>
        <p:cNvGrpSpPr/>
        <p:nvPr/>
      </p:nvGrpSpPr>
      <p:grpSpPr>
        <a:xfrm>
          <a:off x="0" y="0"/>
          <a:ext cx="0" cy="0"/>
          <a:chOff x="0" y="0"/>
          <a:chExt cx="0" cy="0"/>
        </a:xfrm>
      </p:grpSpPr>
      <p:sp>
        <p:nvSpPr>
          <p:cNvPr id="14" name="Google Shape;14;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 name="Google Shape;15;p3"/>
          <p:cNvSpPr txBox="1"/>
          <p:nvPr/>
        </p:nvSpPr>
        <p:spPr>
          <a:xfrm>
            <a:off x="661475" y="322225"/>
            <a:ext cx="2751300" cy="44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Montserrat"/>
                <a:ea typeface="Montserrat"/>
                <a:cs typeface="Montserrat"/>
                <a:sym typeface="Montserrat"/>
              </a:rPr>
              <a:t>Credits: </a:t>
            </a:r>
            <a:endParaRPr b="1" sz="2400">
              <a:solidFill>
                <a:schemeClr val="lt1"/>
              </a:solidFill>
              <a:latin typeface="Montserrat"/>
              <a:ea typeface="Montserrat"/>
              <a:cs typeface="Montserrat"/>
              <a:sym typeface="Montserrat"/>
            </a:endParaRPr>
          </a:p>
        </p:txBody>
      </p:sp>
      <p:sp>
        <p:nvSpPr>
          <p:cNvPr id="16" name="Google Shape;16;p3"/>
          <p:cNvSpPr txBox="1"/>
          <p:nvPr>
            <p:ph idx="1" type="body"/>
          </p:nvPr>
        </p:nvSpPr>
        <p:spPr>
          <a:xfrm>
            <a:off x="661475" y="1152475"/>
            <a:ext cx="81708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Clr>
                <a:srgbClr val="FFFFFF"/>
              </a:buClr>
              <a:buSzPts val="1800"/>
              <a:buChar char="●"/>
              <a:defRPr>
                <a:solidFill>
                  <a:srgbClr val="FFFFFF"/>
                </a:solidFill>
              </a:defRPr>
            </a:lvl1pPr>
            <a:lvl2pPr indent="-317500" lvl="1" marL="914400" rtl="0">
              <a:spcBef>
                <a:spcPts val="1600"/>
              </a:spcBef>
              <a:spcAft>
                <a:spcPts val="0"/>
              </a:spcAft>
              <a:buClr>
                <a:srgbClr val="FFFFFF"/>
              </a:buClr>
              <a:buSzPts val="1400"/>
              <a:buChar char="○"/>
              <a:defRPr>
                <a:solidFill>
                  <a:srgbClr val="FFFFFF"/>
                </a:solidFill>
              </a:defRPr>
            </a:lvl2pPr>
            <a:lvl3pPr indent="-317500" lvl="2" marL="1371600" rtl="0">
              <a:spcBef>
                <a:spcPts val="1600"/>
              </a:spcBef>
              <a:spcAft>
                <a:spcPts val="0"/>
              </a:spcAft>
              <a:buClr>
                <a:srgbClr val="FFFFFF"/>
              </a:buClr>
              <a:buSzPts val="1400"/>
              <a:buChar char="■"/>
              <a:defRPr>
                <a:solidFill>
                  <a:srgbClr val="FFFFFF"/>
                </a:solidFill>
              </a:defRPr>
            </a:lvl3pPr>
            <a:lvl4pPr indent="-317500" lvl="3" marL="1828800" rtl="0">
              <a:spcBef>
                <a:spcPts val="1600"/>
              </a:spcBef>
              <a:spcAft>
                <a:spcPts val="0"/>
              </a:spcAft>
              <a:buClr>
                <a:srgbClr val="FFFFFF"/>
              </a:buClr>
              <a:buSzPts val="1400"/>
              <a:buChar char="●"/>
              <a:defRPr>
                <a:solidFill>
                  <a:srgbClr val="FFFFFF"/>
                </a:solidFill>
              </a:defRPr>
            </a:lvl4pPr>
            <a:lvl5pPr indent="-317500" lvl="4" marL="2286000" rtl="0">
              <a:spcBef>
                <a:spcPts val="1600"/>
              </a:spcBef>
              <a:spcAft>
                <a:spcPts val="0"/>
              </a:spcAft>
              <a:buClr>
                <a:srgbClr val="FFFFFF"/>
              </a:buClr>
              <a:buSzPts val="1400"/>
              <a:buChar char="○"/>
              <a:defRPr>
                <a:solidFill>
                  <a:srgbClr val="FFFFFF"/>
                </a:solidFill>
              </a:defRPr>
            </a:lvl5pPr>
            <a:lvl6pPr indent="-317500" lvl="5" marL="2743200" rtl="0">
              <a:spcBef>
                <a:spcPts val="1600"/>
              </a:spcBef>
              <a:spcAft>
                <a:spcPts val="0"/>
              </a:spcAft>
              <a:buClr>
                <a:srgbClr val="FFFFFF"/>
              </a:buClr>
              <a:buSzPts val="1400"/>
              <a:buChar char="■"/>
              <a:defRPr>
                <a:solidFill>
                  <a:srgbClr val="FFFFFF"/>
                </a:solidFill>
              </a:defRPr>
            </a:lvl6pPr>
            <a:lvl7pPr indent="-317500" lvl="6" marL="3200400" rtl="0">
              <a:spcBef>
                <a:spcPts val="1600"/>
              </a:spcBef>
              <a:spcAft>
                <a:spcPts val="0"/>
              </a:spcAft>
              <a:buClr>
                <a:srgbClr val="FFFFFF"/>
              </a:buClr>
              <a:buSzPts val="1400"/>
              <a:buChar char="●"/>
              <a:defRPr>
                <a:solidFill>
                  <a:srgbClr val="FFFFFF"/>
                </a:solidFill>
              </a:defRPr>
            </a:lvl7pPr>
            <a:lvl8pPr indent="-317500" lvl="7" marL="3657600" rtl="0">
              <a:spcBef>
                <a:spcPts val="1600"/>
              </a:spcBef>
              <a:spcAft>
                <a:spcPts val="0"/>
              </a:spcAft>
              <a:buClr>
                <a:srgbClr val="FFFFFF"/>
              </a:buClr>
              <a:buSzPts val="1400"/>
              <a:buChar char="○"/>
              <a:defRPr>
                <a:solidFill>
                  <a:srgbClr val="FFFFFF"/>
                </a:solidFill>
              </a:defRPr>
            </a:lvl8pPr>
            <a:lvl9pPr indent="-317500" lvl="8" marL="4114800" rtl="0">
              <a:spcBef>
                <a:spcPts val="1600"/>
              </a:spcBef>
              <a:spcAft>
                <a:spcPts val="1600"/>
              </a:spcAft>
              <a:buClr>
                <a:srgbClr val="FFFFFF"/>
              </a:buClr>
              <a:buSzPts val="1400"/>
              <a:buChar char="■"/>
              <a:defRPr>
                <a:solidFill>
                  <a:srgbClr val="FFFFFF"/>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58A4E2"/>
        </a:solid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540300" y="2990425"/>
            <a:ext cx="8093700" cy="1672800"/>
          </a:xfrm>
          <a:prstGeom prst="rect">
            <a:avLst/>
          </a:prstGeom>
        </p:spPr>
        <p:txBody>
          <a:bodyPr anchorCtr="0" anchor="ctr" bIns="91425" lIns="91425" spcFirstLastPara="1" rIns="91425" wrap="square" tIns="91425">
            <a:noAutofit/>
          </a:bodyPr>
          <a:lstStyle>
            <a:lvl1pPr lvl="0">
              <a:spcBef>
                <a:spcPts val="0"/>
              </a:spcBef>
              <a:spcAft>
                <a:spcPts val="0"/>
              </a:spcAft>
              <a:buClr>
                <a:srgbClr val="FFFFFF"/>
              </a:buClr>
              <a:buSzPts val="2800"/>
              <a:buNone/>
              <a:defRPr b="1" sz="2800">
                <a:solidFill>
                  <a:srgbClr val="FFFFFF"/>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5"/>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22" name="Google Shape;22;p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4" name="Google Shape;24;p5"/>
          <p:cNvSpPr/>
          <p:nvPr/>
        </p:nvSpPr>
        <p:spPr>
          <a:xfrm>
            <a:off x="0" y="326707"/>
            <a:ext cx="152400" cy="4923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25" name="Google Shape;25;p5"/>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Heading-Body">
  <p:cSld name="TITLE_AND_BODY_2">
    <p:spTree>
      <p:nvGrpSpPr>
        <p:cNvPr id="26" name="Shape 26"/>
        <p:cNvGrpSpPr/>
        <p:nvPr/>
      </p:nvGrpSpPr>
      <p:grpSpPr>
        <a:xfrm>
          <a:off x="0" y="0"/>
          <a:ext cx="0" cy="0"/>
          <a:chOff x="0" y="0"/>
          <a:chExt cx="0" cy="0"/>
        </a:xfrm>
      </p:grpSpPr>
      <p:sp>
        <p:nvSpPr>
          <p:cNvPr id="27" name="Google Shape;27;p6"/>
          <p:cNvSpPr txBox="1"/>
          <p:nvPr>
            <p:ph type="title"/>
          </p:nvPr>
        </p:nvSpPr>
        <p:spPr>
          <a:xfrm>
            <a:off x="311700" y="286500"/>
            <a:ext cx="34398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600"/>
              <a:buNone/>
              <a:defRPr b="1"/>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28" name="Google Shape;28;p6"/>
          <p:cNvSpPr txBox="1"/>
          <p:nvPr>
            <p:ph idx="1" type="body"/>
          </p:nvPr>
        </p:nvSpPr>
        <p:spPr>
          <a:xfrm>
            <a:off x="311700" y="1283150"/>
            <a:ext cx="8520600" cy="32856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9" name="Google Shape;29;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6"/>
          <p:cNvSpPr/>
          <p:nvPr/>
        </p:nvSpPr>
        <p:spPr>
          <a:xfrm>
            <a:off x="0" y="326707"/>
            <a:ext cx="152400" cy="4923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31" name="Google Shape;31;p6"/>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ssertion-Evidence">
  <p:cSld name="TITLE_AND_BODY_1">
    <p:spTree>
      <p:nvGrpSpPr>
        <p:cNvPr id="32" name="Shape 32"/>
        <p:cNvGrpSpPr/>
        <p:nvPr/>
      </p:nvGrpSpPr>
      <p:grpSpPr>
        <a:xfrm>
          <a:off x="0" y="0"/>
          <a:ext cx="0" cy="0"/>
          <a:chOff x="0" y="0"/>
          <a:chExt cx="0" cy="0"/>
        </a:xfrm>
      </p:grpSpPr>
      <p:sp>
        <p:nvSpPr>
          <p:cNvPr id="33" name="Google Shape;33;p7"/>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34" name="Google Shape;34;p7"/>
          <p:cNvSpPr txBox="1"/>
          <p:nvPr>
            <p:ph idx="1" type="body"/>
          </p:nvPr>
        </p:nvSpPr>
        <p:spPr>
          <a:xfrm>
            <a:off x="311700" y="1405125"/>
            <a:ext cx="8520600" cy="3163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6" name="Google Shape;36;p7"/>
          <p:cNvSpPr/>
          <p:nvPr/>
        </p:nvSpPr>
        <p:spPr>
          <a:xfrm>
            <a:off x="0" y="216419"/>
            <a:ext cx="152400" cy="9348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37" name="Google Shape;37;p7"/>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ssertion-Evidence 1">
  <p:cSld name="TITLE_AND_BODY_1_1">
    <p:spTree>
      <p:nvGrpSpPr>
        <p:cNvPr id="38" name="Shape 38"/>
        <p:cNvGrpSpPr/>
        <p:nvPr/>
      </p:nvGrpSpPr>
      <p:grpSpPr>
        <a:xfrm>
          <a:off x="0" y="0"/>
          <a:ext cx="0" cy="0"/>
          <a:chOff x="0" y="0"/>
          <a:chExt cx="0" cy="0"/>
        </a:xfrm>
      </p:grpSpPr>
      <p:sp>
        <p:nvSpPr>
          <p:cNvPr id="39" name="Google Shape;39;p8"/>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1" name="Google Shape;41;p8"/>
          <p:cNvSpPr/>
          <p:nvPr/>
        </p:nvSpPr>
        <p:spPr>
          <a:xfrm>
            <a:off x="0" y="216419"/>
            <a:ext cx="152400" cy="9348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42" name="Google Shape;42;p8"/>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corner">
  <p:cSld name="TITLE_AND_BODY_1_1_3">
    <p:spTree>
      <p:nvGrpSpPr>
        <p:cNvPr id="43" name="Shape 43"/>
        <p:cNvGrpSpPr/>
        <p:nvPr/>
      </p:nvGrpSpPr>
      <p:grpSpPr>
        <a:xfrm>
          <a:off x="0" y="0"/>
          <a:ext cx="0" cy="0"/>
          <a:chOff x="0" y="0"/>
          <a:chExt cx="0" cy="0"/>
        </a:xfrm>
      </p:grpSpPr>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9"/>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flection Spot">
  <p:cSld name="TITLE_AND_BODY_1_1_2">
    <p:spTree>
      <p:nvGrpSpPr>
        <p:cNvPr id="46" name="Shape 46"/>
        <p:cNvGrpSpPr/>
        <p:nvPr/>
      </p:nvGrpSpPr>
      <p:grpSpPr>
        <a:xfrm>
          <a:off x="0" y="0"/>
          <a:ext cx="0" cy="0"/>
          <a:chOff x="0" y="0"/>
          <a:chExt cx="0" cy="0"/>
        </a:xfrm>
      </p:grpSpPr>
      <p:sp>
        <p:nvSpPr>
          <p:cNvPr id="47" name="Google Shape;47;p10"/>
          <p:cNvSpPr txBox="1"/>
          <p:nvPr>
            <p:ph type="title"/>
          </p:nvPr>
        </p:nvSpPr>
        <p:spPr>
          <a:xfrm>
            <a:off x="1456750" y="390550"/>
            <a:ext cx="7362300" cy="9348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p10"/>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50" name="Google Shape;50;p10"/>
          <p:cNvGrpSpPr/>
          <p:nvPr/>
        </p:nvGrpSpPr>
        <p:grpSpPr>
          <a:xfrm>
            <a:off x="275437" y="298844"/>
            <a:ext cx="934800" cy="934800"/>
            <a:chOff x="170337" y="194819"/>
            <a:chExt cx="934800" cy="934800"/>
          </a:xfrm>
        </p:grpSpPr>
        <p:sp>
          <p:nvSpPr>
            <p:cNvPr id="51" name="Google Shape;51;p10"/>
            <p:cNvSpPr/>
            <p:nvPr/>
          </p:nvSpPr>
          <p:spPr>
            <a:xfrm>
              <a:off x="170337" y="194819"/>
              <a:ext cx="934800" cy="934800"/>
            </a:xfrm>
            <a:prstGeom prst="ellipse">
              <a:avLst/>
            </a:prstGeom>
            <a:solidFill>
              <a:srgbClr val="2074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p:nvPr/>
          </p:nvSpPr>
          <p:spPr>
            <a:xfrm>
              <a:off x="447325" y="409432"/>
              <a:ext cx="152400" cy="4923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53" name="Google Shape;53;p10"/>
            <p:cNvSpPr/>
            <p:nvPr/>
          </p:nvSpPr>
          <p:spPr>
            <a:xfrm>
              <a:off x="689375" y="409432"/>
              <a:ext cx="152400" cy="4923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grpSp>
      <p:sp>
        <p:nvSpPr>
          <p:cNvPr id="54" name="Google Shape;54;p10"/>
          <p:cNvSpPr txBox="1"/>
          <p:nvPr>
            <p:ph idx="1" type="body"/>
          </p:nvPr>
        </p:nvSpPr>
        <p:spPr>
          <a:xfrm>
            <a:off x="905400" y="1537450"/>
            <a:ext cx="7333200" cy="294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lipped Assertion-Evidence">
  <p:cSld name="TITLE_AND_BODY_1_1_1">
    <p:spTree>
      <p:nvGrpSpPr>
        <p:cNvPr id="55" name="Shape 55"/>
        <p:cNvGrpSpPr/>
        <p:nvPr/>
      </p:nvGrpSpPr>
      <p:grpSpPr>
        <a:xfrm>
          <a:off x="0" y="0"/>
          <a:ext cx="0" cy="0"/>
          <a:chOff x="0" y="0"/>
          <a:chExt cx="0" cy="0"/>
        </a:xfrm>
      </p:grpSpPr>
      <p:sp>
        <p:nvSpPr>
          <p:cNvPr id="56" name="Google Shape;56;p11"/>
          <p:cNvSpPr txBox="1"/>
          <p:nvPr>
            <p:ph type="title"/>
          </p:nvPr>
        </p:nvSpPr>
        <p:spPr>
          <a:xfrm>
            <a:off x="311700" y="4026425"/>
            <a:ext cx="8520600" cy="9348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8" name="Google Shape;58;p11"/>
          <p:cNvSpPr/>
          <p:nvPr/>
        </p:nvSpPr>
        <p:spPr>
          <a:xfrm>
            <a:off x="0" y="4026419"/>
            <a:ext cx="152400" cy="9348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59" name="Google Shape;59;p11"/>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0" name="Shape 60"/>
        <p:cNvGrpSpPr/>
        <p:nvPr/>
      </p:nvGrpSpPr>
      <p:grpSpPr>
        <a:xfrm>
          <a:off x="0" y="0"/>
          <a:ext cx="0" cy="0"/>
          <a:chOff x="0" y="0"/>
          <a:chExt cx="0" cy="0"/>
        </a:xfrm>
      </p:grpSpPr>
      <p:sp>
        <p:nvSpPr>
          <p:cNvPr id="61" name="Google Shape;61;p12"/>
          <p:cNvSpPr txBox="1"/>
          <p:nvPr>
            <p:ph idx="1" type="body"/>
          </p:nvPr>
        </p:nvSpPr>
        <p:spPr>
          <a:xfrm>
            <a:off x="311700" y="1275238"/>
            <a:ext cx="3999900" cy="3293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62" name="Google Shape;62;p12"/>
          <p:cNvSpPr txBox="1"/>
          <p:nvPr>
            <p:ph idx="2" type="body"/>
          </p:nvPr>
        </p:nvSpPr>
        <p:spPr>
          <a:xfrm>
            <a:off x="4832400" y="1275238"/>
            <a:ext cx="3999900" cy="3293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4" name="Google Shape;64;p12"/>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5" name="Google Shape;65;p12"/>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66" name="Google Shape;66;p12"/>
          <p:cNvSpPr/>
          <p:nvPr/>
        </p:nvSpPr>
        <p:spPr>
          <a:xfrm>
            <a:off x="0" y="216419"/>
            <a:ext cx="152400" cy="9348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13"/>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0" name="Google Shape;70;p13"/>
          <p:cNvSpPr/>
          <p:nvPr/>
        </p:nvSpPr>
        <p:spPr>
          <a:xfrm>
            <a:off x="0" y="326707"/>
            <a:ext cx="152400" cy="4923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71" name="Google Shape;71;p13"/>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2" name="Shape 72"/>
        <p:cNvGrpSpPr/>
        <p:nvPr/>
      </p:nvGrpSpPr>
      <p:grpSpPr>
        <a:xfrm>
          <a:off x="0" y="0"/>
          <a:ext cx="0" cy="0"/>
          <a:chOff x="0" y="0"/>
          <a:chExt cx="0" cy="0"/>
        </a:xfrm>
      </p:grpSpPr>
      <p:sp>
        <p:nvSpPr>
          <p:cNvPr id="73" name="Google Shape;73;p14"/>
          <p:cNvSpPr txBox="1"/>
          <p:nvPr>
            <p:ph idx="1" type="body"/>
          </p:nvPr>
        </p:nvSpPr>
        <p:spPr>
          <a:xfrm>
            <a:off x="311700" y="1228775"/>
            <a:ext cx="2808000" cy="3340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74" name="Google Shape;74;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14"/>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76" name="Google Shape;76;p14"/>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77" name="Google Shape;77;p14"/>
          <p:cNvSpPr/>
          <p:nvPr/>
        </p:nvSpPr>
        <p:spPr>
          <a:xfrm>
            <a:off x="0" y="216419"/>
            <a:ext cx="152400" cy="9348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8" name="Shape 78"/>
        <p:cNvGrpSpPr/>
        <p:nvPr/>
      </p:nvGrpSpPr>
      <p:grpSpPr>
        <a:xfrm>
          <a:off x="0" y="0"/>
          <a:ext cx="0" cy="0"/>
          <a:chOff x="0" y="0"/>
          <a:chExt cx="0" cy="0"/>
        </a:xfrm>
      </p:grpSpPr>
      <p:sp>
        <p:nvSpPr>
          <p:cNvPr id="79" name="Google Shape;79;p15"/>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80" name="Google Shape;80;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1" name="Shape 81"/>
        <p:cNvGrpSpPr/>
        <p:nvPr/>
      </p:nvGrpSpPr>
      <p:grpSpPr>
        <a:xfrm>
          <a:off x="0" y="0"/>
          <a:ext cx="0" cy="0"/>
          <a:chOff x="0" y="0"/>
          <a:chExt cx="0" cy="0"/>
        </a:xfrm>
      </p:grpSpPr>
      <p:sp>
        <p:nvSpPr>
          <p:cNvPr id="82" name="Google Shape;82;p1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6"/>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4" name="Google Shape;84;p16"/>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5" name="Google Shape;85;p1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86" name="Google Shape;86;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7" name="Shape 87"/>
        <p:cNvGrpSpPr/>
        <p:nvPr/>
      </p:nvGrpSpPr>
      <p:grpSpPr>
        <a:xfrm>
          <a:off x="0" y="0"/>
          <a:ext cx="0" cy="0"/>
          <a:chOff x="0" y="0"/>
          <a:chExt cx="0" cy="0"/>
        </a:xfrm>
      </p:grpSpPr>
      <p:sp>
        <p:nvSpPr>
          <p:cNvPr id="88" name="Google Shape;88;p17"/>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89" name="Google Shape;89;p17"/>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90" name="Google Shape;90;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7"/>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Frame">
  <p:cSld name="BIG_NUMBER_1">
    <p:spTree>
      <p:nvGrpSpPr>
        <p:cNvPr id="92" name="Shape 92"/>
        <p:cNvGrpSpPr/>
        <p:nvPr/>
      </p:nvGrpSpPr>
      <p:grpSpPr>
        <a:xfrm>
          <a:off x="0" y="0"/>
          <a:ext cx="0" cy="0"/>
          <a:chOff x="0" y="0"/>
          <a:chExt cx="0" cy="0"/>
        </a:xfrm>
      </p:grpSpPr>
      <p:sp>
        <p:nvSpPr>
          <p:cNvPr id="93" name="Google Shape;93;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8"/>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3">
  <p:cSld name="BLANK_3">
    <p:spTree>
      <p:nvGrpSpPr>
        <p:cNvPr id="97" name="Shape 97"/>
        <p:cNvGrpSpPr/>
        <p:nvPr/>
      </p:nvGrpSpPr>
      <p:grpSpPr>
        <a:xfrm>
          <a:off x="0" y="0"/>
          <a:ext cx="0" cy="0"/>
          <a:chOff x="0" y="0"/>
          <a:chExt cx="0" cy="0"/>
        </a:xfrm>
      </p:grpSpPr>
      <p:sp>
        <p:nvSpPr>
          <p:cNvPr id="98" name="Google Shape;98;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20"/>
          <p:cNvSpPr/>
          <p:nvPr/>
        </p:nvSpPr>
        <p:spPr>
          <a:xfrm>
            <a:off x="3408394" y="326707"/>
            <a:ext cx="152400" cy="4923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100" name="Google Shape;100;p20"/>
          <p:cNvSpPr txBox="1"/>
          <p:nvPr>
            <p:ph type="title"/>
          </p:nvPr>
        </p:nvSpPr>
        <p:spPr>
          <a:xfrm>
            <a:off x="3764000" y="328450"/>
            <a:ext cx="34398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600"/>
              <a:buNone/>
              <a:defRPr b="1"/>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_2">
    <p:spTree>
      <p:nvGrpSpPr>
        <p:cNvPr id="101" name="Shape 101"/>
        <p:cNvGrpSpPr/>
        <p:nvPr/>
      </p:nvGrpSpPr>
      <p:grpSpPr>
        <a:xfrm>
          <a:off x="0" y="0"/>
          <a:ext cx="0" cy="0"/>
          <a:chOff x="0" y="0"/>
          <a:chExt cx="0" cy="0"/>
        </a:xfrm>
      </p:grpSpPr>
      <p:sp>
        <p:nvSpPr>
          <p:cNvPr id="102" name="Google Shape;102;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rgbClr val="2074B9"/>
        </a:solidFill>
      </p:bgPr>
    </p:bg>
    <p:spTree>
      <p:nvGrpSpPr>
        <p:cNvPr id="103" name="Shape 103"/>
        <p:cNvGrpSpPr/>
        <p:nvPr/>
      </p:nvGrpSpPr>
      <p:grpSpPr>
        <a:xfrm>
          <a:off x="0" y="0"/>
          <a:ext cx="0" cy="0"/>
          <a:chOff x="0" y="0"/>
          <a:chExt cx="0" cy="0"/>
        </a:xfrm>
      </p:grpSpPr>
      <p:sp>
        <p:nvSpPr>
          <p:cNvPr id="104" name="Google Shape;104;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p:cSld name="BLANK_1_1">
    <p:bg>
      <p:bgPr>
        <a:solidFill>
          <a:srgbClr val="2074B9"/>
        </a:solidFill>
      </p:bgPr>
    </p:bg>
    <p:spTree>
      <p:nvGrpSpPr>
        <p:cNvPr id="105" name="Shape 105"/>
        <p:cNvGrpSpPr/>
        <p:nvPr/>
      </p:nvGrpSpPr>
      <p:grpSpPr>
        <a:xfrm>
          <a:off x="0" y="0"/>
          <a:ext cx="0" cy="0"/>
          <a:chOff x="0" y="0"/>
          <a:chExt cx="0" cy="0"/>
        </a:xfrm>
      </p:grpSpPr>
      <p:sp>
        <p:nvSpPr>
          <p:cNvPr id="106" name="Google Shape;106;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164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1pPr>
            <a:lvl2pPr lvl="1">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2pPr>
            <a:lvl3pPr lvl="2">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3pPr>
            <a:lvl4pPr lvl="3">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4pPr>
            <a:lvl5pPr lvl="4">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5pPr>
            <a:lvl6pPr lvl="5">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6pPr>
            <a:lvl7pPr lvl="6">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7pPr>
            <a:lvl8pPr lvl="7">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8pPr>
            <a:lvl9pPr lvl="8">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15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comments" Target="../comments/commen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comments" Target="../comments/commen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Functional Programming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5"/>
          <p:cNvSpPr txBox="1"/>
          <p:nvPr>
            <p:ph type="title"/>
          </p:nvPr>
        </p:nvSpPr>
        <p:spPr>
          <a:xfrm>
            <a:off x="540300" y="2990425"/>
            <a:ext cx="8093700" cy="167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First Class Function and Pure Function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6"/>
          <p:cNvSpPr txBox="1"/>
          <p:nvPr>
            <p:ph type="title"/>
          </p:nvPr>
        </p:nvSpPr>
        <p:spPr>
          <a:xfrm>
            <a:off x="311700" y="286500"/>
            <a:ext cx="68454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 python everything is an object.</a:t>
            </a:r>
            <a:endParaRPr b="1"/>
          </a:p>
        </p:txBody>
      </p:sp>
      <p:pic>
        <p:nvPicPr>
          <p:cNvPr id="122" name="Google Shape;122;p26"/>
          <p:cNvPicPr preferRelativeResize="0"/>
          <p:nvPr/>
        </p:nvPicPr>
        <p:blipFill>
          <a:blip r:embed="rId3">
            <a:alphaModFix/>
          </a:blip>
          <a:stretch>
            <a:fillRect/>
          </a:stretch>
        </p:blipFill>
        <p:spPr>
          <a:xfrm>
            <a:off x="1666875" y="1447800"/>
            <a:ext cx="5810250" cy="2247900"/>
          </a:xfrm>
          <a:prstGeom prst="rect">
            <a:avLst/>
          </a:prstGeom>
          <a:noFill/>
          <a:ln>
            <a:noFill/>
          </a:ln>
        </p:spPr>
      </p:pic>
      <p:sp>
        <p:nvSpPr>
          <p:cNvPr id="123" name="Google Shape;123;p26"/>
          <p:cNvSpPr/>
          <p:nvPr/>
        </p:nvSpPr>
        <p:spPr>
          <a:xfrm>
            <a:off x="1685550" y="1529150"/>
            <a:ext cx="2033100" cy="799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6"/>
          <p:cNvSpPr/>
          <p:nvPr/>
        </p:nvSpPr>
        <p:spPr>
          <a:xfrm>
            <a:off x="1685550" y="3123000"/>
            <a:ext cx="2797500" cy="572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gtEl>
                                        <p:attrNameLst>
                                          <p:attrName>style.visibility</p:attrName>
                                        </p:attrNameLst>
                                      </p:cBhvr>
                                      <p:to>
                                        <p:strVal val="visible"/>
                                      </p:to>
                                    </p:set>
                                    <p:animEffect filter="fade" transition="in">
                                      <p:cBhvr>
                                        <p:cTn dur="1000"/>
                                        <p:tgtEl>
                                          <p:spTgt spid="1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1000"/>
                                        <p:tgtEl>
                                          <p:spTgt spid="1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7"/>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First class functions are those </a:t>
            </a:r>
            <a:r>
              <a:rPr b="1" lang="en"/>
              <a:t>functions</a:t>
            </a:r>
            <a:r>
              <a:rPr b="1" lang="en"/>
              <a:t> that are treated like any other variables</a:t>
            </a:r>
            <a:endParaRPr/>
          </a:p>
        </p:txBody>
      </p:sp>
      <p:sp>
        <p:nvSpPr>
          <p:cNvPr id="130" name="Google Shape;130;p27"/>
          <p:cNvSpPr txBox="1"/>
          <p:nvPr/>
        </p:nvSpPr>
        <p:spPr>
          <a:xfrm>
            <a:off x="1911425" y="1789800"/>
            <a:ext cx="38055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Montserrat"/>
              <a:buChar char="■"/>
            </a:pPr>
            <a:r>
              <a:rPr lang="en">
                <a:latin typeface="Montserrat"/>
                <a:ea typeface="Montserrat"/>
                <a:cs typeface="Montserrat"/>
                <a:sym typeface="Montserrat"/>
              </a:rPr>
              <a:t>Created at runtime</a:t>
            </a:r>
            <a:endParaRPr>
              <a:latin typeface="Montserrat"/>
              <a:ea typeface="Montserrat"/>
              <a:cs typeface="Montserrat"/>
              <a:sym typeface="Montserrat"/>
            </a:endParaRPr>
          </a:p>
        </p:txBody>
      </p:sp>
      <p:sp>
        <p:nvSpPr>
          <p:cNvPr id="131" name="Google Shape;131;p27"/>
          <p:cNvSpPr txBox="1"/>
          <p:nvPr/>
        </p:nvSpPr>
        <p:spPr>
          <a:xfrm>
            <a:off x="1911425" y="2502225"/>
            <a:ext cx="58386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Montserrat"/>
              <a:buChar char="■"/>
            </a:pPr>
            <a:r>
              <a:rPr lang="en">
                <a:latin typeface="Montserrat"/>
                <a:ea typeface="Montserrat"/>
                <a:cs typeface="Montserrat"/>
                <a:sym typeface="Montserrat"/>
              </a:rPr>
              <a:t>Assigned to a variable or element in a data structure</a:t>
            </a:r>
            <a:endParaRPr>
              <a:latin typeface="Montserrat"/>
              <a:ea typeface="Montserrat"/>
              <a:cs typeface="Montserrat"/>
              <a:sym typeface="Montserrat"/>
            </a:endParaRPr>
          </a:p>
        </p:txBody>
      </p:sp>
      <p:sp>
        <p:nvSpPr>
          <p:cNvPr id="132" name="Google Shape;132;p27"/>
          <p:cNvSpPr txBox="1"/>
          <p:nvPr/>
        </p:nvSpPr>
        <p:spPr>
          <a:xfrm>
            <a:off x="1911425" y="3284175"/>
            <a:ext cx="55431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Montserrat"/>
              <a:buChar char="■"/>
            </a:pPr>
            <a:r>
              <a:rPr lang="en">
                <a:latin typeface="Montserrat"/>
                <a:ea typeface="Montserrat"/>
                <a:cs typeface="Montserrat"/>
                <a:sym typeface="Montserrat"/>
              </a:rPr>
              <a:t>Passed as an argument to the function</a:t>
            </a:r>
            <a:endParaRPr>
              <a:latin typeface="Montserrat"/>
              <a:ea typeface="Montserrat"/>
              <a:cs typeface="Montserrat"/>
              <a:sym typeface="Montserrat"/>
            </a:endParaRPr>
          </a:p>
        </p:txBody>
      </p:sp>
      <p:sp>
        <p:nvSpPr>
          <p:cNvPr id="133" name="Google Shape;133;p27"/>
          <p:cNvSpPr txBox="1"/>
          <p:nvPr/>
        </p:nvSpPr>
        <p:spPr>
          <a:xfrm>
            <a:off x="1911425" y="3979250"/>
            <a:ext cx="44310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Montserrat"/>
              <a:buChar char="■"/>
            </a:pPr>
            <a:r>
              <a:rPr lang="en">
                <a:latin typeface="Montserrat"/>
                <a:ea typeface="Montserrat"/>
                <a:cs typeface="Montserrat"/>
                <a:sym typeface="Montserrat"/>
              </a:rPr>
              <a:t>Returned as a result of the function</a:t>
            </a:r>
            <a:endParaRPr>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1000"/>
                                        <p:tgtEl>
                                          <p:spTgt spid="1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1000"/>
                                        <p:tgtEl>
                                          <p:spTgt spid="1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10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8"/>
          <p:cNvSpPr txBox="1"/>
          <p:nvPr>
            <p:ph type="title"/>
          </p:nvPr>
        </p:nvSpPr>
        <p:spPr>
          <a:xfrm>
            <a:off x="311700" y="286500"/>
            <a:ext cx="84909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 pure function doesn’t have any side effects</a:t>
            </a:r>
            <a:endParaRPr b="1"/>
          </a:p>
        </p:txBody>
      </p:sp>
      <p:sp>
        <p:nvSpPr>
          <p:cNvPr id="139" name="Google Shape;139;p28"/>
          <p:cNvSpPr/>
          <p:nvPr/>
        </p:nvSpPr>
        <p:spPr>
          <a:xfrm>
            <a:off x="3797700" y="2543000"/>
            <a:ext cx="1518900" cy="9897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f(x)</a:t>
            </a:r>
            <a:endParaRPr b="1"/>
          </a:p>
        </p:txBody>
      </p:sp>
      <p:grpSp>
        <p:nvGrpSpPr>
          <p:cNvPr id="140" name="Google Shape;140;p28"/>
          <p:cNvGrpSpPr/>
          <p:nvPr/>
        </p:nvGrpSpPr>
        <p:grpSpPr>
          <a:xfrm>
            <a:off x="1409850" y="1907975"/>
            <a:ext cx="6312025" cy="1581938"/>
            <a:chOff x="1409850" y="1907975"/>
            <a:chExt cx="6312025" cy="1581938"/>
          </a:xfrm>
        </p:grpSpPr>
        <p:sp>
          <p:nvSpPr>
            <p:cNvPr id="141" name="Google Shape;141;p28"/>
            <p:cNvSpPr txBox="1"/>
            <p:nvPr/>
          </p:nvSpPr>
          <p:spPr>
            <a:xfrm>
              <a:off x="1409850" y="1907975"/>
              <a:ext cx="1315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Montserrat"/>
                  <a:ea typeface="Montserrat"/>
                  <a:cs typeface="Montserrat"/>
                  <a:sym typeface="Montserrat"/>
                </a:rPr>
                <a:t>input</a:t>
              </a:r>
              <a:endParaRPr b="1">
                <a:latin typeface="Montserrat"/>
                <a:ea typeface="Montserrat"/>
                <a:cs typeface="Montserrat"/>
                <a:sym typeface="Montserrat"/>
              </a:endParaRPr>
            </a:p>
          </p:txBody>
        </p:sp>
        <p:sp>
          <p:nvSpPr>
            <p:cNvPr id="142" name="Google Shape;142;p28"/>
            <p:cNvSpPr txBox="1"/>
            <p:nvPr/>
          </p:nvSpPr>
          <p:spPr>
            <a:xfrm>
              <a:off x="6041875" y="1907975"/>
              <a:ext cx="168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Montserrat"/>
                  <a:ea typeface="Montserrat"/>
                  <a:cs typeface="Montserrat"/>
                  <a:sym typeface="Montserrat"/>
                </a:rPr>
                <a:t>output</a:t>
              </a:r>
              <a:endParaRPr b="1">
                <a:latin typeface="Montserrat"/>
                <a:ea typeface="Montserrat"/>
                <a:cs typeface="Montserrat"/>
                <a:sym typeface="Montserrat"/>
              </a:endParaRPr>
            </a:p>
          </p:txBody>
        </p:sp>
        <p:sp>
          <p:nvSpPr>
            <p:cNvPr id="143" name="Google Shape;143;p28"/>
            <p:cNvSpPr txBox="1"/>
            <p:nvPr/>
          </p:nvSpPr>
          <p:spPr>
            <a:xfrm>
              <a:off x="1563900" y="2585788"/>
              <a:ext cx="1007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Montserrat"/>
                  <a:ea typeface="Montserrat"/>
                  <a:cs typeface="Montserrat"/>
                  <a:sym typeface="Montserrat"/>
                </a:rPr>
                <a:t>1, 2, 3</a:t>
              </a:r>
              <a:endParaRPr b="1">
                <a:latin typeface="Montserrat"/>
                <a:ea typeface="Montserrat"/>
                <a:cs typeface="Montserrat"/>
                <a:sym typeface="Montserrat"/>
              </a:endParaRPr>
            </a:p>
          </p:txBody>
        </p:sp>
        <p:sp>
          <p:nvSpPr>
            <p:cNvPr id="144" name="Google Shape;144;p28"/>
            <p:cNvSpPr txBox="1"/>
            <p:nvPr/>
          </p:nvSpPr>
          <p:spPr>
            <a:xfrm>
              <a:off x="6378025" y="2585788"/>
              <a:ext cx="1007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Montserrat"/>
                  <a:ea typeface="Montserrat"/>
                  <a:cs typeface="Montserrat"/>
                  <a:sym typeface="Montserrat"/>
                </a:rPr>
                <a:t>1, 4, 9</a:t>
              </a:r>
              <a:endParaRPr b="1">
                <a:latin typeface="Montserrat"/>
                <a:ea typeface="Montserrat"/>
                <a:cs typeface="Montserrat"/>
                <a:sym typeface="Montserrat"/>
              </a:endParaRPr>
            </a:p>
          </p:txBody>
        </p:sp>
        <p:cxnSp>
          <p:nvCxnSpPr>
            <p:cNvPr id="145" name="Google Shape;145;p28"/>
            <p:cNvCxnSpPr/>
            <p:nvPr/>
          </p:nvCxnSpPr>
          <p:spPr>
            <a:xfrm>
              <a:off x="2549600" y="2785888"/>
              <a:ext cx="821400" cy="0"/>
            </a:xfrm>
            <a:prstGeom prst="straightConnector1">
              <a:avLst/>
            </a:prstGeom>
            <a:noFill/>
            <a:ln cap="flat" cmpd="sng" w="19050">
              <a:solidFill>
                <a:schemeClr val="dk2"/>
              </a:solidFill>
              <a:prstDash val="solid"/>
              <a:round/>
              <a:headEnd len="med" w="med" type="none"/>
              <a:tailEnd len="med" w="med" type="triangle"/>
            </a:ln>
          </p:spPr>
        </p:cxnSp>
        <p:cxnSp>
          <p:nvCxnSpPr>
            <p:cNvPr id="146" name="Google Shape;146;p28"/>
            <p:cNvCxnSpPr/>
            <p:nvPr/>
          </p:nvCxnSpPr>
          <p:spPr>
            <a:xfrm>
              <a:off x="5556625" y="2785888"/>
              <a:ext cx="821400" cy="0"/>
            </a:xfrm>
            <a:prstGeom prst="straightConnector1">
              <a:avLst/>
            </a:prstGeom>
            <a:noFill/>
            <a:ln cap="flat" cmpd="sng" w="19050">
              <a:solidFill>
                <a:schemeClr val="dk2"/>
              </a:solidFill>
              <a:prstDash val="solid"/>
              <a:round/>
              <a:headEnd len="med" w="med" type="none"/>
              <a:tailEnd len="med" w="med" type="triangle"/>
            </a:ln>
          </p:spPr>
        </p:cxnSp>
        <p:sp>
          <p:nvSpPr>
            <p:cNvPr id="147" name="Google Shape;147;p28"/>
            <p:cNvSpPr txBox="1"/>
            <p:nvPr/>
          </p:nvSpPr>
          <p:spPr>
            <a:xfrm>
              <a:off x="1563900" y="3089713"/>
              <a:ext cx="1007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Montserrat"/>
                  <a:ea typeface="Montserrat"/>
                  <a:cs typeface="Montserrat"/>
                  <a:sym typeface="Montserrat"/>
                </a:rPr>
                <a:t>1, 2, 3</a:t>
              </a:r>
              <a:endParaRPr b="1">
                <a:latin typeface="Montserrat"/>
                <a:ea typeface="Montserrat"/>
                <a:cs typeface="Montserrat"/>
                <a:sym typeface="Montserrat"/>
              </a:endParaRPr>
            </a:p>
          </p:txBody>
        </p:sp>
        <p:sp>
          <p:nvSpPr>
            <p:cNvPr id="148" name="Google Shape;148;p28"/>
            <p:cNvSpPr txBox="1"/>
            <p:nvPr/>
          </p:nvSpPr>
          <p:spPr>
            <a:xfrm>
              <a:off x="6378025" y="3089713"/>
              <a:ext cx="1007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Montserrat"/>
                  <a:ea typeface="Montserrat"/>
                  <a:cs typeface="Montserrat"/>
                  <a:sym typeface="Montserrat"/>
                </a:rPr>
                <a:t>1, 4, 9</a:t>
              </a:r>
              <a:endParaRPr b="1">
                <a:latin typeface="Montserrat"/>
                <a:ea typeface="Montserrat"/>
                <a:cs typeface="Montserrat"/>
                <a:sym typeface="Montserrat"/>
              </a:endParaRPr>
            </a:p>
          </p:txBody>
        </p:sp>
        <p:cxnSp>
          <p:nvCxnSpPr>
            <p:cNvPr id="149" name="Google Shape;149;p28"/>
            <p:cNvCxnSpPr/>
            <p:nvPr/>
          </p:nvCxnSpPr>
          <p:spPr>
            <a:xfrm>
              <a:off x="2549600" y="3289813"/>
              <a:ext cx="821400" cy="0"/>
            </a:xfrm>
            <a:prstGeom prst="straightConnector1">
              <a:avLst/>
            </a:prstGeom>
            <a:noFill/>
            <a:ln cap="flat" cmpd="sng" w="19050">
              <a:solidFill>
                <a:schemeClr val="dk2"/>
              </a:solidFill>
              <a:prstDash val="solid"/>
              <a:round/>
              <a:headEnd len="med" w="med" type="none"/>
              <a:tailEnd len="med" w="med" type="triangle"/>
            </a:ln>
          </p:spPr>
        </p:cxnSp>
        <p:cxnSp>
          <p:nvCxnSpPr>
            <p:cNvPr id="150" name="Google Shape;150;p28"/>
            <p:cNvCxnSpPr/>
            <p:nvPr/>
          </p:nvCxnSpPr>
          <p:spPr>
            <a:xfrm>
              <a:off x="5556625" y="3289813"/>
              <a:ext cx="821400" cy="0"/>
            </a:xfrm>
            <a:prstGeom prst="straightConnector1">
              <a:avLst/>
            </a:prstGeom>
            <a:noFill/>
            <a:ln cap="flat" cmpd="sng" w="19050">
              <a:solidFill>
                <a:schemeClr val="dk2"/>
              </a:solidFill>
              <a:prstDash val="solid"/>
              <a:round/>
              <a:headEnd len="med" w="med" type="none"/>
              <a:tailEnd len="med" w="med" type="triangle"/>
            </a:ln>
          </p:spPr>
        </p:cxnSp>
      </p:grpSp>
      <p:grpSp>
        <p:nvGrpSpPr>
          <p:cNvPr id="151" name="Google Shape;151;p28"/>
          <p:cNvGrpSpPr/>
          <p:nvPr/>
        </p:nvGrpSpPr>
        <p:grpSpPr>
          <a:xfrm>
            <a:off x="2706600" y="3532775"/>
            <a:ext cx="3701100" cy="1350600"/>
            <a:chOff x="2706600" y="3532775"/>
            <a:chExt cx="3701100" cy="1350600"/>
          </a:xfrm>
        </p:grpSpPr>
        <p:sp>
          <p:nvSpPr>
            <p:cNvPr id="152" name="Google Shape;152;p28"/>
            <p:cNvSpPr txBox="1"/>
            <p:nvPr/>
          </p:nvSpPr>
          <p:spPr>
            <a:xfrm>
              <a:off x="2706600" y="4483175"/>
              <a:ext cx="3701100" cy="4002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Montserrat"/>
                  <a:ea typeface="Montserrat"/>
                  <a:cs typeface="Montserrat"/>
                  <a:sym typeface="Montserrat"/>
                </a:rPr>
                <a:t>Doesn’t modify the inputs</a:t>
              </a:r>
              <a:endParaRPr>
                <a:latin typeface="Montserrat"/>
                <a:ea typeface="Montserrat"/>
                <a:cs typeface="Montserrat"/>
                <a:sym typeface="Montserrat"/>
              </a:endParaRPr>
            </a:p>
          </p:txBody>
        </p:sp>
        <p:cxnSp>
          <p:nvCxnSpPr>
            <p:cNvPr id="153" name="Google Shape;153;p28"/>
            <p:cNvCxnSpPr>
              <a:stCxn id="152" idx="0"/>
              <a:endCxn id="139" idx="2"/>
            </p:cNvCxnSpPr>
            <p:nvPr/>
          </p:nvCxnSpPr>
          <p:spPr>
            <a:xfrm rot="10800000">
              <a:off x="4557150" y="3532775"/>
              <a:ext cx="0" cy="950400"/>
            </a:xfrm>
            <a:prstGeom prst="straightConnector1">
              <a:avLst/>
            </a:prstGeom>
            <a:noFill/>
            <a:ln cap="flat" cmpd="sng" w="19050">
              <a:solidFill>
                <a:schemeClr val="dk2"/>
              </a:solidFill>
              <a:prstDash val="solid"/>
              <a:round/>
              <a:headEnd len="med" w="med" type="none"/>
              <a:tailEnd len="med" w="med" type="oval"/>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1000"/>
                                        <p:tgtEl>
                                          <p:spTgt spid="1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9"/>
          <p:cNvSpPr txBox="1"/>
          <p:nvPr>
            <p:ph type="title"/>
          </p:nvPr>
        </p:nvSpPr>
        <p:spPr>
          <a:xfrm>
            <a:off x="311700" y="286500"/>
            <a:ext cx="84909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0" lang="en"/>
              <a:t>Code Demo</a:t>
            </a:r>
            <a:endParaRPr b="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0"/>
          <p:cNvSpPr txBox="1"/>
          <p:nvPr>
            <p:ph type="title"/>
          </p:nvPr>
        </p:nvSpPr>
        <p:spPr>
          <a:xfrm>
            <a:off x="540300" y="2990425"/>
            <a:ext cx="8093700" cy="167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Higher Order Functions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1"/>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A</a:t>
            </a:r>
            <a:r>
              <a:rPr lang="en"/>
              <a:t> </a:t>
            </a:r>
            <a:r>
              <a:rPr b="1" lang="en"/>
              <a:t>higher order function takes function as an argument or returns a function as a result</a:t>
            </a:r>
            <a:r>
              <a:rPr lang="en"/>
              <a:t>.</a:t>
            </a:r>
            <a:endParaRPr/>
          </a:p>
        </p:txBody>
      </p:sp>
      <p:grpSp>
        <p:nvGrpSpPr>
          <p:cNvPr id="169" name="Google Shape;169;p31"/>
          <p:cNvGrpSpPr/>
          <p:nvPr/>
        </p:nvGrpSpPr>
        <p:grpSpPr>
          <a:xfrm>
            <a:off x="1048225" y="3382950"/>
            <a:ext cx="7305625" cy="1355700"/>
            <a:chOff x="1048225" y="3382950"/>
            <a:chExt cx="7305625" cy="1355700"/>
          </a:xfrm>
        </p:grpSpPr>
        <p:sp>
          <p:nvSpPr>
            <p:cNvPr id="170" name="Google Shape;170;p31"/>
            <p:cNvSpPr txBox="1"/>
            <p:nvPr/>
          </p:nvSpPr>
          <p:spPr>
            <a:xfrm>
              <a:off x="1048225" y="3382950"/>
              <a:ext cx="4913400" cy="13557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500">
                  <a:solidFill>
                    <a:srgbClr val="0000FF"/>
                  </a:solidFill>
                  <a:highlight>
                    <a:srgbClr val="FFFFFE"/>
                  </a:highlight>
                  <a:latin typeface="Courier New"/>
                  <a:ea typeface="Courier New"/>
                  <a:cs typeface="Courier New"/>
                  <a:sym typeface="Courier New"/>
                </a:rPr>
                <a:t>def</a:t>
              </a:r>
              <a:r>
                <a:rPr lang="en" sz="1500">
                  <a:solidFill>
                    <a:schemeClr val="dk1"/>
                  </a:solidFill>
                  <a:highlight>
                    <a:srgbClr val="FFFFFE"/>
                  </a:highlight>
                  <a:latin typeface="Courier New"/>
                  <a:ea typeface="Courier New"/>
                  <a:cs typeface="Courier New"/>
                  <a:sym typeface="Courier New"/>
                </a:rPr>
                <a:t> </a:t>
              </a:r>
              <a:r>
                <a:rPr lang="en" sz="1500">
                  <a:solidFill>
                    <a:srgbClr val="795E26"/>
                  </a:solidFill>
                  <a:highlight>
                    <a:srgbClr val="FFFFFE"/>
                  </a:highlight>
                  <a:latin typeface="Courier New"/>
                  <a:ea typeface="Courier New"/>
                  <a:cs typeface="Courier New"/>
                  <a:sym typeface="Courier New"/>
                </a:rPr>
                <a:t>func_B</a:t>
              </a:r>
              <a:r>
                <a:rPr lang="en" sz="1500">
                  <a:solidFill>
                    <a:schemeClr val="dk1"/>
                  </a:solidFill>
                  <a:highlight>
                    <a:srgbClr val="FFFFFE"/>
                  </a:highlight>
                  <a:latin typeface="Courier New"/>
                  <a:ea typeface="Courier New"/>
                  <a:cs typeface="Courier New"/>
                  <a:sym typeface="Courier New"/>
                </a:rPr>
                <a:t>(</a:t>
              </a:r>
              <a:r>
                <a:rPr lang="en" sz="1500">
                  <a:solidFill>
                    <a:srgbClr val="001080"/>
                  </a:solidFill>
                  <a:highlight>
                    <a:srgbClr val="FFFFFE"/>
                  </a:highlight>
                  <a:latin typeface="Courier New"/>
                  <a:ea typeface="Courier New"/>
                  <a:cs typeface="Courier New"/>
                  <a:sym typeface="Courier New"/>
                </a:rPr>
                <a:t>arg1, arg2</a:t>
              </a:r>
              <a:r>
                <a:rPr lang="en" sz="1500">
                  <a:solidFill>
                    <a:schemeClr val="dk1"/>
                  </a:solidFill>
                  <a:highlight>
                    <a:srgbClr val="FFFFFE"/>
                  </a:highlight>
                  <a:latin typeface="Courier New"/>
                  <a:ea typeface="Courier New"/>
                  <a:cs typeface="Courier New"/>
                  <a:sym typeface="Courier New"/>
                </a:rPr>
                <a:t>):</a:t>
              </a:r>
              <a:endParaRPr sz="150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 	</a:t>
              </a:r>
              <a:r>
                <a:rPr lang="en" sz="1500">
                  <a:solidFill>
                    <a:srgbClr val="0000FF"/>
                  </a:solidFill>
                  <a:highlight>
                    <a:srgbClr val="FFFFFE"/>
                  </a:highlight>
                  <a:latin typeface="Courier New"/>
                  <a:ea typeface="Courier New"/>
                  <a:cs typeface="Courier New"/>
                  <a:sym typeface="Courier New"/>
                </a:rPr>
                <a:t>def</a:t>
              </a:r>
              <a:r>
                <a:rPr lang="en" sz="1500">
                  <a:solidFill>
                    <a:schemeClr val="dk1"/>
                  </a:solidFill>
                  <a:highlight>
                    <a:srgbClr val="FFFFFE"/>
                  </a:highlight>
                  <a:latin typeface="Courier New"/>
                  <a:ea typeface="Courier New"/>
                  <a:cs typeface="Courier New"/>
                  <a:sym typeface="Courier New"/>
                </a:rPr>
                <a:t> </a:t>
              </a:r>
              <a:r>
                <a:rPr lang="en" sz="1500">
                  <a:solidFill>
                    <a:srgbClr val="795E26"/>
                  </a:solidFill>
                  <a:highlight>
                    <a:srgbClr val="FFFFFE"/>
                  </a:highlight>
                  <a:latin typeface="Courier New"/>
                  <a:ea typeface="Courier New"/>
                  <a:cs typeface="Courier New"/>
                  <a:sym typeface="Courier New"/>
                </a:rPr>
                <a:t>function</a:t>
              </a:r>
              <a:r>
                <a:rPr lang="en" sz="1500">
                  <a:solidFill>
                    <a:schemeClr val="dk1"/>
                  </a:solidFill>
                  <a:highlight>
                    <a:srgbClr val="FFFFFE"/>
                  </a:highlight>
                  <a:latin typeface="Courier New"/>
                  <a:ea typeface="Courier New"/>
                  <a:cs typeface="Courier New"/>
                  <a:sym typeface="Courier New"/>
                </a:rPr>
                <a:t>(</a:t>
              </a:r>
              <a:r>
                <a:rPr lang="en" sz="1500">
                  <a:solidFill>
                    <a:srgbClr val="001080"/>
                  </a:solidFill>
                  <a:highlight>
                    <a:srgbClr val="FFFFFE"/>
                  </a:highlight>
                  <a:latin typeface="Courier New"/>
                  <a:ea typeface="Courier New"/>
                  <a:cs typeface="Courier New"/>
                  <a:sym typeface="Courier New"/>
                </a:rPr>
                <a:t>some_function</a:t>
              </a:r>
              <a:r>
                <a:rPr lang="en" sz="1500">
                  <a:solidFill>
                    <a:schemeClr val="dk1"/>
                  </a:solidFill>
                  <a:highlight>
                    <a:srgbClr val="FFFFFE"/>
                  </a:highlight>
                  <a:latin typeface="Courier New"/>
                  <a:ea typeface="Courier New"/>
                  <a:cs typeface="Courier New"/>
                  <a:sym typeface="Courier New"/>
                </a:rPr>
                <a:t>):</a:t>
              </a:r>
              <a:endParaRPr sz="150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 		result = </a:t>
              </a:r>
              <a:r>
                <a:rPr lang="en" sz="1500">
                  <a:solidFill>
                    <a:srgbClr val="001080"/>
                  </a:solidFill>
                  <a:highlight>
                    <a:srgbClr val="FFFFFE"/>
                  </a:highlight>
                  <a:latin typeface="Courier New"/>
                  <a:ea typeface="Courier New"/>
                  <a:cs typeface="Courier New"/>
                  <a:sym typeface="Courier New"/>
                </a:rPr>
                <a:t>function</a:t>
              </a:r>
              <a:r>
                <a:rPr lang="en" sz="1500">
                  <a:solidFill>
                    <a:schemeClr val="dk1"/>
                  </a:solidFill>
                  <a:highlight>
                    <a:srgbClr val="FFFFFE"/>
                  </a:highlight>
                  <a:latin typeface="Courier New"/>
                  <a:ea typeface="Courier New"/>
                  <a:cs typeface="Courier New"/>
                  <a:sym typeface="Courier New"/>
                </a:rPr>
                <a:t>(arg1, arg2)</a:t>
              </a:r>
              <a:endParaRPr sz="150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 </a:t>
              </a:r>
              <a:r>
                <a:rPr lang="en" sz="1500">
                  <a:solidFill>
                    <a:srgbClr val="AF00DB"/>
                  </a:solidFill>
                  <a:highlight>
                    <a:srgbClr val="FFFFFE"/>
                  </a:highlight>
                  <a:latin typeface="Courier New"/>
                  <a:ea typeface="Courier New"/>
                  <a:cs typeface="Courier New"/>
                  <a:sym typeface="Courier New"/>
                </a:rPr>
                <a:t>return</a:t>
              </a:r>
              <a:r>
                <a:rPr lang="en" sz="1500">
                  <a:solidFill>
                    <a:schemeClr val="dk1"/>
                  </a:solidFill>
                  <a:highlight>
                    <a:srgbClr val="FFFFFE"/>
                  </a:highlight>
                  <a:latin typeface="Courier New"/>
                  <a:ea typeface="Courier New"/>
                  <a:cs typeface="Courier New"/>
                  <a:sym typeface="Courier New"/>
                </a:rPr>
                <a:t> function</a:t>
              </a:r>
              <a:endParaRPr sz="1500">
                <a:solidFill>
                  <a:schemeClr val="dk1"/>
                </a:solidFill>
                <a:highlight>
                  <a:srgbClr val="FFFFFE"/>
                </a:highlight>
                <a:latin typeface="Courier New"/>
                <a:ea typeface="Courier New"/>
                <a:cs typeface="Courier New"/>
                <a:sym typeface="Courier New"/>
              </a:endParaRPr>
            </a:p>
          </p:txBody>
        </p:sp>
        <p:sp>
          <p:nvSpPr>
            <p:cNvPr id="171" name="Google Shape;171;p31"/>
            <p:cNvSpPr/>
            <p:nvPr/>
          </p:nvSpPr>
          <p:spPr>
            <a:xfrm>
              <a:off x="2013675" y="4418550"/>
              <a:ext cx="1150800" cy="264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1"/>
            <p:cNvSpPr txBox="1"/>
            <p:nvPr/>
          </p:nvSpPr>
          <p:spPr>
            <a:xfrm>
              <a:off x="5707250" y="3509500"/>
              <a:ext cx="2646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Montserrat"/>
                  <a:ea typeface="Montserrat"/>
                  <a:cs typeface="Montserrat"/>
                  <a:sym typeface="Montserrat"/>
                </a:rPr>
                <a:t>Function as a result</a:t>
              </a:r>
              <a:endParaRPr>
                <a:latin typeface="Montserrat"/>
                <a:ea typeface="Montserrat"/>
                <a:cs typeface="Montserrat"/>
                <a:sym typeface="Montserrat"/>
              </a:endParaRPr>
            </a:p>
          </p:txBody>
        </p:sp>
        <p:cxnSp>
          <p:nvCxnSpPr>
            <p:cNvPr id="173" name="Google Shape;173;p31"/>
            <p:cNvCxnSpPr>
              <a:stCxn id="171" idx="3"/>
              <a:endCxn id="172" idx="2"/>
            </p:cNvCxnSpPr>
            <p:nvPr/>
          </p:nvCxnSpPr>
          <p:spPr>
            <a:xfrm flipH="1" rot="10800000">
              <a:off x="3164475" y="3909750"/>
              <a:ext cx="3866100" cy="641100"/>
            </a:xfrm>
            <a:prstGeom prst="bentConnector2">
              <a:avLst/>
            </a:prstGeom>
            <a:noFill/>
            <a:ln cap="flat" cmpd="sng" w="19050">
              <a:solidFill>
                <a:schemeClr val="dk2"/>
              </a:solidFill>
              <a:prstDash val="solid"/>
              <a:round/>
              <a:headEnd len="med" w="med" type="oval"/>
              <a:tailEnd len="med" w="med" type="none"/>
            </a:ln>
          </p:spPr>
        </p:cxnSp>
      </p:grpSp>
      <p:grpSp>
        <p:nvGrpSpPr>
          <p:cNvPr id="174" name="Google Shape;174;p31"/>
          <p:cNvGrpSpPr/>
          <p:nvPr/>
        </p:nvGrpSpPr>
        <p:grpSpPr>
          <a:xfrm>
            <a:off x="1048225" y="1334750"/>
            <a:ext cx="7305625" cy="1758100"/>
            <a:chOff x="1048225" y="1334750"/>
            <a:chExt cx="7305625" cy="1758100"/>
          </a:xfrm>
        </p:grpSpPr>
        <p:sp>
          <p:nvSpPr>
            <p:cNvPr id="175" name="Google Shape;175;p31"/>
            <p:cNvSpPr txBox="1"/>
            <p:nvPr/>
          </p:nvSpPr>
          <p:spPr>
            <a:xfrm>
              <a:off x="1048225" y="2050650"/>
              <a:ext cx="4578600" cy="10422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500">
                  <a:solidFill>
                    <a:srgbClr val="0000FF"/>
                  </a:solidFill>
                  <a:highlight>
                    <a:srgbClr val="FFFFFE"/>
                  </a:highlight>
                  <a:latin typeface="Courier New"/>
                  <a:ea typeface="Courier New"/>
                  <a:cs typeface="Courier New"/>
                  <a:sym typeface="Courier New"/>
                </a:rPr>
                <a:t>def</a:t>
              </a:r>
              <a:r>
                <a:rPr lang="en" sz="1500">
                  <a:solidFill>
                    <a:schemeClr val="dk1"/>
                  </a:solidFill>
                  <a:highlight>
                    <a:srgbClr val="FFFFFE"/>
                  </a:highlight>
                  <a:latin typeface="Courier New"/>
                  <a:ea typeface="Courier New"/>
                  <a:cs typeface="Courier New"/>
                  <a:sym typeface="Courier New"/>
                </a:rPr>
                <a:t> </a:t>
              </a:r>
              <a:r>
                <a:rPr lang="en" sz="1500">
                  <a:solidFill>
                    <a:srgbClr val="795E26"/>
                  </a:solidFill>
                  <a:highlight>
                    <a:srgbClr val="FFFFFE"/>
                  </a:highlight>
                  <a:latin typeface="Courier New"/>
                  <a:ea typeface="Courier New"/>
                  <a:cs typeface="Courier New"/>
                  <a:sym typeface="Courier New"/>
                </a:rPr>
                <a:t>func_A</a:t>
              </a:r>
              <a:r>
                <a:rPr lang="en" sz="1500">
                  <a:solidFill>
                    <a:schemeClr val="dk1"/>
                  </a:solidFill>
                  <a:highlight>
                    <a:srgbClr val="FFFFFE"/>
                  </a:highlight>
                  <a:latin typeface="Courier New"/>
                  <a:ea typeface="Courier New"/>
                  <a:cs typeface="Courier New"/>
                  <a:sym typeface="Courier New"/>
                </a:rPr>
                <a:t>(</a:t>
              </a:r>
              <a:r>
                <a:rPr lang="en" sz="1500">
                  <a:solidFill>
                    <a:srgbClr val="001080"/>
                  </a:solidFill>
                  <a:highlight>
                    <a:srgbClr val="FFFFFE"/>
                  </a:highlight>
                  <a:latin typeface="Courier New"/>
                  <a:ea typeface="Courier New"/>
                  <a:cs typeface="Courier New"/>
                  <a:sym typeface="Courier New"/>
                </a:rPr>
                <a:t>some_function</a:t>
              </a:r>
              <a:r>
                <a:rPr lang="en" sz="1500">
                  <a:solidFill>
                    <a:schemeClr val="dk1"/>
                  </a:solidFill>
                  <a:highlight>
                    <a:srgbClr val="FFFFFE"/>
                  </a:highlight>
                  <a:latin typeface="Courier New"/>
                  <a:ea typeface="Courier New"/>
                  <a:cs typeface="Courier New"/>
                  <a:sym typeface="Courier New"/>
                </a:rPr>
                <a:t>):</a:t>
              </a:r>
              <a:endParaRPr sz="150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 result = </a:t>
              </a:r>
              <a:r>
                <a:rPr lang="en" sz="1500">
                  <a:solidFill>
                    <a:srgbClr val="001080"/>
                  </a:solidFill>
                  <a:highlight>
                    <a:srgbClr val="FFFFFE"/>
                  </a:highlight>
                  <a:latin typeface="Courier New"/>
                  <a:ea typeface="Courier New"/>
                  <a:cs typeface="Courier New"/>
                  <a:sym typeface="Courier New"/>
                </a:rPr>
                <a:t>some_function</a:t>
              </a:r>
              <a:r>
                <a:rPr lang="en" sz="1500">
                  <a:solidFill>
                    <a:schemeClr val="dk1"/>
                  </a:solidFill>
                  <a:highlight>
                    <a:srgbClr val="FFFFFE"/>
                  </a:highlight>
                  <a:latin typeface="Courier New"/>
                  <a:ea typeface="Courier New"/>
                  <a:cs typeface="Courier New"/>
                  <a:sym typeface="Courier New"/>
                </a:rPr>
                <a:t>(arg1, arg2)</a:t>
              </a:r>
              <a:endParaRPr sz="150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 </a:t>
              </a:r>
              <a:r>
                <a:rPr lang="en" sz="1500">
                  <a:solidFill>
                    <a:srgbClr val="AF00DB"/>
                  </a:solidFill>
                  <a:highlight>
                    <a:srgbClr val="FFFFFE"/>
                  </a:highlight>
                  <a:latin typeface="Courier New"/>
                  <a:ea typeface="Courier New"/>
                  <a:cs typeface="Courier New"/>
                  <a:sym typeface="Courier New"/>
                </a:rPr>
                <a:t>return</a:t>
              </a:r>
              <a:r>
                <a:rPr lang="en" sz="1500">
                  <a:solidFill>
                    <a:schemeClr val="dk1"/>
                  </a:solidFill>
                  <a:highlight>
                    <a:srgbClr val="FFFFFE"/>
                  </a:highlight>
                  <a:latin typeface="Courier New"/>
                  <a:ea typeface="Courier New"/>
                  <a:cs typeface="Courier New"/>
                  <a:sym typeface="Courier New"/>
                </a:rPr>
                <a:t> result</a:t>
              </a:r>
              <a:endParaRPr sz="1500">
                <a:solidFill>
                  <a:schemeClr val="dk1"/>
                </a:solidFill>
                <a:highlight>
                  <a:srgbClr val="FFFFFE"/>
                </a:highlight>
                <a:latin typeface="Courier New"/>
                <a:ea typeface="Courier New"/>
                <a:cs typeface="Courier New"/>
                <a:sym typeface="Courier New"/>
              </a:endParaRPr>
            </a:p>
          </p:txBody>
        </p:sp>
        <p:sp>
          <p:nvSpPr>
            <p:cNvPr id="176" name="Google Shape;176;p31"/>
            <p:cNvSpPr/>
            <p:nvPr/>
          </p:nvSpPr>
          <p:spPr>
            <a:xfrm>
              <a:off x="2366650" y="2106025"/>
              <a:ext cx="1495800" cy="321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1"/>
            <p:cNvSpPr txBox="1"/>
            <p:nvPr/>
          </p:nvSpPr>
          <p:spPr>
            <a:xfrm>
              <a:off x="5707250" y="1334750"/>
              <a:ext cx="2646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Montserrat"/>
                  <a:ea typeface="Montserrat"/>
                  <a:cs typeface="Montserrat"/>
                  <a:sym typeface="Montserrat"/>
                </a:rPr>
                <a:t>Function as an argument</a:t>
              </a:r>
              <a:endParaRPr>
                <a:latin typeface="Montserrat"/>
                <a:ea typeface="Montserrat"/>
                <a:cs typeface="Montserrat"/>
                <a:sym typeface="Montserrat"/>
              </a:endParaRPr>
            </a:p>
          </p:txBody>
        </p:sp>
        <p:cxnSp>
          <p:nvCxnSpPr>
            <p:cNvPr id="178" name="Google Shape;178;p31"/>
            <p:cNvCxnSpPr>
              <a:stCxn id="176" idx="3"/>
              <a:endCxn id="177" idx="2"/>
            </p:cNvCxnSpPr>
            <p:nvPr/>
          </p:nvCxnSpPr>
          <p:spPr>
            <a:xfrm flipH="1" rot="10800000">
              <a:off x="3862450" y="1735075"/>
              <a:ext cx="3168000" cy="531900"/>
            </a:xfrm>
            <a:prstGeom prst="bentConnector2">
              <a:avLst/>
            </a:prstGeom>
            <a:noFill/>
            <a:ln cap="flat" cmpd="sng" w="19050">
              <a:solidFill>
                <a:schemeClr val="dk2"/>
              </a:solidFill>
              <a:prstDash val="solid"/>
              <a:round/>
              <a:headEnd len="med" w="med" type="oval"/>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000"/>
                                        <p:tgtEl>
                                          <p:spTgt spid="1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2"/>
          <p:cNvSpPr/>
          <p:nvPr/>
        </p:nvSpPr>
        <p:spPr>
          <a:xfrm>
            <a:off x="3613625" y="2044200"/>
            <a:ext cx="1793700" cy="1674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2"/>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Common higher order functions</a:t>
            </a:r>
            <a:endParaRPr/>
          </a:p>
        </p:txBody>
      </p:sp>
      <p:sp>
        <p:nvSpPr>
          <p:cNvPr id="185" name="Google Shape;185;p32"/>
          <p:cNvSpPr txBox="1"/>
          <p:nvPr/>
        </p:nvSpPr>
        <p:spPr>
          <a:xfrm>
            <a:off x="3666400" y="2215675"/>
            <a:ext cx="1965000" cy="1262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Montserrat"/>
              <a:buChar char="■"/>
            </a:pPr>
            <a:r>
              <a:rPr lang="en">
                <a:latin typeface="Montserrat"/>
                <a:ea typeface="Montserrat"/>
                <a:cs typeface="Montserrat"/>
                <a:sym typeface="Montserrat"/>
              </a:rPr>
              <a:t>Map( )</a:t>
            </a:r>
            <a:br>
              <a:rPr lang="en">
                <a:latin typeface="Montserrat"/>
                <a:ea typeface="Montserrat"/>
                <a:cs typeface="Montserrat"/>
                <a:sym typeface="Montserrat"/>
              </a:rPr>
            </a:br>
            <a:endParaRPr>
              <a:latin typeface="Montserrat"/>
              <a:ea typeface="Montserrat"/>
              <a:cs typeface="Montserrat"/>
              <a:sym typeface="Montserrat"/>
            </a:endParaRPr>
          </a:p>
          <a:p>
            <a:pPr indent="-317500" lvl="0" marL="457200" rtl="0" algn="l">
              <a:spcBef>
                <a:spcPts val="0"/>
              </a:spcBef>
              <a:spcAft>
                <a:spcPts val="0"/>
              </a:spcAft>
              <a:buSzPts val="1400"/>
              <a:buFont typeface="Montserrat"/>
              <a:buChar char="■"/>
            </a:pPr>
            <a:r>
              <a:rPr lang="en">
                <a:latin typeface="Montserrat"/>
                <a:ea typeface="Montserrat"/>
                <a:cs typeface="Montserrat"/>
                <a:sym typeface="Montserrat"/>
              </a:rPr>
              <a:t>Filter( )</a:t>
            </a:r>
            <a:br>
              <a:rPr lang="en">
                <a:latin typeface="Montserrat"/>
                <a:ea typeface="Montserrat"/>
                <a:cs typeface="Montserrat"/>
                <a:sym typeface="Montserrat"/>
              </a:rPr>
            </a:br>
            <a:endParaRPr>
              <a:latin typeface="Montserrat"/>
              <a:ea typeface="Montserrat"/>
              <a:cs typeface="Montserrat"/>
              <a:sym typeface="Montserrat"/>
            </a:endParaRPr>
          </a:p>
          <a:p>
            <a:pPr indent="-317500" lvl="0" marL="457200" rtl="0" algn="l">
              <a:spcBef>
                <a:spcPts val="0"/>
              </a:spcBef>
              <a:spcAft>
                <a:spcPts val="0"/>
              </a:spcAft>
              <a:buSzPts val="1400"/>
              <a:buFont typeface="Montserrat"/>
              <a:buChar char="■"/>
            </a:pPr>
            <a:r>
              <a:rPr lang="en">
                <a:latin typeface="Montserrat"/>
                <a:ea typeface="Montserrat"/>
                <a:cs typeface="Montserrat"/>
                <a:sym typeface="Montserrat"/>
              </a:rPr>
              <a:t>Reduce( )</a:t>
            </a:r>
            <a:endParaRPr>
              <a:latin typeface="Montserrat"/>
              <a:ea typeface="Montserrat"/>
              <a:cs typeface="Montserrat"/>
              <a:sym typeface="Montserrat"/>
            </a:endParaRPr>
          </a:p>
        </p:txBody>
      </p:sp>
      <p:grpSp>
        <p:nvGrpSpPr>
          <p:cNvPr id="186" name="Google Shape;186;p32"/>
          <p:cNvGrpSpPr/>
          <p:nvPr/>
        </p:nvGrpSpPr>
        <p:grpSpPr>
          <a:xfrm>
            <a:off x="989150" y="2681550"/>
            <a:ext cx="7042650" cy="400200"/>
            <a:chOff x="989150" y="2681550"/>
            <a:chExt cx="7042650" cy="400200"/>
          </a:xfrm>
        </p:grpSpPr>
        <p:sp>
          <p:nvSpPr>
            <p:cNvPr id="187" name="Google Shape;187;p32"/>
            <p:cNvSpPr txBox="1"/>
            <p:nvPr/>
          </p:nvSpPr>
          <p:spPr>
            <a:xfrm>
              <a:off x="989150" y="2681550"/>
              <a:ext cx="1793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Iterable, Function</a:t>
              </a:r>
              <a:endParaRPr>
                <a:latin typeface="Montserrat"/>
                <a:ea typeface="Montserrat"/>
                <a:cs typeface="Montserrat"/>
                <a:sym typeface="Montserrat"/>
              </a:endParaRPr>
            </a:p>
          </p:txBody>
        </p:sp>
        <p:cxnSp>
          <p:nvCxnSpPr>
            <p:cNvPr id="188" name="Google Shape;188;p32"/>
            <p:cNvCxnSpPr>
              <a:stCxn id="187" idx="3"/>
              <a:endCxn id="183" idx="1"/>
            </p:cNvCxnSpPr>
            <p:nvPr/>
          </p:nvCxnSpPr>
          <p:spPr>
            <a:xfrm>
              <a:off x="2782850" y="2881650"/>
              <a:ext cx="830700" cy="0"/>
            </a:xfrm>
            <a:prstGeom prst="straightConnector1">
              <a:avLst/>
            </a:prstGeom>
            <a:noFill/>
            <a:ln cap="flat" cmpd="sng" w="19050">
              <a:solidFill>
                <a:schemeClr val="dk2"/>
              </a:solidFill>
              <a:prstDash val="solid"/>
              <a:round/>
              <a:headEnd len="med" w="med" type="none"/>
              <a:tailEnd len="med" w="med" type="triangle"/>
            </a:ln>
          </p:spPr>
        </p:cxnSp>
        <p:sp>
          <p:nvSpPr>
            <p:cNvPr id="189" name="Google Shape;189;p32"/>
            <p:cNvSpPr txBox="1"/>
            <p:nvPr/>
          </p:nvSpPr>
          <p:spPr>
            <a:xfrm>
              <a:off x="6238100" y="2681550"/>
              <a:ext cx="1793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Iterable</a:t>
              </a:r>
              <a:endParaRPr>
                <a:latin typeface="Montserrat"/>
                <a:ea typeface="Montserrat"/>
                <a:cs typeface="Montserrat"/>
                <a:sym typeface="Montserrat"/>
              </a:endParaRPr>
            </a:p>
          </p:txBody>
        </p:sp>
        <p:cxnSp>
          <p:nvCxnSpPr>
            <p:cNvPr id="190" name="Google Shape;190;p32"/>
            <p:cNvCxnSpPr>
              <a:stCxn id="183" idx="3"/>
              <a:endCxn id="189" idx="1"/>
            </p:cNvCxnSpPr>
            <p:nvPr/>
          </p:nvCxnSpPr>
          <p:spPr>
            <a:xfrm>
              <a:off x="5407325" y="2881650"/>
              <a:ext cx="830700" cy="0"/>
            </a:xfrm>
            <a:prstGeom prst="straightConnector1">
              <a:avLst/>
            </a:prstGeom>
            <a:noFill/>
            <a:ln cap="flat" cmpd="sng" w="19050">
              <a:solidFill>
                <a:schemeClr val="dk2"/>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1000"/>
                                        <p:tgtEl>
                                          <p:spTgt spid="1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3"/>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map function applies the input function to each element of the iterable</a:t>
            </a:r>
            <a:endParaRPr/>
          </a:p>
        </p:txBody>
      </p:sp>
      <p:sp>
        <p:nvSpPr>
          <p:cNvPr id="196" name="Google Shape;196;p33"/>
          <p:cNvSpPr txBox="1"/>
          <p:nvPr/>
        </p:nvSpPr>
        <p:spPr>
          <a:xfrm>
            <a:off x="2289875" y="2325450"/>
            <a:ext cx="4314900" cy="415500"/>
          </a:xfrm>
          <a:prstGeom prst="rect">
            <a:avLst/>
          </a:prstGeom>
          <a:noFill/>
          <a:ln>
            <a:noFill/>
          </a:ln>
        </p:spPr>
        <p:txBody>
          <a:bodyPr anchorCtr="0" anchor="t" bIns="91425" lIns="91425" spcFirstLastPara="1" rIns="91425" wrap="square" tIns="91425">
            <a:spAutoFit/>
          </a:bodyPr>
          <a:lstStyle/>
          <a:p>
            <a:pPr indent="0" lvl="0" marL="0" rtl="0" algn="ctr">
              <a:lnSpc>
                <a:spcPct val="135714"/>
              </a:lnSpc>
              <a:spcBef>
                <a:spcPts val="0"/>
              </a:spcBef>
              <a:spcAft>
                <a:spcPts val="0"/>
              </a:spcAft>
              <a:buNone/>
            </a:pPr>
            <a:r>
              <a:rPr lang="en" sz="1500">
                <a:solidFill>
                  <a:srgbClr val="795E26"/>
                </a:solidFill>
                <a:highlight>
                  <a:srgbClr val="FFFFFE"/>
                </a:highlight>
                <a:latin typeface="Courier New"/>
                <a:ea typeface="Courier New"/>
                <a:cs typeface="Courier New"/>
                <a:sym typeface="Courier New"/>
              </a:rPr>
              <a:t>map</a:t>
            </a:r>
            <a:r>
              <a:rPr lang="en" sz="1500">
                <a:solidFill>
                  <a:schemeClr val="dk1"/>
                </a:solidFill>
                <a:highlight>
                  <a:srgbClr val="FFFFFE"/>
                </a:highlight>
                <a:latin typeface="Courier New"/>
                <a:ea typeface="Courier New"/>
                <a:cs typeface="Courier New"/>
                <a:sym typeface="Courier New"/>
              </a:rPr>
              <a:t>(function, iterable)</a:t>
            </a:r>
            <a:endParaRPr sz="1500">
              <a:solidFill>
                <a:schemeClr val="dk1"/>
              </a:solidFill>
              <a:highlight>
                <a:srgbClr val="FFFFFE"/>
              </a:highlight>
              <a:latin typeface="Courier New"/>
              <a:ea typeface="Courier New"/>
              <a:cs typeface="Courier New"/>
              <a:sym typeface="Courier New"/>
            </a:endParaRPr>
          </a:p>
        </p:txBody>
      </p:sp>
      <p:sp>
        <p:nvSpPr>
          <p:cNvPr id="197" name="Google Shape;197;p33"/>
          <p:cNvSpPr txBox="1"/>
          <p:nvPr/>
        </p:nvSpPr>
        <p:spPr>
          <a:xfrm>
            <a:off x="4073400" y="3808725"/>
            <a:ext cx="1265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Montserrat"/>
                <a:ea typeface="Montserrat"/>
                <a:cs typeface="Montserrat"/>
                <a:sym typeface="Montserrat"/>
              </a:rPr>
              <a:t>inputs</a:t>
            </a:r>
            <a:endParaRPr>
              <a:latin typeface="Montserrat"/>
              <a:ea typeface="Montserrat"/>
              <a:cs typeface="Montserrat"/>
              <a:sym typeface="Montserrat"/>
            </a:endParaRPr>
          </a:p>
        </p:txBody>
      </p:sp>
      <p:cxnSp>
        <p:nvCxnSpPr>
          <p:cNvPr id="198" name="Google Shape;198;p33"/>
          <p:cNvCxnSpPr>
            <a:stCxn id="197" idx="0"/>
          </p:cNvCxnSpPr>
          <p:nvPr/>
        </p:nvCxnSpPr>
        <p:spPr>
          <a:xfrm rot="10800000">
            <a:off x="4004250" y="2842125"/>
            <a:ext cx="702000" cy="966600"/>
          </a:xfrm>
          <a:prstGeom prst="straightConnector1">
            <a:avLst/>
          </a:prstGeom>
          <a:noFill/>
          <a:ln cap="flat" cmpd="sng" w="19050">
            <a:solidFill>
              <a:schemeClr val="dk2"/>
            </a:solidFill>
            <a:prstDash val="solid"/>
            <a:round/>
            <a:headEnd len="med" w="med" type="none"/>
            <a:tailEnd len="med" w="med" type="triangle"/>
          </a:ln>
        </p:spPr>
      </p:cxnSp>
      <p:cxnSp>
        <p:nvCxnSpPr>
          <p:cNvPr id="199" name="Google Shape;199;p33"/>
          <p:cNvCxnSpPr>
            <a:stCxn id="197" idx="0"/>
          </p:cNvCxnSpPr>
          <p:nvPr/>
        </p:nvCxnSpPr>
        <p:spPr>
          <a:xfrm flipH="1" rot="10800000">
            <a:off x="4706250" y="2807625"/>
            <a:ext cx="621300" cy="10011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4"/>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Map function to compute factorial of each element in a list</a:t>
            </a:r>
            <a:endParaRPr/>
          </a:p>
        </p:txBody>
      </p:sp>
      <p:sp>
        <p:nvSpPr>
          <p:cNvPr id="205" name="Google Shape;205;p34"/>
          <p:cNvSpPr txBox="1"/>
          <p:nvPr/>
        </p:nvSpPr>
        <p:spPr>
          <a:xfrm>
            <a:off x="1576450" y="2892388"/>
            <a:ext cx="5718900" cy="4155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mapped_items = </a:t>
            </a:r>
            <a:r>
              <a:rPr lang="en" sz="1500">
                <a:solidFill>
                  <a:srgbClr val="795E26"/>
                </a:solidFill>
                <a:highlight>
                  <a:srgbClr val="FFFFFE"/>
                </a:highlight>
                <a:latin typeface="Courier New"/>
                <a:ea typeface="Courier New"/>
                <a:cs typeface="Courier New"/>
                <a:sym typeface="Courier New"/>
              </a:rPr>
              <a:t>map</a:t>
            </a:r>
            <a:r>
              <a:rPr lang="en" sz="1500">
                <a:solidFill>
                  <a:schemeClr val="dk1"/>
                </a:solidFill>
                <a:highlight>
                  <a:srgbClr val="FFFFFE"/>
                </a:highlight>
                <a:latin typeface="Courier New"/>
                <a:ea typeface="Courier New"/>
                <a:cs typeface="Courier New"/>
                <a:sym typeface="Courier New"/>
              </a:rPr>
              <a:t>(factorial, numbers)</a:t>
            </a:r>
            <a:endParaRPr sz="1500">
              <a:solidFill>
                <a:schemeClr val="dk1"/>
              </a:solidFill>
              <a:highlight>
                <a:srgbClr val="FFFFFE"/>
              </a:highlight>
              <a:latin typeface="Courier New"/>
              <a:ea typeface="Courier New"/>
              <a:cs typeface="Courier New"/>
              <a:sym typeface="Courier New"/>
            </a:endParaRPr>
          </a:p>
        </p:txBody>
      </p:sp>
      <p:sp>
        <p:nvSpPr>
          <p:cNvPr id="206" name="Google Shape;206;p34"/>
          <p:cNvSpPr txBox="1"/>
          <p:nvPr/>
        </p:nvSpPr>
        <p:spPr>
          <a:xfrm>
            <a:off x="1829575" y="1369850"/>
            <a:ext cx="6225000" cy="7290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500">
                <a:solidFill>
                  <a:srgbClr val="0000FF"/>
                </a:solidFill>
                <a:highlight>
                  <a:srgbClr val="FFFFFE"/>
                </a:highlight>
                <a:latin typeface="Courier New"/>
                <a:ea typeface="Courier New"/>
                <a:cs typeface="Courier New"/>
                <a:sym typeface="Courier New"/>
              </a:rPr>
              <a:t>def</a:t>
            </a:r>
            <a:r>
              <a:rPr lang="en" sz="1500">
                <a:solidFill>
                  <a:schemeClr val="dk1"/>
                </a:solidFill>
                <a:highlight>
                  <a:srgbClr val="FFFFFE"/>
                </a:highlight>
                <a:latin typeface="Courier New"/>
                <a:ea typeface="Courier New"/>
                <a:cs typeface="Courier New"/>
                <a:sym typeface="Courier New"/>
              </a:rPr>
              <a:t> </a:t>
            </a:r>
            <a:r>
              <a:rPr lang="en" sz="1500">
                <a:solidFill>
                  <a:srgbClr val="795E26"/>
                </a:solidFill>
                <a:highlight>
                  <a:srgbClr val="FFFFFE"/>
                </a:highlight>
                <a:latin typeface="Courier New"/>
                <a:ea typeface="Courier New"/>
                <a:cs typeface="Courier New"/>
                <a:sym typeface="Courier New"/>
              </a:rPr>
              <a:t>factorial</a:t>
            </a:r>
            <a:r>
              <a:rPr lang="en" sz="1500">
                <a:solidFill>
                  <a:schemeClr val="dk1"/>
                </a:solidFill>
                <a:highlight>
                  <a:srgbClr val="FFFFFE"/>
                </a:highlight>
                <a:latin typeface="Courier New"/>
                <a:ea typeface="Courier New"/>
                <a:cs typeface="Courier New"/>
                <a:sym typeface="Courier New"/>
              </a:rPr>
              <a:t>(</a:t>
            </a:r>
            <a:r>
              <a:rPr lang="en" sz="1500">
                <a:solidFill>
                  <a:srgbClr val="001080"/>
                </a:solidFill>
                <a:highlight>
                  <a:srgbClr val="FFFFFE"/>
                </a:highlight>
                <a:latin typeface="Courier New"/>
                <a:ea typeface="Courier New"/>
                <a:cs typeface="Courier New"/>
                <a:sym typeface="Courier New"/>
              </a:rPr>
              <a:t>n</a:t>
            </a:r>
            <a:r>
              <a:rPr lang="en" sz="1500">
                <a:solidFill>
                  <a:schemeClr val="dk1"/>
                </a:solidFill>
                <a:highlight>
                  <a:srgbClr val="FFFFFE"/>
                </a:highlight>
                <a:latin typeface="Courier New"/>
                <a:ea typeface="Courier New"/>
                <a:cs typeface="Courier New"/>
                <a:sym typeface="Courier New"/>
              </a:rPr>
              <a:t>):</a:t>
            </a:r>
            <a:endParaRPr sz="1500">
              <a:solidFill>
                <a:srgbClr val="A31515"/>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 </a:t>
            </a:r>
            <a:r>
              <a:rPr lang="en" sz="1500">
                <a:solidFill>
                  <a:srgbClr val="AF00DB"/>
                </a:solidFill>
                <a:highlight>
                  <a:srgbClr val="FFFFFE"/>
                </a:highlight>
                <a:latin typeface="Courier New"/>
                <a:ea typeface="Courier New"/>
                <a:cs typeface="Courier New"/>
                <a:sym typeface="Courier New"/>
              </a:rPr>
              <a:t>return</a:t>
            </a:r>
            <a:r>
              <a:rPr lang="en" sz="1500">
                <a:solidFill>
                  <a:schemeClr val="dk1"/>
                </a:solidFill>
                <a:highlight>
                  <a:srgbClr val="FFFFFE"/>
                </a:highlight>
                <a:latin typeface="Courier New"/>
                <a:ea typeface="Courier New"/>
                <a:cs typeface="Courier New"/>
                <a:sym typeface="Courier New"/>
              </a:rPr>
              <a:t> </a:t>
            </a:r>
            <a:r>
              <a:rPr lang="en" sz="1500">
                <a:solidFill>
                  <a:srgbClr val="09885A"/>
                </a:solidFill>
                <a:highlight>
                  <a:srgbClr val="FFFFFE"/>
                </a:highlight>
                <a:latin typeface="Courier New"/>
                <a:ea typeface="Courier New"/>
                <a:cs typeface="Courier New"/>
                <a:sym typeface="Courier New"/>
              </a:rPr>
              <a:t>1</a:t>
            </a:r>
            <a:r>
              <a:rPr lang="en" sz="1500">
                <a:solidFill>
                  <a:schemeClr val="dk1"/>
                </a:solidFill>
                <a:highlight>
                  <a:srgbClr val="FFFFFE"/>
                </a:highlight>
                <a:latin typeface="Courier New"/>
                <a:ea typeface="Courier New"/>
                <a:cs typeface="Courier New"/>
                <a:sym typeface="Courier New"/>
              </a:rPr>
              <a:t> </a:t>
            </a:r>
            <a:r>
              <a:rPr lang="en" sz="1500">
                <a:solidFill>
                  <a:srgbClr val="AF00DB"/>
                </a:solidFill>
                <a:highlight>
                  <a:srgbClr val="FFFFFE"/>
                </a:highlight>
                <a:latin typeface="Courier New"/>
                <a:ea typeface="Courier New"/>
                <a:cs typeface="Courier New"/>
                <a:sym typeface="Courier New"/>
              </a:rPr>
              <a:t>if</a:t>
            </a:r>
            <a:r>
              <a:rPr lang="en" sz="1500">
                <a:solidFill>
                  <a:schemeClr val="dk1"/>
                </a:solidFill>
                <a:highlight>
                  <a:srgbClr val="FFFFFE"/>
                </a:highlight>
                <a:latin typeface="Courier New"/>
                <a:ea typeface="Courier New"/>
                <a:cs typeface="Courier New"/>
                <a:sym typeface="Courier New"/>
              </a:rPr>
              <a:t> n &lt; </a:t>
            </a:r>
            <a:r>
              <a:rPr lang="en" sz="1500">
                <a:solidFill>
                  <a:srgbClr val="09885A"/>
                </a:solidFill>
                <a:highlight>
                  <a:srgbClr val="FFFFFE"/>
                </a:highlight>
                <a:latin typeface="Courier New"/>
                <a:ea typeface="Courier New"/>
                <a:cs typeface="Courier New"/>
                <a:sym typeface="Courier New"/>
              </a:rPr>
              <a:t>2</a:t>
            </a:r>
            <a:r>
              <a:rPr lang="en" sz="1500">
                <a:solidFill>
                  <a:schemeClr val="dk1"/>
                </a:solidFill>
                <a:highlight>
                  <a:srgbClr val="FFFFFE"/>
                </a:highlight>
                <a:latin typeface="Courier New"/>
                <a:ea typeface="Courier New"/>
                <a:cs typeface="Courier New"/>
                <a:sym typeface="Courier New"/>
              </a:rPr>
              <a:t> </a:t>
            </a:r>
            <a:r>
              <a:rPr lang="en" sz="1500">
                <a:solidFill>
                  <a:srgbClr val="AF00DB"/>
                </a:solidFill>
                <a:highlight>
                  <a:srgbClr val="FFFFFE"/>
                </a:highlight>
                <a:latin typeface="Courier New"/>
                <a:ea typeface="Courier New"/>
                <a:cs typeface="Courier New"/>
                <a:sym typeface="Courier New"/>
              </a:rPr>
              <a:t>else</a:t>
            </a:r>
            <a:r>
              <a:rPr lang="en" sz="1500">
                <a:solidFill>
                  <a:schemeClr val="dk1"/>
                </a:solidFill>
                <a:highlight>
                  <a:srgbClr val="FFFFFE"/>
                </a:highlight>
                <a:latin typeface="Courier New"/>
                <a:ea typeface="Courier New"/>
                <a:cs typeface="Courier New"/>
                <a:sym typeface="Courier New"/>
              </a:rPr>
              <a:t> n * factorial(n</a:t>
            </a:r>
            <a:r>
              <a:rPr lang="en" sz="1500">
                <a:solidFill>
                  <a:srgbClr val="09885A"/>
                </a:solidFill>
                <a:highlight>
                  <a:srgbClr val="FFFFFE"/>
                </a:highlight>
                <a:latin typeface="Courier New"/>
                <a:ea typeface="Courier New"/>
                <a:cs typeface="Courier New"/>
                <a:sym typeface="Courier New"/>
              </a:rPr>
              <a:t>-1</a:t>
            </a:r>
            <a:r>
              <a:rPr lang="en" sz="1500">
                <a:solidFill>
                  <a:schemeClr val="dk1"/>
                </a:solidFill>
                <a:highlight>
                  <a:srgbClr val="FFFFFE"/>
                </a:highlight>
                <a:latin typeface="Courier New"/>
                <a:ea typeface="Courier New"/>
                <a:cs typeface="Courier New"/>
                <a:sym typeface="Courier New"/>
              </a:rPr>
              <a:t>)</a:t>
            </a:r>
            <a:endParaRPr/>
          </a:p>
        </p:txBody>
      </p:sp>
      <p:sp>
        <p:nvSpPr>
          <p:cNvPr id="207" name="Google Shape;207;p34"/>
          <p:cNvSpPr txBox="1"/>
          <p:nvPr/>
        </p:nvSpPr>
        <p:spPr>
          <a:xfrm>
            <a:off x="1576450" y="2173500"/>
            <a:ext cx="5661300" cy="4155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numbers = </a:t>
            </a:r>
            <a:r>
              <a:rPr lang="en" sz="1500">
                <a:solidFill>
                  <a:srgbClr val="795E26"/>
                </a:solidFill>
                <a:highlight>
                  <a:srgbClr val="FFFFFE"/>
                </a:highlight>
                <a:latin typeface="Courier New"/>
                <a:ea typeface="Courier New"/>
                <a:cs typeface="Courier New"/>
                <a:sym typeface="Courier New"/>
              </a:rPr>
              <a:t>[1, 2, 3, 4, 5, 6, 7, 8, 9, 10]</a:t>
            </a:r>
            <a:endParaRPr/>
          </a:p>
        </p:txBody>
      </p:sp>
      <p:sp>
        <p:nvSpPr>
          <p:cNvPr id="208" name="Google Shape;208;p34"/>
          <p:cNvSpPr txBox="1"/>
          <p:nvPr/>
        </p:nvSpPr>
        <p:spPr>
          <a:xfrm>
            <a:off x="1576450" y="3611275"/>
            <a:ext cx="6478200" cy="7290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mapped_items -&gt; </a:t>
            </a:r>
            <a:r>
              <a:rPr lang="en" sz="1500">
                <a:solidFill>
                  <a:srgbClr val="795E26"/>
                </a:solidFill>
                <a:highlight>
                  <a:srgbClr val="FFFFFE"/>
                </a:highlight>
                <a:latin typeface="Courier New"/>
                <a:ea typeface="Courier New"/>
                <a:cs typeface="Courier New"/>
                <a:sym typeface="Courier New"/>
              </a:rPr>
              <a:t>[1, 1, 2, 6, 24, 120, 720, 5040, 40320, 362880, 3628800]</a:t>
            </a:r>
            <a:endParaRPr sz="1500">
              <a:solidFill>
                <a:schemeClr val="dk1"/>
              </a:solidFill>
              <a:highlight>
                <a:srgbClr val="FFFFFE"/>
              </a:highlight>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1000"/>
                                        <p:tgtEl>
                                          <p:spTgt spid="2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1000"/>
                                        <p:tgtEl>
                                          <p:spTgt spid="2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5"/>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filter function applies the input function to each element of the iterable</a:t>
            </a:r>
            <a:endParaRPr/>
          </a:p>
        </p:txBody>
      </p:sp>
      <p:sp>
        <p:nvSpPr>
          <p:cNvPr id="214" name="Google Shape;214;p35"/>
          <p:cNvSpPr txBox="1"/>
          <p:nvPr/>
        </p:nvSpPr>
        <p:spPr>
          <a:xfrm>
            <a:off x="2289875" y="2325450"/>
            <a:ext cx="4314900" cy="415500"/>
          </a:xfrm>
          <a:prstGeom prst="rect">
            <a:avLst/>
          </a:prstGeom>
          <a:noFill/>
          <a:ln>
            <a:noFill/>
          </a:ln>
        </p:spPr>
        <p:txBody>
          <a:bodyPr anchorCtr="0" anchor="t" bIns="91425" lIns="91425" spcFirstLastPara="1" rIns="91425" wrap="square" tIns="91425">
            <a:spAutoFit/>
          </a:bodyPr>
          <a:lstStyle/>
          <a:p>
            <a:pPr indent="0" lvl="0" marL="0" rtl="0" algn="ctr">
              <a:lnSpc>
                <a:spcPct val="135714"/>
              </a:lnSpc>
              <a:spcBef>
                <a:spcPts val="0"/>
              </a:spcBef>
              <a:spcAft>
                <a:spcPts val="0"/>
              </a:spcAft>
              <a:buNone/>
            </a:pPr>
            <a:r>
              <a:rPr lang="en" sz="1500">
                <a:solidFill>
                  <a:srgbClr val="795E26"/>
                </a:solidFill>
                <a:highlight>
                  <a:srgbClr val="FFFFFE"/>
                </a:highlight>
                <a:latin typeface="Courier New"/>
                <a:ea typeface="Courier New"/>
                <a:cs typeface="Courier New"/>
                <a:sym typeface="Courier New"/>
              </a:rPr>
              <a:t>filter</a:t>
            </a:r>
            <a:r>
              <a:rPr lang="en" sz="1500">
                <a:solidFill>
                  <a:schemeClr val="dk1"/>
                </a:solidFill>
                <a:highlight>
                  <a:srgbClr val="FFFFFE"/>
                </a:highlight>
                <a:latin typeface="Courier New"/>
                <a:ea typeface="Courier New"/>
                <a:cs typeface="Courier New"/>
                <a:sym typeface="Courier New"/>
              </a:rPr>
              <a:t>(function, iterable)</a:t>
            </a:r>
            <a:endParaRPr sz="1500">
              <a:solidFill>
                <a:schemeClr val="dk1"/>
              </a:solidFill>
              <a:highlight>
                <a:srgbClr val="FFFFFE"/>
              </a:highlight>
              <a:latin typeface="Courier New"/>
              <a:ea typeface="Courier New"/>
              <a:cs typeface="Courier New"/>
              <a:sym typeface="Courier New"/>
            </a:endParaRPr>
          </a:p>
        </p:txBody>
      </p:sp>
      <p:sp>
        <p:nvSpPr>
          <p:cNvPr id="215" name="Google Shape;215;p35"/>
          <p:cNvSpPr txBox="1"/>
          <p:nvPr/>
        </p:nvSpPr>
        <p:spPr>
          <a:xfrm>
            <a:off x="4073400" y="3808725"/>
            <a:ext cx="1265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Montserrat"/>
                <a:ea typeface="Montserrat"/>
                <a:cs typeface="Montserrat"/>
                <a:sym typeface="Montserrat"/>
              </a:rPr>
              <a:t>inputs</a:t>
            </a:r>
            <a:endParaRPr>
              <a:latin typeface="Montserrat"/>
              <a:ea typeface="Montserrat"/>
              <a:cs typeface="Montserrat"/>
              <a:sym typeface="Montserrat"/>
            </a:endParaRPr>
          </a:p>
        </p:txBody>
      </p:sp>
      <p:cxnSp>
        <p:nvCxnSpPr>
          <p:cNvPr id="216" name="Google Shape;216;p35"/>
          <p:cNvCxnSpPr>
            <a:stCxn id="215" idx="0"/>
          </p:cNvCxnSpPr>
          <p:nvPr/>
        </p:nvCxnSpPr>
        <p:spPr>
          <a:xfrm rot="10800000">
            <a:off x="4004250" y="2842125"/>
            <a:ext cx="702000" cy="966600"/>
          </a:xfrm>
          <a:prstGeom prst="straightConnector1">
            <a:avLst/>
          </a:prstGeom>
          <a:noFill/>
          <a:ln cap="flat" cmpd="sng" w="19050">
            <a:solidFill>
              <a:schemeClr val="dk2"/>
            </a:solidFill>
            <a:prstDash val="solid"/>
            <a:round/>
            <a:headEnd len="med" w="med" type="none"/>
            <a:tailEnd len="med" w="med" type="triangle"/>
          </a:ln>
        </p:spPr>
      </p:cxnSp>
      <p:cxnSp>
        <p:nvCxnSpPr>
          <p:cNvPr id="217" name="Google Shape;217;p35"/>
          <p:cNvCxnSpPr>
            <a:stCxn id="215" idx="0"/>
          </p:cNvCxnSpPr>
          <p:nvPr/>
        </p:nvCxnSpPr>
        <p:spPr>
          <a:xfrm flipH="1" rot="10800000">
            <a:off x="4706250" y="2807625"/>
            <a:ext cx="621300" cy="1001100"/>
          </a:xfrm>
          <a:prstGeom prst="straightConnector1">
            <a:avLst/>
          </a:prstGeom>
          <a:noFill/>
          <a:ln cap="flat" cmpd="sng" w="19050">
            <a:solidFill>
              <a:schemeClr val="dk2"/>
            </a:solidFill>
            <a:prstDash val="solid"/>
            <a:round/>
            <a:headEnd len="med" w="med" type="none"/>
            <a:tailEnd len="med" w="med" type="triangle"/>
          </a:ln>
        </p:spPr>
      </p:cxnSp>
      <p:grpSp>
        <p:nvGrpSpPr>
          <p:cNvPr id="218" name="Google Shape;218;p35"/>
          <p:cNvGrpSpPr/>
          <p:nvPr/>
        </p:nvGrpSpPr>
        <p:grpSpPr>
          <a:xfrm>
            <a:off x="1912925" y="1357800"/>
            <a:ext cx="5068800" cy="967800"/>
            <a:chOff x="1912925" y="1357800"/>
            <a:chExt cx="5068800" cy="967800"/>
          </a:xfrm>
        </p:grpSpPr>
        <p:sp>
          <p:nvSpPr>
            <p:cNvPr id="219" name="Google Shape;219;p35"/>
            <p:cNvSpPr txBox="1"/>
            <p:nvPr/>
          </p:nvSpPr>
          <p:spPr>
            <a:xfrm>
              <a:off x="1912925" y="1357800"/>
              <a:ext cx="50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Returns either True or False for each input value</a:t>
              </a:r>
              <a:endParaRPr>
                <a:latin typeface="Montserrat"/>
                <a:ea typeface="Montserrat"/>
                <a:cs typeface="Montserrat"/>
                <a:sym typeface="Montserrat"/>
              </a:endParaRPr>
            </a:p>
          </p:txBody>
        </p:sp>
        <p:cxnSp>
          <p:nvCxnSpPr>
            <p:cNvPr id="220" name="Google Shape;220;p35"/>
            <p:cNvCxnSpPr>
              <a:stCxn id="219" idx="2"/>
              <a:endCxn id="214" idx="0"/>
            </p:cNvCxnSpPr>
            <p:nvPr/>
          </p:nvCxnSpPr>
          <p:spPr>
            <a:xfrm>
              <a:off x="4447325" y="1758000"/>
              <a:ext cx="0" cy="567600"/>
            </a:xfrm>
            <a:prstGeom prst="straightConnector1">
              <a:avLst/>
            </a:prstGeom>
            <a:noFill/>
            <a:ln cap="flat" cmpd="sng" w="19050">
              <a:solidFill>
                <a:schemeClr val="dk2"/>
              </a:solidFill>
              <a:prstDash val="solid"/>
              <a:round/>
              <a:headEnd len="med" w="med" type="none"/>
              <a:tailEnd len="med" w="med" type="oval"/>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1000"/>
                                        <p:tgtEl>
                                          <p:spTgt spid="2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6"/>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0" lang="en" sz="2400"/>
              <a:t>Filter</a:t>
            </a:r>
            <a:r>
              <a:rPr b="0" lang="en" sz="2400"/>
              <a:t> function to filter out odd numbers from a list</a:t>
            </a:r>
            <a:endParaRPr b="0" sz="2400"/>
          </a:p>
        </p:txBody>
      </p:sp>
      <p:sp>
        <p:nvSpPr>
          <p:cNvPr id="226" name="Google Shape;226;p36"/>
          <p:cNvSpPr txBox="1"/>
          <p:nvPr/>
        </p:nvSpPr>
        <p:spPr>
          <a:xfrm>
            <a:off x="1576450" y="2957200"/>
            <a:ext cx="5718900" cy="4155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filtered_items</a:t>
            </a:r>
            <a:r>
              <a:rPr lang="en" sz="1500">
                <a:solidFill>
                  <a:schemeClr val="dk1"/>
                </a:solidFill>
                <a:highlight>
                  <a:srgbClr val="FFFFFE"/>
                </a:highlight>
                <a:latin typeface="Courier New"/>
                <a:ea typeface="Courier New"/>
                <a:cs typeface="Courier New"/>
                <a:sym typeface="Courier New"/>
              </a:rPr>
              <a:t> = </a:t>
            </a:r>
            <a:r>
              <a:rPr lang="en" sz="1500">
                <a:solidFill>
                  <a:srgbClr val="795E26"/>
                </a:solidFill>
                <a:highlight>
                  <a:srgbClr val="FFFFFE"/>
                </a:highlight>
                <a:latin typeface="Courier New"/>
                <a:ea typeface="Courier New"/>
                <a:cs typeface="Courier New"/>
                <a:sym typeface="Courier New"/>
              </a:rPr>
              <a:t>filter</a:t>
            </a:r>
            <a:r>
              <a:rPr lang="en" sz="1500">
                <a:solidFill>
                  <a:schemeClr val="dk1"/>
                </a:solidFill>
                <a:highlight>
                  <a:srgbClr val="FFFFFE"/>
                </a:highlight>
                <a:latin typeface="Courier New"/>
                <a:ea typeface="Courier New"/>
                <a:cs typeface="Courier New"/>
                <a:sym typeface="Courier New"/>
              </a:rPr>
              <a:t>(filter_odd, numbers)</a:t>
            </a:r>
            <a:endParaRPr sz="1500">
              <a:solidFill>
                <a:schemeClr val="dk1"/>
              </a:solidFill>
              <a:highlight>
                <a:srgbClr val="FFFFFE"/>
              </a:highlight>
              <a:latin typeface="Courier New"/>
              <a:ea typeface="Courier New"/>
              <a:cs typeface="Courier New"/>
              <a:sym typeface="Courier New"/>
            </a:endParaRPr>
          </a:p>
        </p:txBody>
      </p:sp>
      <p:sp>
        <p:nvSpPr>
          <p:cNvPr id="227" name="Google Shape;227;p36"/>
          <p:cNvSpPr txBox="1"/>
          <p:nvPr/>
        </p:nvSpPr>
        <p:spPr>
          <a:xfrm>
            <a:off x="1829575" y="1369850"/>
            <a:ext cx="6225000" cy="7290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500">
                <a:solidFill>
                  <a:srgbClr val="0000FF"/>
                </a:solidFill>
                <a:highlight>
                  <a:srgbClr val="FFFFFE"/>
                </a:highlight>
                <a:latin typeface="Courier New"/>
                <a:ea typeface="Courier New"/>
                <a:cs typeface="Courier New"/>
                <a:sym typeface="Courier New"/>
              </a:rPr>
              <a:t>def</a:t>
            </a:r>
            <a:r>
              <a:rPr lang="en" sz="1500">
                <a:solidFill>
                  <a:schemeClr val="dk1"/>
                </a:solidFill>
                <a:highlight>
                  <a:srgbClr val="FFFFFE"/>
                </a:highlight>
                <a:latin typeface="Courier New"/>
                <a:ea typeface="Courier New"/>
                <a:cs typeface="Courier New"/>
                <a:sym typeface="Courier New"/>
              </a:rPr>
              <a:t> </a:t>
            </a:r>
            <a:r>
              <a:rPr lang="en" sz="1500">
                <a:solidFill>
                  <a:srgbClr val="795E26"/>
                </a:solidFill>
                <a:highlight>
                  <a:srgbClr val="FFFFFE"/>
                </a:highlight>
                <a:latin typeface="Courier New"/>
                <a:ea typeface="Courier New"/>
                <a:cs typeface="Courier New"/>
                <a:sym typeface="Courier New"/>
              </a:rPr>
              <a:t>filter_odd</a:t>
            </a:r>
            <a:r>
              <a:rPr lang="en" sz="1500">
                <a:solidFill>
                  <a:schemeClr val="dk1"/>
                </a:solidFill>
                <a:highlight>
                  <a:srgbClr val="FFFFFE"/>
                </a:highlight>
                <a:latin typeface="Courier New"/>
                <a:ea typeface="Courier New"/>
                <a:cs typeface="Courier New"/>
                <a:sym typeface="Courier New"/>
              </a:rPr>
              <a:t>(</a:t>
            </a:r>
            <a:r>
              <a:rPr lang="en" sz="1500">
                <a:solidFill>
                  <a:srgbClr val="001080"/>
                </a:solidFill>
                <a:highlight>
                  <a:srgbClr val="FFFFFE"/>
                </a:highlight>
                <a:latin typeface="Courier New"/>
                <a:ea typeface="Courier New"/>
                <a:cs typeface="Courier New"/>
                <a:sym typeface="Courier New"/>
              </a:rPr>
              <a:t>x</a:t>
            </a:r>
            <a:r>
              <a:rPr lang="en" sz="1500">
                <a:solidFill>
                  <a:schemeClr val="dk1"/>
                </a:solidFill>
                <a:highlight>
                  <a:srgbClr val="FFFFFE"/>
                </a:highlight>
                <a:latin typeface="Courier New"/>
                <a:ea typeface="Courier New"/>
                <a:cs typeface="Courier New"/>
                <a:sym typeface="Courier New"/>
              </a:rPr>
              <a:t>):</a:t>
            </a:r>
            <a:endParaRPr sz="150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 </a:t>
            </a:r>
            <a:r>
              <a:rPr lang="en" sz="1500">
                <a:solidFill>
                  <a:srgbClr val="AF00DB"/>
                </a:solidFill>
                <a:highlight>
                  <a:srgbClr val="FFFFFE"/>
                </a:highlight>
                <a:latin typeface="Courier New"/>
                <a:ea typeface="Courier New"/>
                <a:cs typeface="Courier New"/>
                <a:sym typeface="Courier New"/>
              </a:rPr>
              <a:t>return</a:t>
            </a:r>
            <a:r>
              <a:rPr lang="en" sz="1500">
                <a:solidFill>
                  <a:schemeClr val="dk1"/>
                </a:solidFill>
                <a:highlight>
                  <a:srgbClr val="FFFFFE"/>
                </a:highlight>
                <a:latin typeface="Courier New"/>
                <a:ea typeface="Courier New"/>
                <a:cs typeface="Courier New"/>
                <a:sym typeface="Courier New"/>
              </a:rPr>
              <a:t> </a:t>
            </a:r>
            <a:r>
              <a:rPr lang="en" sz="1500">
                <a:solidFill>
                  <a:srgbClr val="0000FF"/>
                </a:solidFill>
                <a:highlight>
                  <a:srgbClr val="FFFFFE"/>
                </a:highlight>
                <a:latin typeface="Courier New"/>
                <a:ea typeface="Courier New"/>
                <a:cs typeface="Courier New"/>
                <a:sym typeface="Courier New"/>
              </a:rPr>
              <a:t>True</a:t>
            </a:r>
            <a:r>
              <a:rPr lang="en" sz="1500">
                <a:solidFill>
                  <a:schemeClr val="dk1"/>
                </a:solidFill>
                <a:highlight>
                  <a:srgbClr val="FFFFFE"/>
                </a:highlight>
                <a:latin typeface="Courier New"/>
                <a:ea typeface="Courier New"/>
                <a:cs typeface="Courier New"/>
                <a:sym typeface="Courier New"/>
              </a:rPr>
              <a:t> </a:t>
            </a:r>
            <a:r>
              <a:rPr lang="en" sz="1500">
                <a:solidFill>
                  <a:srgbClr val="AF00DB"/>
                </a:solidFill>
                <a:highlight>
                  <a:srgbClr val="FFFFFE"/>
                </a:highlight>
                <a:latin typeface="Courier New"/>
                <a:ea typeface="Courier New"/>
                <a:cs typeface="Courier New"/>
                <a:sym typeface="Courier New"/>
              </a:rPr>
              <a:t>if</a:t>
            </a:r>
            <a:r>
              <a:rPr lang="en" sz="1500">
                <a:solidFill>
                  <a:schemeClr val="dk1"/>
                </a:solidFill>
                <a:highlight>
                  <a:srgbClr val="FFFFFE"/>
                </a:highlight>
                <a:latin typeface="Courier New"/>
                <a:ea typeface="Courier New"/>
                <a:cs typeface="Courier New"/>
                <a:sym typeface="Courier New"/>
              </a:rPr>
              <a:t> x%</a:t>
            </a:r>
            <a:r>
              <a:rPr lang="en" sz="1500">
                <a:solidFill>
                  <a:srgbClr val="09885A"/>
                </a:solidFill>
                <a:highlight>
                  <a:srgbClr val="FFFFFE"/>
                </a:highlight>
                <a:latin typeface="Courier New"/>
                <a:ea typeface="Courier New"/>
                <a:cs typeface="Courier New"/>
                <a:sym typeface="Courier New"/>
              </a:rPr>
              <a:t>2</a:t>
            </a:r>
            <a:r>
              <a:rPr lang="en" sz="1500">
                <a:solidFill>
                  <a:schemeClr val="dk1"/>
                </a:solidFill>
                <a:highlight>
                  <a:srgbClr val="FFFFFE"/>
                </a:highlight>
                <a:latin typeface="Courier New"/>
                <a:ea typeface="Courier New"/>
                <a:cs typeface="Courier New"/>
                <a:sym typeface="Courier New"/>
              </a:rPr>
              <a:t>==</a:t>
            </a:r>
            <a:r>
              <a:rPr lang="en" sz="1500">
                <a:solidFill>
                  <a:srgbClr val="09885A"/>
                </a:solidFill>
                <a:highlight>
                  <a:srgbClr val="FFFFFE"/>
                </a:highlight>
                <a:latin typeface="Courier New"/>
                <a:ea typeface="Courier New"/>
                <a:cs typeface="Courier New"/>
                <a:sym typeface="Courier New"/>
              </a:rPr>
              <a:t>1</a:t>
            </a:r>
            <a:r>
              <a:rPr lang="en" sz="1500">
                <a:solidFill>
                  <a:schemeClr val="dk1"/>
                </a:solidFill>
                <a:highlight>
                  <a:srgbClr val="FFFFFE"/>
                </a:highlight>
                <a:latin typeface="Courier New"/>
                <a:ea typeface="Courier New"/>
                <a:cs typeface="Courier New"/>
                <a:sym typeface="Courier New"/>
              </a:rPr>
              <a:t> </a:t>
            </a:r>
            <a:r>
              <a:rPr lang="en" sz="1500">
                <a:solidFill>
                  <a:srgbClr val="AF00DB"/>
                </a:solidFill>
                <a:highlight>
                  <a:srgbClr val="FFFFFE"/>
                </a:highlight>
                <a:latin typeface="Courier New"/>
                <a:ea typeface="Courier New"/>
                <a:cs typeface="Courier New"/>
                <a:sym typeface="Courier New"/>
              </a:rPr>
              <a:t>else</a:t>
            </a:r>
            <a:r>
              <a:rPr lang="en" sz="1500">
                <a:solidFill>
                  <a:schemeClr val="dk1"/>
                </a:solidFill>
                <a:highlight>
                  <a:srgbClr val="FFFFFE"/>
                </a:highlight>
                <a:latin typeface="Courier New"/>
                <a:ea typeface="Courier New"/>
                <a:cs typeface="Courier New"/>
                <a:sym typeface="Courier New"/>
              </a:rPr>
              <a:t> </a:t>
            </a:r>
            <a:r>
              <a:rPr lang="en" sz="1500">
                <a:solidFill>
                  <a:srgbClr val="0000FF"/>
                </a:solidFill>
                <a:highlight>
                  <a:srgbClr val="FFFFFE"/>
                </a:highlight>
                <a:latin typeface="Courier New"/>
                <a:ea typeface="Courier New"/>
                <a:cs typeface="Courier New"/>
                <a:sym typeface="Courier New"/>
              </a:rPr>
              <a:t>False</a:t>
            </a:r>
            <a:endParaRPr sz="1500">
              <a:solidFill>
                <a:srgbClr val="0000FF"/>
              </a:solidFill>
              <a:highlight>
                <a:srgbClr val="FFFFFE"/>
              </a:highlight>
              <a:latin typeface="Courier New"/>
              <a:ea typeface="Courier New"/>
              <a:cs typeface="Courier New"/>
              <a:sym typeface="Courier New"/>
            </a:endParaRPr>
          </a:p>
        </p:txBody>
      </p:sp>
      <p:sp>
        <p:nvSpPr>
          <p:cNvPr id="228" name="Google Shape;228;p36"/>
          <p:cNvSpPr txBox="1"/>
          <p:nvPr/>
        </p:nvSpPr>
        <p:spPr>
          <a:xfrm>
            <a:off x="1576450" y="2173500"/>
            <a:ext cx="5661300" cy="4155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numbers = </a:t>
            </a:r>
            <a:r>
              <a:rPr lang="en" sz="1500">
                <a:solidFill>
                  <a:srgbClr val="795E26"/>
                </a:solidFill>
                <a:highlight>
                  <a:srgbClr val="FFFFFE"/>
                </a:highlight>
                <a:latin typeface="Courier New"/>
                <a:ea typeface="Courier New"/>
                <a:cs typeface="Courier New"/>
                <a:sym typeface="Courier New"/>
              </a:rPr>
              <a:t>[1, 2, 3, 4, 5, 6, 7, 8, 9, 10]</a:t>
            </a:r>
            <a:endParaRPr/>
          </a:p>
        </p:txBody>
      </p:sp>
      <p:sp>
        <p:nvSpPr>
          <p:cNvPr id="229" name="Google Shape;229;p36"/>
          <p:cNvSpPr txBox="1"/>
          <p:nvPr/>
        </p:nvSpPr>
        <p:spPr>
          <a:xfrm>
            <a:off x="1576450" y="3821275"/>
            <a:ext cx="5718900" cy="4155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filtered_items</a:t>
            </a:r>
            <a:r>
              <a:rPr lang="en" sz="1500">
                <a:solidFill>
                  <a:schemeClr val="dk1"/>
                </a:solidFill>
                <a:highlight>
                  <a:srgbClr val="FFFFFE"/>
                </a:highlight>
                <a:latin typeface="Courier New"/>
                <a:ea typeface="Courier New"/>
                <a:cs typeface="Courier New"/>
                <a:sym typeface="Courier New"/>
              </a:rPr>
              <a:t> -&gt; </a:t>
            </a:r>
            <a:r>
              <a:rPr lang="en" sz="1500">
                <a:solidFill>
                  <a:srgbClr val="795E26"/>
                </a:solidFill>
                <a:highlight>
                  <a:srgbClr val="FFFFFE"/>
                </a:highlight>
                <a:latin typeface="Courier New"/>
                <a:ea typeface="Courier New"/>
                <a:cs typeface="Courier New"/>
                <a:sym typeface="Courier New"/>
              </a:rPr>
              <a:t>[1, 3, 5, 7, 9]</a:t>
            </a:r>
            <a:endParaRPr sz="1500">
              <a:solidFill>
                <a:schemeClr val="dk1"/>
              </a:solidFill>
              <a:highlight>
                <a:srgbClr val="FFFFFE"/>
              </a:highlight>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1000"/>
                                        <p:tgtEl>
                                          <p:spTgt spid="2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1000"/>
                                        <p:tgtEl>
                                          <p:spTgt spid="2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7"/>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reduce function iteratively applies the input function two elements of an iterable and reduces it to a single value</a:t>
            </a:r>
            <a:endParaRPr/>
          </a:p>
        </p:txBody>
      </p:sp>
      <p:sp>
        <p:nvSpPr>
          <p:cNvPr id="235" name="Google Shape;235;p37"/>
          <p:cNvSpPr txBox="1"/>
          <p:nvPr/>
        </p:nvSpPr>
        <p:spPr>
          <a:xfrm>
            <a:off x="2289875" y="2325450"/>
            <a:ext cx="4314900" cy="415500"/>
          </a:xfrm>
          <a:prstGeom prst="rect">
            <a:avLst/>
          </a:prstGeom>
          <a:noFill/>
          <a:ln>
            <a:noFill/>
          </a:ln>
        </p:spPr>
        <p:txBody>
          <a:bodyPr anchorCtr="0" anchor="t" bIns="91425" lIns="91425" spcFirstLastPara="1" rIns="91425" wrap="square" tIns="91425">
            <a:spAutoFit/>
          </a:bodyPr>
          <a:lstStyle/>
          <a:p>
            <a:pPr indent="0" lvl="0" marL="0" rtl="0" algn="ctr">
              <a:lnSpc>
                <a:spcPct val="135714"/>
              </a:lnSpc>
              <a:spcBef>
                <a:spcPts val="0"/>
              </a:spcBef>
              <a:spcAft>
                <a:spcPts val="0"/>
              </a:spcAft>
              <a:buNone/>
            </a:pPr>
            <a:r>
              <a:rPr lang="en" sz="1500">
                <a:solidFill>
                  <a:srgbClr val="795E26"/>
                </a:solidFill>
                <a:highlight>
                  <a:srgbClr val="FFFFFE"/>
                </a:highlight>
                <a:latin typeface="Courier New"/>
                <a:ea typeface="Courier New"/>
                <a:cs typeface="Courier New"/>
                <a:sym typeface="Courier New"/>
              </a:rPr>
              <a:t>reduce</a:t>
            </a:r>
            <a:r>
              <a:rPr lang="en" sz="1500">
                <a:solidFill>
                  <a:schemeClr val="dk1"/>
                </a:solidFill>
                <a:highlight>
                  <a:srgbClr val="FFFFFE"/>
                </a:highlight>
                <a:latin typeface="Courier New"/>
                <a:ea typeface="Courier New"/>
                <a:cs typeface="Courier New"/>
                <a:sym typeface="Courier New"/>
              </a:rPr>
              <a:t>(function, iterable)</a:t>
            </a:r>
            <a:endParaRPr sz="1500">
              <a:solidFill>
                <a:schemeClr val="dk1"/>
              </a:solidFill>
              <a:highlight>
                <a:srgbClr val="FFFFFE"/>
              </a:highlight>
              <a:latin typeface="Courier New"/>
              <a:ea typeface="Courier New"/>
              <a:cs typeface="Courier New"/>
              <a:sym typeface="Courier New"/>
            </a:endParaRPr>
          </a:p>
        </p:txBody>
      </p:sp>
      <p:sp>
        <p:nvSpPr>
          <p:cNvPr id="236" name="Google Shape;236;p37"/>
          <p:cNvSpPr txBox="1"/>
          <p:nvPr/>
        </p:nvSpPr>
        <p:spPr>
          <a:xfrm>
            <a:off x="4073400" y="3808725"/>
            <a:ext cx="1265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Montserrat"/>
                <a:ea typeface="Montserrat"/>
                <a:cs typeface="Montserrat"/>
                <a:sym typeface="Montserrat"/>
              </a:rPr>
              <a:t>inputs</a:t>
            </a:r>
            <a:endParaRPr>
              <a:latin typeface="Montserrat"/>
              <a:ea typeface="Montserrat"/>
              <a:cs typeface="Montserrat"/>
              <a:sym typeface="Montserrat"/>
            </a:endParaRPr>
          </a:p>
        </p:txBody>
      </p:sp>
      <p:cxnSp>
        <p:nvCxnSpPr>
          <p:cNvPr id="237" name="Google Shape;237;p37"/>
          <p:cNvCxnSpPr>
            <a:stCxn id="236" idx="0"/>
          </p:cNvCxnSpPr>
          <p:nvPr/>
        </p:nvCxnSpPr>
        <p:spPr>
          <a:xfrm rot="10800000">
            <a:off x="4004250" y="2842125"/>
            <a:ext cx="702000" cy="966600"/>
          </a:xfrm>
          <a:prstGeom prst="straightConnector1">
            <a:avLst/>
          </a:prstGeom>
          <a:noFill/>
          <a:ln cap="flat" cmpd="sng" w="19050">
            <a:solidFill>
              <a:schemeClr val="dk2"/>
            </a:solidFill>
            <a:prstDash val="solid"/>
            <a:round/>
            <a:headEnd len="med" w="med" type="none"/>
            <a:tailEnd len="med" w="med" type="triangle"/>
          </a:ln>
        </p:spPr>
      </p:cxnSp>
      <p:cxnSp>
        <p:nvCxnSpPr>
          <p:cNvPr id="238" name="Google Shape;238;p37"/>
          <p:cNvCxnSpPr>
            <a:stCxn id="236" idx="0"/>
          </p:cNvCxnSpPr>
          <p:nvPr/>
        </p:nvCxnSpPr>
        <p:spPr>
          <a:xfrm flipH="1" rot="10800000">
            <a:off x="4706250" y="2807625"/>
            <a:ext cx="621300" cy="1001100"/>
          </a:xfrm>
          <a:prstGeom prst="straightConnector1">
            <a:avLst/>
          </a:prstGeom>
          <a:noFill/>
          <a:ln cap="flat" cmpd="sng" w="19050">
            <a:solidFill>
              <a:schemeClr val="dk2"/>
            </a:solidFill>
            <a:prstDash val="solid"/>
            <a:round/>
            <a:headEnd len="med" w="med" type="none"/>
            <a:tailEnd len="med" w="med" type="triangle"/>
          </a:ln>
        </p:spPr>
      </p:cxnSp>
      <p:sp>
        <p:nvSpPr>
          <p:cNvPr id="239" name="Google Shape;239;p37"/>
          <p:cNvSpPr txBox="1"/>
          <p:nvPr/>
        </p:nvSpPr>
        <p:spPr>
          <a:xfrm>
            <a:off x="1559375" y="1357800"/>
            <a:ext cx="5775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Montserrat"/>
                <a:ea typeface="Montserrat"/>
                <a:cs typeface="Montserrat"/>
                <a:sym typeface="Montserrat"/>
              </a:rPr>
              <a:t>Iterative </a:t>
            </a:r>
            <a:r>
              <a:rPr lang="en">
                <a:latin typeface="Montserrat"/>
                <a:ea typeface="Montserrat"/>
                <a:cs typeface="Montserrat"/>
                <a:sym typeface="Montserrat"/>
              </a:rPr>
              <a:t>applies the function to two elements of the iterable</a:t>
            </a:r>
            <a:endParaRPr>
              <a:latin typeface="Montserrat"/>
              <a:ea typeface="Montserrat"/>
              <a:cs typeface="Montserrat"/>
              <a:sym typeface="Montserrat"/>
            </a:endParaRPr>
          </a:p>
        </p:txBody>
      </p:sp>
      <p:cxnSp>
        <p:nvCxnSpPr>
          <p:cNvPr id="240" name="Google Shape;240;p37"/>
          <p:cNvCxnSpPr>
            <a:stCxn id="239" idx="2"/>
            <a:endCxn id="235" idx="0"/>
          </p:cNvCxnSpPr>
          <p:nvPr/>
        </p:nvCxnSpPr>
        <p:spPr>
          <a:xfrm>
            <a:off x="4447325" y="1758000"/>
            <a:ext cx="0" cy="567600"/>
          </a:xfrm>
          <a:prstGeom prst="straightConnector1">
            <a:avLst/>
          </a:prstGeom>
          <a:noFill/>
          <a:ln cap="flat" cmpd="sng" w="19050">
            <a:solidFill>
              <a:schemeClr val="dk2"/>
            </a:solidFill>
            <a:prstDash val="solid"/>
            <a:round/>
            <a:headEnd len="med" w="med" type="none"/>
            <a:tailEnd len="med" w="med" type="oval"/>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8"/>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Reduce function to compute product of all elements in a list</a:t>
            </a:r>
            <a:endParaRPr/>
          </a:p>
        </p:txBody>
      </p:sp>
      <p:sp>
        <p:nvSpPr>
          <p:cNvPr id="246" name="Google Shape;246;p38"/>
          <p:cNvSpPr txBox="1"/>
          <p:nvPr/>
        </p:nvSpPr>
        <p:spPr>
          <a:xfrm>
            <a:off x="2288100" y="1530975"/>
            <a:ext cx="4567800" cy="5112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500">
                <a:solidFill>
                  <a:srgbClr val="AF00DB"/>
                </a:solidFill>
                <a:highlight>
                  <a:srgbClr val="FFFFFE"/>
                </a:highlight>
                <a:latin typeface="Courier New"/>
                <a:ea typeface="Courier New"/>
                <a:cs typeface="Courier New"/>
                <a:sym typeface="Courier New"/>
              </a:rPr>
              <a:t>from</a:t>
            </a:r>
            <a:r>
              <a:rPr lang="en" sz="1500">
                <a:solidFill>
                  <a:schemeClr val="dk1"/>
                </a:solidFill>
                <a:highlight>
                  <a:srgbClr val="FFFFFE"/>
                </a:highlight>
                <a:latin typeface="Courier New"/>
                <a:ea typeface="Courier New"/>
                <a:cs typeface="Courier New"/>
                <a:sym typeface="Courier New"/>
              </a:rPr>
              <a:t> functools </a:t>
            </a:r>
            <a:r>
              <a:rPr lang="en" sz="1500">
                <a:solidFill>
                  <a:srgbClr val="AF00DB"/>
                </a:solidFill>
                <a:highlight>
                  <a:srgbClr val="FFFFFE"/>
                </a:highlight>
                <a:latin typeface="Courier New"/>
                <a:ea typeface="Courier New"/>
                <a:cs typeface="Courier New"/>
                <a:sym typeface="Courier New"/>
              </a:rPr>
              <a:t>import</a:t>
            </a:r>
            <a:r>
              <a:rPr lang="en" sz="1500">
                <a:solidFill>
                  <a:schemeClr val="dk1"/>
                </a:solidFill>
                <a:highlight>
                  <a:srgbClr val="FFFFFE"/>
                </a:highlight>
                <a:latin typeface="Courier New"/>
                <a:ea typeface="Courier New"/>
                <a:cs typeface="Courier New"/>
                <a:sym typeface="Courier New"/>
              </a:rPr>
              <a:t> </a:t>
            </a:r>
            <a:r>
              <a:rPr lang="en" sz="1500">
                <a:solidFill>
                  <a:srgbClr val="001080"/>
                </a:solidFill>
                <a:highlight>
                  <a:srgbClr val="FFFFFE"/>
                </a:highlight>
                <a:latin typeface="Courier New"/>
                <a:ea typeface="Courier New"/>
                <a:cs typeface="Courier New"/>
                <a:sym typeface="Courier New"/>
              </a:rPr>
              <a:t>reduce</a:t>
            </a:r>
            <a:endParaRPr sz="1500">
              <a:solidFill>
                <a:srgbClr val="00108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50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500">
              <a:solidFill>
                <a:schemeClr val="dk1"/>
              </a:solidFill>
              <a:highlight>
                <a:srgbClr val="FFFFFE"/>
              </a:highlight>
              <a:latin typeface="Courier New"/>
              <a:ea typeface="Courier New"/>
              <a:cs typeface="Courier New"/>
              <a:sym typeface="Courier New"/>
            </a:endParaRPr>
          </a:p>
        </p:txBody>
      </p:sp>
      <p:sp>
        <p:nvSpPr>
          <p:cNvPr id="247" name="Google Shape;247;p38"/>
          <p:cNvSpPr txBox="1"/>
          <p:nvPr/>
        </p:nvSpPr>
        <p:spPr>
          <a:xfrm>
            <a:off x="2288100" y="2042275"/>
            <a:ext cx="4916700" cy="8508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500">
                <a:solidFill>
                  <a:srgbClr val="0000FF"/>
                </a:solidFill>
                <a:highlight>
                  <a:srgbClr val="FFFFFE"/>
                </a:highlight>
                <a:latin typeface="Courier New"/>
                <a:ea typeface="Courier New"/>
                <a:cs typeface="Courier New"/>
                <a:sym typeface="Courier New"/>
              </a:rPr>
              <a:t>def</a:t>
            </a:r>
            <a:r>
              <a:rPr lang="en" sz="1500">
                <a:solidFill>
                  <a:schemeClr val="dk1"/>
                </a:solidFill>
                <a:highlight>
                  <a:srgbClr val="FFFFFE"/>
                </a:highlight>
                <a:latin typeface="Courier New"/>
                <a:ea typeface="Courier New"/>
                <a:cs typeface="Courier New"/>
                <a:sym typeface="Courier New"/>
              </a:rPr>
              <a:t> </a:t>
            </a:r>
            <a:r>
              <a:rPr lang="en" sz="1500">
                <a:solidFill>
                  <a:srgbClr val="795E26"/>
                </a:solidFill>
                <a:highlight>
                  <a:srgbClr val="FFFFFE"/>
                </a:highlight>
                <a:latin typeface="Courier New"/>
                <a:ea typeface="Courier New"/>
                <a:cs typeface="Courier New"/>
                <a:sym typeface="Courier New"/>
              </a:rPr>
              <a:t>get_product</a:t>
            </a:r>
            <a:r>
              <a:rPr lang="en" sz="1500">
                <a:solidFill>
                  <a:schemeClr val="dk1"/>
                </a:solidFill>
                <a:highlight>
                  <a:srgbClr val="FFFFFE"/>
                </a:highlight>
                <a:latin typeface="Courier New"/>
                <a:ea typeface="Courier New"/>
                <a:cs typeface="Courier New"/>
                <a:sym typeface="Courier New"/>
              </a:rPr>
              <a:t>(</a:t>
            </a:r>
            <a:r>
              <a:rPr lang="en" sz="1500">
                <a:solidFill>
                  <a:srgbClr val="001080"/>
                </a:solidFill>
                <a:highlight>
                  <a:srgbClr val="FFFFFE"/>
                </a:highlight>
                <a:latin typeface="Courier New"/>
                <a:ea typeface="Courier New"/>
                <a:cs typeface="Courier New"/>
                <a:sym typeface="Courier New"/>
              </a:rPr>
              <a:t>num1</a:t>
            </a:r>
            <a:r>
              <a:rPr lang="en" sz="1500">
                <a:solidFill>
                  <a:schemeClr val="dk1"/>
                </a:solidFill>
                <a:highlight>
                  <a:srgbClr val="FFFFFE"/>
                </a:highlight>
                <a:latin typeface="Courier New"/>
                <a:ea typeface="Courier New"/>
                <a:cs typeface="Courier New"/>
                <a:sym typeface="Courier New"/>
              </a:rPr>
              <a:t>, </a:t>
            </a:r>
            <a:r>
              <a:rPr lang="en" sz="1500">
                <a:solidFill>
                  <a:srgbClr val="001080"/>
                </a:solidFill>
                <a:highlight>
                  <a:srgbClr val="FFFFFE"/>
                </a:highlight>
                <a:latin typeface="Courier New"/>
                <a:ea typeface="Courier New"/>
                <a:cs typeface="Courier New"/>
                <a:sym typeface="Courier New"/>
              </a:rPr>
              <a:t>num2</a:t>
            </a:r>
            <a:r>
              <a:rPr lang="en" sz="1500">
                <a:solidFill>
                  <a:schemeClr val="dk1"/>
                </a:solidFill>
                <a:highlight>
                  <a:srgbClr val="FFFFFE"/>
                </a:highlight>
                <a:latin typeface="Courier New"/>
                <a:ea typeface="Courier New"/>
                <a:cs typeface="Courier New"/>
                <a:sym typeface="Courier New"/>
              </a:rPr>
              <a:t>):</a:t>
            </a:r>
            <a:endParaRPr sz="150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 </a:t>
            </a:r>
            <a:r>
              <a:rPr lang="en" sz="1500">
                <a:solidFill>
                  <a:srgbClr val="AF00DB"/>
                </a:solidFill>
                <a:highlight>
                  <a:srgbClr val="FFFFFE"/>
                </a:highlight>
                <a:latin typeface="Courier New"/>
                <a:ea typeface="Courier New"/>
                <a:cs typeface="Courier New"/>
                <a:sym typeface="Courier New"/>
              </a:rPr>
              <a:t>return</a:t>
            </a:r>
            <a:r>
              <a:rPr lang="en" sz="1500">
                <a:solidFill>
                  <a:schemeClr val="dk1"/>
                </a:solidFill>
                <a:highlight>
                  <a:srgbClr val="FFFFFE"/>
                </a:highlight>
                <a:latin typeface="Courier New"/>
                <a:ea typeface="Courier New"/>
                <a:cs typeface="Courier New"/>
                <a:sym typeface="Courier New"/>
              </a:rPr>
              <a:t> num1 * num2</a:t>
            </a:r>
            <a:endParaRPr sz="150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50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a:p>
        </p:txBody>
      </p:sp>
      <p:sp>
        <p:nvSpPr>
          <p:cNvPr id="248" name="Google Shape;248;p38"/>
          <p:cNvSpPr txBox="1"/>
          <p:nvPr/>
        </p:nvSpPr>
        <p:spPr>
          <a:xfrm>
            <a:off x="2288100" y="2949950"/>
            <a:ext cx="4841100" cy="10422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numbers = [</a:t>
            </a:r>
            <a:r>
              <a:rPr lang="en" sz="1500">
                <a:solidFill>
                  <a:srgbClr val="09885A"/>
                </a:solidFill>
                <a:highlight>
                  <a:srgbClr val="FFFFFE"/>
                </a:highlight>
                <a:latin typeface="Courier New"/>
                <a:ea typeface="Courier New"/>
                <a:cs typeface="Courier New"/>
                <a:sym typeface="Courier New"/>
              </a:rPr>
              <a:t>1</a:t>
            </a:r>
            <a:r>
              <a:rPr lang="en" sz="1500">
                <a:solidFill>
                  <a:schemeClr val="dk1"/>
                </a:solidFill>
                <a:highlight>
                  <a:srgbClr val="FFFFFE"/>
                </a:highlight>
                <a:latin typeface="Courier New"/>
                <a:ea typeface="Courier New"/>
                <a:cs typeface="Courier New"/>
                <a:sym typeface="Courier New"/>
              </a:rPr>
              <a:t>, </a:t>
            </a:r>
            <a:r>
              <a:rPr lang="en" sz="1500">
                <a:solidFill>
                  <a:srgbClr val="09885A"/>
                </a:solidFill>
                <a:highlight>
                  <a:srgbClr val="FFFFFE"/>
                </a:highlight>
                <a:latin typeface="Courier New"/>
                <a:ea typeface="Courier New"/>
                <a:cs typeface="Courier New"/>
                <a:sym typeface="Courier New"/>
              </a:rPr>
              <a:t>2</a:t>
            </a:r>
            <a:r>
              <a:rPr lang="en" sz="1500">
                <a:solidFill>
                  <a:schemeClr val="dk1"/>
                </a:solidFill>
                <a:highlight>
                  <a:srgbClr val="FFFFFE"/>
                </a:highlight>
                <a:latin typeface="Courier New"/>
                <a:ea typeface="Courier New"/>
                <a:cs typeface="Courier New"/>
                <a:sym typeface="Courier New"/>
              </a:rPr>
              <a:t>, </a:t>
            </a:r>
            <a:r>
              <a:rPr lang="en" sz="1500">
                <a:solidFill>
                  <a:srgbClr val="09885A"/>
                </a:solidFill>
                <a:highlight>
                  <a:srgbClr val="FFFFFE"/>
                </a:highlight>
                <a:latin typeface="Courier New"/>
                <a:ea typeface="Courier New"/>
                <a:cs typeface="Courier New"/>
                <a:sym typeface="Courier New"/>
              </a:rPr>
              <a:t>3</a:t>
            </a:r>
            <a:r>
              <a:rPr lang="en" sz="1500">
                <a:solidFill>
                  <a:schemeClr val="dk1"/>
                </a:solidFill>
                <a:highlight>
                  <a:srgbClr val="FFFFFE"/>
                </a:highlight>
                <a:latin typeface="Courier New"/>
                <a:ea typeface="Courier New"/>
                <a:cs typeface="Courier New"/>
                <a:sym typeface="Courier New"/>
              </a:rPr>
              <a:t>, </a:t>
            </a:r>
            <a:r>
              <a:rPr lang="en" sz="1500">
                <a:solidFill>
                  <a:srgbClr val="09885A"/>
                </a:solidFill>
                <a:highlight>
                  <a:srgbClr val="FFFFFE"/>
                </a:highlight>
                <a:latin typeface="Courier New"/>
                <a:ea typeface="Courier New"/>
                <a:cs typeface="Courier New"/>
                <a:sym typeface="Courier New"/>
              </a:rPr>
              <a:t>4</a:t>
            </a:r>
            <a:r>
              <a:rPr lang="en" sz="1500">
                <a:solidFill>
                  <a:schemeClr val="dk1"/>
                </a:solidFill>
                <a:highlight>
                  <a:srgbClr val="FFFFFE"/>
                </a:highlight>
                <a:latin typeface="Courier New"/>
                <a:ea typeface="Courier New"/>
                <a:cs typeface="Courier New"/>
                <a:sym typeface="Courier New"/>
              </a:rPr>
              <a:t>]</a:t>
            </a:r>
            <a:endParaRPr sz="150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50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product = reduce(get_product, numbers)</a:t>
            </a:r>
            <a:endParaRPr/>
          </a:p>
        </p:txBody>
      </p:sp>
      <p:sp>
        <p:nvSpPr>
          <p:cNvPr id="249" name="Google Shape;249;p38"/>
          <p:cNvSpPr txBox="1"/>
          <p:nvPr/>
        </p:nvSpPr>
        <p:spPr>
          <a:xfrm>
            <a:off x="2288100" y="4049025"/>
            <a:ext cx="4841100" cy="5112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b="1" lang="en" sz="1500">
                <a:solidFill>
                  <a:schemeClr val="dk1"/>
                </a:solidFill>
                <a:highlight>
                  <a:srgbClr val="FFFFFE"/>
                </a:highlight>
                <a:latin typeface="Courier New"/>
                <a:ea typeface="Courier New"/>
                <a:cs typeface="Courier New"/>
                <a:sym typeface="Courier New"/>
              </a:rPr>
              <a:t>product -&gt; 24</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1000"/>
                                        <p:tgtEl>
                                          <p:spTgt spid="2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1000"/>
                                        <p:tgtEl>
                                          <p:spTgt spid="2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1000"/>
                                        <p:tgtEl>
                                          <p:spTgt spid="2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9"/>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Code Demo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0"/>
          <p:cNvSpPr txBox="1"/>
          <p:nvPr>
            <p:ph type="title"/>
          </p:nvPr>
        </p:nvSpPr>
        <p:spPr>
          <a:xfrm>
            <a:off x="540300" y="2990425"/>
            <a:ext cx="8093700" cy="167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List and Dictionary Comprehension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1"/>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List comprehension is a special syntax in python that allows us to </a:t>
            </a:r>
            <a:r>
              <a:rPr lang="en"/>
              <a:t>conveniently</a:t>
            </a:r>
            <a:r>
              <a:rPr lang="en"/>
              <a:t> create a list from an iterable.</a:t>
            </a:r>
            <a:endParaRPr/>
          </a:p>
        </p:txBody>
      </p:sp>
      <p:sp>
        <p:nvSpPr>
          <p:cNvPr id="265" name="Google Shape;265;p41"/>
          <p:cNvSpPr txBox="1"/>
          <p:nvPr/>
        </p:nvSpPr>
        <p:spPr>
          <a:xfrm>
            <a:off x="1002325" y="1899125"/>
            <a:ext cx="6976800" cy="527400"/>
          </a:xfrm>
          <a:prstGeom prst="rect">
            <a:avLst/>
          </a:prstGeom>
          <a:noFill/>
          <a:ln>
            <a:noFill/>
          </a:ln>
        </p:spPr>
        <p:txBody>
          <a:bodyPr anchorCtr="0" anchor="t" bIns="91425" lIns="91425" spcFirstLastPara="1" rIns="91425" wrap="square" tIns="91425">
            <a:noAutofit/>
          </a:bodyPr>
          <a:lstStyle/>
          <a:p>
            <a:pPr indent="0" lvl="0" marL="0" rtl="0" algn="ctr">
              <a:lnSpc>
                <a:spcPct val="135714"/>
              </a:lnSpc>
              <a:spcBef>
                <a:spcPts val="0"/>
              </a:spcBef>
              <a:spcAft>
                <a:spcPts val="0"/>
              </a:spcAft>
              <a:buNone/>
            </a:pPr>
            <a:r>
              <a:rPr b="1" lang="en" sz="1500">
                <a:solidFill>
                  <a:srgbClr val="0000FF"/>
                </a:solidFill>
                <a:highlight>
                  <a:srgbClr val="FFFFFE"/>
                </a:highlight>
                <a:latin typeface="Courier New"/>
                <a:ea typeface="Courier New"/>
                <a:cs typeface="Courier New"/>
                <a:sym typeface="Courier New"/>
              </a:rPr>
              <a:t>list_a = [ &lt;expression&gt; for &lt;element&gt; in &lt;iterable&gt; ]</a:t>
            </a:r>
            <a:endParaRPr b="1" sz="1500">
              <a:solidFill>
                <a:srgbClr val="0000FF"/>
              </a:solidFill>
              <a:highlight>
                <a:srgbClr val="FFFFFE"/>
              </a:highlight>
              <a:latin typeface="Courier New"/>
              <a:ea typeface="Courier New"/>
              <a:cs typeface="Courier New"/>
              <a:sym typeface="Courier New"/>
            </a:endParaRPr>
          </a:p>
          <a:p>
            <a:pPr indent="0" lvl="0" marL="0" rtl="0" algn="ctr">
              <a:lnSpc>
                <a:spcPct val="135714"/>
              </a:lnSpc>
              <a:spcBef>
                <a:spcPts val="0"/>
              </a:spcBef>
              <a:spcAft>
                <a:spcPts val="0"/>
              </a:spcAft>
              <a:buNone/>
            </a:pPr>
            <a:r>
              <a:t/>
            </a:r>
            <a:endParaRPr b="1" sz="1500">
              <a:solidFill>
                <a:srgbClr val="0000FF"/>
              </a:solidFill>
              <a:highlight>
                <a:srgbClr val="FFFFFE"/>
              </a:highlight>
              <a:latin typeface="Courier New"/>
              <a:ea typeface="Courier New"/>
              <a:cs typeface="Courier New"/>
              <a:sym typeface="Courier New"/>
            </a:endParaRPr>
          </a:p>
        </p:txBody>
      </p:sp>
      <p:grpSp>
        <p:nvGrpSpPr>
          <p:cNvPr id="266" name="Google Shape;266;p41"/>
          <p:cNvGrpSpPr/>
          <p:nvPr/>
        </p:nvGrpSpPr>
        <p:grpSpPr>
          <a:xfrm>
            <a:off x="4193925" y="1938700"/>
            <a:ext cx="4519700" cy="2343275"/>
            <a:chOff x="4193925" y="1938700"/>
            <a:chExt cx="4519700" cy="2343275"/>
          </a:xfrm>
        </p:grpSpPr>
        <p:sp>
          <p:nvSpPr>
            <p:cNvPr id="267" name="Google Shape;267;p41"/>
            <p:cNvSpPr/>
            <p:nvPr/>
          </p:nvSpPr>
          <p:spPr>
            <a:xfrm>
              <a:off x="4193925" y="1938700"/>
              <a:ext cx="3178500" cy="3561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41"/>
            <p:cNvSpPr txBox="1"/>
            <p:nvPr/>
          </p:nvSpPr>
          <p:spPr>
            <a:xfrm>
              <a:off x="5587925" y="3666375"/>
              <a:ext cx="3125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For loop to iterate through each element of the iterable</a:t>
              </a:r>
              <a:endParaRPr>
                <a:latin typeface="Montserrat"/>
                <a:ea typeface="Montserrat"/>
                <a:cs typeface="Montserrat"/>
                <a:sym typeface="Montserrat"/>
              </a:endParaRPr>
            </a:p>
          </p:txBody>
        </p:sp>
        <p:cxnSp>
          <p:nvCxnSpPr>
            <p:cNvPr id="269" name="Google Shape;269;p41"/>
            <p:cNvCxnSpPr>
              <a:stCxn id="267" idx="2"/>
              <a:endCxn id="268" idx="0"/>
            </p:cNvCxnSpPr>
            <p:nvPr/>
          </p:nvCxnSpPr>
          <p:spPr>
            <a:xfrm flipH="1" rot="-5400000">
              <a:off x="5781225" y="2296750"/>
              <a:ext cx="1371600" cy="1367700"/>
            </a:xfrm>
            <a:prstGeom prst="bentConnector3">
              <a:avLst>
                <a:gd fmla="val 49999" name="adj1"/>
              </a:avLst>
            </a:prstGeom>
            <a:noFill/>
            <a:ln cap="flat" cmpd="sng" w="19050">
              <a:solidFill>
                <a:schemeClr val="dk2"/>
              </a:solidFill>
              <a:prstDash val="solid"/>
              <a:round/>
              <a:headEnd len="med" w="med" type="none"/>
              <a:tailEnd len="med" w="med" type="none"/>
            </a:ln>
          </p:spPr>
        </p:cxnSp>
      </p:grpSp>
      <p:grpSp>
        <p:nvGrpSpPr>
          <p:cNvPr id="270" name="Google Shape;270;p41"/>
          <p:cNvGrpSpPr/>
          <p:nvPr/>
        </p:nvGrpSpPr>
        <p:grpSpPr>
          <a:xfrm>
            <a:off x="1196150" y="1938700"/>
            <a:ext cx="3125700" cy="2558975"/>
            <a:chOff x="1196150" y="1938700"/>
            <a:chExt cx="3125700" cy="2558975"/>
          </a:xfrm>
        </p:grpSpPr>
        <p:sp>
          <p:nvSpPr>
            <p:cNvPr id="271" name="Google Shape;271;p41"/>
            <p:cNvSpPr txBox="1"/>
            <p:nvPr/>
          </p:nvSpPr>
          <p:spPr>
            <a:xfrm>
              <a:off x="1196150" y="3666375"/>
              <a:ext cx="3125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The expression that dictates the actual elements that are stored in the list</a:t>
              </a:r>
              <a:endParaRPr>
                <a:latin typeface="Montserrat"/>
                <a:ea typeface="Montserrat"/>
                <a:cs typeface="Montserrat"/>
                <a:sym typeface="Montserrat"/>
              </a:endParaRPr>
            </a:p>
          </p:txBody>
        </p:sp>
        <p:sp>
          <p:nvSpPr>
            <p:cNvPr id="272" name="Google Shape;272;p41"/>
            <p:cNvSpPr/>
            <p:nvPr/>
          </p:nvSpPr>
          <p:spPr>
            <a:xfrm>
              <a:off x="2690450" y="1938700"/>
              <a:ext cx="1437600" cy="3561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3" name="Google Shape;273;p41"/>
            <p:cNvCxnSpPr>
              <a:endCxn id="271" idx="0"/>
            </p:cNvCxnSpPr>
            <p:nvPr/>
          </p:nvCxnSpPr>
          <p:spPr>
            <a:xfrm rot="5400000">
              <a:off x="2398250" y="2655525"/>
              <a:ext cx="1371600" cy="650100"/>
            </a:xfrm>
            <a:prstGeom prst="bentConnector3">
              <a:avLst>
                <a:gd fmla="val 50000" name="adj1"/>
              </a:avLst>
            </a:prstGeom>
            <a:noFill/>
            <a:ln cap="flat" cmpd="sng" w="19050">
              <a:solidFill>
                <a:schemeClr val="dk2"/>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1000"/>
                                        <p:tgtEl>
                                          <p:spTgt spid="2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1000"/>
                                        <p:tgtEl>
                                          <p:spTgt spid="2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1000"/>
                                        <p:tgtEl>
                                          <p:spTgt spid="2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2"/>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Creating a list of squares of numbers from 1 to 4 using list comprehension</a:t>
            </a:r>
            <a:endParaRPr/>
          </a:p>
        </p:txBody>
      </p:sp>
      <p:sp>
        <p:nvSpPr>
          <p:cNvPr id="279" name="Google Shape;279;p42"/>
          <p:cNvSpPr txBox="1"/>
          <p:nvPr/>
        </p:nvSpPr>
        <p:spPr>
          <a:xfrm>
            <a:off x="1780425" y="2255200"/>
            <a:ext cx="4734600" cy="4155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squares = [x * x </a:t>
            </a:r>
            <a:r>
              <a:rPr lang="en" sz="1500">
                <a:solidFill>
                  <a:srgbClr val="AF00DB"/>
                </a:solidFill>
                <a:highlight>
                  <a:srgbClr val="FFFFFE"/>
                </a:highlight>
                <a:latin typeface="Courier New"/>
                <a:ea typeface="Courier New"/>
                <a:cs typeface="Courier New"/>
                <a:sym typeface="Courier New"/>
              </a:rPr>
              <a:t>for</a:t>
            </a:r>
            <a:r>
              <a:rPr lang="en" sz="1500">
                <a:solidFill>
                  <a:schemeClr val="dk1"/>
                </a:solidFill>
                <a:highlight>
                  <a:srgbClr val="FFFFFE"/>
                </a:highlight>
                <a:latin typeface="Courier New"/>
                <a:ea typeface="Courier New"/>
                <a:cs typeface="Courier New"/>
                <a:sym typeface="Courier New"/>
              </a:rPr>
              <a:t> x </a:t>
            </a:r>
            <a:r>
              <a:rPr lang="en" sz="1500">
                <a:solidFill>
                  <a:srgbClr val="0000FF"/>
                </a:solidFill>
                <a:highlight>
                  <a:srgbClr val="FFFFFE"/>
                </a:highlight>
                <a:latin typeface="Courier New"/>
                <a:ea typeface="Courier New"/>
                <a:cs typeface="Courier New"/>
                <a:sym typeface="Courier New"/>
              </a:rPr>
              <a:t>in</a:t>
            </a:r>
            <a:r>
              <a:rPr lang="en" sz="1500">
                <a:solidFill>
                  <a:schemeClr val="dk1"/>
                </a:solidFill>
                <a:highlight>
                  <a:srgbClr val="FFFFFE"/>
                </a:highlight>
                <a:latin typeface="Courier New"/>
                <a:ea typeface="Courier New"/>
                <a:cs typeface="Courier New"/>
                <a:sym typeface="Courier New"/>
              </a:rPr>
              <a:t> </a:t>
            </a:r>
            <a:r>
              <a:rPr lang="en" sz="1500">
                <a:solidFill>
                  <a:srgbClr val="795E26"/>
                </a:solidFill>
                <a:highlight>
                  <a:srgbClr val="FFFFFE"/>
                </a:highlight>
                <a:latin typeface="Courier New"/>
                <a:ea typeface="Courier New"/>
                <a:cs typeface="Courier New"/>
                <a:sym typeface="Courier New"/>
              </a:rPr>
              <a:t>range</a:t>
            </a:r>
            <a:r>
              <a:rPr lang="en" sz="1500">
                <a:solidFill>
                  <a:schemeClr val="dk1"/>
                </a:solidFill>
                <a:highlight>
                  <a:srgbClr val="FFFFFE"/>
                </a:highlight>
                <a:latin typeface="Courier New"/>
                <a:ea typeface="Courier New"/>
                <a:cs typeface="Courier New"/>
                <a:sym typeface="Courier New"/>
              </a:rPr>
              <a:t>(</a:t>
            </a:r>
            <a:r>
              <a:rPr lang="en" sz="1500">
                <a:solidFill>
                  <a:srgbClr val="09885A"/>
                </a:solidFill>
                <a:highlight>
                  <a:srgbClr val="FFFFFE"/>
                </a:highlight>
                <a:latin typeface="Courier New"/>
                <a:ea typeface="Courier New"/>
                <a:cs typeface="Courier New"/>
                <a:sym typeface="Courier New"/>
              </a:rPr>
              <a:t>1</a:t>
            </a:r>
            <a:r>
              <a:rPr lang="en" sz="1500">
                <a:solidFill>
                  <a:schemeClr val="dk1"/>
                </a:solidFill>
                <a:highlight>
                  <a:srgbClr val="FFFFFE"/>
                </a:highlight>
                <a:latin typeface="Courier New"/>
                <a:ea typeface="Courier New"/>
                <a:cs typeface="Courier New"/>
                <a:sym typeface="Courier New"/>
              </a:rPr>
              <a:t>,</a:t>
            </a:r>
            <a:r>
              <a:rPr lang="en" sz="1500">
                <a:solidFill>
                  <a:srgbClr val="09885A"/>
                </a:solidFill>
                <a:highlight>
                  <a:srgbClr val="FFFFFE"/>
                </a:highlight>
                <a:latin typeface="Courier New"/>
                <a:ea typeface="Courier New"/>
                <a:cs typeface="Courier New"/>
                <a:sym typeface="Courier New"/>
              </a:rPr>
              <a:t>5</a:t>
            </a:r>
            <a:r>
              <a:rPr lang="en" sz="1500">
                <a:solidFill>
                  <a:schemeClr val="dk1"/>
                </a:solidFill>
                <a:highlight>
                  <a:srgbClr val="FFFFFE"/>
                </a:highlight>
                <a:latin typeface="Courier New"/>
                <a:ea typeface="Courier New"/>
                <a:cs typeface="Courier New"/>
                <a:sym typeface="Courier New"/>
              </a:rPr>
              <a:t>)]</a:t>
            </a:r>
            <a:endParaRPr sz="1500">
              <a:solidFill>
                <a:schemeClr val="dk1"/>
              </a:solidFill>
              <a:highlight>
                <a:srgbClr val="FFFFFE"/>
              </a:highlight>
              <a:latin typeface="Courier New"/>
              <a:ea typeface="Courier New"/>
              <a:cs typeface="Courier New"/>
              <a:sym typeface="Courier New"/>
            </a:endParaRPr>
          </a:p>
        </p:txBody>
      </p:sp>
      <p:sp>
        <p:nvSpPr>
          <p:cNvPr id="280" name="Google Shape;280;p42"/>
          <p:cNvSpPr txBox="1"/>
          <p:nvPr/>
        </p:nvSpPr>
        <p:spPr>
          <a:xfrm>
            <a:off x="1780425" y="2967375"/>
            <a:ext cx="3036900" cy="4155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squares -&gt; [1, 4, 9, 16]</a:t>
            </a:r>
            <a:endParaRPr sz="1500">
              <a:solidFill>
                <a:schemeClr val="dk1"/>
              </a:solidFill>
              <a:highlight>
                <a:srgbClr val="FFFFFE"/>
              </a:highlight>
              <a:latin typeface="Courier New"/>
              <a:ea typeface="Courier New"/>
              <a:cs typeface="Courier New"/>
              <a:sym typeface="Courier New"/>
            </a:endParaRPr>
          </a:p>
        </p:txBody>
      </p:sp>
      <p:sp>
        <p:nvSpPr>
          <p:cNvPr id="281" name="Google Shape;281;p42"/>
          <p:cNvSpPr/>
          <p:nvPr/>
        </p:nvSpPr>
        <p:spPr>
          <a:xfrm>
            <a:off x="1678125" y="2967375"/>
            <a:ext cx="3139200" cy="415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1000"/>
                                        <p:tgtEl>
                                          <p:spTgt spid="2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3"/>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Dictionary</a:t>
            </a:r>
            <a:r>
              <a:rPr lang="en"/>
              <a:t> comprehension allows us to create dictionaries using list comprehension like syntax.</a:t>
            </a:r>
            <a:endParaRPr/>
          </a:p>
        </p:txBody>
      </p:sp>
      <p:sp>
        <p:nvSpPr>
          <p:cNvPr id="287" name="Google Shape;287;p43"/>
          <p:cNvSpPr txBox="1"/>
          <p:nvPr/>
        </p:nvSpPr>
        <p:spPr>
          <a:xfrm>
            <a:off x="1002325" y="1899125"/>
            <a:ext cx="6976800" cy="527400"/>
          </a:xfrm>
          <a:prstGeom prst="rect">
            <a:avLst/>
          </a:prstGeom>
          <a:noFill/>
          <a:ln>
            <a:noFill/>
          </a:ln>
        </p:spPr>
        <p:txBody>
          <a:bodyPr anchorCtr="0" anchor="t" bIns="91425" lIns="91425" spcFirstLastPara="1" rIns="91425" wrap="square" tIns="91425">
            <a:noAutofit/>
          </a:bodyPr>
          <a:lstStyle/>
          <a:p>
            <a:pPr indent="0" lvl="0" marL="0" rtl="0" algn="ctr">
              <a:lnSpc>
                <a:spcPct val="135714"/>
              </a:lnSpc>
              <a:spcBef>
                <a:spcPts val="0"/>
              </a:spcBef>
              <a:spcAft>
                <a:spcPts val="0"/>
              </a:spcAft>
              <a:buNone/>
            </a:pPr>
            <a:r>
              <a:rPr b="1" lang="en" sz="1500">
                <a:solidFill>
                  <a:srgbClr val="0000FF"/>
                </a:solidFill>
                <a:highlight>
                  <a:srgbClr val="FFFFFE"/>
                </a:highlight>
                <a:latin typeface="Courier New"/>
                <a:ea typeface="Courier New"/>
                <a:cs typeface="Courier New"/>
                <a:sym typeface="Courier New"/>
              </a:rPr>
              <a:t>d</a:t>
            </a:r>
            <a:r>
              <a:rPr b="1" lang="en" sz="1500">
                <a:solidFill>
                  <a:srgbClr val="0000FF"/>
                </a:solidFill>
                <a:highlight>
                  <a:srgbClr val="FFFFFE"/>
                </a:highlight>
                <a:latin typeface="Courier New"/>
                <a:ea typeface="Courier New"/>
                <a:cs typeface="Courier New"/>
                <a:sym typeface="Courier New"/>
              </a:rPr>
              <a:t>ictionary = {key: value for vars in iterable}</a:t>
            </a:r>
            <a:endParaRPr b="1" sz="1500">
              <a:solidFill>
                <a:srgbClr val="0000FF"/>
              </a:solidFill>
              <a:highlight>
                <a:srgbClr val="FFFFFE"/>
              </a:highlight>
              <a:latin typeface="Courier New"/>
              <a:ea typeface="Courier New"/>
              <a:cs typeface="Courier New"/>
              <a:sym typeface="Courier New"/>
            </a:endParaRPr>
          </a:p>
          <a:p>
            <a:pPr indent="0" lvl="0" marL="0" rtl="0" algn="ctr">
              <a:lnSpc>
                <a:spcPct val="135714"/>
              </a:lnSpc>
              <a:spcBef>
                <a:spcPts val="0"/>
              </a:spcBef>
              <a:spcAft>
                <a:spcPts val="0"/>
              </a:spcAft>
              <a:buNone/>
            </a:pPr>
            <a:r>
              <a:t/>
            </a:r>
            <a:endParaRPr b="1" sz="1500">
              <a:solidFill>
                <a:srgbClr val="0000FF"/>
              </a:solidFill>
              <a:highlight>
                <a:srgbClr val="FFFFFE"/>
              </a:highlight>
              <a:latin typeface="Courier New"/>
              <a:ea typeface="Courier New"/>
              <a:cs typeface="Courier New"/>
              <a:sym typeface="Courier New"/>
            </a:endParaRPr>
          </a:p>
        </p:txBody>
      </p:sp>
      <p:grpSp>
        <p:nvGrpSpPr>
          <p:cNvPr id="288" name="Google Shape;288;p43"/>
          <p:cNvGrpSpPr/>
          <p:nvPr/>
        </p:nvGrpSpPr>
        <p:grpSpPr>
          <a:xfrm>
            <a:off x="4721475" y="1991450"/>
            <a:ext cx="3992150" cy="2290525"/>
            <a:chOff x="4721475" y="1991450"/>
            <a:chExt cx="3992150" cy="2290525"/>
          </a:xfrm>
        </p:grpSpPr>
        <p:sp>
          <p:nvSpPr>
            <p:cNvPr id="289" name="Google Shape;289;p43"/>
            <p:cNvSpPr txBox="1"/>
            <p:nvPr/>
          </p:nvSpPr>
          <p:spPr>
            <a:xfrm>
              <a:off x="5587925" y="3666375"/>
              <a:ext cx="3125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Montserrat"/>
                  <a:ea typeface="Montserrat"/>
                  <a:cs typeface="Montserrat"/>
                  <a:sym typeface="Montserrat"/>
                </a:rPr>
                <a:t>f</a:t>
              </a:r>
              <a:r>
                <a:rPr b="1" lang="en">
                  <a:latin typeface="Montserrat"/>
                  <a:ea typeface="Montserrat"/>
                  <a:cs typeface="Montserrat"/>
                  <a:sym typeface="Montserrat"/>
                </a:rPr>
                <a:t>or loop</a:t>
              </a:r>
              <a:r>
                <a:rPr lang="en">
                  <a:latin typeface="Montserrat"/>
                  <a:ea typeface="Montserrat"/>
                  <a:cs typeface="Montserrat"/>
                  <a:sym typeface="Montserrat"/>
                </a:rPr>
                <a:t> to iterate through each element of the iterable</a:t>
              </a:r>
              <a:endParaRPr>
                <a:latin typeface="Montserrat"/>
                <a:ea typeface="Montserrat"/>
                <a:cs typeface="Montserrat"/>
                <a:sym typeface="Montserrat"/>
              </a:endParaRPr>
            </a:p>
          </p:txBody>
        </p:sp>
        <p:sp>
          <p:nvSpPr>
            <p:cNvPr id="290" name="Google Shape;290;p43"/>
            <p:cNvSpPr/>
            <p:nvPr/>
          </p:nvSpPr>
          <p:spPr>
            <a:xfrm>
              <a:off x="4721475" y="1991450"/>
              <a:ext cx="2294700" cy="276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1" name="Google Shape;291;p43"/>
            <p:cNvCxnSpPr>
              <a:stCxn id="290" idx="2"/>
              <a:endCxn id="289" idx="0"/>
            </p:cNvCxnSpPr>
            <p:nvPr/>
          </p:nvCxnSpPr>
          <p:spPr>
            <a:xfrm flipH="1" rot="-5400000">
              <a:off x="5810775" y="2326400"/>
              <a:ext cx="1398000" cy="1281900"/>
            </a:xfrm>
            <a:prstGeom prst="bentConnector3">
              <a:avLst>
                <a:gd fmla="val 50001" name="adj1"/>
              </a:avLst>
            </a:prstGeom>
            <a:noFill/>
            <a:ln cap="flat" cmpd="sng" w="19050">
              <a:solidFill>
                <a:schemeClr val="dk2"/>
              </a:solidFill>
              <a:prstDash val="solid"/>
              <a:round/>
              <a:headEnd len="med" w="med" type="none"/>
              <a:tailEnd len="med" w="med" type="none"/>
            </a:ln>
          </p:spPr>
        </p:cxnSp>
      </p:grpSp>
      <p:grpSp>
        <p:nvGrpSpPr>
          <p:cNvPr id="292" name="Google Shape;292;p43"/>
          <p:cNvGrpSpPr/>
          <p:nvPr/>
        </p:nvGrpSpPr>
        <p:grpSpPr>
          <a:xfrm>
            <a:off x="1196150" y="2017825"/>
            <a:ext cx="3406725" cy="2264150"/>
            <a:chOff x="1196150" y="2017825"/>
            <a:chExt cx="3406725" cy="2264150"/>
          </a:xfrm>
        </p:grpSpPr>
        <p:sp>
          <p:nvSpPr>
            <p:cNvPr id="293" name="Google Shape;293;p43"/>
            <p:cNvSpPr txBox="1"/>
            <p:nvPr/>
          </p:nvSpPr>
          <p:spPr>
            <a:xfrm>
              <a:off x="1196150" y="3666375"/>
              <a:ext cx="3125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The </a:t>
              </a:r>
              <a:r>
                <a:rPr b="1" lang="en">
                  <a:latin typeface="Montserrat"/>
                  <a:ea typeface="Montserrat"/>
                  <a:cs typeface="Montserrat"/>
                  <a:sym typeface="Montserrat"/>
                </a:rPr>
                <a:t>key and value</a:t>
              </a:r>
              <a:r>
                <a:rPr lang="en">
                  <a:latin typeface="Montserrat"/>
                  <a:ea typeface="Montserrat"/>
                  <a:cs typeface="Montserrat"/>
                  <a:sym typeface="Montserrat"/>
                </a:rPr>
                <a:t> to store in the dictionary.</a:t>
              </a:r>
              <a:endParaRPr>
                <a:latin typeface="Montserrat"/>
                <a:ea typeface="Montserrat"/>
                <a:cs typeface="Montserrat"/>
                <a:sym typeface="Montserrat"/>
              </a:endParaRPr>
            </a:p>
          </p:txBody>
        </p:sp>
        <p:sp>
          <p:nvSpPr>
            <p:cNvPr id="294" name="Google Shape;294;p43"/>
            <p:cNvSpPr/>
            <p:nvPr/>
          </p:nvSpPr>
          <p:spPr>
            <a:xfrm>
              <a:off x="3455375" y="2017825"/>
              <a:ext cx="1147500" cy="2505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5" name="Google Shape;295;p43"/>
            <p:cNvCxnSpPr>
              <a:stCxn id="294" idx="2"/>
              <a:endCxn id="293" idx="0"/>
            </p:cNvCxnSpPr>
            <p:nvPr/>
          </p:nvCxnSpPr>
          <p:spPr>
            <a:xfrm rot="5400000">
              <a:off x="2695025" y="2332225"/>
              <a:ext cx="1398000" cy="1270200"/>
            </a:xfrm>
            <a:prstGeom prst="bentConnector3">
              <a:avLst>
                <a:gd fmla="val 50002" name="adj1"/>
              </a:avLst>
            </a:prstGeom>
            <a:noFill/>
            <a:ln cap="flat" cmpd="sng" w="19050">
              <a:solidFill>
                <a:schemeClr val="dk2"/>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1000"/>
                                        <p:tgtEl>
                                          <p:spTgt spid="2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1000"/>
                                        <p:tgtEl>
                                          <p:spTgt spid="2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1000"/>
                                        <p:tgtEl>
                                          <p:spTgt spid="2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4"/>
          <p:cNvSpPr txBox="1"/>
          <p:nvPr>
            <p:ph type="title"/>
          </p:nvPr>
        </p:nvSpPr>
        <p:spPr>
          <a:xfrm>
            <a:off x="311700" y="286500"/>
            <a:ext cx="86037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0" lang="en" sz="2400"/>
              <a:t>Creating a dictionary using dictionary comprehension</a:t>
            </a:r>
            <a:endParaRPr b="0" sz="2400"/>
          </a:p>
        </p:txBody>
      </p:sp>
      <p:sp>
        <p:nvSpPr>
          <p:cNvPr id="301" name="Google Shape;301;p44"/>
          <p:cNvSpPr txBox="1"/>
          <p:nvPr/>
        </p:nvSpPr>
        <p:spPr>
          <a:xfrm>
            <a:off x="1780425" y="2255200"/>
            <a:ext cx="6594300" cy="4155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squared_dict = {num: num**</a:t>
            </a:r>
            <a:r>
              <a:rPr lang="en" sz="1500">
                <a:solidFill>
                  <a:srgbClr val="09885A"/>
                </a:solidFill>
                <a:highlight>
                  <a:srgbClr val="FFFFFE"/>
                </a:highlight>
                <a:latin typeface="Courier New"/>
                <a:ea typeface="Courier New"/>
                <a:cs typeface="Courier New"/>
                <a:sym typeface="Courier New"/>
              </a:rPr>
              <a:t>2</a:t>
            </a:r>
            <a:r>
              <a:rPr lang="en" sz="1500">
                <a:solidFill>
                  <a:schemeClr val="dk1"/>
                </a:solidFill>
                <a:highlight>
                  <a:srgbClr val="FFFFFE"/>
                </a:highlight>
                <a:latin typeface="Courier New"/>
                <a:ea typeface="Courier New"/>
                <a:cs typeface="Courier New"/>
                <a:sym typeface="Courier New"/>
              </a:rPr>
              <a:t> </a:t>
            </a:r>
            <a:r>
              <a:rPr lang="en" sz="1500">
                <a:solidFill>
                  <a:srgbClr val="AF00DB"/>
                </a:solidFill>
                <a:highlight>
                  <a:srgbClr val="FFFFFE"/>
                </a:highlight>
                <a:latin typeface="Courier New"/>
                <a:ea typeface="Courier New"/>
                <a:cs typeface="Courier New"/>
                <a:sym typeface="Courier New"/>
              </a:rPr>
              <a:t>for</a:t>
            </a:r>
            <a:r>
              <a:rPr lang="en" sz="1500">
                <a:solidFill>
                  <a:schemeClr val="dk1"/>
                </a:solidFill>
                <a:highlight>
                  <a:srgbClr val="FFFFFE"/>
                </a:highlight>
                <a:latin typeface="Courier New"/>
                <a:ea typeface="Courier New"/>
                <a:cs typeface="Courier New"/>
                <a:sym typeface="Courier New"/>
              </a:rPr>
              <a:t> num </a:t>
            </a:r>
            <a:r>
              <a:rPr lang="en" sz="1500">
                <a:solidFill>
                  <a:srgbClr val="0000FF"/>
                </a:solidFill>
                <a:highlight>
                  <a:srgbClr val="FFFFFE"/>
                </a:highlight>
                <a:latin typeface="Courier New"/>
                <a:ea typeface="Courier New"/>
                <a:cs typeface="Courier New"/>
                <a:sym typeface="Courier New"/>
              </a:rPr>
              <a:t>in</a:t>
            </a:r>
            <a:r>
              <a:rPr lang="en" sz="1500">
                <a:solidFill>
                  <a:schemeClr val="dk1"/>
                </a:solidFill>
                <a:highlight>
                  <a:srgbClr val="FFFFFE"/>
                </a:highlight>
                <a:latin typeface="Courier New"/>
                <a:ea typeface="Courier New"/>
                <a:cs typeface="Courier New"/>
                <a:sym typeface="Courier New"/>
              </a:rPr>
              <a:t> </a:t>
            </a:r>
            <a:r>
              <a:rPr lang="en" sz="1500">
                <a:solidFill>
                  <a:srgbClr val="795E26"/>
                </a:solidFill>
                <a:highlight>
                  <a:srgbClr val="FFFFFE"/>
                </a:highlight>
                <a:latin typeface="Courier New"/>
                <a:ea typeface="Courier New"/>
                <a:cs typeface="Courier New"/>
                <a:sym typeface="Courier New"/>
              </a:rPr>
              <a:t>range</a:t>
            </a:r>
            <a:r>
              <a:rPr lang="en" sz="1500">
                <a:solidFill>
                  <a:schemeClr val="dk1"/>
                </a:solidFill>
                <a:highlight>
                  <a:srgbClr val="FFFFFE"/>
                </a:highlight>
                <a:latin typeface="Courier New"/>
                <a:ea typeface="Courier New"/>
                <a:cs typeface="Courier New"/>
                <a:sym typeface="Courier New"/>
              </a:rPr>
              <a:t>(</a:t>
            </a:r>
            <a:r>
              <a:rPr lang="en" sz="1500">
                <a:solidFill>
                  <a:srgbClr val="09885A"/>
                </a:solidFill>
                <a:highlight>
                  <a:srgbClr val="FFFFFE"/>
                </a:highlight>
                <a:latin typeface="Courier New"/>
                <a:ea typeface="Courier New"/>
                <a:cs typeface="Courier New"/>
                <a:sym typeface="Courier New"/>
              </a:rPr>
              <a:t>1</a:t>
            </a:r>
            <a:r>
              <a:rPr lang="en" sz="1500">
                <a:solidFill>
                  <a:schemeClr val="dk1"/>
                </a:solidFill>
                <a:highlight>
                  <a:srgbClr val="FFFFFE"/>
                </a:highlight>
                <a:latin typeface="Courier New"/>
                <a:ea typeface="Courier New"/>
                <a:cs typeface="Courier New"/>
                <a:sym typeface="Courier New"/>
              </a:rPr>
              <a:t>, </a:t>
            </a:r>
            <a:r>
              <a:rPr lang="en" sz="1500">
                <a:solidFill>
                  <a:srgbClr val="09885A"/>
                </a:solidFill>
                <a:highlight>
                  <a:srgbClr val="FFFFFE"/>
                </a:highlight>
                <a:latin typeface="Courier New"/>
                <a:ea typeface="Courier New"/>
                <a:cs typeface="Courier New"/>
                <a:sym typeface="Courier New"/>
              </a:rPr>
              <a:t>5</a:t>
            </a:r>
            <a:r>
              <a:rPr lang="en" sz="1500">
                <a:solidFill>
                  <a:schemeClr val="dk1"/>
                </a:solidFill>
                <a:highlight>
                  <a:srgbClr val="FFFFFE"/>
                </a:highlight>
                <a:latin typeface="Courier New"/>
                <a:ea typeface="Courier New"/>
                <a:cs typeface="Courier New"/>
                <a:sym typeface="Courier New"/>
              </a:rPr>
              <a:t>)}</a:t>
            </a:r>
            <a:endParaRPr sz="1500">
              <a:solidFill>
                <a:schemeClr val="dk1"/>
              </a:solidFill>
              <a:highlight>
                <a:srgbClr val="FFFFFE"/>
              </a:highlight>
              <a:latin typeface="Courier New"/>
              <a:ea typeface="Courier New"/>
              <a:cs typeface="Courier New"/>
              <a:sym typeface="Courier New"/>
            </a:endParaRPr>
          </a:p>
        </p:txBody>
      </p:sp>
      <p:grpSp>
        <p:nvGrpSpPr>
          <p:cNvPr id="302" name="Google Shape;302;p44"/>
          <p:cNvGrpSpPr/>
          <p:nvPr/>
        </p:nvGrpSpPr>
        <p:grpSpPr>
          <a:xfrm>
            <a:off x="1780425" y="3051075"/>
            <a:ext cx="5103900" cy="415500"/>
            <a:chOff x="1780425" y="2967375"/>
            <a:chExt cx="5103900" cy="415500"/>
          </a:xfrm>
        </p:grpSpPr>
        <p:sp>
          <p:nvSpPr>
            <p:cNvPr id="303" name="Google Shape;303;p44"/>
            <p:cNvSpPr txBox="1"/>
            <p:nvPr/>
          </p:nvSpPr>
          <p:spPr>
            <a:xfrm>
              <a:off x="1780425" y="2967375"/>
              <a:ext cx="5103900" cy="4155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squared_dict</a:t>
              </a:r>
              <a:r>
                <a:rPr lang="en" sz="1500">
                  <a:solidFill>
                    <a:schemeClr val="dk1"/>
                  </a:solidFill>
                  <a:highlight>
                    <a:srgbClr val="FFFFFE"/>
                  </a:highlight>
                  <a:latin typeface="Courier New"/>
                  <a:ea typeface="Courier New"/>
                  <a:cs typeface="Courier New"/>
                  <a:sym typeface="Courier New"/>
                </a:rPr>
                <a:t> -&gt; </a:t>
              </a:r>
              <a:r>
                <a:rPr lang="en" sz="1500">
                  <a:solidFill>
                    <a:schemeClr val="dk1"/>
                  </a:solidFill>
                  <a:highlight>
                    <a:srgbClr val="FFFFFE"/>
                  </a:highlight>
                  <a:latin typeface="Courier New"/>
                  <a:ea typeface="Courier New"/>
                  <a:cs typeface="Courier New"/>
                  <a:sym typeface="Courier New"/>
                </a:rPr>
                <a:t>{1: 1, 2: 4, 3: 9, 4: 16}</a:t>
              </a:r>
              <a:endParaRPr sz="1500">
                <a:solidFill>
                  <a:schemeClr val="dk1"/>
                </a:solidFill>
                <a:highlight>
                  <a:srgbClr val="FFFFFE"/>
                </a:highlight>
                <a:latin typeface="Courier New"/>
                <a:ea typeface="Courier New"/>
                <a:cs typeface="Courier New"/>
                <a:sym typeface="Courier New"/>
              </a:endParaRPr>
            </a:p>
          </p:txBody>
        </p:sp>
        <p:sp>
          <p:nvSpPr>
            <p:cNvPr id="304" name="Google Shape;304;p44"/>
            <p:cNvSpPr/>
            <p:nvPr/>
          </p:nvSpPr>
          <p:spPr>
            <a:xfrm>
              <a:off x="1812625" y="3036525"/>
              <a:ext cx="4709700" cy="309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1000"/>
                                        <p:tgtEl>
                                          <p:spTgt spid="3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5"/>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Code Demo</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6"/>
          <p:cNvSpPr txBox="1"/>
          <p:nvPr>
            <p:ph type="title"/>
          </p:nvPr>
        </p:nvSpPr>
        <p:spPr>
          <a:xfrm>
            <a:off x="540300" y="2990425"/>
            <a:ext cx="8093700" cy="167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Iterable, Iterator and Generator</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7"/>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Iterables allow us to access items one after another in a sequence</a:t>
            </a:r>
            <a:endParaRPr/>
          </a:p>
        </p:txBody>
      </p:sp>
      <p:sp>
        <p:nvSpPr>
          <p:cNvPr id="320" name="Google Shape;320;p47"/>
          <p:cNvSpPr txBox="1"/>
          <p:nvPr/>
        </p:nvSpPr>
        <p:spPr>
          <a:xfrm>
            <a:off x="2382750" y="1740875"/>
            <a:ext cx="4378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Montserrat"/>
                <a:ea typeface="Montserrat"/>
                <a:cs typeface="Montserrat"/>
                <a:sym typeface="Montserrat"/>
              </a:rPr>
              <a:t>Some Common Python iterables are: </a:t>
            </a:r>
            <a:endParaRPr b="1" sz="1600">
              <a:latin typeface="Montserrat"/>
              <a:ea typeface="Montserrat"/>
              <a:cs typeface="Montserrat"/>
              <a:sym typeface="Montserrat"/>
            </a:endParaRPr>
          </a:p>
        </p:txBody>
      </p:sp>
      <p:sp>
        <p:nvSpPr>
          <p:cNvPr id="321" name="Google Shape;321;p47"/>
          <p:cNvSpPr txBox="1"/>
          <p:nvPr/>
        </p:nvSpPr>
        <p:spPr>
          <a:xfrm>
            <a:off x="3160875" y="2519700"/>
            <a:ext cx="21102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Montserrat"/>
              <a:buChar char="⃣"/>
            </a:pPr>
            <a:r>
              <a:rPr lang="en">
                <a:latin typeface="Montserrat"/>
                <a:ea typeface="Montserrat"/>
                <a:cs typeface="Montserrat"/>
                <a:sym typeface="Montserrat"/>
              </a:rPr>
              <a:t>List</a:t>
            </a:r>
            <a:endParaRPr>
              <a:latin typeface="Montserrat"/>
              <a:ea typeface="Montserrat"/>
              <a:cs typeface="Montserrat"/>
              <a:sym typeface="Montserrat"/>
            </a:endParaRPr>
          </a:p>
        </p:txBody>
      </p:sp>
      <p:sp>
        <p:nvSpPr>
          <p:cNvPr id="322" name="Google Shape;322;p47"/>
          <p:cNvSpPr txBox="1"/>
          <p:nvPr/>
        </p:nvSpPr>
        <p:spPr>
          <a:xfrm>
            <a:off x="3160875" y="2930438"/>
            <a:ext cx="21102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Montserrat"/>
              <a:buChar char="⃣"/>
            </a:pPr>
            <a:r>
              <a:rPr lang="en">
                <a:latin typeface="Montserrat"/>
                <a:ea typeface="Montserrat"/>
                <a:cs typeface="Montserrat"/>
                <a:sym typeface="Montserrat"/>
              </a:rPr>
              <a:t>Tuple</a:t>
            </a:r>
            <a:endParaRPr>
              <a:latin typeface="Montserrat"/>
              <a:ea typeface="Montserrat"/>
              <a:cs typeface="Montserrat"/>
              <a:sym typeface="Montserrat"/>
            </a:endParaRPr>
          </a:p>
        </p:txBody>
      </p:sp>
      <p:sp>
        <p:nvSpPr>
          <p:cNvPr id="323" name="Google Shape;323;p47"/>
          <p:cNvSpPr txBox="1"/>
          <p:nvPr/>
        </p:nvSpPr>
        <p:spPr>
          <a:xfrm>
            <a:off x="3160875" y="3341200"/>
            <a:ext cx="21102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Montserrat"/>
              <a:buChar char="⃣"/>
            </a:pPr>
            <a:r>
              <a:rPr lang="en">
                <a:latin typeface="Montserrat"/>
                <a:ea typeface="Montserrat"/>
                <a:cs typeface="Montserrat"/>
                <a:sym typeface="Montserrat"/>
              </a:rPr>
              <a:t>Dictionary</a:t>
            </a:r>
            <a:endParaRPr>
              <a:latin typeface="Montserrat"/>
              <a:ea typeface="Montserrat"/>
              <a:cs typeface="Montserrat"/>
              <a:sym typeface="Montserrat"/>
            </a:endParaRPr>
          </a:p>
        </p:txBody>
      </p:sp>
      <p:sp>
        <p:nvSpPr>
          <p:cNvPr id="324" name="Google Shape;324;p47"/>
          <p:cNvSpPr txBox="1"/>
          <p:nvPr/>
        </p:nvSpPr>
        <p:spPr>
          <a:xfrm>
            <a:off x="3160875" y="3751950"/>
            <a:ext cx="21102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Montserrat"/>
              <a:buChar char="⃣"/>
            </a:pPr>
            <a:r>
              <a:rPr lang="en">
                <a:latin typeface="Montserrat"/>
                <a:ea typeface="Montserrat"/>
                <a:cs typeface="Montserrat"/>
                <a:sym typeface="Montserrat"/>
              </a:rPr>
              <a:t>String</a:t>
            </a:r>
            <a:endParaRPr>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1000"/>
                                        <p:tgtEl>
                                          <p:spTgt spid="320"/>
                                        </p:tgtEl>
                                      </p:cBhvr>
                                    </p:animEffect>
                                  </p:childTnLst>
                                </p:cTn>
                              </p:par>
                              <p:par>
                                <p:cTn fill="hold" nodeType="withEffect" presetClass="entr" presetID="10" presetSubtype="0">
                                  <p:stCondLst>
                                    <p:cond delay="0"/>
                                  </p:stCondLst>
                                  <p:childTnLst>
                                    <p:set>
                                      <p:cBhvr>
                                        <p:cTn dur="1" fill="hold">
                                          <p:stCondLst>
                                            <p:cond delay="0"/>
                                          </p:stCondLst>
                                        </p:cTn>
                                        <p:tgtEl>
                                          <p:spTgt spid="321"/>
                                        </p:tgtEl>
                                        <p:attrNameLst>
                                          <p:attrName>style.visibility</p:attrName>
                                        </p:attrNameLst>
                                      </p:cBhvr>
                                      <p:to>
                                        <p:strVal val="visible"/>
                                      </p:to>
                                    </p:set>
                                    <p:animEffect filter="fade" transition="in">
                                      <p:cBhvr>
                                        <p:cTn dur="1000"/>
                                        <p:tgtEl>
                                          <p:spTgt spid="321"/>
                                        </p:tgtEl>
                                      </p:cBhvr>
                                    </p:animEffect>
                                  </p:childTnLst>
                                </p:cTn>
                              </p:par>
                              <p:par>
                                <p:cTn fill="hold" nodeType="with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1000"/>
                                        <p:tgtEl>
                                          <p:spTgt spid="322"/>
                                        </p:tgtEl>
                                      </p:cBhvr>
                                    </p:animEffect>
                                  </p:childTnLst>
                                </p:cTn>
                              </p:par>
                              <p:par>
                                <p:cTn fill="hold" nodeType="with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1000"/>
                                        <p:tgtEl>
                                          <p:spTgt spid="323"/>
                                        </p:tgtEl>
                                      </p:cBhvr>
                                    </p:animEffect>
                                  </p:childTnLst>
                                </p:cTn>
                              </p:par>
                              <p:par>
                                <p:cTn fill="hold" nodeType="with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1000"/>
                                        <p:tgtEl>
                                          <p:spTgt spid="3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8"/>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For an object to be an iterable, it should implement an __iter__ method</a:t>
            </a:r>
            <a:endParaRPr/>
          </a:p>
        </p:txBody>
      </p:sp>
      <p:grpSp>
        <p:nvGrpSpPr>
          <p:cNvPr id="330" name="Google Shape;330;p48"/>
          <p:cNvGrpSpPr/>
          <p:nvPr/>
        </p:nvGrpSpPr>
        <p:grpSpPr>
          <a:xfrm>
            <a:off x="690250" y="1798575"/>
            <a:ext cx="2281500" cy="2268300"/>
            <a:chOff x="690250" y="1970025"/>
            <a:chExt cx="2281500" cy="2268300"/>
          </a:xfrm>
        </p:grpSpPr>
        <p:sp>
          <p:nvSpPr>
            <p:cNvPr id="331" name="Google Shape;331;p48"/>
            <p:cNvSpPr txBox="1"/>
            <p:nvPr/>
          </p:nvSpPr>
          <p:spPr>
            <a:xfrm>
              <a:off x="1248550" y="2493325"/>
              <a:ext cx="103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List</a:t>
              </a:r>
              <a:endParaRPr>
                <a:latin typeface="Montserrat"/>
                <a:ea typeface="Montserrat"/>
                <a:cs typeface="Montserrat"/>
                <a:sym typeface="Montserrat"/>
              </a:endParaRPr>
            </a:p>
          </p:txBody>
        </p:sp>
        <p:sp>
          <p:nvSpPr>
            <p:cNvPr id="332" name="Google Shape;332;p48"/>
            <p:cNvSpPr txBox="1"/>
            <p:nvPr/>
          </p:nvSpPr>
          <p:spPr>
            <a:xfrm>
              <a:off x="1248550" y="2904075"/>
              <a:ext cx="76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Tuple</a:t>
              </a:r>
              <a:endParaRPr>
                <a:latin typeface="Montserrat"/>
                <a:ea typeface="Montserrat"/>
                <a:cs typeface="Montserrat"/>
                <a:sym typeface="Montserrat"/>
              </a:endParaRPr>
            </a:p>
          </p:txBody>
        </p:sp>
        <p:sp>
          <p:nvSpPr>
            <p:cNvPr id="333" name="Google Shape;333;p48"/>
            <p:cNvSpPr txBox="1"/>
            <p:nvPr/>
          </p:nvSpPr>
          <p:spPr>
            <a:xfrm>
              <a:off x="1248550" y="3314825"/>
              <a:ext cx="1164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Dictionary</a:t>
              </a:r>
              <a:endParaRPr>
                <a:latin typeface="Montserrat"/>
                <a:ea typeface="Montserrat"/>
                <a:cs typeface="Montserrat"/>
                <a:sym typeface="Montserrat"/>
              </a:endParaRPr>
            </a:p>
          </p:txBody>
        </p:sp>
        <p:sp>
          <p:nvSpPr>
            <p:cNvPr id="334" name="Google Shape;334;p48"/>
            <p:cNvSpPr txBox="1"/>
            <p:nvPr/>
          </p:nvSpPr>
          <p:spPr>
            <a:xfrm>
              <a:off x="1248550" y="3725575"/>
              <a:ext cx="901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String</a:t>
              </a:r>
              <a:endParaRPr>
                <a:latin typeface="Montserrat"/>
                <a:ea typeface="Montserrat"/>
                <a:cs typeface="Montserrat"/>
                <a:sym typeface="Montserrat"/>
              </a:endParaRPr>
            </a:p>
          </p:txBody>
        </p:sp>
        <p:sp>
          <p:nvSpPr>
            <p:cNvPr id="335" name="Google Shape;335;p48"/>
            <p:cNvSpPr txBox="1"/>
            <p:nvPr/>
          </p:nvSpPr>
          <p:spPr>
            <a:xfrm>
              <a:off x="1248550" y="2082575"/>
              <a:ext cx="103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Montserrat"/>
                  <a:ea typeface="Montserrat"/>
                  <a:cs typeface="Montserrat"/>
                  <a:sym typeface="Montserrat"/>
                </a:rPr>
                <a:t>Iterables</a:t>
              </a:r>
              <a:endParaRPr b="1">
                <a:latin typeface="Montserrat"/>
                <a:ea typeface="Montserrat"/>
                <a:cs typeface="Montserrat"/>
                <a:sym typeface="Montserrat"/>
              </a:endParaRPr>
            </a:p>
          </p:txBody>
        </p:sp>
        <p:sp>
          <p:nvSpPr>
            <p:cNvPr id="336" name="Google Shape;336;p48"/>
            <p:cNvSpPr/>
            <p:nvPr/>
          </p:nvSpPr>
          <p:spPr>
            <a:xfrm>
              <a:off x="690250" y="1970025"/>
              <a:ext cx="2281500" cy="22683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7" name="Google Shape;337;p48"/>
          <p:cNvSpPr txBox="1"/>
          <p:nvPr/>
        </p:nvSpPr>
        <p:spPr>
          <a:xfrm>
            <a:off x="3837850" y="2732625"/>
            <a:ext cx="1121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Montserrat"/>
                <a:ea typeface="Montserrat"/>
                <a:cs typeface="Montserrat"/>
                <a:sym typeface="Montserrat"/>
              </a:rPr>
              <a:t>__iter__()</a:t>
            </a:r>
            <a:endParaRPr b="1">
              <a:latin typeface="Montserrat"/>
              <a:ea typeface="Montserrat"/>
              <a:cs typeface="Montserrat"/>
              <a:sym typeface="Montserrat"/>
            </a:endParaRPr>
          </a:p>
        </p:txBody>
      </p:sp>
      <p:cxnSp>
        <p:nvCxnSpPr>
          <p:cNvPr id="338" name="Google Shape;338;p48"/>
          <p:cNvCxnSpPr>
            <a:stCxn id="336" idx="3"/>
            <a:endCxn id="337" idx="1"/>
          </p:cNvCxnSpPr>
          <p:nvPr/>
        </p:nvCxnSpPr>
        <p:spPr>
          <a:xfrm>
            <a:off x="2971750" y="2932725"/>
            <a:ext cx="866100" cy="0"/>
          </a:xfrm>
          <a:prstGeom prst="straightConnector1">
            <a:avLst/>
          </a:prstGeom>
          <a:noFill/>
          <a:ln cap="flat" cmpd="sng" w="19050">
            <a:solidFill>
              <a:schemeClr val="dk2"/>
            </a:solidFill>
            <a:prstDash val="solid"/>
            <a:round/>
            <a:headEnd len="med" w="med" type="none"/>
            <a:tailEnd len="med" w="med" type="triangle"/>
          </a:ln>
        </p:spPr>
      </p:cxnSp>
      <p:grpSp>
        <p:nvGrpSpPr>
          <p:cNvPr id="339" name="Google Shape;339;p48"/>
          <p:cNvGrpSpPr/>
          <p:nvPr/>
        </p:nvGrpSpPr>
        <p:grpSpPr>
          <a:xfrm>
            <a:off x="4958950" y="2732625"/>
            <a:ext cx="2848650" cy="400200"/>
            <a:chOff x="4958950" y="2732625"/>
            <a:chExt cx="2848650" cy="400200"/>
          </a:xfrm>
        </p:grpSpPr>
        <p:sp>
          <p:nvSpPr>
            <p:cNvPr id="340" name="Google Shape;340;p48"/>
            <p:cNvSpPr txBox="1"/>
            <p:nvPr/>
          </p:nvSpPr>
          <p:spPr>
            <a:xfrm>
              <a:off x="5723800" y="2732625"/>
              <a:ext cx="208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Montserrat"/>
                  <a:ea typeface="Montserrat"/>
                  <a:cs typeface="Montserrat"/>
                  <a:sym typeface="Montserrat"/>
                </a:rPr>
                <a:t>Return an Iterator</a:t>
              </a:r>
              <a:endParaRPr b="1">
                <a:latin typeface="Montserrat"/>
                <a:ea typeface="Montserrat"/>
                <a:cs typeface="Montserrat"/>
                <a:sym typeface="Montserrat"/>
              </a:endParaRPr>
            </a:p>
          </p:txBody>
        </p:sp>
        <p:cxnSp>
          <p:nvCxnSpPr>
            <p:cNvPr id="341" name="Google Shape;341;p48"/>
            <p:cNvCxnSpPr>
              <a:stCxn id="337" idx="3"/>
              <a:endCxn id="340" idx="1"/>
            </p:cNvCxnSpPr>
            <p:nvPr/>
          </p:nvCxnSpPr>
          <p:spPr>
            <a:xfrm>
              <a:off x="4958950" y="2932725"/>
              <a:ext cx="765000" cy="0"/>
            </a:xfrm>
            <a:prstGeom prst="straightConnector1">
              <a:avLst/>
            </a:prstGeom>
            <a:noFill/>
            <a:ln cap="flat" cmpd="sng" w="19050">
              <a:solidFill>
                <a:schemeClr val="dk2"/>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1000"/>
                                        <p:tgtEl>
                                          <p:spTgt spid="3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9"/>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An iterator is an object that implements the iterator protocol</a:t>
            </a:r>
            <a:endParaRPr/>
          </a:p>
        </p:txBody>
      </p:sp>
      <p:grpSp>
        <p:nvGrpSpPr>
          <p:cNvPr id="347" name="Google Shape;347;p49"/>
          <p:cNvGrpSpPr/>
          <p:nvPr/>
        </p:nvGrpSpPr>
        <p:grpSpPr>
          <a:xfrm>
            <a:off x="311700" y="1695313"/>
            <a:ext cx="4378500" cy="2463573"/>
            <a:chOff x="311700" y="1695313"/>
            <a:chExt cx="4378500" cy="2463573"/>
          </a:xfrm>
        </p:grpSpPr>
        <p:sp>
          <p:nvSpPr>
            <p:cNvPr id="348" name="Google Shape;348;p49"/>
            <p:cNvSpPr txBox="1"/>
            <p:nvPr/>
          </p:nvSpPr>
          <p:spPr>
            <a:xfrm>
              <a:off x="311700" y="1695313"/>
              <a:ext cx="4378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Montserrat"/>
                  <a:ea typeface="Montserrat"/>
                  <a:cs typeface="Montserrat"/>
                  <a:sym typeface="Montserrat"/>
                </a:rPr>
                <a:t>According to the iterator protocol, </a:t>
              </a:r>
              <a:endParaRPr b="1" sz="1600">
                <a:latin typeface="Montserrat"/>
                <a:ea typeface="Montserrat"/>
                <a:cs typeface="Montserrat"/>
                <a:sym typeface="Montserrat"/>
              </a:endParaRPr>
            </a:p>
          </p:txBody>
        </p:sp>
        <p:sp>
          <p:nvSpPr>
            <p:cNvPr id="349" name="Google Shape;349;p49"/>
            <p:cNvSpPr txBox="1"/>
            <p:nvPr/>
          </p:nvSpPr>
          <p:spPr>
            <a:xfrm>
              <a:off x="707850" y="3271425"/>
              <a:ext cx="124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Montserrat"/>
                  <a:ea typeface="Montserrat"/>
                  <a:cs typeface="Montserrat"/>
                  <a:sym typeface="Montserrat"/>
                </a:rPr>
                <a:t>An iterator</a:t>
              </a:r>
              <a:endParaRPr b="1">
                <a:latin typeface="Montserrat"/>
                <a:ea typeface="Montserrat"/>
                <a:cs typeface="Montserrat"/>
                <a:sym typeface="Montserrat"/>
              </a:endParaRPr>
            </a:p>
          </p:txBody>
        </p:sp>
        <p:sp>
          <p:nvSpPr>
            <p:cNvPr id="350" name="Google Shape;350;p49"/>
            <p:cNvSpPr txBox="1"/>
            <p:nvPr/>
          </p:nvSpPr>
          <p:spPr>
            <a:xfrm rot="-1300963">
              <a:off x="1967638" y="2847957"/>
              <a:ext cx="1371437" cy="400323"/>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Implements</a:t>
              </a:r>
              <a:endParaRPr>
                <a:latin typeface="Montserrat"/>
                <a:ea typeface="Montserrat"/>
                <a:cs typeface="Montserrat"/>
                <a:sym typeface="Montserrat"/>
              </a:endParaRPr>
            </a:p>
          </p:txBody>
        </p:sp>
        <p:sp>
          <p:nvSpPr>
            <p:cNvPr id="351" name="Google Shape;351;p49"/>
            <p:cNvSpPr txBox="1"/>
            <p:nvPr/>
          </p:nvSpPr>
          <p:spPr>
            <a:xfrm>
              <a:off x="3310275" y="2771850"/>
              <a:ext cx="124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Montserrat"/>
                  <a:ea typeface="Montserrat"/>
                  <a:cs typeface="Montserrat"/>
                  <a:sym typeface="Montserrat"/>
                </a:rPr>
                <a:t>__next__()</a:t>
              </a:r>
              <a:endParaRPr b="1">
                <a:latin typeface="Montserrat"/>
                <a:ea typeface="Montserrat"/>
                <a:cs typeface="Montserrat"/>
                <a:sym typeface="Montserrat"/>
              </a:endParaRPr>
            </a:p>
          </p:txBody>
        </p:sp>
        <p:sp>
          <p:nvSpPr>
            <p:cNvPr id="352" name="Google Shape;352;p49"/>
            <p:cNvSpPr txBox="1"/>
            <p:nvPr/>
          </p:nvSpPr>
          <p:spPr>
            <a:xfrm>
              <a:off x="3391575" y="3671625"/>
              <a:ext cx="108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Montserrat"/>
                  <a:ea typeface="Montserrat"/>
                  <a:cs typeface="Montserrat"/>
                  <a:sym typeface="Montserrat"/>
                </a:rPr>
                <a:t>__iter__()</a:t>
              </a:r>
              <a:endParaRPr b="1">
                <a:latin typeface="Montserrat"/>
                <a:ea typeface="Montserrat"/>
                <a:cs typeface="Montserrat"/>
                <a:sym typeface="Montserrat"/>
              </a:endParaRPr>
            </a:p>
          </p:txBody>
        </p:sp>
        <p:cxnSp>
          <p:nvCxnSpPr>
            <p:cNvPr id="353" name="Google Shape;353;p49"/>
            <p:cNvCxnSpPr>
              <a:stCxn id="349" idx="3"/>
              <a:endCxn id="351" idx="1"/>
            </p:cNvCxnSpPr>
            <p:nvPr/>
          </p:nvCxnSpPr>
          <p:spPr>
            <a:xfrm flipH="1" rot="10800000">
              <a:off x="1951950" y="2972025"/>
              <a:ext cx="1358400" cy="499500"/>
            </a:xfrm>
            <a:prstGeom prst="straightConnector1">
              <a:avLst/>
            </a:prstGeom>
            <a:noFill/>
            <a:ln cap="flat" cmpd="sng" w="19050">
              <a:solidFill>
                <a:srgbClr val="000000"/>
              </a:solidFill>
              <a:prstDash val="solid"/>
              <a:round/>
              <a:headEnd len="med" w="med" type="none"/>
              <a:tailEnd len="med" w="med" type="triangle"/>
            </a:ln>
          </p:spPr>
        </p:cxnSp>
        <p:cxnSp>
          <p:nvCxnSpPr>
            <p:cNvPr id="354" name="Google Shape;354;p49"/>
            <p:cNvCxnSpPr>
              <a:stCxn id="349" idx="3"/>
              <a:endCxn id="352" idx="1"/>
            </p:cNvCxnSpPr>
            <p:nvPr/>
          </p:nvCxnSpPr>
          <p:spPr>
            <a:xfrm>
              <a:off x="1951950" y="3471525"/>
              <a:ext cx="1439700" cy="400200"/>
            </a:xfrm>
            <a:prstGeom prst="straightConnector1">
              <a:avLst/>
            </a:prstGeom>
            <a:noFill/>
            <a:ln cap="flat" cmpd="sng" w="19050">
              <a:solidFill>
                <a:srgbClr val="000000"/>
              </a:solidFill>
              <a:prstDash val="solid"/>
              <a:round/>
              <a:headEnd len="med" w="med" type="none"/>
              <a:tailEnd len="med" w="med" type="triangle"/>
            </a:ln>
          </p:spPr>
        </p:cxnSp>
        <p:sp>
          <p:nvSpPr>
            <p:cNvPr id="355" name="Google Shape;355;p49"/>
            <p:cNvSpPr txBox="1"/>
            <p:nvPr/>
          </p:nvSpPr>
          <p:spPr>
            <a:xfrm rot="916956">
              <a:off x="1967527" y="3584945"/>
              <a:ext cx="1371500" cy="400281"/>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Implements</a:t>
              </a:r>
              <a:endParaRPr>
                <a:latin typeface="Montserrat"/>
                <a:ea typeface="Montserrat"/>
                <a:cs typeface="Montserrat"/>
                <a:sym typeface="Montserrat"/>
              </a:endParaRPr>
            </a:p>
          </p:txBody>
        </p:sp>
      </p:grpSp>
      <p:grpSp>
        <p:nvGrpSpPr>
          <p:cNvPr id="356" name="Google Shape;356;p49"/>
          <p:cNvGrpSpPr/>
          <p:nvPr/>
        </p:nvGrpSpPr>
        <p:grpSpPr>
          <a:xfrm>
            <a:off x="4554375" y="2684975"/>
            <a:ext cx="4106425" cy="487075"/>
            <a:chOff x="4554375" y="2684975"/>
            <a:chExt cx="4106425" cy="487075"/>
          </a:xfrm>
        </p:grpSpPr>
        <p:sp>
          <p:nvSpPr>
            <p:cNvPr id="357" name="Google Shape;357;p49"/>
            <p:cNvSpPr txBox="1"/>
            <p:nvPr/>
          </p:nvSpPr>
          <p:spPr>
            <a:xfrm>
              <a:off x="5723800" y="2771850"/>
              <a:ext cx="293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Next item in the sequence</a:t>
              </a:r>
              <a:endParaRPr>
                <a:latin typeface="Montserrat"/>
                <a:ea typeface="Montserrat"/>
                <a:cs typeface="Montserrat"/>
                <a:sym typeface="Montserrat"/>
              </a:endParaRPr>
            </a:p>
          </p:txBody>
        </p:sp>
        <p:cxnSp>
          <p:nvCxnSpPr>
            <p:cNvPr id="358" name="Google Shape;358;p49"/>
            <p:cNvCxnSpPr>
              <a:stCxn id="351" idx="3"/>
              <a:endCxn id="357" idx="1"/>
            </p:cNvCxnSpPr>
            <p:nvPr/>
          </p:nvCxnSpPr>
          <p:spPr>
            <a:xfrm>
              <a:off x="4554375" y="2971950"/>
              <a:ext cx="1169400" cy="0"/>
            </a:xfrm>
            <a:prstGeom prst="straightConnector1">
              <a:avLst/>
            </a:prstGeom>
            <a:noFill/>
            <a:ln cap="flat" cmpd="sng" w="19050">
              <a:solidFill>
                <a:schemeClr val="dk1"/>
              </a:solidFill>
              <a:prstDash val="solid"/>
              <a:round/>
              <a:headEnd len="med" w="med" type="none"/>
              <a:tailEnd len="med" w="med" type="triangle"/>
            </a:ln>
          </p:spPr>
        </p:cxnSp>
        <p:sp>
          <p:nvSpPr>
            <p:cNvPr id="359" name="Google Shape;359;p49"/>
            <p:cNvSpPr txBox="1"/>
            <p:nvPr/>
          </p:nvSpPr>
          <p:spPr>
            <a:xfrm>
              <a:off x="4723601" y="2684975"/>
              <a:ext cx="940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returns</a:t>
              </a:r>
              <a:endParaRPr>
                <a:latin typeface="Montserrat"/>
                <a:ea typeface="Montserrat"/>
                <a:cs typeface="Montserrat"/>
                <a:sym typeface="Montserrat"/>
              </a:endParaRPr>
            </a:p>
          </p:txBody>
        </p:sp>
      </p:grpSp>
      <p:grpSp>
        <p:nvGrpSpPr>
          <p:cNvPr id="360" name="Google Shape;360;p49"/>
          <p:cNvGrpSpPr/>
          <p:nvPr/>
        </p:nvGrpSpPr>
        <p:grpSpPr>
          <a:xfrm>
            <a:off x="4473075" y="3584975"/>
            <a:ext cx="4187725" cy="486850"/>
            <a:chOff x="4473075" y="3584975"/>
            <a:chExt cx="4187725" cy="486850"/>
          </a:xfrm>
        </p:grpSpPr>
        <p:sp>
          <p:nvSpPr>
            <p:cNvPr id="361" name="Google Shape;361;p49"/>
            <p:cNvSpPr txBox="1"/>
            <p:nvPr/>
          </p:nvSpPr>
          <p:spPr>
            <a:xfrm>
              <a:off x="5723800" y="3671625"/>
              <a:ext cx="293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Itself/self</a:t>
              </a:r>
              <a:endParaRPr>
                <a:latin typeface="Montserrat"/>
                <a:ea typeface="Montserrat"/>
                <a:cs typeface="Montserrat"/>
                <a:sym typeface="Montserrat"/>
              </a:endParaRPr>
            </a:p>
          </p:txBody>
        </p:sp>
        <p:cxnSp>
          <p:nvCxnSpPr>
            <p:cNvPr id="362" name="Google Shape;362;p49"/>
            <p:cNvCxnSpPr>
              <a:stCxn id="352" idx="3"/>
              <a:endCxn id="361" idx="1"/>
            </p:cNvCxnSpPr>
            <p:nvPr/>
          </p:nvCxnSpPr>
          <p:spPr>
            <a:xfrm>
              <a:off x="4473075" y="3871725"/>
              <a:ext cx="1250700" cy="0"/>
            </a:xfrm>
            <a:prstGeom prst="straightConnector1">
              <a:avLst/>
            </a:prstGeom>
            <a:noFill/>
            <a:ln cap="flat" cmpd="sng" w="19050">
              <a:solidFill>
                <a:srgbClr val="000000"/>
              </a:solidFill>
              <a:prstDash val="solid"/>
              <a:round/>
              <a:headEnd len="med" w="med" type="none"/>
              <a:tailEnd len="med" w="med" type="triangle"/>
            </a:ln>
          </p:spPr>
        </p:cxnSp>
        <p:sp>
          <p:nvSpPr>
            <p:cNvPr id="363" name="Google Shape;363;p49"/>
            <p:cNvSpPr txBox="1"/>
            <p:nvPr/>
          </p:nvSpPr>
          <p:spPr>
            <a:xfrm>
              <a:off x="4723575" y="3584975"/>
              <a:ext cx="100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returns</a:t>
              </a:r>
              <a:endParaRPr>
                <a:latin typeface="Montserrat"/>
                <a:ea typeface="Montserrat"/>
                <a:cs typeface="Montserrat"/>
                <a:sym typeface="Montserrat"/>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1000"/>
                                        <p:tgtEl>
                                          <p:spTgt spid="3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1000"/>
                                        <p:tgtEl>
                                          <p:spTgt spid="3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1000"/>
                                        <p:tgtEl>
                                          <p:spTgt spid="3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0"/>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Generator allows us to create iterable without implementing the __next__ and __iter__ method</a:t>
            </a:r>
            <a:endParaRPr/>
          </a:p>
        </p:txBody>
      </p:sp>
      <p:sp>
        <p:nvSpPr>
          <p:cNvPr id="369" name="Google Shape;369;p50"/>
          <p:cNvSpPr txBox="1"/>
          <p:nvPr/>
        </p:nvSpPr>
        <p:spPr>
          <a:xfrm>
            <a:off x="2694450" y="2050650"/>
            <a:ext cx="3755100" cy="10422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500">
                <a:solidFill>
                  <a:srgbClr val="0000FF"/>
                </a:solidFill>
                <a:highlight>
                  <a:srgbClr val="FFFFFE"/>
                </a:highlight>
                <a:latin typeface="Courier New"/>
                <a:ea typeface="Courier New"/>
                <a:cs typeface="Courier New"/>
                <a:sym typeface="Courier New"/>
              </a:rPr>
              <a:t>def</a:t>
            </a:r>
            <a:r>
              <a:rPr lang="en" sz="1500">
                <a:solidFill>
                  <a:schemeClr val="dk1"/>
                </a:solidFill>
                <a:highlight>
                  <a:srgbClr val="FFFFFE"/>
                </a:highlight>
                <a:latin typeface="Courier New"/>
                <a:ea typeface="Courier New"/>
                <a:cs typeface="Courier New"/>
                <a:sym typeface="Courier New"/>
              </a:rPr>
              <a:t> </a:t>
            </a:r>
            <a:r>
              <a:rPr lang="en" sz="1500">
                <a:solidFill>
                  <a:srgbClr val="795E26"/>
                </a:solidFill>
                <a:highlight>
                  <a:srgbClr val="FFFFFE"/>
                </a:highlight>
                <a:latin typeface="Courier New"/>
                <a:ea typeface="Courier New"/>
                <a:cs typeface="Courier New"/>
                <a:sym typeface="Courier New"/>
              </a:rPr>
              <a:t>generator_func</a:t>
            </a:r>
            <a:r>
              <a:rPr lang="en" sz="1500">
                <a:solidFill>
                  <a:schemeClr val="dk1"/>
                </a:solidFill>
                <a:highlight>
                  <a:srgbClr val="FFFFFE"/>
                </a:highlight>
                <a:latin typeface="Courier New"/>
                <a:ea typeface="Courier New"/>
                <a:cs typeface="Courier New"/>
                <a:sym typeface="Courier New"/>
              </a:rPr>
              <a:t>(</a:t>
            </a:r>
            <a:r>
              <a:rPr lang="en" sz="1500">
                <a:solidFill>
                  <a:srgbClr val="001080"/>
                </a:solidFill>
                <a:highlight>
                  <a:srgbClr val="FFFFFE"/>
                </a:highlight>
                <a:latin typeface="Courier New"/>
                <a:ea typeface="Courier New"/>
                <a:cs typeface="Courier New"/>
                <a:sym typeface="Courier New"/>
              </a:rPr>
              <a:t>all_items</a:t>
            </a:r>
            <a:r>
              <a:rPr lang="en" sz="1500">
                <a:solidFill>
                  <a:schemeClr val="dk1"/>
                </a:solidFill>
                <a:highlight>
                  <a:srgbClr val="FFFFFE"/>
                </a:highlight>
                <a:latin typeface="Courier New"/>
                <a:ea typeface="Courier New"/>
                <a:cs typeface="Courier New"/>
                <a:sym typeface="Courier New"/>
              </a:rPr>
              <a:t>):</a:t>
            </a:r>
            <a:endParaRPr sz="150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 </a:t>
            </a:r>
            <a:r>
              <a:rPr lang="en" sz="1500">
                <a:solidFill>
                  <a:srgbClr val="AF00DB"/>
                </a:solidFill>
                <a:highlight>
                  <a:srgbClr val="FFFFFE"/>
                </a:highlight>
                <a:latin typeface="Courier New"/>
                <a:ea typeface="Courier New"/>
                <a:cs typeface="Courier New"/>
                <a:sym typeface="Courier New"/>
              </a:rPr>
              <a:t>for</a:t>
            </a:r>
            <a:r>
              <a:rPr lang="en" sz="1500">
                <a:solidFill>
                  <a:schemeClr val="dk1"/>
                </a:solidFill>
                <a:highlight>
                  <a:srgbClr val="FFFFFE"/>
                </a:highlight>
                <a:latin typeface="Courier New"/>
                <a:ea typeface="Courier New"/>
                <a:cs typeface="Courier New"/>
                <a:sym typeface="Courier New"/>
              </a:rPr>
              <a:t> item </a:t>
            </a:r>
            <a:r>
              <a:rPr lang="en" sz="1500">
                <a:solidFill>
                  <a:srgbClr val="0000FF"/>
                </a:solidFill>
                <a:highlight>
                  <a:srgbClr val="FFFFFE"/>
                </a:highlight>
                <a:latin typeface="Courier New"/>
                <a:ea typeface="Courier New"/>
                <a:cs typeface="Courier New"/>
                <a:sym typeface="Courier New"/>
              </a:rPr>
              <a:t>in</a:t>
            </a:r>
            <a:r>
              <a:rPr lang="en" sz="1500">
                <a:solidFill>
                  <a:schemeClr val="dk1"/>
                </a:solidFill>
                <a:highlight>
                  <a:srgbClr val="FFFFFE"/>
                </a:highlight>
                <a:latin typeface="Courier New"/>
                <a:ea typeface="Courier New"/>
                <a:cs typeface="Courier New"/>
                <a:sym typeface="Courier New"/>
              </a:rPr>
              <a:t> </a:t>
            </a:r>
            <a:r>
              <a:rPr lang="en" sz="1500">
                <a:solidFill>
                  <a:srgbClr val="001080"/>
                </a:solidFill>
                <a:highlight>
                  <a:srgbClr val="FFFFFE"/>
                </a:highlight>
                <a:latin typeface="Courier New"/>
                <a:ea typeface="Courier New"/>
                <a:cs typeface="Courier New"/>
                <a:sym typeface="Courier New"/>
              </a:rPr>
              <a:t>all_items</a:t>
            </a:r>
            <a:r>
              <a:rPr lang="en" sz="1500">
                <a:solidFill>
                  <a:schemeClr val="dk1"/>
                </a:solidFill>
                <a:highlight>
                  <a:srgbClr val="FFFFFE"/>
                </a:highlight>
                <a:latin typeface="Courier New"/>
                <a:ea typeface="Courier New"/>
                <a:cs typeface="Courier New"/>
                <a:sym typeface="Courier New"/>
              </a:rPr>
              <a:t>:</a:t>
            </a:r>
            <a:endParaRPr sz="150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   </a:t>
            </a:r>
            <a:r>
              <a:rPr lang="en" sz="1500">
                <a:solidFill>
                  <a:srgbClr val="AF00DB"/>
                </a:solidFill>
                <a:highlight>
                  <a:srgbClr val="FFFFFE"/>
                </a:highlight>
                <a:latin typeface="Courier New"/>
                <a:ea typeface="Courier New"/>
                <a:cs typeface="Courier New"/>
                <a:sym typeface="Courier New"/>
              </a:rPr>
              <a:t>yield</a:t>
            </a:r>
            <a:r>
              <a:rPr lang="en" sz="1500">
                <a:solidFill>
                  <a:schemeClr val="dk1"/>
                </a:solidFill>
                <a:highlight>
                  <a:srgbClr val="FFFFFE"/>
                </a:highlight>
                <a:latin typeface="Courier New"/>
                <a:ea typeface="Courier New"/>
                <a:cs typeface="Courier New"/>
                <a:sym typeface="Courier New"/>
              </a:rPr>
              <a:t> item</a:t>
            </a:r>
            <a:endParaRPr sz="1500">
              <a:solidFill>
                <a:schemeClr val="dk1"/>
              </a:solidFill>
              <a:highlight>
                <a:srgbClr val="FFFFFE"/>
              </a:highlight>
              <a:latin typeface="Courier New"/>
              <a:ea typeface="Courier New"/>
              <a:cs typeface="Courier New"/>
              <a:sym typeface="Courier New"/>
            </a:endParaRPr>
          </a:p>
        </p:txBody>
      </p:sp>
      <p:sp>
        <p:nvSpPr>
          <p:cNvPr id="370" name="Google Shape;370;p50"/>
          <p:cNvSpPr/>
          <p:nvPr/>
        </p:nvSpPr>
        <p:spPr>
          <a:xfrm>
            <a:off x="3020150" y="2769575"/>
            <a:ext cx="1345200" cy="323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50"/>
          <p:cNvSpPr txBox="1"/>
          <p:nvPr/>
        </p:nvSpPr>
        <p:spPr>
          <a:xfrm>
            <a:off x="5895250" y="2515625"/>
            <a:ext cx="31125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Pauses execution instead of quitting execution like the return statement</a:t>
            </a:r>
            <a:endParaRPr>
              <a:latin typeface="Montserrat"/>
              <a:ea typeface="Montserrat"/>
              <a:cs typeface="Montserrat"/>
              <a:sym typeface="Montserrat"/>
            </a:endParaRPr>
          </a:p>
        </p:txBody>
      </p:sp>
      <p:cxnSp>
        <p:nvCxnSpPr>
          <p:cNvPr id="372" name="Google Shape;372;p50"/>
          <p:cNvCxnSpPr>
            <a:stCxn id="370" idx="3"/>
            <a:endCxn id="371" idx="1"/>
          </p:cNvCxnSpPr>
          <p:nvPr/>
        </p:nvCxnSpPr>
        <p:spPr>
          <a:xfrm>
            <a:off x="4365350" y="2931275"/>
            <a:ext cx="1530000" cy="600"/>
          </a:xfrm>
          <a:prstGeom prst="bentConnector3">
            <a:avLst>
              <a:gd fmla="val 49997" name="adj1"/>
            </a:avLst>
          </a:prstGeom>
          <a:noFill/>
          <a:ln cap="flat" cmpd="sng" w="19050">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1000"/>
                                        <p:tgtEl>
                                          <p:spTgt spid="370"/>
                                        </p:tgtEl>
                                      </p:cBhvr>
                                    </p:animEffect>
                                  </p:childTnLst>
                                </p:cTn>
                              </p:par>
                              <p:par>
                                <p:cTn fill="hold" nodeType="with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1000"/>
                                        <p:tgtEl>
                                          <p:spTgt spid="372"/>
                                        </p:tgtEl>
                                      </p:cBhvr>
                                    </p:animEffect>
                                  </p:childTnLst>
                                </p:cTn>
                              </p:par>
                              <p:par>
                                <p:cTn fill="hold" nodeType="with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1000"/>
                                        <p:tgtEl>
                                          <p:spTgt spid="3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1"/>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a:t>
            </a:r>
            <a:r>
              <a:rPr lang="en"/>
              <a:t>eturn quits the execution whereas yield pauses the execution</a:t>
            </a:r>
            <a:endParaRPr/>
          </a:p>
        </p:txBody>
      </p:sp>
      <p:sp>
        <p:nvSpPr>
          <p:cNvPr id="378" name="Google Shape;378;p51"/>
          <p:cNvSpPr txBox="1"/>
          <p:nvPr/>
        </p:nvSpPr>
        <p:spPr>
          <a:xfrm>
            <a:off x="4954388" y="1843550"/>
            <a:ext cx="3755100" cy="10422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500">
                <a:solidFill>
                  <a:srgbClr val="0000FF"/>
                </a:solidFill>
                <a:highlight>
                  <a:srgbClr val="FFFFFE"/>
                </a:highlight>
                <a:latin typeface="Courier New"/>
                <a:ea typeface="Courier New"/>
                <a:cs typeface="Courier New"/>
                <a:sym typeface="Courier New"/>
              </a:rPr>
              <a:t>def</a:t>
            </a:r>
            <a:r>
              <a:rPr lang="en" sz="1500">
                <a:solidFill>
                  <a:schemeClr val="dk1"/>
                </a:solidFill>
                <a:highlight>
                  <a:srgbClr val="FFFFFE"/>
                </a:highlight>
                <a:latin typeface="Courier New"/>
                <a:ea typeface="Courier New"/>
                <a:cs typeface="Courier New"/>
                <a:sym typeface="Courier New"/>
              </a:rPr>
              <a:t> </a:t>
            </a:r>
            <a:r>
              <a:rPr lang="en" sz="1500">
                <a:solidFill>
                  <a:srgbClr val="795E26"/>
                </a:solidFill>
                <a:highlight>
                  <a:srgbClr val="FFFFFE"/>
                </a:highlight>
                <a:latin typeface="Courier New"/>
                <a:ea typeface="Courier New"/>
                <a:cs typeface="Courier New"/>
                <a:sym typeface="Courier New"/>
              </a:rPr>
              <a:t>func_B</a:t>
            </a:r>
            <a:r>
              <a:rPr lang="en" sz="1500">
                <a:solidFill>
                  <a:schemeClr val="dk1"/>
                </a:solidFill>
                <a:highlight>
                  <a:srgbClr val="FFFFFE"/>
                </a:highlight>
                <a:latin typeface="Courier New"/>
                <a:ea typeface="Courier New"/>
                <a:cs typeface="Courier New"/>
                <a:sym typeface="Courier New"/>
              </a:rPr>
              <a:t>(</a:t>
            </a:r>
            <a:r>
              <a:rPr lang="en" sz="1500">
                <a:solidFill>
                  <a:srgbClr val="001080"/>
                </a:solidFill>
                <a:highlight>
                  <a:srgbClr val="FFFFFE"/>
                </a:highlight>
                <a:latin typeface="Courier New"/>
                <a:ea typeface="Courier New"/>
                <a:cs typeface="Courier New"/>
                <a:sym typeface="Courier New"/>
              </a:rPr>
              <a:t>all_items</a:t>
            </a:r>
            <a:r>
              <a:rPr lang="en" sz="1500">
                <a:solidFill>
                  <a:schemeClr val="dk1"/>
                </a:solidFill>
                <a:highlight>
                  <a:srgbClr val="FFFFFE"/>
                </a:highlight>
                <a:latin typeface="Courier New"/>
                <a:ea typeface="Courier New"/>
                <a:cs typeface="Courier New"/>
                <a:sym typeface="Courier New"/>
              </a:rPr>
              <a:t>):</a:t>
            </a:r>
            <a:endParaRPr sz="150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 </a:t>
            </a:r>
            <a:r>
              <a:rPr lang="en" sz="1500">
                <a:solidFill>
                  <a:srgbClr val="AF00DB"/>
                </a:solidFill>
                <a:highlight>
                  <a:srgbClr val="FFFFFE"/>
                </a:highlight>
                <a:latin typeface="Courier New"/>
                <a:ea typeface="Courier New"/>
                <a:cs typeface="Courier New"/>
                <a:sym typeface="Courier New"/>
              </a:rPr>
              <a:t>for</a:t>
            </a:r>
            <a:r>
              <a:rPr lang="en" sz="1500">
                <a:solidFill>
                  <a:schemeClr val="dk1"/>
                </a:solidFill>
                <a:highlight>
                  <a:srgbClr val="FFFFFE"/>
                </a:highlight>
                <a:latin typeface="Courier New"/>
                <a:ea typeface="Courier New"/>
                <a:cs typeface="Courier New"/>
                <a:sym typeface="Courier New"/>
              </a:rPr>
              <a:t> item </a:t>
            </a:r>
            <a:r>
              <a:rPr lang="en" sz="1500">
                <a:solidFill>
                  <a:srgbClr val="0000FF"/>
                </a:solidFill>
                <a:highlight>
                  <a:srgbClr val="FFFFFE"/>
                </a:highlight>
                <a:latin typeface="Courier New"/>
                <a:ea typeface="Courier New"/>
                <a:cs typeface="Courier New"/>
                <a:sym typeface="Courier New"/>
              </a:rPr>
              <a:t>in</a:t>
            </a:r>
            <a:r>
              <a:rPr lang="en" sz="1500">
                <a:solidFill>
                  <a:schemeClr val="dk1"/>
                </a:solidFill>
                <a:highlight>
                  <a:srgbClr val="FFFFFE"/>
                </a:highlight>
                <a:latin typeface="Courier New"/>
                <a:ea typeface="Courier New"/>
                <a:cs typeface="Courier New"/>
                <a:sym typeface="Courier New"/>
              </a:rPr>
              <a:t> </a:t>
            </a:r>
            <a:r>
              <a:rPr lang="en" sz="1500">
                <a:solidFill>
                  <a:srgbClr val="001080"/>
                </a:solidFill>
                <a:highlight>
                  <a:srgbClr val="FFFFFE"/>
                </a:highlight>
                <a:latin typeface="Courier New"/>
                <a:ea typeface="Courier New"/>
                <a:cs typeface="Courier New"/>
                <a:sym typeface="Courier New"/>
              </a:rPr>
              <a:t>all_items</a:t>
            </a:r>
            <a:r>
              <a:rPr lang="en" sz="1500">
                <a:solidFill>
                  <a:schemeClr val="dk1"/>
                </a:solidFill>
                <a:highlight>
                  <a:srgbClr val="FFFFFE"/>
                </a:highlight>
                <a:latin typeface="Courier New"/>
                <a:ea typeface="Courier New"/>
                <a:cs typeface="Courier New"/>
                <a:sym typeface="Courier New"/>
              </a:rPr>
              <a:t>:</a:t>
            </a:r>
            <a:endParaRPr sz="150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   </a:t>
            </a:r>
            <a:r>
              <a:rPr lang="en" sz="1500">
                <a:solidFill>
                  <a:srgbClr val="AF00DB"/>
                </a:solidFill>
                <a:highlight>
                  <a:srgbClr val="FFFFFE"/>
                </a:highlight>
                <a:latin typeface="Courier New"/>
                <a:ea typeface="Courier New"/>
                <a:cs typeface="Courier New"/>
                <a:sym typeface="Courier New"/>
              </a:rPr>
              <a:t>yield</a:t>
            </a:r>
            <a:r>
              <a:rPr lang="en" sz="1500">
                <a:solidFill>
                  <a:schemeClr val="dk1"/>
                </a:solidFill>
                <a:highlight>
                  <a:srgbClr val="FFFFFE"/>
                </a:highlight>
                <a:latin typeface="Courier New"/>
                <a:ea typeface="Courier New"/>
                <a:cs typeface="Courier New"/>
                <a:sym typeface="Courier New"/>
              </a:rPr>
              <a:t> item</a:t>
            </a:r>
            <a:endParaRPr sz="1500">
              <a:solidFill>
                <a:schemeClr val="dk1"/>
              </a:solidFill>
              <a:highlight>
                <a:srgbClr val="FFFFFE"/>
              </a:highlight>
              <a:latin typeface="Courier New"/>
              <a:ea typeface="Courier New"/>
              <a:cs typeface="Courier New"/>
              <a:sym typeface="Courier New"/>
            </a:endParaRPr>
          </a:p>
        </p:txBody>
      </p:sp>
      <p:sp>
        <p:nvSpPr>
          <p:cNvPr id="379" name="Google Shape;379;p51"/>
          <p:cNvSpPr txBox="1"/>
          <p:nvPr/>
        </p:nvSpPr>
        <p:spPr>
          <a:xfrm>
            <a:off x="581063" y="1843550"/>
            <a:ext cx="3755100" cy="10422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500">
                <a:solidFill>
                  <a:srgbClr val="0000FF"/>
                </a:solidFill>
                <a:highlight>
                  <a:srgbClr val="FFFFFE"/>
                </a:highlight>
                <a:latin typeface="Courier New"/>
                <a:ea typeface="Courier New"/>
                <a:cs typeface="Courier New"/>
                <a:sym typeface="Courier New"/>
              </a:rPr>
              <a:t>def</a:t>
            </a:r>
            <a:r>
              <a:rPr lang="en" sz="1500">
                <a:solidFill>
                  <a:schemeClr val="dk1"/>
                </a:solidFill>
                <a:highlight>
                  <a:srgbClr val="FFFFFE"/>
                </a:highlight>
                <a:latin typeface="Courier New"/>
                <a:ea typeface="Courier New"/>
                <a:cs typeface="Courier New"/>
                <a:sym typeface="Courier New"/>
              </a:rPr>
              <a:t> </a:t>
            </a:r>
            <a:r>
              <a:rPr lang="en" sz="1500">
                <a:solidFill>
                  <a:srgbClr val="795E26"/>
                </a:solidFill>
                <a:highlight>
                  <a:srgbClr val="FFFFFE"/>
                </a:highlight>
                <a:latin typeface="Courier New"/>
                <a:ea typeface="Courier New"/>
                <a:cs typeface="Courier New"/>
                <a:sym typeface="Courier New"/>
              </a:rPr>
              <a:t>func_A</a:t>
            </a:r>
            <a:r>
              <a:rPr lang="en" sz="1500">
                <a:solidFill>
                  <a:schemeClr val="dk1"/>
                </a:solidFill>
                <a:highlight>
                  <a:srgbClr val="FFFFFE"/>
                </a:highlight>
                <a:latin typeface="Courier New"/>
                <a:ea typeface="Courier New"/>
                <a:cs typeface="Courier New"/>
                <a:sym typeface="Courier New"/>
              </a:rPr>
              <a:t>(</a:t>
            </a:r>
            <a:r>
              <a:rPr lang="en" sz="1500">
                <a:solidFill>
                  <a:srgbClr val="001080"/>
                </a:solidFill>
                <a:highlight>
                  <a:srgbClr val="FFFFFE"/>
                </a:highlight>
                <a:latin typeface="Courier New"/>
                <a:ea typeface="Courier New"/>
                <a:cs typeface="Courier New"/>
                <a:sym typeface="Courier New"/>
              </a:rPr>
              <a:t>all_items</a:t>
            </a:r>
            <a:r>
              <a:rPr lang="en" sz="1500">
                <a:solidFill>
                  <a:schemeClr val="dk1"/>
                </a:solidFill>
                <a:highlight>
                  <a:srgbClr val="FFFFFE"/>
                </a:highlight>
                <a:latin typeface="Courier New"/>
                <a:ea typeface="Courier New"/>
                <a:cs typeface="Courier New"/>
                <a:sym typeface="Courier New"/>
              </a:rPr>
              <a:t>):</a:t>
            </a:r>
            <a:endParaRPr sz="150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 </a:t>
            </a:r>
            <a:r>
              <a:rPr lang="en" sz="1500">
                <a:solidFill>
                  <a:srgbClr val="AF00DB"/>
                </a:solidFill>
                <a:highlight>
                  <a:srgbClr val="FFFFFE"/>
                </a:highlight>
                <a:latin typeface="Courier New"/>
                <a:ea typeface="Courier New"/>
                <a:cs typeface="Courier New"/>
                <a:sym typeface="Courier New"/>
              </a:rPr>
              <a:t>for</a:t>
            </a:r>
            <a:r>
              <a:rPr lang="en" sz="1500">
                <a:solidFill>
                  <a:schemeClr val="dk1"/>
                </a:solidFill>
                <a:highlight>
                  <a:srgbClr val="FFFFFE"/>
                </a:highlight>
                <a:latin typeface="Courier New"/>
                <a:ea typeface="Courier New"/>
                <a:cs typeface="Courier New"/>
                <a:sym typeface="Courier New"/>
              </a:rPr>
              <a:t> item </a:t>
            </a:r>
            <a:r>
              <a:rPr lang="en" sz="1500">
                <a:solidFill>
                  <a:srgbClr val="0000FF"/>
                </a:solidFill>
                <a:highlight>
                  <a:srgbClr val="FFFFFE"/>
                </a:highlight>
                <a:latin typeface="Courier New"/>
                <a:ea typeface="Courier New"/>
                <a:cs typeface="Courier New"/>
                <a:sym typeface="Courier New"/>
              </a:rPr>
              <a:t>in</a:t>
            </a:r>
            <a:r>
              <a:rPr lang="en" sz="1500">
                <a:solidFill>
                  <a:schemeClr val="dk1"/>
                </a:solidFill>
                <a:highlight>
                  <a:srgbClr val="FFFFFE"/>
                </a:highlight>
                <a:latin typeface="Courier New"/>
                <a:ea typeface="Courier New"/>
                <a:cs typeface="Courier New"/>
                <a:sym typeface="Courier New"/>
              </a:rPr>
              <a:t> </a:t>
            </a:r>
            <a:r>
              <a:rPr lang="en" sz="1500">
                <a:solidFill>
                  <a:srgbClr val="001080"/>
                </a:solidFill>
                <a:highlight>
                  <a:srgbClr val="FFFFFE"/>
                </a:highlight>
                <a:latin typeface="Courier New"/>
                <a:ea typeface="Courier New"/>
                <a:cs typeface="Courier New"/>
                <a:sym typeface="Courier New"/>
              </a:rPr>
              <a:t>all_items</a:t>
            </a:r>
            <a:r>
              <a:rPr lang="en" sz="1500">
                <a:solidFill>
                  <a:schemeClr val="dk1"/>
                </a:solidFill>
                <a:highlight>
                  <a:srgbClr val="FFFFFE"/>
                </a:highlight>
                <a:latin typeface="Courier New"/>
                <a:ea typeface="Courier New"/>
                <a:cs typeface="Courier New"/>
                <a:sym typeface="Courier New"/>
              </a:rPr>
              <a:t>:</a:t>
            </a:r>
            <a:endParaRPr sz="150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00">
                <a:solidFill>
                  <a:schemeClr val="dk1"/>
                </a:solidFill>
                <a:highlight>
                  <a:srgbClr val="FFFFFE"/>
                </a:highlight>
                <a:latin typeface="Courier New"/>
                <a:ea typeface="Courier New"/>
                <a:cs typeface="Courier New"/>
                <a:sym typeface="Courier New"/>
              </a:rPr>
              <a:t>   </a:t>
            </a:r>
            <a:r>
              <a:rPr lang="en" sz="1500">
                <a:solidFill>
                  <a:srgbClr val="AF00DB"/>
                </a:solidFill>
                <a:highlight>
                  <a:srgbClr val="FFFFFE"/>
                </a:highlight>
                <a:latin typeface="Courier New"/>
                <a:ea typeface="Courier New"/>
                <a:cs typeface="Courier New"/>
                <a:sym typeface="Courier New"/>
              </a:rPr>
              <a:t>return</a:t>
            </a:r>
            <a:r>
              <a:rPr lang="en" sz="1500">
                <a:solidFill>
                  <a:schemeClr val="dk1"/>
                </a:solidFill>
                <a:highlight>
                  <a:srgbClr val="FFFFFE"/>
                </a:highlight>
                <a:latin typeface="Courier New"/>
                <a:ea typeface="Courier New"/>
                <a:cs typeface="Courier New"/>
                <a:sym typeface="Courier New"/>
              </a:rPr>
              <a:t> item</a:t>
            </a:r>
            <a:endParaRPr sz="1500">
              <a:solidFill>
                <a:schemeClr val="dk1"/>
              </a:solidFill>
              <a:highlight>
                <a:srgbClr val="FFFFFE"/>
              </a:highlight>
              <a:latin typeface="Courier New"/>
              <a:ea typeface="Courier New"/>
              <a:cs typeface="Courier New"/>
              <a:sym typeface="Courier New"/>
            </a:endParaRPr>
          </a:p>
        </p:txBody>
      </p:sp>
      <p:sp>
        <p:nvSpPr>
          <p:cNvPr id="380" name="Google Shape;380;p51"/>
          <p:cNvSpPr txBox="1"/>
          <p:nvPr/>
        </p:nvSpPr>
        <p:spPr>
          <a:xfrm>
            <a:off x="2767725" y="1207875"/>
            <a:ext cx="3755100" cy="4155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500">
                <a:solidFill>
                  <a:srgbClr val="001080"/>
                </a:solidFill>
                <a:highlight>
                  <a:srgbClr val="FFFFFE"/>
                </a:highlight>
                <a:latin typeface="Courier New"/>
                <a:ea typeface="Courier New"/>
                <a:cs typeface="Courier New"/>
                <a:sym typeface="Courier New"/>
              </a:rPr>
              <a:t>a</a:t>
            </a:r>
            <a:r>
              <a:rPr b="1" lang="en" sz="1500">
                <a:solidFill>
                  <a:srgbClr val="001080"/>
                </a:solidFill>
                <a:highlight>
                  <a:srgbClr val="FFFFFE"/>
                </a:highlight>
                <a:latin typeface="Courier New"/>
                <a:ea typeface="Courier New"/>
                <a:cs typeface="Courier New"/>
                <a:sym typeface="Courier New"/>
              </a:rPr>
              <a:t>ll_items -&gt; [1, 2, 3, 4, 5]</a:t>
            </a:r>
            <a:endParaRPr b="1"/>
          </a:p>
        </p:txBody>
      </p:sp>
      <p:graphicFrame>
        <p:nvGraphicFramePr>
          <p:cNvPr id="381" name="Google Shape;381;p51"/>
          <p:cNvGraphicFramePr/>
          <p:nvPr/>
        </p:nvGraphicFramePr>
        <p:xfrm>
          <a:off x="1968825" y="3671290"/>
          <a:ext cx="3000000" cy="3000000"/>
        </p:xfrm>
        <a:graphic>
          <a:graphicData uri="http://schemas.openxmlformats.org/drawingml/2006/table">
            <a:tbl>
              <a:tblPr>
                <a:noFill/>
                <a:tableStyleId>{A79CA92D-E91C-4AF9-BA6C-B29E1A8C6FB0}</a:tableStyleId>
              </a:tblPr>
              <a:tblGrid>
                <a:gridCol w="798900"/>
              </a:tblGrid>
              <a:tr h="396200">
                <a:tc>
                  <a:txBody>
                    <a:bodyPr/>
                    <a:lstStyle/>
                    <a:p>
                      <a:pPr indent="0" lvl="0" marL="0" rtl="0" algn="ctr">
                        <a:spcBef>
                          <a:spcPts val="0"/>
                        </a:spcBef>
                        <a:spcAft>
                          <a:spcPts val="0"/>
                        </a:spcAft>
                        <a:buNone/>
                      </a:pPr>
                      <a:r>
                        <a:rPr b="1" lang="en"/>
                        <a:t>1</a:t>
                      </a:r>
                      <a:endParaRPr b="1"/>
                    </a:p>
                  </a:txBody>
                  <a:tcPr marT="91425" marB="91425" marR="91425" marL="91425"/>
                </a:tc>
              </a:tr>
            </a:tbl>
          </a:graphicData>
        </a:graphic>
      </p:graphicFrame>
      <p:graphicFrame>
        <p:nvGraphicFramePr>
          <p:cNvPr id="382" name="Google Shape;382;p51"/>
          <p:cNvGraphicFramePr/>
          <p:nvPr/>
        </p:nvGraphicFramePr>
        <p:xfrm>
          <a:off x="6605275" y="3100915"/>
          <a:ext cx="3000000" cy="3000000"/>
        </p:xfrm>
        <a:graphic>
          <a:graphicData uri="http://schemas.openxmlformats.org/drawingml/2006/table">
            <a:tbl>
              <a:tblPr>
                <a:noFill/>
                <a:tableStyleId>{A79CA92D-E91C-4AF9-BA6C-B29E1A8C6FB0}</a:tableStyleId>
              </a:tblPr>
              <a:tblGrid>
                <a:gridCol w="798900"/>
              </a:tblGrid>
              <a:tr h="396200">
                <a:tc>
                  <a:txBody>
                    <a:bodyPr/>
                    <a:lstStyle/>
                    <a:p>
                      <a:pPr indent="0" lvl="0" marL="0" rtl="0" algn="ctr">
                        <a:spcBef>
                          <a:spcPts val="0"/>
                        </a:spcBef>
                        <a:spcAft>
                          <a:spcPts val="0"/>
                        </a:spcAft>
                        <a:buNone/>
                      </a:pPr>
                      <a:r>
                        <a:rPr b="1" lang="en"/>
                        <a:t>1</a:t>
                      </a:r>
                      <a:endParaRPr b="1"/>
                    </a:p>
                  </a:txBody>
                  <a:tcPr marT="91425" marB="91425" marR="91425" marL="91425"/>
                </a:tc>
              </a:tr>
              <a:tr h="300500">
                <a:tc>
                  <a:txBody>
                    <a:bodyPr/>
                    <a:lstStyle/>
                    <a:p>
                      <a:pPr indent="0" lvl="0" marL="0" rtl="0" algn="ctr">
                        <a:spcBef>
                          <a:spcPts val="0"/>
                        </a:spcBef>
                        <a:spcAft>
                          <a:spcPts val="0"/>
                        </a:spcAft>
                        <a:buNone/>
                      </a:pPr>
                      <a:r>
                        <a:rPr b="1" lang="en"/>
                        <a:t>2</a:t>
                      </a:r>
                      <a:endParaRPr b="1"/>
                    </a:p>
                  </a:txBody>
                  <a:tcPr marT="91425" marB="91425" marR="91425" marL="91425"/>
                </a:tc>
              </a:tr>
              <a:tr h="300500">
                <a:tc>
                  <a:txBody>
                    <a:bodyPr/>
                    <a:lstStyle/>
                    <a:p>
                      <a:pPr indent="0" lvl="0" marL="0" rtl="0" algn="ctr">
                        <a:spcBef>
                          <a:spcPts val="0"/>
                        </a:spcBef>
                        <a:spcAft>
                          <a:spcPts val="0"/>
                        </a:spcAft>
                        <a:buNone/>
                      </a:pPr>
                      <a:r>
                        <a:rPr b="1" lang="en"/>
                        <a:t>3</a:t>
                      </a:r>
                      <a:endParaRPr b="1"/>
                    </a:p>
                  </a:txBody>
                  <a:tcPr marT="91425" marB="91425" marR="91425" marL="91425"/>
                </a:tc>
              </a:tr>
              <a:tr h="300500">
                <a:tc>
                  <a:txBody>
                    <a:bodyPr/>
                    <a:lstStyle/>
                    <a:p>
                      <a:pPr indent="0" lvl="0" marL="0" rtl="0" algn="ctr">
                        <a:spcBef>
                          <a:spcPts val="0"/>
                        </a:spcBef>
                        <a:spcAft>
                          <a:spcPts val="0"/>
                        </a:spcAft>
                        <a:buNone/>
                      </a:pPr>
                      <a:r>
                        <a:rPr b="1" lang="en"/>
                        <a:t>4</a:t>
                      </a:r>
                      <a:endParaRPr b="1"/>
                    </a:p>
                  </a:txBody>
                  <a:tcPr marT="91425" marB="91425" marR="91425" marL="91425"/>
                </a:tc>
              </a:tr>
              <a:tr h="166950">
                <a:tc>
                  <a:txBody>
                    <a:bodyPr/>
                    <a:lstStyle/>
                    <a:p>
                      <a:pPr indent="0" lvl="0" marL="0" rtl="0" algn="ctr">
                        <a:spcBef>
                          <a:spcPts val="0"/>
                        </a:spcBef>
                        <a:spcAft>
                          <a:spcPts val="0"/>
                        </a:spcAft>
                        <a:buNone/>
                      </a:pPr>
                      <a:r>
                        <a:rPr b="1" lang="en"/>
                        <a:t>5</a:t>
                      </a:r>
                      <a:endParaRPr b="1"/>
                    </a:p>
                  </a:txBody>
                  <a:tcPr marT="91425" marB="91425" marR="91425" marL="91425"/>
                </a:tc>
              </a:tr>
            </a:tbl>
          </a:graphicData>
        </a:graphic>
      </p:graphicFrame>
      <p:sp>
        <p:nvSpPr>
          <p:cNvPr id="383" name="Google Shape;383;p51"/>
          <p:cNvSpPr txBox="1"/>
          <p:nvPr/>
        </p:nvSpPr>
        <p:spPr>
          <a:xfrm>
            <a:off x="750425" y="3669300"/>
            <a:ext cx="109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Montserrat"/>
                <a:ea typeface="Montserrat"/>
                <a:cs typeface="Montserrat"/>
                <a:sym typeface="Montserrat"/>
              </a:rPr>
              <a:t>Output</a:t>
            </a:r>
            <a:endParaRPr b="1">
              <a:latin typeface="Montserrat"/>
              <a:ea typeface="Montserrat"/>
              <a:cs typeface="Montserrat"/>
              <a:sym typeface="Montserrat"/>
            </a:endParaRPr>
          </a:p>
        </p:txBody>
      </p:sp>
      <p:sp>
        <p:nvSpPr>
          <p:cNvPr id="384" name="Google Shape;384;p51"/>
          <p:cNvSpPr txBox="1"/>
          <p:nvPr/>
        </p:nvSpPr>
        <p:spPr>
          <a:xfrm>
            <a:off x="4954400" y="3839525"/>
            <a:ext cx="109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Montserrat"/>
                <a:ea typeface="Montserrat"/>
                <a:cs typeface="Montserrat"/>
                <a:sym typeface="Montserrat"/>
              </a:rPr>
              <a:t>Output</a:t>
            </a:r>
            <a:endParaRPr b="1">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1000"/>
                                        <p:tgtEl>
                                          <p:spTgt spid="3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1000"/>
                                        <p:tgtEl>
                                          <p:spTgt spid="381"/>
                                        </p:tgtEl>
                                      </p:cBhvr>
                                    </p:animEffect>
                                  </p:childTnLst>
                                </p:cTn>
                              </p:par>
                              <p:par>
                                <p:cTn fill="hold" nodeType="with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1000"/>
                                        <p:tgtEl>
                                          <p:spTgt spid="3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1000"/>
                                        <p:tgtEl>
                                          <p:spTgt spid="3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1000"/>
                                        <p:tgtEl>
                                          <p:spTgt spid="382"/>
                                        </p:tgtEl>
                                      </p:cBhvr>
                                    </p:animEffect>
                                  </p:childTnLst>
                                </p:cTn>
                              </p:par>
                              <p:par>
                                <p:cTn fill="hold" nodeType="with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1000"/>
                                        <p:tgtEl>
                                          <p:spTgt spid="3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2"/>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Code Demo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3A3A3A"/>
      </a:dk2>
      <a:lt2>
        <a:srgbClr val="4E4F50"/>
      </a:lt2>
      <a:accent1>
        <a:srgbClr val="2074B9"/>
      </a:accent1>
      <a:accent2>
        <a:srgbClr val="58A4E2"/>
      </a:accent2>
      <a:accent3>
        <a:srgbClr val="2EBFCA"/>
      </a:accent3>
      <a:accent4>
        <a:srgbClr val="FDBA4D"/>
      </a:accent4>
      <a:accent5>
        <a:srgbClr val="8BB762"/>
      </a:accent5>
      <a:accent6>
        <a:srgbClr val="E85B5B"/>
      </a:accent6>
      <a:hlink>
        <a:srgbClr val="2071B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