
<file path=[Content_Types].xml><?xml version="1.0" encoding="utf-8"?>
<Types xmlns="http://schemas.openxmlformats.org/package/2006/content-types">
  <Default Extension="wmf" ContentType="image/x-wmf"/>
  <Default Extension="png" ContentType="image/png"/>
  <Default Extension="xml" ContentType="application/xml"/>
  <Default Extension="jpeg" ContentType="image/jpeg"/>
  <Default Extension="rels" ContentType="application/vnd.openxmlformats-package.relationships+xml"/>
  <Default Extension="bin" ContentType="application/vnd.openxmlformats-officedocument.oleObject"/>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3.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1.xml" ContentType="application/vnd.openxmlformats-officedocument.presentationml.notesSlide+xml"/>
  <Override PartName="/ppt/notesSlides/notesSlide24.xml" ContentType="application/vnd.openxmlformats-officedocument.presentationml.notesSlide+xml"/>
  <Override PartName="/ppt/slides/slide27.xml" ContentType="application/vnd.openxmlformats-officedocument.presentationml.slide+xml"/>
  <Override PartName="/ppt/notesSlides/notesSlide17.xml" ContentType="application/vnd.openxmlformats-officedocument.presentationml.notesSlide+xml"/>
  <Override PartName="/ppt/slides/slide25.xml" ContentType="application/vnd.openxmlformats-officedocument.presentationml.slide+xml"/>
  <Override PartName="/ppt/slides/slide21.xml" ContentType="application/vnd.openxmlformats-officedocument.presentationml.slide+xml"/>
  <Override PartName="/ppt/slides/slide17.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22.xml" ContentType="application/vnd.openxmlformats-officedocument.presentationml.slide+xml"/>
  <Override PartName="/ppt/slides/slide1.xml" ContentType="application/vnd.openxmlformats-officedocument.presentationml.slide+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notesSlides/notesSlide28.xml" ContentType="application/vnd.openxmlformats-officedocument.presentationml.notesSlide+xml"/>
  <Override PartName="/ppt/slideLayouts/slideLayout15.xml" ContentType="application/vnd.openxmlformats-officedocument.presentationml.slideLayout+xml"/>
  <Override PartName="/ppt/slides/slide15.xml" ContentType="application/vnd.openxmlformats-officedocument.presentationml.slide+xml"/>
  <Override PartName="/ppt/slides/slide18.xml" ContentType="application/vnd.openxmlformats-officedocument.presentationml.slide+xml"/>
  <Override PartName="/ppt/slideLayouts/slideLayout13.xml" ContentType="application/vnd.openxmlformats-officedocument.presentationml.slideLayout+xml"/>
  <Override PartName="/ppt/notesSlides/notesSlide15.xml" ContentType="application/vnd.openxmlformats-officedocument.presentationml.notesSlide+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s/slide10.xml" ContentType="application/vnd.openxmlformats-officedocument.presentationml.slide+xml"/>
  <Override PartName="/ppt/slides/slide26.xml" ContentType="application/vnd.openxmlformats-officedocument.presentationml.slide+xml"/>
  <Override PartName="/ppt/slideLayouts/slideLayout17.xml" ContentType="application/vnd.openxmlformats-officedocument.presentationml.slideLayout+xml"/>
  <Override PartName="/ppt/slideLayouts/slideLayout10.xml" ContentType="application/vnd.openxmlformats-officedocument.presentationml.slideLayout+xml"/>
  <Override PartName="/ppt/slides/slide24.xml" ContentType="application/vnd.openxmlformats-officedocument.presentationml.slide+xml"/>
  <Override PartName="/ppt/slideLayouts/slideLayout20.xml" ContentType="application/vnd.openxmlformats-officedocument.presentationml.slideLayout+xml"/>
  <Override PartName="/ppt/slideLayouts/slideLayout8.xml" ContentType="application/vnd.openxmlformats-officedocument.presentationml.slideLayout+xml"/>
  <Override PartName="/ppt/notesSlides/notesSlide4.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slideLayouts/slideLayout16.xml" ContentType="application/vnd.openxmlformats-officedocument.presentationml.slideLayout+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notesSlides/notesSlide6.xml" ContentType="application/vnd.openxmlformats-officedocument.presentationml.notesSlide+xml"/>
  <Override PartName="/ppt/slideLayouts/slideLayout2.xml" ContentType="application/vnd.openxmlformats-officedocument.presentationml.slideLayout+xml"/>
  <Override PartName="/ppt/slideLayouts/slideLayout7.xml" ContentType="application/vnd.openxmlformats-officedocument.presentationml.slideLayout+xml"/>
  <Override PartName="/ppt/slides/slide16.xml" ContentType="application/vnd.openxmlformats-officedocument.presentationml.slide+xml"/>
  <Override PartName="/ppt/notesSlides/notesSlide12.xml" ContentType="application/vnd.openxmlformats-officedocument.presentationml.notesSlide+xml"/>
  <Override PartName="/ppt/slideLayouts/slideLayout1.xml" ContentType="application/vnd.openxmlformats-officedocument.presentationml.slideLayout+xml"/>
  <Override PartName="/ppt/slides/slide12.xml" ContentType="application/vnd.openxmlformats-officedocument.presentationml.slide+xml"/>
  <Override PartName="/ppt/notesMasters/notesMaster1.xml" ContentType="application/vnd.openxmlformats-officedocument.presentationml.notesMaster+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slides/slide23.xml" ContentType="application/vnd.openxmlformats-officedocument.presentationml.slide+xml"/>
  <Override PartName="/ppt/theme/theme1.xml" ContentType="application/vnd.openxmlformats-officedocument.theme+xml"/>
  <Override PartName="/docProps/app.xml" ContentType="application/vnd.openxmlformats-officedocument.extended-properties+xml"/>
  <Override PartName="/ppt/tableStyles.xml" ContentType="application/vnd.openxmlformats-officedocument.presentationml.tableStyles+xml"/>
  <Override PartName="/ppt/notesSlides/notesSlide2.xml" ContentType="application/vnd.openxmlformats-officedocument.presentationml.notesSlide+xml"/>
  <Override PartName="/ppt/slideLayouts/slideLayout5.xml" ContentType="application/vnd.openxmlformats-officedocument.presentationml.slideLayout+xml"/>
  <Override PartName="/ppt/slides/slide20.xml" ContentType="application/vnd.openxmlformats-officedocument.presentationml.slide+xml"/>
  <Override PartName="/ppt/viewProps.xml" ContentType="application/vnd.openxmlformats-officedocument.presentationml.viewProps+xml"/>
  <Override PartName="/ppt/presProps.xml" ContentType="application/vnd.openxmlformats-officedocument.presentationml.presProps+xml"/>
  <Override PartName="/ppt/slideMasters/slideMaster1.xml" ContentType="application/vnd.openxmlformats-officedocument.presentationml.slideMaster+xml"/>
  <Override PartName="/ppt/notesSlides/notesSlide22.xml" ContentType="application/vnd.openxmlformats-officedocument.presentationml.notesSlide+xml"/>
  <Override PartName="/ppt/slideLayouts/slideLayout14.xml" ContentType="application/vnd.openxmlformats-officedocument.presentationml.slideLayout+xml"/>
  <Override PartName="/ppt/notesSlides/notesSlide25.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notesSlides/notesSlide3.xml" ContentType="application/vnd.openxmlformats-officedocument.presentationml.notesSlide+xml"/>
  <Override PartName="/ppt/presentation.xml" ContentType="application/vnd.openxmlformats-officedocument.presentationml.presentation.main+xml"/>
  <Override PartName="/ppt/slides/slide28.xml" ContentType="application/vnd.openxmlformats-officedocument.presentationml.slide+xml"/>
  <Override PartName="/ppt/notesSlides/notesSlide5.xml" ContentType="application/vnd.openxmlformats-officedocument.presentationml.notesSlide+xml"/>
  <Override PartName="/ppt/slideLayouts/slideLayout6.xml" ContentType="application/vnd.openxmlformats-officedocument.presentationml.slideLayout+xml"/>
  <Override PartName="/ppt/theme/theme2.xml" ContentType="application/vnd.openxmlformats-officedocument.theme+xml"/>
  <Override PartName="/ppt/slides/slide5.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embedTrueTypeFonts="1" saveSubsetFonts="1" strictFirstAndLastChars="0">
  <p:sldMasterIdLst>
    <p:sldMasterId id="2147483648" r:id="rId1"/>
  </p:sldMasterIdLst>
  <p:notesMasterIdLst>
    <p:notesMasterId r:id="rId3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Lst>
  <p:sldSz cx="9144000" cy="5143500"/>
  <p:notesSz cx="6858000" cy="9144000"/>
  <p:defaultTex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23B4C97F-715E-44B8-A5F5-295629336B74}">
  <a:tblStyle styleId="{23B4C97F-715E-44B8-A5F5-295629336B74}" styleName="Table_0">
    <a:wholeTbl>
      <a:tcTxStyle>
        <a:srgbClr val="000000"/>
      </a:tcTxStyle>
      <a:tcStyle>
        <a:tcBdr>
          <a:left>
            <a:ln>
              <a:noFill/>
            </a:ln>
          </a:left>
          <a:right>
            <a:ln>
              <a:noFill/>
            </a:ln>
          </a:right>
          <a:top>
            <a:ln>
              <a:noFill/>
            </a:ln>
          </a:top>
          <a:bottom>
            <a:ln>
              <a:noFill/>
            </a:ln>
          </a:bottom>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p:cViewPr>
        <p:scale>
          <a:sx n="0" d="0"/>
          <a:sy n="0" d="0"/>
        </p:scale>
        <p:origin x="0" y="0"/>
      </p:cViewPr>
      <p:guideLst>
        <p:guide pos="2880"/>
        <p:guide pos="1620" orient="horz"/>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notesMaster" Target="notesMasters/notesMaster1.xml"/><Relationship Id="rId33" Type="http://schemas.openxmlformats.org/officeDocument/2006/relationships/presProps" Target="presProps.xml" /><Relationship Id="rId34" Type="http://schemas.openxmlformats.org/officeDocument/2006/relationships/tableStyles" Target="tableStyles.xml" /><Relationship Id="rId35"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spTree>
      <p:nvGrpSpPr>
        <p:cNvPr id="1" name=""/>
        <p:cNvGrpSpPr/>
        <p:nvPr/>
      </p:nvGrpSpPr>
      <p:grpSpPr bwMode="auto">
        <a:xfrm>
          <a:off x="0" y="0"/>
          <a:ext cx="0" cy="0"/>
          <a:chOff x="0" y="0"/>
          <a:chExt cx="0" cy="0"/>
        </a:xfrm>
      </p:grpSpPr>
      <p:sp>
        <p:nvSpPr>
          <p:cNvPr id="3" name="Google Shape;3;n"/>
          <p:cNvSpPr/>
          <p:nvPr>
            <p:ph type="sldImg" idx="2"/>
          </p:nvPr>
        </p:nvSpPr>
        <p:spPr bwMode="auto">
          <a:xfrm>
            <a:off x="381300" y="685800"/>
            <a:ext cx="609607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2" name="Google Shape;112;p:notes"/>
          <p:cNvSpPr/>
          <p:nvPr>
            <p:ph type="sldImg" idx="2"/>
          </p:nvPr>
        </p:nvSpPr>
        <p:spPr bwMode="auto">
          <a:xfrm>
            <a:off x="381300" y="685800"/>
            <a:ext cx="609607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13" name="Google Shape;113;p: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r>
              <a:rPr lang="en"/>
              <a:t>Hello and welcome to this unit on Object-Oriented Programming. By now, you must have developed a robust programming concept and have hands on experience in Python programming language. In this unit we’ll dive into the paradigm of </a:t>
            </a:r>
            <a:r>
              <a:rPr lang="en"/>
              <a:t>object</a:t>
            </a:r>
            <a:r>
              <a:rPr lang="en"/>
              <a:t> oriented programming. </a:t>
            </a:r>
            <a:endParaRPr/>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7" name="Google Shape;117;gb9ce9180a6_0_12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18" name="Google Shape;118;gb9ce9180a6_0_121: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r>
              <a:rPr lang="en"/>
              <a:t>Let’s dive into the nuances of Object Oriented Programming. </a:t>
            </a:r>
            <a:endParaRP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2" name="Google Shape;122;gba8c8d554e_0_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23" name="Google Shape;123;gba8c8d554e_0_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r>
              <a:rPr lang="en"/>
              <a:t>The essence of object oriented </a:t>
            </a:r>
            <a:r>
              <a:rPr lang="en"/>
              <a:t>approach is to model the real world objects easily and sensibly. The physical world is replete with objects like cars, people and so on. Such objects are neither like data nor like functions. They have both attributes and behavior. For example a car has attributes like color, horsepower, speed etc and has behavior like accelerate, apply brake, blow horn etc. The attributes can have values like blue for color, 362 horsepower and speed as indicated by the speedometer. The behavior shows the actions the object can take and can infer change in attributes. For instance, acceleration increases the speed of the car while applying brakes makes it stop. The bottom line is that a real world object has both data like attributes and function like behavior associated with it.</a:t>
            </a:r>
            <a:endParaRPr/>
          </a:p>
          <a:p>
            <a:pPr marL="0" lvl="0" indent="0" algn="l">
              <a:spcBef>
                <a:spcPts val="0"/>
              </a:spcBef>
              <a:spcAft>
                <a:spcPts val="0"/>
              </a:spcAft>
              <a:buNone/>
              <a:defRPr/>
            </a:pPr>
            <a:endParaRPr/>
          </a:p>
          <a:p>
            <a:pPr marL="0" lvl="0" indent="0" algn="l">
              <a:spcBef>
                <a:spcPts val="0"/>
              </a:spcBef>
              <a:spcAft>
                <a:spcPts val="0"/>
              </a:spcAft>
              <a:buClr>
                <a:schemeClr val="dk1"/>
              </a:buClr>
              <a:buSzPts val="1100"/>
              <a:buFont typeface="Arial"/>
              <a:buNone/>
              <a:defRPr/>
            </a:pPr>
            <a:endParaRPr/>
          </a:p>
          <a:p>
            <a:pPr marL="0" lvl="0" indent="0" algn="l">
              <a:spcBef>
                <a:spcPts val="0"/>
              </a:spcBef>
              <a:spcAft>
                <a:spcPts val="0"/>
              </a:spcAft>
              <a:buClr>
                <a:schemeClr val="dk1"/>
              </a:buClr>
              <a:buSzPts val="1100"/>
              <a:buFont typeface="Arial"/>
              <a:buNone/>
              <a:defRPr/>
            </a:pPr>
            <a:r>
              <a:rPr lang="en"/>
              <a:t>Attributes</a:t>
            </a:r>
            <a:endParaRPr/>
          </a:p>
          <a:p>
            <a:pPr marL="0" lvl="0" indent="0" algn="l">
              <a:spcBef>
                <a:spcPts val="0"/>
              </a:spcBef>
              <a:spcAft>
                <a:spcPts val="0"/>
              </a:spcAft>
              <a:buClr>
                <a:schemeClr val="dk1"/>
              </a:buClr>
              <a:buSzPts val="1100"/>
              <a:buFont typeface="Arial"/>
              <a:buNone/>
              <a:defRPr/>
            </a:pPr>
            <a:r>
              <a:rPr lang="en"/>
              <a:t>Examples of attributes (sometimes called characteristics) are, for people, eye color</a:t>
            </a:r>
            <a:endParaRPr/>
          </a:p>
          <a:p>
            <a:pPr marL="0" lvl="0" indent="0" algn="l">
              <a:spcBef>
                <a:spcPts val="0"/>
              </a:spcBef>
              <a:spcAft>
                <a:spcPts val="0"/>
              </a:spcAft>
              <a:buClr>
                <a:schemeClr val="dk1"/>
              </a:buClr>
              <a:buSzPts val="1100"/>
              <a:buFont typeface="Arial"/>
              <a:buNone/>
              <a:defRPr/>
            </a:pPr>
            <a:r>
              <a:rPr lang="en"/>
              <a:t>and job title; and, for cars, horsepower and number of doors. As it turns out, attributes</a:t>
            </a:r>
            <a:endParaRPr/>
          </a:p>
          <a:p>
            <a:pPr marL="0" lvl="0" indent="0" algn="l">
              <a:spcBef>
                <a:spcPts val="0"/>
              </a:spcBef>
              <a:spcAft>
                <a:spcPts val="0"/>
              </a:spcAft>
              <a:buClr>
                <a:schemeClr val="dk1"/>
              </a:buClr>
              <a:buSzPts val="1100"/>
              <a:buFont typeface="Arial"/>
              <a:buNone/>
              <a:defRPr/>
            </a:pPr>
            <a:r>
              <a:rPr lang="en"/>
              <a:t>in the real world are equivalent to data in a program: they have certain specific values, such as blue (for eye color) or four (for the number of doors).</a:t>
            </a:r>
            <a:endParaRPr/>
          </a:p>
          <a:p>
            <a:pPr marL="0" lvl="0" indent="0" algn="l">
              <a:spcBef>
                <a:spcPts val="0"/>
              </a:spcBef>
              <a:spcAft>
                <a:spcPts val="0"/>
              </a:spcAft>
              <a:buClr>
                <a:schemeClr val="dk1"/>
              </a:buClr>
              <a:buSzPts val="1100"/>
              <a:buFont typeface="Arial"/>
              <a:buNone/>
              <a:defRPr/>
            </a:pPr>
            <a:r>
              <a:rPr lang="en"/>
              <a:t>Behavior</a:t>
            </a:r>
            <a:endParaRPr/>
          </a:p>
          <a:p>
            <a:pPr marL="0" lvl="0" indent="0" algn="l">
              <a:spcBef>
                <a:spcPts val="0"/>
              </a:spcBef>
              <a:spcAft>
                <a:spcPts val="0"/>
              </a:spcAft>
              <a:buClr>
                <a:schemeClr val="dk1"/>
              </a:buClr>
              <a:buSzPts val="1100"/>
              <a:buFont typeface="Arial"/>
              <a:buNone/>
              <a:defRPr/>
            </a:pPr>
            <a:r>
              <a:rPr lang="en"/>
              <a:t>Behavior is something a real-world object does in response to some stimulus. If you</a:t>
            </a:r>
            <a:endParaRPr/>
          </a:p>
          <a:p>
            <a:pPr marL="0" lvl="0" indent="0" algn="l">
              <a:spcBef>
                <a:spcPts val="0"/>
              </a:spcBef>
              <a:spcAft>
                <a:spcPts val="0"/>
              </a:spcAft>
              <a:buClr>
                <a:schemeClr val="dk1"/>
              </a:buClr>
              <a:buSzPts val="1100"/>
              <a:buFont typeface="Arial"/>
              <a:buNone/>
              <a:defRPr/>
            </a:pPr>
            <a:r>
              <a:rPr lang="en"/>
              <a:t>ask your boss for a raise, he or she will generally say yes or no. If you apply the brakes in a</a:t>
            </a:r>
            <a:endParaRPr/>
          </a:p>
          <a:p>
            <a:pPr marL="0" lvl="0" indent="0" algn="l">
              <a:spcBef>
                <a:spcPts val="0"/>
              </a:spcBef>
              <a:spcAft>
                <a:spcPts val="0"/>
              </a:spcAft>
              <a:buClr>
                <a:schemeClr val="dk1"/>
              </a:buClr>
              <a:buSzPts val="1100"/>
              <a:buFont typeface="Arial"/>
              <a:buNone/>
              <a:defRPr/>
            </a:pPr>
            <a:r>
              <a:rPr lang="en"/>
              <a:t>car, it will generally stop. Saying something and stopping are examples of behavior.</a:t>
            </a:r>
            <a:endParaRPr/>
          </a:p>
          <a:p>
            <a:pPr marL="0" lvl="0" indent="0" algn="l">
              <a:spcBef>
                <a:spcPts val="0"/>
              </a:spcBef>
              <a:spcAft>
                <a:spcPts val="0"/>
              </a:spcAft>
              <a:buClr>
                <a:schemeClr val="dk1"/>
              </a:buClr>
              <a:buSzPts val="1100"/>
              <a:buFont typeface="Arial"/>
              <a:buNone/>
              <a:defRPr/>
            </a:pPr>
            <a:r>
              <a:rPr lang="en"/>
              <a:t>Behavior is like a function: you call a function to do something (display the inventory,</a:t>
            </a:r>
            <a:endParaRPr/>
          </a:p>
          <a:p>
            <a:pPr marL="0" lvl="0" indent="0" algn="l">
              <a:spcBef>
                <a:spcPts val="0"/>
              </a:spcBef>
              <a:spcAft>
                <a:spcPts val="0"/>
              </a:spcAft>
              <a:buClr>
                <a:schemeClr val="dk1"/>
              </a:buClr>
              <a:buSzPts val="1100"/>
              <a:buFont typeface="Arial"/>
              <a:buNone/>
              <a:defRPr/>
            </a:pPr>
            <a:r>
              <a:rPr lang="en"/>
              <a:t>for example) and it does it.</a:t>
            </a:r>
            <a:endParaRPr/>
          </a:p>
          <a:p>
            <a:pPr marL="0" lvl="0" indent="0" algn="l">
              <a:spcBef>
                <a:spcPts val="0"/>
              </a:spcBef>
              <a:spcAft>
                <a:spcPts val="0"/>
              </a:spcAft>
              <a:buClr>
                <a:schemeClr val="dk1"/>
              </a:buClr>
              <a:buSzPts val="1100"/>
              <a:buFont typeface="Arial"/>
              <a:buNone/>
              <a:defRPr/>
            </a:pPr>
            <a:r>
              <a:rPr lang="en"/>
              <a:t>So neither data nor functions, by themselves alone model real-world objects effectively</a:t>
            </a:r>
            <a:endParaRP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2" name="Google Shape;132;gba8c8d554e_0_656: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33" name="Google Shape;133;gba8c8d554e_0_656: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r>
              <a:rPr lang="en"/>
              <a:t>OOP takes this idea that data like attributes and functions like behavior are part of a real world object. Thus, the central idea is to combine data and functions that operate on the data into a single unit. This single unit is called an object. </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a:t>
            </a:r>
            <a:r>
              <a:rPr lang="en">
                <a:solidFill>
                  <a:schemeClr val="dk1"/>
                </a:solidFill>
              </a:rPr>
              <a:t>c</a:t>
            </a:r>
            <a:r>
              <a:rPr lang="en"/>
              <a:t>k]</a:t>
            </a:r>
            <a:endParaRPr/>
          </a:p>
          <a:p>
            <a:pPr marL="0" lvl="0" indent="0" algn="l">
              <a:spcBef>
                <a:spcPts val="0"/>
              </a:spcBef>
              <a:spcAft>
                <a:spcPts val="0"/>
              </a:spcAft>
              <a:buNone/>
              <a:defRPr/>
            </a:pPr>
            <a:endParaRPr/>
          </a:p>
          <a:p>
            <a:pPr marL="0" lvl="0" indent="0" algn="l">
              <a:spcBef>
                <a:spcPts val="0"/>
              </a:spcBef>
              <a:spcAft>
                <a:spcPts val="0"/>
              </a:spcAft>
              <a:buNone/>
              <a:defRPr/>
            </a:pPr>
            <a:r>
              <a:rPr lang="en">
                <a:solidFill>
                  <a:schemeClr val="dk1"/>
                </a:solidFill>
              </a:rPr>
              <a:t>Let’s look into a car object. The car object may be gray in color with horsepower of 362 and speed 60 miles per hour. These color, horsepower and speed are attributes or the data associated with the car. Similarly, `accelerate()`, `apply_brakes()` and `blow_horn()` define the car object’s behavior. We call them the object’s methods or member functions.  </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7" name="Google Shape;147;gbad04a3268_0_52: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48" name="Google Shape;148;gbad04a3268_0_52: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Clr>
                <a:schemeClr val="dk1"/>
              </a:buClr>
              <a:buSzPts val="1100"/>
              <a:buFont typeface="Arial"/>
              <a:buNone/>
              <a:defRPr/>
            </a:pPr>
            <a:r>
              <a:rPr lang="en">
                <a:solidFill>
                  <a:schemeClr val="dk1"/>
                </a:solidFill>
              </a:rPr>
              <a:t>When it comes to OOP, two terms: class and object are pronounced highly. Let’s talk about these two terms here.</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[Click]</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A class is a blueprint for an object. It is a definition. </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[Click]</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On the other hand an object is an instance of a class. Let’s see an example to understand what it really means.</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[Click]</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Let’s use our previous example of car. We can define this class to have three attributes: color, horsepower and speed. And the class has three methods `accelerate()`, `apply_brakes()` and `blow_horn()`. The class defines the basic nature of a car. Any object that instantiates this class definition is a car object or car instance. </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[Click]</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For example, car object 1 is an instantiation of car class. Its instance variables or attributes have values. For example, it can have black color, 429 as horsepower and a speed of 70 miles per hour. And this object has the methods as defined in the car class. We can have many other cars which instances of the car class.</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[Click] </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Car object 2 can be another such car. Its attributes have different values. This second object can have gray color, 362 horsepower and a speed of 60 miles per hour. And this object has the methods as defined in its blueprint i.e. the car class. To summarize, a class defines the attributes and methods and acts as a blueprint and Many objects can be instantiated from this class with different values for attributes.</a:t>
            </a:r>
            <a:endParaRPr>
              <a:solidFill>
                <a:schemeClr val="dk1"/>
              </a:solidFill>
            </a:endParaRPr>
          </a:p>
          <a:p>
            <a:pPr marL="0" lvl="0" indent="0" algn="l">
              <a:spcBef>
                <a:spcPts val="0"/>
              </a:spcBef>
              <a:spcAft>
                <a:spcPts val="0"/>
              </a:spcAft>
              <a:buNone/>
              <a:defRPr/>
            </a:pPr>
            <a:endParaRPr/>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9" name="Google Shape;179;gb9ce9180a6_0_126: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80" name="Google Shape;180;gb9ce9180a6_0_126: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r>
              <a:rPr lang="en"/>
              <a:t>Let’s talk about unified modeling language. UML, short for Unified Modeling Language, is a standardized modeling language consisting of an integrated set of diagrams, developed to help system and software developers for specifying, visualizing, constructing, and documenting the artifacts of software systems, as well as for business modeling and other non-software systems. The UML is a very important part of developing object oriented software and the software development process. Using the UML helps project teams communicate, explore potential designs, and validate the architectural design of the software. We’ll learn to represent class and instances mainly for now. </a:t>
            </a:r>
            <a:endParaRPr/>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4" name="Google Shape;184;gbad04a3268_0_87: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85" name="Google Shape;185;gbad04a3268_0_87: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r>
              <a:rPr lang="en"/>
              <a:t>Here’s how we represent class in UML diagram.</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[Click]</a:t>
            </a:r>
            <a:endParaRPr/>
          </a:p>
          <a:p>
            <a:pPr marL="0" lvl="0" indent="0" algn="l">
              <a:spcBef>
                <a:spcPts val="0"/>
              </a:spcBef>
              <a:spcAft>
                <a:spcPts val="0"/>
              </a:spcAft>
              <a:buNone/>
              <a:defRPr/>
            </a:pPr>
            <a:endParaRPr/>
          </a:p>
          <a:p>
            <a:pPr marL="0" lvl="0" indent="0" algn="l">
              <a:spcBef>
                <a:spcPts val="0"/>
              </a:spcBef>
              <a:spcAft>
                <a:spcPts val="0"/>
              </a:spcAft>
              <a:buNone/>
              <a:defRPr/>
            </a:pPr>
            <a:r>
              <a:rPr lang="en"/>
              <a:t>The top row gives the name of the class. Here the class name is Rectangle.</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[Click]</a:t>
            </a:r>
            <a:endParaRPr/>
          </a:p>
          <a:p>
            <a:pPr marL="0" lvl="0" indent="0" algn="l">
              <a:spcBef>
                <a:spcPts val="0"/>
              </a:spcBef>
              <a:spcAft>
                <a:spcPts val="0"/>
              </a:spcAft>
              <a:buNone/>
              <a:defRPr/>
            </a:pPr>
            <a:endParaRPr/>
          </a:p>
          <a:p>
            <a:pPr marL="0" lvl="0" indent="0" algn="l">
              <a:spcBef>
                <a:spcPts val="0"/>
              </a:spcBef>
              <a:spcAft>
                <a:spcPts val="0"/>
              </a:spcAft>
              <a:buNone/>
              <a:defRPr/>
            </a:pPr>
            <a:r>
              <a:rPr lang="en"/>
              <a:t>Then, there’s the region of attributes. Here the attributes for Rectangle class are length and breadth.</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[Click]</a:t>
            </a:r>
            <a:endParaRPr/>
          </a:p>
          <a:p>
            <a:pPr marL="0" lvl="0" indent="0" algn="l">
              <a:spcBef>
                <a:spcPts val="0"/>
              </a:spcBef>
              <a:spcAft>
                <a:spcPts val="0"/>
              </a:spcAft>
              <a:buNone/>
              <a:defRPr/>
            </a:pPr>
            <a:endParaRPr/>
          </a:p>
          <a:p>
            <a:pPr marL="0" lvl="0" indent="0" algn="l">
              <a:spcBef>
                <a:spcPts val="0"/>
              </a:spcBef>
              <a:spcAft>
                <a:spcPts val="0"/>
              </a:spcAft>
              <a:buNone/>
              <a:defRPr/>
            </a:pPr>
            <a:r>
              <a:rPr lang="en"/>
              <a:t>And, we put all the methods in the </a:t>
            </a:r>
            <a:r>
              <a:rPr lang="en"/>
              <a:t>third</a:t>
            </a:r>
            <a:r>
              <a:rPr lang="en"/>
              <a:t> box as here. The Rectangle class calculate area method here.</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[Click] </a:t>
            </a:r>
            <a:endParaRPr/>
          </a:p>
          <a:p>
            <a:pPr marL="0" lvl="0" indent="0" algn="l">
              <a:spcBef>
                <a:spcPts val="0"/>
              </a:spcBef>
              <a:spcAft>
                <a:spcPts val="0"/>
              </a:spcAft>
              <a:buNone/>
              <a:defRPr/>
            </a:pPr>
            <a:endParaRPr/>
          </a:p>
          <a:p>
            <a:pPr marL="0" lvl="0" indent="0" algn="l">
              <a:spcBef>
                <a:spcPts val="0"/>
              </a:spcBef>
              <a:spcAft>
                <a:spcPts val="0"/>
              </a:spcAft>
              <a:buNone/>
              <a:defRPr/>
            </a:pPr>
            <a:r>
              <a:rPr lang="en"/>
              <a:t>An instance of this class is shown in the right. We name this instance as rect. And the instance has values for the attributes: 40 for length and 30 for breadth. We show the values for the attributes in case of </a:t>
            </a:r>
            <a:r>
              <a:rPr lang="en"/>
              <a:t>instance</a:t>
            </a:r>
            <a:r>
              <a:rPr lang="en"/>
              <a:t> as here. This is an </a:t>
            </a:r>
            <a:r>
              <a:rPr lang="en"/>
              <a:t>instance</a:t>
            </a:r>
            <a:r>
              <a:rPr lang="en"/>
              <a:t> diagram.</a:t>
            </a:r>
            <a:endParaRPr/>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7" name="Google Shape;207;gb9ce9180a6_0_13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08" name="Google Shape;208;gb9ce9180a6_0_13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r>
              <a:rPr lang="en"/>
              <a:t>In this section, we’ll talk about class definition and instantiating class to create instances. </a:t>
            </a:r>
            <a:endParaRPr/>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12" name="Google Shape;212;gbb06d4a93e_0_1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13" name="Google Shape;213;gbb06d4a93e_0_11: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Clr>
                <a:schemeClr val="dk1"/>
              </a:buClr>
              <a:buSzPts val="1100"/>
              <a:buFont typeface="Arial"/>
              <a:buNone/>
              <a:defRPr/>
            </a:pPr>
            <a:r>
              <a:rPr lang="en">
                <a:solidFill>
                  <a:schemeClr val="dk1"/>
                </a:solidFill>
              </a:rPr>
              <a:t>On the left we have a UML diagram for a rectangle class and on the right we have the corresponding Python code. Let’s compare the two parts first and we’ll uncover each part of the code afterward.  </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[Click] </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The term Rectangle is the name of the class. While defining a python class, the first line will be class keyword followed by the class name which is Rectangle in this case. </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[Click]</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Similarly, the class has two attributes length and breadth as seen in the left UML diagram. In Python, we define attributes in a special function named `__init__()`. More about this special function will follow. You can see the attributes being initialized using the parameters.</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[Click]</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Finally, we define the methods as functions as shown here. The calculate_area function has the logic to calculate the area of rectangle. Now, we have a basic knowledge of how an abstract UML diagram is transformed into a python code. Let’s dive into a bit detailed exploration of this code next and we’ll also talk about some terms generally used in python. </a:t>
            </a:r>
            <a:endParaRPr>
              <a:solidFill>
                <a:schemeClr val="dk1"/>
              </a:solidFill>
            </a:endParaRPr>
          </a:p>
          <a:p>
            <a:pPr marL="0" lvl="0" indent="0" algn="l">
              <a:spcBef>
                <a:spcPts val="0"/>
              </a:spcBef>
              <a:spcAft>
                <a:spcPts val="0"/>
              </a:spcAft>
              <a:buNone/>
              <a:defRPr/>
            </a:pPr>
            <a:endParaRPr/>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37" name="Google Shape;237;gbad04a3268_0_92: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38" name="Google Shape;238;gbad04a3268_0_92: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r>
              <a:rPr lang="en"/>
              <a:t>Well, we have the class </a:t>
            </a:r>
            <a:r>
              <a:rPr lang="en"/>
              <a:t>definition</a:t>
            </a:r>
            <a:r>
              <a:rPr lang="en"/>
              <a:t> from the previous section here. The first line defines the name of the class. </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[Click]</a:t>
            </a:r>
            <a:endParaRPr/>
          </a:p>
          <a:p>
            <a:pPr marL="0" lvl="0" indent="0" algn="l">
              <a:spcBef>
                <a:spcPts val="0"/>
              </a:spcBef>
              <a:spcAft>
                <a:spcPts val="0"/>
              </a:spcAft>
              <a:buNone/>
              <a:defRPr/>
            </a:pPr>
            <a:endParaRPr/>
          </a:p>
          <a:p>
            <a:pPr marL="0" lvl="0" indent="0" algn="l">
              <a:spcBef>
                <a:spcPts val="0"/>
              </a:spcBef>
              <a:spcAft>
                <a:spcPts val="0"/>
              </a:spcAft>
              <a:buNone/>
              <a:defRPr/>
            </a:pPr>
            <a:r>
              <a:rPr lang="en"/>
              <a:t>Every class definition has a `class` keyword first. </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[Click]</a:t>
            </a:r>
            <a:endParaRPr/>
          </a:p>
          <a:p>
            <a:pPr marL="0" lvl="0" indent="0" algn="l">
              <a:spcBef>
                <a:spcPts val="0"/>
              </a:spcBef>
              <a:spcAft>
                <a:spcPts val="0"/>
              </a:spcAft>
              <a:buNone/>
              <a:defRPr/>
            </a:pPr>
            <a:endParaRPr/>
          </a:p>
          <a:p>
            <a:pPr marL="0" lvl="0" indent="0" algn="l">
              <a:spcBef>
                <a:spcPts val="0"/>
              </a:spcBef>
              <a:spcAft>
                <a:spcPts val="0"/>
              </a:spcAft>
              <a:buNone/>
              <a:defRPr/>
            </a:pPr>
            <a:r>
              <a:rPr lang="en"/>
              <a:t>It’s then followed by the name of the class, which is `Rectangle` in this case.</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[Click]</a:t>
            </a:r>
            <a:endParaRPr/>
          </a:p>
          <a:p>
            <a:pPr marL="0" lvl="0" indent="0" algn="l">
              <a:spcBef>
                <a:spcPts val="0"/>
              </a:spcBef>
              <a:spcAft>
                <a:spcPts val="0"/>
              </a:spcAft>
              <a:buNone/>
              <a:defRPr/>
            </a:pPr>
            <a:r>
              <a:rPr lang="en"/>
              <a:t> </a:t>
            </a:r>
            <a:endParaRPr/>
          </a:p>
          <a:p>
            <a:pPr marL="0" lvl="0" indent="0" algn="l">
              <a:spcBef>
                <a:spcPts val="0"/>
              </a:spcBef>
              <a:spcAft>
                <a:spcPts val="0"/>
              </a:spcAft>
              <a:buNone/>
              <a:defRPr/>
            </a:pPr>
            <a:r>
              <a:rPr lang="en"/>
              <a:t>Then, we define the methods in the class. Here we’ve defined two methods.</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[Click]</a:t>
            </a:r>
            <a:endParaRPr/>
          </a:p>
          <a:p>
            <a:pPr marL="0" lvl="0" indent="0" algn="l">
              <a:spcBef>
                <a:spcPts val="0"/>
              </a:spcBef>
              <a:spcAft>
                <a:spcPts val="0"/>
              </a:spcAft>
              <a:buNone/>
              <a:defRPr/>
            </a:pPr>
            <a:endParaRPr/>
          </a:p>
          <a:p>
            <a:pPr marL="0" lvl="0" indent="0" algn="l">
              <a:spcBef>
                <a:spcPts val="0"/>
              </a:spcBef>
              <a:spcAft>
                <a:spcPts val="0"/>
              </a:spcAft>
              <a:buNone/>
              <a:defRPr/>
            </a:pPr>
            <a:r>
              <a:rPr lang="en">
                <a:solidFill>
                  <a:schemeClr val="dk1"/>
                </a:solidFill>
              </a:rPr>
              <a:t>The first method `__init__` is a special method. It’s called initialization method. It’s called when any instance of the class is being created and is used to initialize the attributes of the instance.</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None/>
              <a:defRPr/>
            </a:pPr>
            <a:r>
              <a:rPr lang="en"/>
              <a:t>[Click]</a:t>
            </a:r>
            <a:endParaRPr/>
          </a:p>
          <a:p>
            <a:pPr marL="0" lvl="0" indent="0" algn="l">
              <a:spcBef>
                <a:spcPts val="0"/>
              </a:spcBef>
              <a:spcAft>
                <a:spcPts val="0"/>
              </a:spcAft>
              <a:buNone/>
              <a:defRPr/>
            </a:pPr>
            <a:endParaRPr/>
          </a:p>
          <a:p>
            <a:pPr marL="0" lvl="0" indent="0" algn="l">
              <a:spcBef>
                <a:spcPts val="0"/>
              </a:spcBef>
              <a:spcAft>
                <a:spcPts val="0"/>
              </a:spcAft>
              <a:buNone/>
              <a:defRPr/>
            </a:pPr>
            <a:r>
              <a:rPr lang="en"/>
              <a:t>Another function `</a:t>
            </a:r>
            <a:r>
              <a:rPr lang="en"/>
              <a:t>calculate_area()` is a normal method which implements the formula to calculate the area of rectangle. </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[Click]</a:t>
            </a:r>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None/>
              <a:defRPr/>
            </a:pPr>
            <a:r>
              <a:rPr lang="en">
                <a:solidFill>
                  <a:schemeClr val="dk1"/>
                </a:solidFill>
              </a:rPr>
              <a:t>You can see that the attributes: length and breadth of rectangle class here. The initialization function is conventionally taken as the function to define and initialize all the attributes of the instance. The attributes are initialized to some passed parameters or some default values depending on the logic. `self.length=length` creates an attribute for each instance. Here, `self` is an important variable that references the instance. </a:t>
            </a:r>
            <a:endParaRPr>
              <a:solidFill>
                <a:schemeClr val="dk1"/>
              </a:solidFill>
            </a:endParaRPr>
          </a:p>
          <a:p>
            <a:pPr marL="0" lvl="0" indent="0" algn="l">
              <a:spcBef>
                <a:spcPts val="0"/>
              </a:spcBef>
              <a:spcAft>
                <a:spcPts val="0"/>
              </a:spcAft>
              <a:buNone/>
              <a:defRPr/>
            </a:pPr>
            <a:endParaRPr>
              <a:solidFill>
                <a:schemeClr val="dk1"/>
              </a:solidFill>
            </a:endParaRPr>
          </a:p>
          <a:p>
            <a:pPr marL="0" lvl="0" indent="0" algn="l">
              <a:spcBef>
                <a:spcPts val="0"/>
              </a:spcBef>
              <a:spcAft>
                <a:spcPts val="0"/>
              </a:spcAft>
              <a:buNone/>
              <a:defRPr/>
            </a:pPr>
            <a:r>
              <a:rPr lang="en">
                <a:solidFill>
                  <a:schemeClr val="dk1"/>
                </a:solidFill>
              </a:rPr>
              <a:t>[Click]</a:t>
            </a:r>
            <a:endParaRPr>
              <a:solidFill>
                <a:schemeClr val="dk1"/>
              </a:solidFill>
            </a:endParaRPr>
          </a:p>
          <a:p>
            <a:pPr marL="0" lvl="0" indent="0" algn="l">
              <a:spcBef>
                <a:spcPts val="0"/>
              </a:spcBef>
              <a:spcAft>
                <a:spcPts val="0"/>
              </a:spcAft>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It’s passed as the first parameter to each method implicitly by the interpreter. This `self` variable references the instance of the class which we’re using. You can rename with any valid variable name. However, the name `self` is conventionally used in python. Next, let’s dive into code. We’ll unveil other basic topics in the code demo.</a:t>
            </a:r>
            <a:endParaRPr>
              <a:solidFill>
                <a:schemeClr val="dk1"/>
              </a:solidFill>
            </a:endParaRPr>
          </a:p>
          <a:p>
            <a:pPr marL="0" lvl="0" indent="0" algn="l">
              <a:spcBef>
                <a:spcPts val="0"/>
              </a:spcBef>
              <a:spcAft>
                <a:spcPts val="0"/>
              </a:spcAft>
              <a:buNone/>
              <a:defRPr/>
            </a:pPr>
            <a:endParaRPr/>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62" name="Google Shape;262;gbb3fd497a0_0_33: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63" name="Google Shape;263;gbb3fd497a0_0_33: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r>
              <a:rPr lang="en"/>
              <a:t>Well here's the code we discussed in the previous section. </a:t>
            </a:r>
            <a:endParaRPr/>
          </a:p>
          <a:p>
            <a:pPr marL="0" lvl="0" indent="0" algn="l">
              <a:spcBef>
                <a:spcPts val="0"/>
              </a:spcBef>
              <a:spcAft>
                <a:spcPts val="0"/>
              </a:spcAft>
              <a:buNone/>
              <a:defRPr/>
            </a:pPr>
            <a:endParaRPr/>
          </a:p>
          <a:p>
            <a:pPr marL="0" lvl="0" indent="0" algn="l">
              <a:spcBef>
                <a:spcPts val="0"/>
              </a:spcBef>
              <a:spcAft>
                <a:spcPts val="0"/>
              </a:spcAft>
              <a:buNone/>
              <a:defRPr/>
            </a:pPr>
            <a:r>
              <a:rPr lang="en"/>
              <a:t>Let's instantiate this Rectangle class.</a:t>
            </a:r>
            <a:endParaRPr/>
          </a:p>
          <a:p>
            <a:pPr marL="0" lvl="0" indent="0" algn="l">
              <a:spcBef>
                <a:spcPts val="0"/>
              </a:spcBef>
              <a:spcAft>
                <a:spcPts val="0"/>
              </a:spcAft>
              <a:buNone/>
              <a:defRPr/>
            </a:pPr>
            <a:endParaRPr/>
          </a:p>
          <a:p>
            <a:pPr marL="0" lvl="0" indent="0" algn="l">
              <a:spcBef>
                <a:spcPts val="0"/>
              </a:spcBef>
              <a:spcAft>
                <a:spcPts val="0"/>
              </a:spcAft>
              <a:buNone/>
              <a:defRPr/>
            </a:pPr>
            <a:r>
              <a:rPr lang="en"/>
              <a:t>This is how you do it. You call the class name with the arguments you want to pass. Here, we pass two values 4 and 3. The interpreter creates an instance of this class and then calls the __init__ function with the instance object as the first argument and other arguments as passed in the class name. After running the __init__ method returns the instance object which we assign to a variable named `rect1` here.</a:t>
            </a:r>
            <a:endParaRPr/>
          </a:p>
          <a:p>
            <a:pPr marL="0" lvl="0" indent="0" algn="l">
              <a:spcBef>
                <a:spcPts val="0"/>
              </a:spcBef>
              <a:spcAft>
                <a:spcPts val="0"/>
              </a:spcAft>
              <a:buNone/>
              <a:defRPr/>
            </a:pPr>
            <a:endParaRPr/>
          </a:p>
          <a:p>
            <a:pPr marL="0" lvl="0" indent="0" algn="l">
              <a:spcBef>
                <a:spcPts val="0"/>
              </a:spcBef>
              <a:spcAft>
                <a:spcPts val="0"/>
              </a:spcAft>
              <a:buNone/>
              <a:defRPr/>
            </a:pPr>
            <a:r>
              <a:rPr lang="en"/>
              <a:t>Let's use the instance object referenced by rect1 to access the attributes of the instance. We can do it using the dot notation i.e., &lt;instance_variable&gt;.&lt;attribute&gt;</a:t>
            </a:r>
            <a:endParaRPr/>
          </a:p>
          <a:p>
            <a:pPr marL="0" lvl="0" indent="0" algn="l">
              <a:spcBef>
                <a:spcPts val="0"/>
              </a:spcBef>
              <a:spcAft>
                <a:spcPts val="0"/>
              </a:spcAft>
              <a:buNone/>
              <a:defRPr/>
            </a:pPr>
            <a:endParaRPr/>
          </a:p>
          <a:p>
            <a:pPr marL="0" lvl="0" indent="0" algn="l">
              <a:spcBef>
                <a:spcPts val="0"/>
              </a:spcBef>
              <a:spcAft>
                <a:spcPts val="0"/>
              </a:spcAft>
              <a:buNone/>
              <a:defRPr/>
            </a:pPr>
            <a:r>
              <a:rPr lang="en"/>
              <a:t>We can print the values of length and breadth attributes of rect1 as here. rect1.length gives the value for length attribute of rect1 and rect1.breadth gives the value for the breadth attribute.</a:t>
            </a:r>
            <a:endParaRPr/>
          </a:p>
          <a:p>
            <a:pPr marL="0" lvl="0" indent="0" algn="l">
              <a:spcBef>
                <a:spcPts val="0"/>
              </a:spcBef>
              <a:spcAft>
                <a:spcPts val="0"/>
              </a:spcAft>
              <a:buNone/>
              <a:defRPr/>
            </a:pPr>
            <a:endParaRPr/>
          </a:p>
          <a:p>
            <a:pPr marL="0" lvl="0" indent="0" algn="l">
              <a:spcBef>
                <a:spcPts val="0"/>
              </a:spcBef>
              <a:spcAft>
                <a:spcPts val="0"/>
              </a:spcAft>
              <a:buNone/>
              <a:defRPr/>
            </a:pPr>
            <a:r>
              <a:rPr lang="en"/>
              <a:t>We can access the methods of the instance similarly. Here we access the calculate_area() function of rect1 object. Let's see what it prints.</a:t>
            </a:r>
            <a:endParaRPr/>
          </a:p>
          <a:p>
            <a:pPr marL="0" lvl="0" indent="0" algn="l">
              <a:spcBef>
                <a:spcPts val="0"/>
              </a:spcBef>
              <a:spcAft>
                <a:spcPts val="0"/>
              </a:spcAft>
              <a:buNone/>
              <a:defRPr/>
            </a:pPr>
            <a:endParaRPr/>
          </a:p>
          <a:p>
            <a:pPr marL="0" lvl="0" indent="0" algn="l">
              <a:spcBef>
                <a:spcPts val="0"/>
              </a:spcBef>
              <a:spcAft>
                <a:spcPts val="0"/>
              </a:spcAft>
              <a:buNone/>
              <a:defRPr/>
            </a:pPr>
            <a:r>
              <a:rPr lang="en"/>
              <a:t>It gives 12 which is 4 times 3 the area of our rect1 rectangle.</a:t>
            </a:r>
            <a:endParaRPr/>
          </a:p>
          <a:p>
            <a:pPr marL="0" lvl="0" indent="0" algn="l">
              <a:spcBef>
                <a:spcPts val="0"/>
              </a:spcBef>
              <a:spcAft>
                <a:spcPts val="0"/>
              </a:spcAft>
              <a:buNone/>
              <a:defRPr/>
            </a:pPr>
            <a:endParaRPr/>
          </a:p>
          <a:p>
            <a:pPr marL="0" lvl="0" indent="0" algn="l">
              <a:spcBef>
                <a:spcPts val="0"/>
              </a:spcBef>
              <a:spcAft>
                <a:spcPts val="0"/>
              </a:spcAft>
              <a:buNone/>
              <a:defRPr/>
            </a:pPr>
            <a:r>
              <a:rPr lang="en"/>
              <a:t>Now, let's experiment a little bit. Let's create two instances of Rectangle with same values for length and breadth; 11 and 7. </a:t>
            </a:r>
            <a:endParaRPr/>
          </a:p>
          <a:p>
            <a:pPr marL="0" lvl="0" indent="0" algn="l">
              <a:spcBef>
                <a:spcPts val="0"/>
              </a:spcBef>
              <a:spcAft>
                <a:spcPts val="0"/>
              </a:spcAft>
              <a:buNone/>
              <a:defRPr/>
            </a:pPr>
            <a:endParaRPr/>
          </a:p>
          <a:p>
            <a:pPr marL="0" lvl="0" indent="0" algn="l">
              <a:spcBef>
                <a:spcPts val="0"/>
              </a:spcBef>
              <a:spcAft>
                <a:spcPts val="0"/>
              </a:spcAft>
              <a:buNone/>
              <a:defRPr/>
            </a:pPr>
            <a:r>
              <a:rPr lang="en"/>
              <a:t>Let's check if rect1 and rect2 refer to same object since we have passed in same values for length and breadth for the instances. We can use the `is` operator to check.</a:t>
            </a:r>
            <a:endParaRPr/>
          </a:p>
          <a:p>
            <a:pPr marL="0" lvl="0" indent="0" algn="l">
              <a:spcBef>
                <a:spcPts val="0"/>
              </a:spcBef>
              <a:spcAft>
                <a:spcPts val="0"/>
              </a:spcAft>
              <a:buNone/>
              <a:defRPr/>
            </a:pPr>
            <a:endParaRPr/>
          </a:p>
          <a:p>
            <a:pPr marL="0" lvl="0" indent="0" algn="l">
              <a:spcBef>
                <a:spcPts val="0"/>
              </a:spcBef>
              <a:spcAft>
                <a:spcPts val="0"/>
              </a:spcAft>
              <a:buNone/>
              <a:defRPr/>
            </a:pPr>
            <a:r>
              <a:rPr lang="en"/>
              <a:t>False is printed meaning the two instances are different objects. </a:t>
            </a:r>
            <a:endParaRPr/>
          </a:p>
          <a:p>
            <a:pPr marL="0" lvl="0" indent="0" algn="l">
              <a:spcBef>
                <a:spcPts val="0"/>
              </a:spcBef>
              <a:spcAft>
                <a:spcPts val="0"/>
              </a:spcAft>
              <a:buNone/>
              <a:defRPr/>
            </a:pPr>
            <a:endParaRPr/>
          </a:p>
          <a:p>
            <a:pPr marL="0" lvl="0" indent="0" algn="l">
              <a:spcBef>
                <a:spcPts val="0"/>
              </a:spcBef>
              <a:spcAft>
                <a:spcPts val="0"/>
              </a:spcAft>
              <a:buNone/>
              <a:defRPr/>
            </a:pPr>
            <a:r>
              <a:rPr lang="en"/>
              <a:t>Let's check the data type of rect1. </a:t>
            </a:r>
            <a:endParaRPr/>
          </a:p>
          <a:p>
            <a:pPr marL="0" lvl="0" indent="0" algn="l">
              <a:spcBef>
                <a:spcPts val="0"/>
              </a:spcBef>
              <a:spcAft>
                <a:spcPts val="0"/>
              </a:spcAft>
              <a:buNone/>
              <a:defRPr/>
            </a:pPr>
            <a:endParaRPr/>
          </a:p>
          <a:p>
            <a:pPr marL="0" lvl="0" indent="0" algn="l">
              <a:spcBef>
                <a:spcPts val="0"/>
              </a:spcBef>
              <a:spcAft>
                <a:spcPts val="0"/>
              </a:spcAft>
              <a:buNone/>
              <a:defRPr/>
            </a:pPr>
            <a:r>
              <a:rPr lang="en"/>
              <a:t>It's returned to be a __main__.Rectangle which means Rectangle class in the main context. Note that the data type of an instance is the class from which the instance is created.</a:t>
            </a:r>
            <a:endParaRPr/>
          </a:p>
          <a:p>
            <a:pPr marL="0" lvl="0" indent="0" algn="l">
              <a:spcBef>
                <a:spcPts val="0"/>
              </a:spcBef>
              <a:spcAft>
                <a:spcPts val="0"/>
              </a:spcAft>
              <a:buNone/>
              <a:defRPr/>
            </a:pPr>
            <a:endParaRPr/>
          </a:p>
          <a:p>
            <a:pPr marL="0" lvl="0" indent="0" algn="l">
              <a:spcBef>
                <a:spcPts val="0"/>
              </a:spcBef>
              <a:spcAft>
                <a:spcPts val="0"/>
              </a:spcAft>
              <a:buNone/>
              <a:defRPr/>
            </a:pPr>
            <a:r>
              <a:rPr lang="en"/>
              <a:t>And one more thing that we need to understand is that everything is object in Python, even the class. For the Rectangle class, Rectangle represents the class object. We can get the class of any instance with __class__ attribute. Let's check if the __rect__ attribute is the same object as Rectangle class.</a:t>
            </a:r>
            <a:endParaRPr/>
          </a:p>
          <a:p>
            <a:pPr marL="0" lvl="0" indent="0" algn="l">
              <a:spcBef>
                <a:spcPts val="0"/>
              </a:spcBef>
              <a:spcAft>
                <a:spcPts val="0"/>
              </a:spcAft>
              <a:buNone/>
              <a:defRPr/>
            </a:pPr>
            <a:endParaRPr/>
          </a:p>
          <a:p>
            <a:pPr marL="0" lvl="0" indent="0" algn="l">
              <a:spcBef>
                <a:spcPts val="0"/>
              </a:spcBef>
              <a:spcAft>
                <a:spcPts val="0"/>
              </a:spcAft>
              <a:buNone/>
              <a:defRPr/>
            </a:pPr>
            <a:r>
              <a:rPr lang="en"/>
              <a:t>It gives True as output. </a:t>
            </a:r>
            <a:endParaRPr/>
          </a:p>
          <a:p>
            <a:pPr marL="0" lvl="0" indent="0" algn="l">
              <a:spcBef>
                <a:spcPts val="0"/>
              </a:spcBef>
              <a:spcAft>
                <a:spcPts val="0"/>
              </a:spcAft>
              <a:buNone/>
              <a:defRPr/>
            </a:pPr>
            <a:endParaRPr/>
          </a:p>
          <a:p>
            <a:pPr marL="0" lvl="0" indent="0" algn="l">
              <a:spcBef>
                <a:spcPts val="0"/>
              </a:spcBef>
              <a:spcAft>
                <a:spcPts val="0"/>
              </a:spcAft>
              <a:buNone/>
              <a:defRPr/>
            </a:pPr>
            <a:r>
              <a:rPr lang="en"/>
              <a:t>Similarly, we can check if rect1 is an instance of Rectangle with `isinstance()` function as shown here.</a:t>
            </a:r>
            <a:endParaRPr/>
          </a:p>
          <a:p>
            <a:pPr marL="0" lvl="0" indent="0" algn="l">
              <a:spcBef>
                <a:spcPts val="0"/>
              </a:spcBef>
              <a:spcAft>
                <a:spcPts val="0"/>
              </a:spcAft>
              <a:buNone/>
              <a:defRPr/>
            </a:pPr>
            <a:endParaRPr/>
          </a:p>
          <a:p>
            <a:pPr marL="0" lvl="0" indent="0" algn="l">
              <a:spcBef>
                <a:spcPts val="0"/>
              </a:spcBef>
              <a:spcAft>
                <a:spcPts val="0"/>
              </a:spcAft>
              <a:buNone/>
              <a:defRPr/>
            </a:pPr>
            <a:r>
              <a:rPr lang="en"/>
              <a:t>We said that, self object is the conventional variable name to represent the instance object and the interpreter implicitly passes it as the first argument to its methods. Let's verify it. We've added a `get_self()` method which returns the `self` object. </a:t>
            </a:r>
            <a:endParaRPr/>
          </a:p>
          <a:p>
            <a:pPr marL="0" lvl="0" indent="0" algn="l">
              <a:spcBef>
                <a:spcPts val="0"/>
              </a:spcBef>
              <a:spcAft>
                <a:spcPts val="0"/>
              </a:spcAft>
              <a:buNone/>
              <a:defRPr/>
            </a:pPr>
            <a:endParaRPr/>
          </a:p>
          <a:p>
            <a:pPr marL="0" lvl="0" indent="0" algn="l">
              <a:spcBef>
                <a:spcPts val="0"/>
              </a:spcBef>
              <a:spcAft>
                <a:spcPts val="0"/>
              </a:spcAft>
              <a:buNone/>
              <a:defRPr/>
            </a:pPr>
            <a:r>
              <a:rPr lang="en"/>
              <a:t>Let's instantiate the Rectangle class here. </a:t>
            </a:r>
            <a:endParaRPr/>
          </a:p>
          <a:p>
            <a:pPr marL="0" lvl="0" indent="0" algn="l">
              <a:spcBef>
                <a:spcPts val="0"/>
              </a:spcBef>
              <a:spcAft>
                <a:spcPts val="0"/>
              </a:spcAft>
              <a:buNone/>
              <a:defRPr/>
            </a:pPr>
            <a:endParaRPr/>
          </a:p>
          <a:p>
            <a:pPr marL="0" lvl="0" indent="0" algn="l">
              <a:spcBef>
                <a:spcPts val="0"/>
              </a:spcBef>
              <a:spcAft>
                <a:spcPts val="0"/>
              </a:spcAft>
              <a:buNone/>
              <a:defRPr/>
            </a:pPr>
            <a:r>
              <a:rPr lang="en"/>
              <a:t>Now let's check `self` object returned by rect.get_self() with `rect` itself. We use `is` operator again. It should return True if they reference the same object.</a:t>
            </a:r>
            <a:endParaRPr/>
          </a:p>
          <a:p>
            <a:pPr marL="0" lvl="0" indent="0" algn="l">
              <a:spcBef>
                <a:spcPts val="0"/>
              </a:spcBef>
              <a:spcAft>
                <a:spcPts val="0"/>
              </a:spcAft>
              <a:buNone/>
              <a:defRPr/>
            </a:pPr>
            <a:endParaRPr/>
          </a:p>
          <a:p>
            <a:pPr marL="0" lvl="0" indent="0" algn="l">
              <a:spcBef>
                <a:spcPts val="0"/>
              </a:spcBef>
              <a:spcAft>
                <a:spcPts val="0"/>
              </a:spcAft>
              <a:buNone/>
              <a:defRPr/>
            </a:pPr>
            <a:r>
              <a:rPr lang="en"/>
              <a:t>And it returns True indicating that the self object passed to each method references the instance of the class.</a:t>
            </a:r>
            <a:endParaRPr/>
          </a:p>
          <a:p>
            <a:pPr marL="0" lvl="0" indent="0" algn="l">
              <a:spcBef>
                <a:spcPts val="0"/>
              </a:spcBef>
              <a:spcAft>
                <a:spcPts val="0"/>
              </a:spcAft>
              <a:buNone/>
              <a:defRPr/>
            </a:pPr>
            <a:endParaRPr/>
          </a:p>
          <a:p>
            <a:pPr marL="0" lvl="0" indent="0" algn="l">
              <a:spcBef>
                <a:spcPts val="0"/>
              </a:spcBef>
              <a:spcAft>
                <a:spcPts val="0"/>
              </a:spcAft>
              <a:buNone/>
              <a:defRPr/>
            </a:pPr>
            <a:r>
              <a:rPr lang="en"/>
              <a:t>On the previous note, we can call the calculate_area function using the Rectangle class and pass the rect instance explicitly. Here since, we're calling the method from class and not from instance, we have to pass the instance object explicitly.</a:t>
            </a:r>
            <a:endParaRPr/>
          </a:p>
          <a:p>
            <a:pPr marL="0" lvl="0" indent="0" algn="l">
              <a:spcBef>
                <a:spcPts val="0"/>
              </a:spcBef>
              <a:spcAft>
                <a:spcPts val="0"/>
              </a:spcAft>
              <a:buNone/>
              <a:defRPr/>
            </a:pPr>
            <a:endParaRPr/>
          </a:p>
          <a:p>
            <a:pPr marL="0" lvl="0" indent="0" algn="l">
              <a:spcBef>
                <a:spcPts val="0"/>
              </a:spcBef>
              <a:spcAft>
                <a:spcPts val="0"/>
              </a:spcAft>
              <a:buNone/>
              <a:defRPr/>
            </a:pPr>
            <a:r>
              <a:rPr lang="en"/>
              <a:t>Calling this line of code gives the area of the rect instance.</a:t>
            </a:r>
            <a:endParaRPr/>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67" name="Google Shape;267;gbb06d4a93e_1_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68" name="Google Shape;268;gbb06d4a93e_1_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r>
              <a:rPr lang="en"/>
              <a:t>In the previous section, we talked about instance variables or attributes. Now, we’ll talk about class variables here. Similarly, we’ve talked about methods earlier. They are all instance methods and we simply call them methods. Now, let’s talk about some other methods: namely class method and </a:t>
            </a:r>
            <a:r>
              <a:rPr lang="en"/>
              <a:t>static</a:t>
            </a:r>
            <a:r>
              <a:rPr lang="en"/>
              <a:t> method. Let’s see with an example how we create these sort of methods and variables and then, we’ll discuss more into what these are and how they influence the programming logic.</a:t>
            </a:r>
            <a:endParaRPr/>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72" name="Google Shape;272;gbb06d4a93e_1_4: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73" name="Google Shape;273;gbb06d4a93e_1_4: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r>
              <a:rPr lang="en"/>
              <a:t>Here’s a code snippet that defines a Rectangle class. </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[Click]</a:t>
            </a:r>
            <a:endParaRPr/>
          </a:p>
          <a:p>
            <a:pPr marL="0" lvl="0" indent="0" algn="l">
              <a:spcBef>
                <a:spcPts val="0"/>
              </a:spcBef>
              <a:spcAft>
                <a:spcPts val="0"/>
              </a:spcAft>
              <a:buNone/>
              <a:defRPr/>
            </a:pPr>
            <a:endParaRPr/>
          </a:p>
          <a:p>
            <a:pPr marL="0" lvl="0" indent="0" algn="l">
              <a:spcBef>
                <a:spcPts val="0"/>
              </a:spcBef>
              <a:spcAft>
                <a:spcPts val="0"/>
              </a:spcAft>
              <a:buNone/>
              <a:defRPr/>
            </a:pPr>
            <a:r>
              <a:rPr lang="en"/>
              <a:t>We’ve created a class variable here named `counter`. </a:t>
            </a:r>
            <a:r>
              <a:rPr lang="en"/>
              <a:t>This</a:t>
            </a:r>
            <a:r>
              <a:rPr lang="en"/>
              <a:t> class variable `counter` is initialized to zero. This class </a:t>
            </a:r>
            <a:r>
              <a:rPr lang="en"/>
              <a:t>variable is an attribute of the class object. Note that everything is an object in Python and so is the class. Here, Rectangle is a class object and counter is its attribute. This class variable is accessible by all the instances. </a:t>
            </a:r>
            <a:r>
              <a:rPr lang="en"/>
              <a:t>It can be used to count the number of instances of Rectangle class created so far. </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[Click]</a:t>
            </a:r>
            <a:endParaRPr/>
          </a:p>
          <a:p>
            <a:pPr marL="0" lvl="0" indent="0" algn="l">
              <a:spcBef>
                <a:spcPts val="0"/>
              </a:spcBef>
              <a:spcAft>
                <a:spcPts val="0"/>
              </a:spcAft>
              <a:buNone/>
              <a:defRPr/>
            </a:pPr>
            <a:endParaRPr/>
          </a:p>
          <a:p>
            <a:pPr marL="0" lvl="0" indent="0" algn="l">
              <a:spcBef>
                <a:spcPts val="0"/>
              </a:spcBef>
              <a:spcAft>
                <a:spcPts val="0"/>
              </a:spcAft>
              <a:buNone/>
              <a:defRPr/>
            </a:pPr>
            <a:r>
              <a:rPr lang="en"/>
              <a:t>Now, let’s move on to methods. The first method is the initialization method which we had discussed earlier. It takes in the instance object `self` and creates attributes for the instance. Here length and breadth are the attributes. This method is an instance method. We can access the class variable using the class object which is Rectangle in this case. </a:t>
            </a:r>
            <a:r>
              <a:rPr lang="en"/>
              <a:t>However, the instance object too has access the class variable, hence, you can access using the `self` object.</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[Click]</a:t>
            </a:r>
            <a:endParaRPr/>
          </a:p>
          <a:p>
            <a:pPr marL="0" lvl="0" indent="0" algn="l">
              <a:spcBef>
                <a:spcPts val="0"/>
              </a:spcBef>
              <a:spcAft>
                <a:spcPts val="0"/>
              </a:spcAft>
              <a:buNone/>
              <a:defRPr/>
            </a:pPr>
            <a:endParaRPr/>
          </a:p>
          <a:p>
            <a:pPr marL="0" lvl="0" indent="0" algn="l">
              <a:spcBef>
                <a:spcPts val="0"/>
              </a:spcBef>
              <a:spcAft>
                <a:spcPts val="0"/>
              </a:spcAft>
              <a:buNone/>
              <a:defRPr/>
            </a:pPr>
            <a:r>
              <a:rPr lang="en"/>
              <a:t>Next on the line is the class method. We’ve defined a class method named `get_count()`. </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[Click]</a:t>
            </a:r>
            <a:endParaRPr/>
          </a:p>
          <a:p>
            <a:pPr marL="0" lvl="0" indent="0" algn="l">
              <a:spcBef>
                <a:spcPts val="0"/>
              </a:spcBef>
              <a:spcAft>
                <a:spcPts val="0"/>
              </a:spcAft>
              <a:buNone/>
              <a:defRPr/>
            </a:pPr>
            <a:endParaRPr/>
          </a:p>
          <a:p>
            <a:pPr marL="0" lvl="0" indent="0" algn="l">
              <a:spcBef>
                <a:spcPts val="0"/>
              </a:spcBef>
              <a:spcAft>
                <a:spcPts val="0"/>
              </a:spcAft>
              <a:buNone/>
              <a:defRPr/>
            </a:pPr>
            <a:r>
              <a:rPr lang="en"/>
              <a:t>We use the built-in `@classmethod` decorator to denote a classmethod. </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[Click]</a:t>
            </a:r>
            <a:endParaRPr/>
          </a:p>
          <a:p>
            <a:pPr marL="0" lvl="0" indent="0" algn="l">
              <a:spcBef>
                <a:spcPts val="0"/>
              </a:spcBef>
              <a:spcAft>
                <a:spcPts val="0"/>
              </a:spcAft>
              <a:buNone/>
              <a:defRPr/>
            </a:pPr>
            <a:endParaRPr/>
          </a:p>
          <a:p>
            <a:pPr marL="0" lvl="0" indent="0" algn="l">
              <a:spcBef>
                <a:spcPts val="0"/>
              </a:spcBef>
              <a:spcAft>
                <a:spcPts val="0"/>
              </a:spcAft>
              <a:buNone/>
              <a:defRPr/>
            </a:pPr>
            <a:r>
              <a:rPr lang="en"/>
              <a:t>Similar to `self` object in instance method, we name the first parameter as `cls` object and as for `self` object, we use any name for the variable. But we generally use `cls` as a convention. The `cls` object refers to the class object. It’d bound to class object only. Hence, it can access the class variables and class methods only. It cannot access the instance methods and instance variables.</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[Click] </a:t>
            </a:r>
            <a:endParaRPr/>
          </a:p>
          <a:p>
            <a:pPr marL="0" lvl="0" indent="0" algn="l">
              <a:spcBef>
                <a:spcPts val="0"/>
              </a:spcBef>
              <a:spcAft>
                <a:spcPts val="0"/>
              </a:spcAft>
              <a:buNone/>
              <a:defRPr/>
            </a:pPr>
            <a:endParaRPr/>
          </a:p>
          <a:p>
            <a:pPr marL="0" lvl="0" indent="0" algn="l">
              <a:spcBef>
                <a:spcPts val="0"/>
              </a:spcBef>
              <a:spcAft>
                <a:spcPts val="0"/>
              </a:spcAft>
              <a:buNone/>
              <a:defRPr/>
            </a:pPr>
            <a:r>
              <a:rPr lang="en"/>
              <a:t>Next is the static method. In contrast to class method and instance method, static method is not bound. Static method is like a any other normal function. </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[Click]</a:t>
            </a:r>
            <a:endParaRPr/>
          </a:p>
          <a:p>
            <a:pPr marL="0" lvl="0" indent="0" algn="l">
              <a:spcBef>
                <a:spcPts val="0"/>
              </a:spcBef>
              <a:spcAft>
                <a:spcPts val="0"/>
              </a:spcAft>
              <a:buNone/>
              <a:defRPr/>
            </a:pPr>
            <a:endParaRPr/>
          </a:p>
          <a:p>
            <a:pPr marL="0" lvl="0" indent="0" algn="l">
              <a:spcBef>
                <a:spcPts val="0"/>
              </a:spcBef>
              <a:spcAft>
                <a:spcPts val="0"/>
              </a:spcAft>
              <a:buNone/>
              <a:defRPr/>
            </a:pPr>
            <a:r>
              <a:rPr lang="en"/>
              <a:t>We use the built-in `@staticmethod` decorator to define a static method. </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[Click]</a:t>
            </a:r>
            <a:endParaRPr/>
          </a:p>
          <a:p>
            <a:pPr marL="0" lvl="0" indent="0" algn="l">
              <a:spcBef>
                <a:spcPts val="0"/>
              </a:spcBef>
              <a:spcAft>
                <a:spcPts val="0"/>
              </a:spcAft>
              <a:buNone/>
              <a:defRPr/>
            </a:pPr>
            <a:endParaRPr/>
          </a:p>
          <a:p>
            <a:pPr marL="0" lvl="0" indent="0" algn="l">
              <a:spcBef>
                <a:spcPts val="0"/>
              </a:spcBef>
              <a:spcAft>
                <a:spcPts val="0"/>
              </a:spcAft>
              <a:buNone/>
              <a:defRPr/>
            </a:pPr>
            <a:r>
              <a:rPr lang="en"/>
              <a:t> We don’t pass any class or instance object as the first parameter in the static method. Hence, we won’t be able to access any instance or class variables from static method. Static methods are like utility functions which work upon the parameters and don’t change the state of the class or instance. Let’s run some codes and we’ll explore more about these topics. </a:t>
            </a:r>
            <a:endParaRPr/>
          </a:p>
          <a:p>
            <a:pPr marL="0" lvl="0" indent="0" algn="l">
              <a:spcBef>
                <a:spcPts val="0"/>
              </a:spcBef>
              <a:spcAft>
                <a:spcPts val="0"/>
              </a:spcAft>
              <a:buNone/>
              <a:defRPr/>
            </a:pPr>
            <a:endParaRPr/>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04" name="Google Shape;304;gbb3fd497a0_0_27: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305" name="Google Shape;305;gbb3fd497a0_0_27: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Clr>
                <a:schemeClr val="dk1"/>
              </a:buClr>
              <a:buSzPts val="1100"/>
              <a:buFont typeface="Arial"/>
              <a:buNone/>
              <a:defRPr/>
            </a:pPr>
            <a:r>
              <a:rPr lang="en">
                <a:solidFill>
                  <a:schemeClr val="dk1"/>
                </a:solidFill>
              </a:rPr>
              <a:t>Here's the same code we discussed in the earlier section. Let's play around with this code in the coding environment and discover more about class variables, class methods and static methods. Since this is the same code we talked about earlier, let's move into creating instances of this class. </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Let's create two instances of the Rectangle class with length and breadth equal to 4 and 3, and 20 and 10.  </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Let's look at how we can access the class variables. We have defined a class variable named `counter` in `Rectangle` class, which counts the number of Rectangle instances created. We have two options to access this class variable. The first is using the class object. `Rectangle.counter` can be used to access the class variable.</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Since, we've created two instances of Rectangle class, the value of counter is two.</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Similarly, we can also use class instances to access the class variable. `rect1.counter` will access the same class variable `counter`. </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We can access the class methods as before using both class object and instance object. Let's access the `get_count()` class method using the class `Rectangle` and instance `rect1`. Note that the compiler implicitly passes the class object whenever we call the class method. </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Similarly, both class object and instance can access the static methods. We have defined a static method named `claculte_perimeter` in `Rectangle` class. Let's pass the arguments length and breadth to this function and calculate the perimeter.  </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Let's print the instance method `calculate_area`. </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It says it's a bound method of Rectangle object. It's bound to the instance of the class. This instance method can access static, class as well as instance methods through `self` object.  </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Let's see what we get by printing a class method.</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It says it's a bound method of class; here Rectangle. This method can access other class methods, class variables and static methods but not instance variables and instance methods. </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Clr>
                <a:schemeClr val="dk1"/>
              </a:buClr>
              <a:buSzPts val="1100"/>
              <a:buFont typeface="Arial"/>
              <a:buNone/>
              <a:defRPr/>
            </a:pPr>
            <a:r>
              <a:rPr lang="en">
                <a:solidFill>
                  <a:schemeClr val="dk1"/>
                </a:solidFill>
              </a:rPr>
              <a:t>Now, let's print static method.</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None/>
              <a:defRPr/>
            </a:pPr>
            <a:r>
              <a:rPr lang="en">
                <a:solidFill>
                  <a:schemeClr val="dk1"/>
                </a:solidFill>
              </a:rPr>
              <a:t>It says it's simply a function defined in Rectangle class. It's neither bound to class nor instance. Hence, it cannot access any class variables, class methods, instance variables or instance methods.</a:t>
            </a:r>
            <a:endParaRPr/>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09" name="Google Shape;309;gb9ce9180a6_0_134: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310" name="Google Shape;310;gb9ce9180a6_0_134: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r>
              <a:rPr lang="en"/>
              <a:t>Now, we’ll talk about inheritance. Inheritance is one of the most important features of object oriented programming. It </a:t>
            </a:r>
            <a:r>
              <a:rPr lang="en"/>
              <a:t>enables</a:t>
            </a:r>
            <a:r>
              <a:rPr lang="en"/>
              <a:t> to extend the functionality of available classes. Let’s talk about inheritance.</a:t>
            </a:r>
            <a:endParaRPr/>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14" name="Google Shape;314;gc8ec749310_1_3: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315" name="Google Shape;315;gc8ec749310_1_3: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r>
              <a:rPr lang="en"/>
              <a:t>You might have heard about biological inheritance. Offsprings acquire different characteristics from their parents through genes. They have traits </a:t>
            </a:r>
            <a:r>
              <a:rPr lang="en">
                <a:solidFill>
                  <a:schemeClr val="dk1"/>
                </a:solidFill>
              </a:rPr>
              <a:t>and behaviour similar to those of their parents. This biological inheritance of genetic qualities is what we generally mean by inheritance. You may also say the children inherit their surname from their parents or possessions or wealth from their parents. This idea is formulated in similar manner in object oriented programming. </a:t>
            </a:r>
            <a:endParaRPr>
              <a:solidFill>
                <a:schemeClr val="dk1"/>
              </a:solidFill>
            </a:endParaRPr>
          </a:p>
          <a:p>
            <a:pPr marL="0" lvl="0" indent="0" algn="l">
              <a:spcBef>
                <a:spcPts val="0"/>
              </a:spcBef>
              <a:spcAft>
                <a:spcPts val="0"/>
              </a:spcAft>
              <a:buNone/>
              <a:defRPr/>
            </a:pPr>
            <a:endParaRPr>
              <a:solidFill>
                <a:schemeClr val="dk1"/>
              </a:solidFill>
            </a:endParaRPr>
          </a:p>
          <a:p>
            <a:pPr marL="0" lvl="0" indent="0" algn="l">
              <a:spcBef>
                <a:spcPts val="0"/>
              </a:spcBef>
              <a:spcAft>
                <a:spcPts val="0"/>
              </a:spcAft>
              <a:buNone/>
              <a:defRPr/>
            </a:pPr>
            <a:r>
              <a:rPr lang="en">
                <a:solidFill>
                  <a:schemeClr val="dk1"/>
                </a:solidFill>
              </a:rPr>
              <a:t>[Click]</a:t>
            </a:r>
            <a:endParaRPr>
              <a:solidFill>
                <a:schemeClr val="dk1"/>
              </a:solidFill>
            </a:endParaRPr>
          </a:p>
          <a:p>
            <a:pPr marL="0" lvl="0" indent="0" algn="l">
              <a:spcBef>
                <a:spcPts val="0"/>
              </a:spcBef>
              <a:spcAft>
                <a:spcPts val="0"/>
              </a:spcAft>
              <a:buNone/>
              <a:defRPr/>
            </a:pPr>
            <a:endParaRPr>
              <a:solidFill>
                <a:schemeClr val="dk1"/>
              </a:solidFill>
            </a:endParaRPr>
          </a:p>
          <a:p>
            <a:pPr marL="0" lvl="0" indent="0" algn="l">
              <a:spcBef>
                <a:spcPts val="0"/>
              </a:spcBef>
              <a:spcAft>
                <a:spcPts val="0"/>
              </a:spcAft>
              <a:buNone/>
              <a:defRPr/>
            </a:pPr>
            <a:r>
              <a:rPr lang="en">
                <a:solidFill>
                  <a:schemeClr val="dk1"/>
                </a:solidFill>
              </a:rPr>
              <a:t>In OOP, inheritance is done from one class to another. And similar to genetic characteristics, possessions or surnames, attributes and methods are inherited by the children classes. Let’s see an example.</a:t>
            </a:r>
            <a:endParaRPr>
              <a:solidFill>
                <a:schemeClr val="dk1"/>
              </a:solidFill>
            </a:endParaRPr>
          </a:p>
          <a:p>
            <a:pPr marL="0" lvl="0" indent="0" algn="l">
              <a:spcBef>
                <a:spcPts val="0"/>
              </a:spcBef>
              <a:spcAft>
                <a:spcPts val="0"/>
              </a:spcAft>
              <a:buNone/>
              <a:defRPr/>
            </a:pPr>
            <a:endParaRPr>
              <a:solidFill>
                <a:schemeClr val="dk1"/>
              </a:solidFill>
            </a:endParaRPr>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22" name="Google Shape;322;gbb3fd497a0_1_4: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323" name="Google Shape;323;gbb3fd497a0_1_4: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r>
              <a:rPr lang="en"/>
              <a:t>Suppose we are building a school administration software. We need to define a class named `Person` to represent people. Let’s say it has two attributes `Name` and `Age` and a method `Greet`. </a:t>
            </a:r>
            <a:r>
              <a:rPr lang="en">
                <a:solidFill>
                  <a:schemeClr val="dk1"/>
                </a:solidFill>
              </a:rPr>
              <a:t>For the school administration software, we’ll need to define a class for representing students to store different information about the students. Let’s define another class `Student`. We’ll use the power of inheritance here.</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[Click]</a:t>
            </a:r>
            <a:endParaRPr/>
          </a:p>
          <a:p>
            <a:pPr marL="0" lvl="0" indent="0" algn="l">
              <a:spcBef>
                <a:spcPts val="0"/>
              </a:spcBef>
              <a:spcAft>
                <a:spcPts val="0"/>
              </a:spcAft>
              <a:buNone/>
              <a:defRPr/>
            </a:pPr>
            <a:endParaRPr/>
          </a:p>
          <a:p>
            <a:pPr marL="0" lvl="0" indent="0" algn="l">
              <a:spcBef>
                <a:spcPts val="0"/>
              </a:spcBef>
              <a:spcAft>
                <a:spcPts val="0"/>
              </a:spcAft>
              <a:buNone/>
              <a:defRPr/>
            </a:pPr>
            <a:r>
              <a:rPr lang="en"/>
              <a:t>The `Student` class here seems to have only three attributes `Id`, `Faculty` and `Graduation year`. However, its instances will have other attributes `Name` and `Age` too. </a:t>
            </a:r>
            <a:r>
              <a:rPr lang="en">
                <a:solidFill>
                  <a:schemeClr val="dk1"/>
                </a:solidFill>
              </a:rPr>
              <a:t>The magic behind is inheritance. </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[Click]</a:t>
            </a:r>
            <a:endParaRPr/>
          </a:p>
          <a:p>
            <a:pPr marL="0" lvl="0" indent="0" algn="l">
              <a:spcBef>
                <a:spcPts val="0"/>
              </a:spcBef>
              <a:spcAft>
                <a:spcPts val="0"/>
              </a:spcAft>
              <a:buNone/>
              <a:defRPr/>
            </a:pPr>
            <a:endParaRPr/>
          </a:p>
          <a:p>
            <a:pPr marL="0" lvl="0" indent="0" algn="l">
              <a:spcBef>
                <a:spcPts val="0"/>
              </a:spcBef>
              <a:spcAft>
                <a:spcPts val="0"/>
              </a:spcAft>
              <a:buNone/>
              <a:defRPr/>
            </a:pPr>
            <a:r>
              <a:rPr lang="en"/>
              <a:t>This upright arrow indicates that the `Student` class inherits the `Person` class. </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[Click]</a:t>
            </a:r>
            <a:endParaRPr/>
          </a:p>
          <a:p>
            <a:pPr marL="0" lvl="0" indent="0" algn="l">
              <a:spcBef>
                <a:spcPts val="0"/>
              </a:spcBef>
              <a:spcAft>
                <a:spcPts val="0"/>
              </a:spcAft>
              <a:buNone/>
              <a:defRPr/>
            </a:pPr>
            <a:endParaRPr/>
          </a:p>
          <a:p>
            <a:pPr marL="0" lvl="0" indent="0" algn="l">
              <a:spcBef>
                <a:spcPts val="0"/>
              </a:spcBef>
              <a:spcAft>
                <a:spcPts val="0"/>
              </a:spcAft>
              <a:buNone/>
              <a:defRPr/>
            </a:pPr>
            <a:r>
              <a:rPr lang="en"/>
              <a:t>We call `Person` the parent or base class. </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[Click]</a:t>
            </a:r>
            <a:endParaRPr/>
          </a:p>
          <a:p>
            <a:pPr marL="0" lvl="0" indent="0" algn="l">
              <a:spcBef>
                <a:spcPts val="0"/>
              </a:spcBef>
              <a:spcAft>
                <a:spcPts val="0"/>
              </a:spcAft>
              <a:buNone/>
              <a:defRPr/>
            </a:pPr>
            <a:endParaRPr/>
          </a:p>
          <a:p>
            <a:pPr marL="0" lvl="0" indent="0" algn="l">
              <a:spcBef>
                <a:spcPts val="0"/>
              </a:spcBef>
              <a:spcAft>
                <a:spcPts val="0"/>
              </a:spcAft>
              <a:buNone/>
              <a:defRPr/>
            </a:pPr>
            <a:r>
              <a:rPr lang="en"/>
              <a:t>And we call `Student` the child or derived class. The idea behind inheritance is that child or derived class inherits the attributes and methods of the parent or child class. Let’s instantiate these two classes `Person` and `Student`. </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[Click]</a:t>
            </a:r>
            <a:endParaRPr/>
          </a:p>
          <a:p>
            <a:pPr marL="0" lvl="0" indent="0" algn="l">
              <a:spcBef>
                <a:spcPts val="0"/>
              </a:spcBef>
              <a:spcAft>
                <a:spcPts val="0"/>
              </a:spcAft>
              <a:buNone/>
              <a:defRPr/>
            </a:pPr>
            <a:endParaRPr/>
          </a:p>
          <a:p>
            <a:pPr marL="0" lvl="0" indent="0" algn="l">
              <a:spcBef>
                <a:spcPts val="0"/>
              </a:spcBef>
              <a:spcAft>
                <a:spcPts val="0"/>
              </a:spcAft>
              <a:buNone/>
              <a:defRPr/>
            </a:pPr>
            <a:r>
              <a:rPr lang="en"/>
              <a:t>Here, we’ve created an instance of `Person` named `per1`. This instance has values for the attributes defined in the `Person` class. It has `name` `Elon` and `age` 49 and has a method `Greet`.</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[Click]</a:t>
            </a:r>
            <a:endParaRPr/>
          </a:p>
          <a:p>
            <a:pPr marL="0" lvl="0" indent="0" algn="l">
              <a:spcBef>
                <a:spcPts val="0"/>
              </a:spcBef>
              <a:spcAft>
                <a:spcPts val="0"/>
              </a:spcAft>
              <a:buNone/>
              <a:defRPr/>
            </a:pPr>
            <a:endParaRPr/>
          </a:p>
          <a:p>
            <a:pPr marL="0" lvl="0" indent="0" algn="l">
              <a:spcBef>
                <a:spcPts val="0"/>
              </a:spcBef>
              <a:spcAft>
                <a:spcPts val="0"/>
              </a:spcAft>
              <a:buNone/>
              <a:defRPr/>
            </a:pPr>
            <a:r>
              <a:rPr lang="en"/>
              <a:t>Next, </a:t>
            </a:r>
            <a:r>
              <a:rPr lang="en"/>
              <a:t>it’s</a:t>
            </a:r>
            <a:r>
              <a:rPr lang="en"/>
              <a:t> an instance for `Student` class named `std1`. Although we’d defined only three attributes for `Student` class, it has five attributes. Well, we’ve </a:t>
            </a:r>
            <a:r>
              <a:rPr lang="en"/>
              <a:t>already</a:t>
            </a:r>
            <a:r>
              <a:rPr lang="en"/>
              <a:t> discussed that it’s because of </a:t>
            </a:r>
            <a:r>
              <a:rPr lang="en"/>
              <a:t>inheritance</a:t>
            </a:r>
            <a:r>
              <a:rPr lang="en"/>
              <a:t> of `Person` class by the `Student` class. </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[Click]</a:t>
            </a:r>
            <a:endParaRPr/>
          </a:p>
          <a:p>
            <a:pPr marL="0" lvl="0" indent="0" algn="l">
              <a:spcBef>
                <a:spcPts val="0"/>
              </a:spcBef>
              <a:spcAft>
                <a:spcPts val="0"/>
              </a:spcAft>
              <a:buNone/>
              <a:defRPr/>
            </a:pPr>
            <a:endParaRPr/>
          </a:p>
          <a:p>
            <a:pPr marL="0" lvl="0" indent="0" algn="l">
              <a:spcBef>
                <a:spcPts val="0"/>
              </a:spcBef>
              <a:spcAft>
                <a:spcPts val="0"/>
              </a:spcAft>
              <a:buNone/>
              <a:defRPr/>
            </a:pPr>
            <a:r>
              <a:rPr lang="en"/>
              <a:t>The first two attributes `name` and `age` come from the parent class `Person`.</a:t>
            </a:r>
            <a:endParaRPr/>
          </a:p>
          <a:p>
            <a:pPr marL="0" lvl="0" indent="0" algn="l">
              <a:spcBef>
                <a:spcPts val="0"/>
              </a:spcBef>
              <a:spcAft>
                <a:spcPts val="0"/>
              </a:spcAft>
              <a:buNone/>
              <a:defRPr/>
            </a:pPr>
            <a:endParaRPr/>
          </a:p>
          <a:p>
            <a:pPr marL="0" lvl="0" indent="0" algn="l">
              <a:spcBef>
                <a:spcPts val="0"/>
              </a:spcBef>
              <a:spcAft>
                <a:spcPts val="0"/>
              </a:spcAft>
              <a:buNone/>
              <a:defRPr/>
            </a:pPr>
            <a:r>
              <a:rPr lang="en"/>
              <a:t>[Click]</a:t>
            </a:r>
            <a:endParaRPr/>
          </a:p>
          <a:p>
            <a:pPr marL="0" lvl="0" indent="0" algn="l">
              <a:spcBef>
                <a:spcPts val="0"/>
              </a:spcBef>
              <a:spcAft>
                <a:spcPts val="0"/>
              </a:spcAft>
              <a:buNone/>
              <a:defRPr/>
            </a:pPr>
            <a:endParaRPr/>
          </a:p>
          <a:p>
            <a:pPr marL="0" lvl="0" indent="0" algn="l">
              <a:spcBef>
                <a:spcPts val="0"/>
              </a:spcBef>
              <a:spcAft>
                <a:spcPts val="0"/>
              </a:spcAft>
              <a:buNone/>
              <a:defRPr/>
            </a:pPr>
            <a:r>
              <a:rPr lang="en"/>
              <a:t>And the other three attributes `id`, `faculty`, `graduation year` come from the `Student` class. Also it has two methods `study` from Student class and `greet` from the parent class `Person`.   </a:t>
            </a:r>
            <a:endParaRPr/>
          </a:p>
          <a:p>
            <a:pPr marL="0" lvl="0" indent="0" algn="l">
              <a:spcBef>
                <a:spcPts val="0"/>
              </a:spcBef>
              <a:spcAft>
                <a:spcPts val="0"/>
              </a:spcAft>
              <a:buNone/>
              <a:defRPr/>
            </a:pPr>
            <a:r>
              <a:rPr lang="en"/>
              <a:t>    </a:t>
            </a:r>
            <a:endParaRPr/>
          </a:p>
          <a:p>
            <a:pPr marL="0" lvl="0" indent="0" algn="l">
              <a:spcBef>
                <a:spcPts val="0"/>
              </a:spcBef>
              <a:spcAft>
                <a:spcPts val="0"/>
              </a:spcAft>
              <a:buNone/>
              <a:defRPr/>
            </a:pPr>
            <a:endParaRPr/>
          </a:p>
          <a:p>
            <a:pPr marL="0" lvl="0" indent="0" algn="l">
              <a:spcBef>
                <a:spcPts val="0"/>
              </a:spcBef>
              <a:spcAft>
                <a:spcPts val="0"/>
              </a:spcAft>
              <a:buNone/>
              <a:defRPr/>
            </a:pPr>
            <a:endParaRPr/>
          </a:p>
          <a:p>
            <a:pPr marL="0" lvl="0" indent="0" algn="l">
              <a:spcBef>
                <a:spcPts val="0"/>
              </a:spcBef>
              <a:spcAft>
                <a:spcPts val="0"/>
              </a:spcAft>
              <a:buNone/>
              <a:defRPr/>
            </a:pPr>
            <a:endParaRPr/>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61" name="Google Shape;361;gbb3fd497a0_1_62: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362" name="Google Shape;362;gbb3fd497a0_1_62: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r>
              <a:rPr lang="en"/>
              <a:t>Well let’s quickly see how inheritance is represented in Python. On the left, we have the inheritance relation we want to develop. On the right, is the code structure to do it. The class definition of Person is not different from the one we did earlier. For the derived class `Student` we write the name of </a:t>
            </a:r>
            <a:r>
              <a:rPr lang="en"/>
              <a:t>derived</a:t>
            </a:r>
            <a:r>
              <a:rPr lang="en"/>
              <a:t> class and then the name of parent class in </a:t>
            </a:r>
            <a:r>
              <a:rPr lang="en"/>
              <a:t>parentheses</a:t>
            </a:r>
            <a:r>
              <a:rPr lang="en"/>
              <a:t>. Let’s look all this in actual code next.</a:t>
            </a:r>
            <a:endParaRPr/>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79" name="Google Shape;379;gbb3fd497a0_0_44: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380" name="Google Shape;380;gbb3fd497a0_0_44: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r>
              <a:rPr lang="en"/>
              <a:t>Let's talk about the same example we talked about earlier. We'll first define the base class named `Person`. </a:t>
            </a:r>
            <a:endParaRPr/>
          </a:p>
          <a:p>
            <a:pPr marL="0" lvl="0" indent="0" algn="l">
              <a:spcBef>
                <a:spcPts val="0"/>
              </a:spcBef>
              <a:spcAft>
                <a:spcPts val="0"/>
              </a:spcAft>
              <a:buNone/>
              <a:defRPr/>
            </a:pPr>
            <a:endParaRPr/>
          </a:p>
          <a:p>
            <a:pPr marL="0" lvl="0" indent="0" algn="l">
              <a:spcBef>
                <a:spcPts val="0"/>
              </a:spcBef>
              <a:spcAft>
                <a:spcPts val="0"/>
              </a:spcAft>
              <a:buNone/>
              <a:defRPr/>
            </a:pPr>
            <a:r>
              <a:rPr lang="en"/>
              <a:t>It has two attributes name and age.</a:t>
            </a:r>
            <a:endParaRPr/>
          </a:p>
          <a:p>
            <a:pPr marL="0" lvl="0" indent="0" algn="l">
              <a:spcBef>
                <a:spcPts val="0"/>
              </a:spcBef>
              <a:spcAft>
                <a:spcPts val="0"/>
              </a:spcAft>
              <a:buNone/>
              <a:defRPr/>
            </a:pPr>
            <a:endParaRPr/>
          </a:p>
          <a:p>
            <a:pPr marL="0" lvl="0" indent="0" algn="l">
              <a:spcBef>
                <a:spcPts val="0"/>
              </a:spcBef>
              <a:spcAft>
                <a:spcPts val="0"/>
              </a:spcAft>
              <a:buNone/>
              <a:defRPr/>
            </a:pPr>
            <a:r>
              <a:rPr lang="en"/>
              <a:t>And we have defined a method named `greet()`.</a:t>
            </a:r>
            <a:endParaRPr/>
          </a:p>
          <a:p>
            <a:pPr marL="0" lvl="0" indent="0" algn="l">
              <a:spcBef>
                <a:spcPts val="0"/>
              </a:spcBef>
              <a:spcAft>
                <a:spcPts val="0"/>
              </a:spcAft>
              <a:buNone/>
              <a:defRPr/>
            </a:pPr>
            <a:endParaRPr/>
          </a:p>
          <a:p>
            <a:pPr marL="0" lvl="0" indent="0" algn="l">
              <a:spcBef>
                <a:spcPts val="0"/>
              </a:spcBef>
              <a:spcAft>
                <a:spcPts val="0"/>
              </a:spcAft>
              <a:buNone/>
              <a:defRPr/>
            </a:pPr>
            <a:r>
              <a:rPr lang="en"/>
              <a:t>Then we inherit another class named `Student` from the `Person` class. `Student(Person)` represents that the `Person` is the base class for `Student` class i.e. `Student` class inherits from `Person` class. </a:t>
            </a:r>
            <a:endParaRPr/>
          </a:p>
          <a:p>
            <a:pPr marL="0" lvl="0" indent="0" algn="l">
              <a:spcBef>
                <a:spcPts val="0"/>
              </a:spcBef>
              <a:spcAft>
                <a:spcPts val="0"/>
              </a:spcAft>
              <a:buNone/>
              <a:defRPr/>
            </a:pPr>
            <a:endParaRPr/>
          </a:p>
          <a:p>
            <a:pPr marL="0" lvl="0" indent="0" algn="l">
              <a:spcBef>
                <a:spcPts val="0"/>
              </a:spcBef>
              <a:spcAft>
                <a:spcPts val="0"/>
              </a:spcAft>
              <a:buNone/>
              <a:defRPr/>
            </a:pPr>
            <a:r>
              <a:rPr lang="en"/>
              <a:t>We pass `name`, `age`, `faculty` and `year` to this initialization method. The `Person` class had two attributes: `name` and `age`. These two attributes will be inherited by this derived class while `faculty` and `grad_year` are specific to this derived class.</a:t>
            </a:r>
            <a:endParaRPr/>
          </a:p>
          <a:p>
            <a:pPr marL="0" lvl="0" indent="0" algn="l">
              <a:spcBef>
                <a:spcPts val="0"/>
              </a:spcBef>
              <a:spcAft>
                <a:spcPts val="0"/>
              </a:spcAft>
              <a:buNone/>
              <a:defRPr/>
            </a:pPr>
            <a:endParaRPr/>
          </a:p>
          <a:p>
            <a:pPr marL="0" lvl="0" indent="0" algn="l">
              <a:spcBef>
                <a:spcPts val="0"/>
              </a:spcBef>
              <a:spcAft>
                <a:spcPts val="0"/>
              </a:spcAft>
              <a:buNone/>
              <a:defRPr/>
            </a:pPr>
            <a:r>
              <a:rPr lang="en"/>
              <a:t>To initialize the inherited attributes, you can call the `__init__` function of the base class. For this, we use the `super()` function. `super()` returns a proxy object that delegates method calls to the parent class. Thus `super().__init__()` initializes the attributes, which are defined in the parent class.</a:t>
            </a:r>
            <a:endParaRPr/>
          </a:p>
          <a:p>
            <a:pPr marL="0" lvl="0" indent="0" algn="l">
              <a:spcBef>
                <a:spcPts val="0"/>
              </a:spcBef>
              <a:spcAft>
                <a:spcPts val="0"/>
              </a:spcAft>
              <a:buNone/>
              <a:defRPr/>
            </a:pPr>
            <a:endParaRPr/>
          </a:p>
          <a:p>
            <a:pPr marL="0" lvl="0" indent="0" algn="l">
              <a:spcBef>
                <a:spcPts val="0"/>
              </a:spcBef>
              <a:spcAft>
                <a:spcPts val="0"/>
              </a:spcAft>
              <a:buNone/>
              <a:defRPr/>
            </a:pPr>
            <a:r>
              <a:rPr lang="en"/>
              <a:t>Next, we initialize faculty and grad_year attributes which are specific to the derived class `Student`. </a:t>
            </a:r>
            <a:endParaRPr/>
          </a:p>
          <a:p>
            <a:pPr marL="0" lvl="0" indent="0" algn="l">
              <a:spcBef>
                <a:spcPts val="0"/>
              </a:spcBef>
              <a:spcAft>
                <a:spcPts val="0"/>
              </a:spcAft>
              <a:buNone/>
              <a:defRPr/>
            </a:pPr>
            <a:endParaRPr/>
          </a:p>
          <a:p>
            <a:pPr marL="0" lvl="0" indent="0" algn="l">
              <a:spcBef>
                <a:spcPts val="0"/>
              </a:spcBef>
              <a:spcAft>
                <a:spcPts val="0"/>
              </a:spcAft>
              <a:buNone/>
              <a:defRPr/>
            </a:pPr>
            <a:r>
              <a:rPr lang="en"/>
              <a:t>Here, we define the `get_grad_year()` method which is specific to the derived class.</a:t>
            </a:r>
            <a:endParaRPr/>
          </a:p>
          <a:p>
            <a:pPr marL="0" lvl="0" indent="0" algn="l">
              <a:spcBef>
                <a:spcPts val="0"/>
              </a:spcBef>
              <a:spcAft>
                <a:spcPts val="0"/>
              </a:spcAft>
              <a:buNone/>
              <a:defRPr/>
            </a:pPr>
            <a:endParaRPr/>
          </a:p>
          <a:p>
            <a:pPr marL="0" lvl="0" indent="0" algn="l">
              <a:spcBef>
                <a:spcPts val="0"/>
              </a:spcBef>
              <a:spcAft>
                <a:spcPts val="0"/>
              </a:spcAft>
              <a:buNone/>
              <a:defRPr/>
            </a:pPr>
            <a:r>
              <a:rPr lang="en"/>
              <a:t>Let's instantiate an instance of `Person` class with name Justin Johnson and age 27.</a:t>
            </a:r>
            <a:endParaRPr/>
          </a:p>
          <a:p>
            <a:pPr marL="0" lvl="0" indent="0" algn="l">
              <a:spcBef>
                <a:spcPts val="0"/>
              </a:spcBef>
              <a:spcAft>
                <a:spcPts val="0"/>
              </a:spcAft>
              <a:buNone/>
              <a:defRPr/>
            </a:pPr>
            <a:endParaRPr/>
          </a:p>
          <a:p>
            <a:pPr marL="0" lvl="0" indent="0" algn="l">
              <a:spcBef>
                <a:spcPts val="0"/>
              </a:spcBef>
              <a:spcAft>
                <a:spcPts val="0"/>
              </a:spcAft>
              <a:buNone/>
              <a:defRPr/>
            </a:pPr>
            <a:r>
              <a:rPr lang="en"/>
              <a:t>And, an instance of `Student` class with name Ishan Pakuwal, age 23, faculty CS and grad_year 2023. </a:t>
            </a:r>
            <a:endParaRPr/>
          </a:p>
          <a:p>
            <a:pPr marL="0" lvl="0" indent="0" algn="l">
              <a:spcBef>
                <a:spcPts val="0"/>
              </a:spcBef>
              <a:spcAft>
                <a:spcPts val="0"/>
              </a:spcAft>
              <a:buNone/>
              <a:defRPr/>
            </a:pPr>
            <a:endParaRPr/>
          </a:p>
          <a:p>
            <a:pPr marL="0" lvl="0" indent="0" algn="l">
              <a:spcBef>
                <a:spcPts val="0"/>
              </a:spcBef>
              <a:spcAft>
                <a:spcPts val="0"/>
              </a:spcAft>
              <a:buNone/>
              <a:defRPr/>
            </a:pPr>
            <a:r>
              <a:rPr lang="en"/>
              <a:t>We know that, student is an instance of Student class. We can check this using the built-in `isinstance()` function. isinstance(student, Student) should return True. </a:t>
            </a:r>
            <a:endParaRPr/>
          </a:p>
          <a:p>
            <a:pPr marL="0" lvl="0" indent="0" algn="l">
              <a:spcBef>
                <a:spcPts val="0"/>
              </a:spcBef>
              <a:spcAft>
                <a:spcPts val="0"/>
              </a:spcAft>
              <a:buNone/>
              <a:defRPr/>
            </a:pPr>
            <a:endParaRPr/>
          </a:p>
          <a:p>
            <a:pPr marL="0" lvl="0" indent="0" algn="l">
              <a:spcBef>
                <a:spcPts val="0"/>
              </a:spcBef>
              <a:spcAft>
                <a:spcPts val="0"/>
              </a:spcAft>
              <a:buNone/>
              <a:defRPr/>
            </a:pPr>
            <a:r>
              <a:rPr lang="en"/>
              <a:t>Note that inheritance is often read as is-a relationship such that the derived class is-a base class. In this example, Student is derived from Person class, so it can be read as Student is-a Person. The core idea is that the instances of students should also be the instances of Person class, which is the base or general class. Let's check if it's true for Python. Let's check the student instance is whether an instance of the base class Person or not. </a:t>
            </a:r>
            <a:endParaRPr/>
          </a:p>
          <a:p>
            <a:pPr marL="0" lvl="0" indent="0" algn="l">
              <a:spcBef>
                <a:spcPts val="0"/>
              </a:spcBef>
              <a:spcAft>
                <a:spcPts val="0"/>
              </a:spcAft>
              <a:buNone/>
              <a:defRPr/>
            </a:pPr>
            <a:endParaRPr/>
          </a:p>
          <a:p>
            <a:pPr marL="0" lvl="0" indent="0" algn="l">
              <a:spcBef>
                <a:spcPts val="0"/>
              </a:spcBef>
              <a:spcAft>
                <a:spcPts val="0"/>
              </a:spcAft>
              <a:buNone/>
              <a:defRPr/>
            </a:pPr>
            <a:r>
              <a:rPr lang="en"/>
              <a:t>It returned True. Hence, we say that the student instance is an instance of the base class Person.</a:t>
            </a:r>
            <a:endParaRPr/>
          </a:p>
          <a:p>
            <a:pPr marL="0" lvl="0" indent="0" algn="l">
              <a:spcBef>
                <a:spcPts val="0"/>
              </a:spcBef>
              <a:spcAft>
                <a:spcPts val="0"/>
              </a:spcAft>
              <a:buNone/>
              <a:defRPr/>
            </a:pPr>
            <a:endParaRPr/>
          </a:p>
          <a:p>
            <a:pPr marL="0" lvl="0" indent="0" algn="l">
              <a:spcBef>
                <a:spcPts val="0"/>
              </a:spcBef>
              <a:spcAft>
                <a:spcPts val="0"/>
              </a:spcAft>
              <a:buNone/>
              <a:defRPr/>
            </a:pPr>
            <a:r>
              <a:rPr lang="en"/>
              <a:t>One more thing to note is that every class is inherited from the object class implicitly in Python. Let's check with the student instance.</a:t>
            </a:r>
            <a:endParaRPr/>
          </a:p>
          <a:p>
            <a:pPr marL="0" lvl="0" indent="0" algn="l">
              <a:spcBef>
                <a:spcPts val="0"/>
              </a:spcBef>
              <a:spcAft>
                <a:spcPts val="0"/>
              </a:spcAft>
              <a:buNone/>
              <a:defRPr/>
            </a:pPr>
            <a:endParaRPr/>
          </a:p>
          <a:p>
            <a:pPr marL="0" lvl="0" indent="0" algn="l">
              <a:spcBef>
                <a:spcPts val="0"/>
              </a:spcBef>
              <a:spcAft>
                <a:spcPts val="0"/>
              </a:spcAft>
              <a:buNone/>
              <a:defRPr/>
            </a:pPr>
            <a:r>
              <a:rPr lang="en"/>
              <a:t>It returned true meaning that the student instance object is an instance of object.</a:t>
            </a:r>
            <a:endParaRPr/>
          </a:p>
          <a:p>
            <a:pPr marL="0" lvl="0" indent="0" algn="l">
              <a:spcBef>
                <a:spcPts val="0"/>
              </a:spcBef>
              <a:spcAft>
                <a:spcPts val="0"/>
              </a:spcAft>
              <a:buNone/>
              <a:defRPr/>
            </a:pPr>
            <a:endParaRPr/>
          </a:p>
          <a:p>
            <a:pPr marL="0" lvl="0" indent="0" algn="l">
              <a:spcBef>
                <a:spcPts val="0"/>
              </a:spcBef>
              <a:spcAft>
                <a:spcPts val="0"/>
              </a:spcAft>
              <a:buNone/>
              <a:defRPr/>
            </a:pPr>
            <a:r>
              <a:rPr lang="en"/>
              <a:t>Now, let's check the attributes and methods of person instance. We use a special built-in function dir for this. `dir(person)` will print all the attributes and methods of the person instance.</a:t>
            </a:r>
            <a:endParaRPr/>
          </a:p>
          <a:p>
            <a:pPr marL="0" lvl="0" indent="0" algn="l">
              <a:spcBef>
                <a:spcPts val="0"/>
              </a:spcBef>
              <a:spcAft>
                <a:spcPts val="0"/>
              </a:spcAft>
              <a:buNone/>
              <a:defRPr/>
            </a:pPr>
            <a:endParaRPr/>
          </a:p>
          <a:p>
            <a:pPr marL="0" lvl="0" indent="0" algn="l">
              <a:spcBef>
                <a:spcPts val="0"/>
              </a:spcBef>
              <a:spcAft>
                <a:spcPts val="0"/>
              </a:spcAft>
              <a:buNone/>
              <a:defRPr/>
            </a:pPr>
            <a:r>
              <a:rPr lang="en"/>
              <a:t>We can see some many attributes and methods with double underscore in both sides. For example __class__, __init__, etc. These are special functions defined in Python. Let's focus on the bottom three without double underscores: `age`, `greet` and `name`. `age` and `name` are the attributes and `greet` is the method defined in Person class.</a:t>
            </a:r>
            <a:endParaRPr/>
          </a:p>
          <a:p>
            <a:pPr marL="0" lvl="0" indent="0" algn="l">
              <a:spcBef>
                <a:spcPts val="0"/>
              </a:spcBef>
              <a:spcAft>
                <a:spcPts val="0"/>
              </a:spcAft>
              <a:buNone/>
              <a:defRPr/>
            </a:pPr>
            <a:endParaRPr/>
          </a:p>
          <a:p>
            <a:pPr marL="0" lvl="0" indent="0" algn="l">
              <a:spcBef>
                <a:spcPts val="0"/>
              </a:spcBef>
              <a:spcAft>
                <a:spcPts val="0"/>
              </a:spcAft>
              <a:buNone/>
              <a:defRPr/>
            </a:pPr>
            <a:r>
              <a:rPr lang="en"/>
              <a:t>Now, let's see the attributes and methods of student instance.</a:t>
            </a:r>
            <a:endParaRPr/>
          </a:p>
          <a:p>
            <a:pPr marL="0" lvl="0" indent="0" algn="l">
              <a:spcBef>
                <a:spcPts val="0"/>
              </a:spcBef>
              <a:spcAft>
                <a:spcPts val="0"/>
              </a:spcAft>
              <a:buNone/>
              <a:defRPr/>
            </a:pPr>
            <a:endParaRPr/>
          </a:p>
          <a:p>
            <a:pPr marL="0" lvl="0" indent="0" algn="l">
              <a:spcBef>
                <a:spcPts val="0"/>
              </a:spcBef>
              <a:spcAft>
                <a:spcPts val="0"/>
              </a:spcAft>
              <a:buNone/>
              <a:defRPr/>
            </a:pPr>
            <a:r>
              <a:rPr lang="en"/>
              <a:t>We have `age`, `faculty`, `get_grad_year`, `grad_year`, `greet` and `name`. Out of these, `age`, `name` are attributes from the base class inherited to the instance. And, `faculty`, `grad_year` are the attributes from the derived class. Similarly, `greet` is the method of the base class. The student instance has this because it has been inherited from the base class. Similarly, we have specific method `get_grad_year`.  </a:t>
            </a:r>
            <a:endParaRPr/>
          </a:p>
          <a:p>
            <a:pPr marL="0" lvl="0" indent="0" algn="l">
              <a:spcBef>
                <a:spcPts val="0"/>
              </a:spcBef>
              <a:spcAft>
                <a:spcPts val="0"/>
              </a:spcAft>
              <a:buNone/>
              <a:defRPr/>
            </a:pPr>
            <a:endParaRPr/>
          </a:p>
          <a:p>
            <a:pPr marL="0" lvl="0" indent="0" algn="l">
              <a:spcBef>
                <a:spcPts val="0"/>
              </a:spcBef>
              <a:spcAft>
                <a:spcPts val="0"/>
              </a:spcAft>
              <a:buNone/>
              <a:defRPr/>
            </a:pPr>
            <a:endParaRPr/>
          </a:p>
          <a:p>
            <a:pPr marL="0" lvl="0" indent="0" algn="l">
              <a:spcBef>
                <a:spcPts val="0"/>
              </a:spcBef>
              <a:spcAft>
                <a:spcPts val="0"/>
              </a:spcAft>
              <a:buNone/>
              <a:defRPr/>
            </a:pPr>
            <a:endParaRPr/>
          </a:p>
          <a:p>
            <a:pPr marL="0" lvl="0" indent="0" algn="l">
              <a:spcBef>
                <a:spcPts val="0"/>
              </a:spcBef>
              <a:spcAft>
                <a:spcPts val="0"/>
              </a:spcAft>
              <a:buNone/>
              <a:defRPr/>
            </a:pPr>
            <a:endParaRPr/>
          </a:p>
          <a:p>
            <a:pPr marL="0" lvl="0" indent="0" algn="l">
              <a:spcBef>
                <a:spcPts val="0"/>
              </a:spcBef>
              <a:spcAft>
                <a:spcPts val="0"/>
              </a:spcAft>
              <a:buNone/>
              <a:defRPr/>
            </a:pPr>
            <a:endParaRPr/>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84" name="Google Shape;384;gbb3fd497a0_1_27: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385" name="Google Shape;385;gbb3fd497a0_1_27: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r>
              <a:rPr lang="en"/>
              <a:t>We can derive multiple classes from a single class. Here, we’ve shown that two classes `Student` and `Employee` inherit from the same parent class `Person`. And, these two </a:t>
            </a:r>
            <a:r>
              <a:rPr lang="en"/>
              <a:t>derived</a:t>
            </a:r>
            <a:r>
              <a:rPr lang="en"/>
              <a:t> classes have </a:t>
            </a:r>
            <a:r>
              <a:rPr lang="en"/>
              <a:t>their</a:t>
            </a:r>
            <a:r>
              <a:rPr lang="en"/>
              <a:t> own specific attributes; `Student` class has id, faculty and </a:t>
            </a:r>
            <a:r>
              <a:rPr lang="en"/>
              <a:t>graduation</a:t>
            </a:r>
            <a:r>
              <a:rPr lang="en"/>
              <a:t> year while employee has department and salary. Also the derived classes have their own specific methods. The bottom line is that we can derive any number of classes with its specific attributes and methods from a single class. Let’s see different types of inheritances possible in Python.</a:t>
            </a:r>
            <a:endParaRPr/>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03" name="Google Shape;403;gb9ce9180a6_0_158: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404" name="Google Shape;404;gb9ce9180a6_0_158: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Clr>
                <a:schemeClr val="dk1"/>
              </a:buClr>
              <a:buSzPts val="1100"/>
              <a:buFont typeface="Arial"/>
              <a:buNone/>
              <a:defRPr/>
            </a:pPr>
            <a:r>
              <a:rPr lang="en">
                <a:solidFill>
                  <a:schemeClr val="dk1"/>
                </a:solidFill>
              </a:rPr>
              <a:t>Here are four types of inheritances in Python. In figure a, we have a simple inheritance case where class B inherits from class A. In figure b, we have the case which we discussed earlier. Here, specific classes B, C and D inherit from a single general class A. Such a case is called hierarchical inheritance. Similarly, in figure c, we have a multilevel inheritance. Here class B inherits from class A and class C inherits from B. Likewise, in figure D, we have multiple inheritances where a single class C derives from multiple classes A and B. Let’s see yet another example of multilevel inheritance and we’ll see how to implement it in code.</a:t>
            </a:r>
            <a:endParaRPr>
              <a:solidFill>
                <a:schemeClr val="dk1"/>
              </a:solidFill>
            </a:endParaRPr>
          </a:p>
          <a:p>
            <a:pPr marL="0" lvl="0" indent="0" algn="l">
              <a:spcBef>
                <a:spcPts val="0"/>
              </a:spcBef>
              <a:spcAft>
                <a:spcPts val="0"/>
              </a:spcAft>
              <a:buClr>
                <a:schemeClr val="dk1"/>
              </a:buClr>
              <a:buSzPts val="1100"/>
              <a:buFont typeface="Arial"/>
              <a:buNone/>
              <a:defRPr/>
            </a:pPr>
            <a:endParaRPr>
              <a:solidFill>
                <a:schemeClr val="dk1"/>
              </a:solidFill>
            </a:endParaRPr>
          </a:p>
          <a:p>
            <a:pPr marL="0" lvl="0" indent="0" algn="l">
              <a:lnSpc>
                <a:spcPct val="114999"/>
              </a:lnSpc>
              <a:spcBef>
                <a:spcPts val="0"/>
              </a:spcBef>
              <a:spcAft>
                <a:spcPts val="0"/>
              </a:spcAft>
              <a:buClr>
                <a:schemeClr val="dk1"/>
              </a:buClr>
              <a:buSzPts val="1100"/>
              <a:buFont typeface="Arial"/>
              <a:buNone/>
              <a:defRPr/>
            </a:pPr>
            <a:endParaRPr>
              <a:solidFill>
                <a:schemeClr val="dk1"/>
              </a:solidFill>
            </a:endParaRPr>
          </a:p>
          <a:p>
            <a:pPr marL="0" lvl="0" indent="0" algn="l">
              <a:spcBef>
                <a:spcPts val="0"/>
              </a:spcBef>
              <a:spcAft>
                <a:spcPts val="0"/>
              </a:spcAft>
              <a:buNone/>
              <a:defRPr/>
            </a:pPr>
            <a:endParaRPr/>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13" name="Google Shape;413;gcbb24cae95_1_5: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414" name="Google Shape;414;gcbb24cae95_1_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r>
              <a:rPr lang="en"/>
              <a:t>L</a:t>
            </a:r>
            <a:r>
              <a:rPr lang="en"/>
              <a:t>et's take an example of researcher. A researcher can be both a student as well as an employee of a research lab. Hence, we create a Researcher class derived from Student and Employee. It has an additional attribute `lab` which is the name of the lab the researcher works in and a method `research`. Next, we’ll see this inheritance structure in Python. </a:t>
            </a:r>
            <a:endParaRPr/>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38" name="Google Shape;438;gcae3d470ba_0_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439" name="Google Shape;439;gcae3d470ba_0_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r>
              <a:rPr lang="en"/>
              <a:t>Here's the definition of the `Person` class, we had defined earlier.</a:t>
            </a:r>
            <a:endParaRPr/>
          </a:p>
          <a:p>
            <a:pPr marL="0" lvl="0" indent="0" algn="l">
              <a:spcBef>
                <a:spcPts val="0"/>
              </a:spcBef>
              <a:spcAft>
                <a:spcPts val="0"/>
              </a:spcAft>
              <a:buNone/>
              <a:defRPr/>
            </a:pPr>
            <a:endParaRPr/>
          </a:p>
          <a:p>
            <a:pPr marL="0" lvl="0" indent="0" algn="l">
              <a:spcBef>
                <a:spcPts val="0"/>
              </a:spcBef>
              <a:spcAft>
                <a:spcPts val="0"/>
              </a:spcAft>
              <a:buNone/>
              <a:defRPr/>
            </a:pPr>
            <a:r>
              <a:rPr lang="en"/>
              <a:t>And, here's the definition of `Student` class, which is derived from `Person`.</a:t>
            </a:r>
            <a:endParaRPr/>
          </a:p>
          <a:p>
            <a:pPr marL="0" lvl="0" indent="0" algn="l">
              <a:spcBef>
                <a:spcPts val="0"/>
              </a:spcBef>
              <a:spcAft>
                <a:spcPts val="0"/>
              </a:spcAft>
              <a:buNone/>
              <a:defRPr/>
            </a:pPr>
            <a:endParaRPr/>
          </a:p>
          <a:p>
            <a:pPr marL="0" lvl="0" indent="0" algn="l">
              <a:spcBef>
                <a:spcPts val="0"/>
              </a:spcBef>
              <a:spcAft>
                <a:spcPts val="0"/>
              </a:spcAft>
              <a:buNone/>
              <a:defRPr/>
            </a:pPr>
            <a:r>
              <a:rPr lang="en"/>
              <a:t>Similarly, here's the definition of `Employee` class, which is also derived from `Person`.</a:t>
            </a:r>
            <a:endParaRPr/>
          </a:p>
          <a:p>
            <a:pPr marL="0" lvl="0" indent="0" algn="l">
              <a:spcBef>
                <a:spcPts val="0"/>
              </a:spcBef>
              <a:spcAft>
                <a:spcPts val="0"/>
              </a:spcAft>
              <a:buNone/>
              <a:defRPr/>
            </a:pPr>
            <a:endParaRPr/>
          </a:p>
          <a:p>
            <a:pPr marL="0" lvl="0" indent="0" algn="l">
              <a:spcBef>
                <a:spcPts val="0"/>
              </a:spcBef>
              <a:spcAft>
                <a:spcPts val="0"/>
              </a:spcAft>
              <a:buNone/>
              <a:defRPr/>
            </a:pPr>
            <a:r>
              <a:rPr lang="en"/>
              <a:t>Finally, here's the `Researcher` class, which inherits from two classes: `Student` and `Employee`.</a:t>
            </a:r>
            <a:endParaRPr/>
          </a:p>
          <a:p>
            <a:pPr marL="0" lvl="0" indent="0" algn="l">
              <a:spcBef>
                <a:spcPts val="0"/>
              </a:spcBef>
              <a:spcAft>
                <a:spcPts val="0"/>
              </a:spcAft>
              <a:buNone/>
              <a:defRPr/>
            </a:pPr>
            <a:endParaRPr/>
          </a:p>
          <a:p>
            <a:pPr marL="0" lvl="0" indent="0" algn="l">
              <a:spcBef>
                <a:spcPts val="0"/>
              </a:spcBef>
              <a:spcAft>
                <a:spcPts val="0"/>
              </a:spcAft>
              <a:buNone/>
              <a:defRPr/>
            </a:pPr>
            <a:r>
              <a:rPr lang="en"/>
              <a:t>To represent that Research inherits from these two classes, we put them inside parentheses as shown here.</a:t>
            </a:r>
            <a:endParaRPr/>
          </a:p>
          <a:p>
            <a:pPr marL="0" lvl="0" indent="0" algn="l">
              <a:spcBef>
                <a:spcPts val="0"/>
              </a:spcBef>
              <a:spcAft>
                <a:spcPts val="0"/>
              </a:spcAft>
              <a:buNone/>
              <a:defRPr/>
            </a:pPr>
            <a:endParaRPr/>
          </a:p>
          <a:p>
            <a:pPr marL="0" lvl="0" indent="0" algn="l">
              <a:spcBef>
                <a:spcPts val="0"/>
              </a:spcBef>
              <a:spcAft>
                <a:spcPts val="0"/>
              </a:spcAft>
              <a:buNone/>
              <a:defRPr/>
            </a:pPr>
            <a:r>
              <a:rPr lang="en"/>
              <a:t>To add the name and age attributes in instances of `Researcher`, we use the  `__init__` function of `Person` class as shown here. Note, we've passed the self object explicitly.</a:t>
            </a:r>
            <a:endParaRPr/>
          </a:p>
          <a:p>
            <a:pPr marL="0" lvl="0" indent="0" algn="l">
              <a:spcBef>
                <a:spcPts val="0"/>
              </a:spcBef>
              <a:spcAft>
                <a:spcPts val="0"/>
              </a:spcAft>
              <a:buNone/>
              <a:defRPr/>
            </a:pPr>
            <a:endParaRPr/>
          </a:p>
          <a:p>
            <a:pPr marL="0" lvl="0" indent="0" algn="l">
              <a:spcBef>
                <a:spcPts val="0"/>
              </a:spcBef>
              <a:spcAft>
                <a:spcPts val="0"/>
              </a:spcAft>
              <a:buNone/>
              <a:defRPr/>
            </a:pPr>
            <a:r>
              <a:rPr lang="en"/>
              <a:t>Similarly, for student related attributes, we use the `__init__` function of `Student` class.</a:t>
            </a:r>
            <a:endParaRPr/>
          </a:p>
          <a:p>
            <a:pPr marL="0" lvl="0" indent="0" algn="l">
              <a:spcBef>
                <a:spcPts val="0"/>
              </a:spcBef>
              <a:spcAft>
                <a:spcPts val="0"/>
              </a:spcAft>
              <a:buNone/>
              <a:defRPr/>
            </a:pPr>
            <a:endParaRPr/>
          </a:p>
          <a:p>
            <a:pPr marL="0" lvl="0" indent="0" algn="l">
              <a:spcBef>
                <a:spcPts val="0"/>
              </a:spcBef>
              <a:spcAft>
                <a:spcPts val="0"/>
              </a:spcAft>
              <a:buNone/>
              <a:defRPr/>
            </a:pPr>
            <a:r>
              <a:rPr lang="en"/>
              <a:t>And for employee related attributes, we use the `__init__` function from `Employee` class.</a:t>
            </a:r>
            <a:endParaRPr/>
          </a:p>
          <a:p>
            <a:pPr marL="0" lvl="0" indent="0" algn="l">
              <a:spcBef>
                <a:spcPts val="0"/>
              </a:spcBef>
              <a:spcAft>
                <a:spcPts val="0"/>
              </a:spcAft>
              <a:buNone/>
              <a:defRPr/>
            </a:pPr>
            <a:endParaRPr/>
          </a:p>
          <a:p>
            <a:pPr marL="0" lvl="0" indent="0" algn="l">
              <a:spcBef>
                <a:spcPts val="0"/>
              </a:spcBef>
              <a:spcAft>
                <a:spcPts val="0"/>
              </a:spcAft>
              <a:buNone/>
              <a:defRPr/>
            </a:pPr>
            <a:r>
              <a:rPr lang="en"/>
              <a:t>Next, we define the `Researcher` specific attribute `lab`,</a:t>
            </a:r>
            <a:endParaRPr/>
          </a:p>
          <a:p>
            <a:pPr marL="0" lvl="0" indent="0" algn="l">
              <a:spcBef>
                <a:spcPts val="0"/>
              </a:spcBef>
              <a:spcAft>
                <a:spcPts val="0"/>
              </a:spcAft>
              <a:buNone/>
              <a:defRPr/>
            </a:pPr>
            <a:endParaRPr/>
          </a:p>
          <a:p>
            <a:pPr marL="0" lvl="0" indent="0" algn="l">
              <a:spcBef>
                <a:spcPts val="0"/>
              </a:spcBef>
              <a:spcAft>
                <a:spcPts val="0"/>
              </a:spcAft>
              <a:buNone/>
              <a:defRPr/>
            </a:pPr>
            <a:r>
              <a:rPr lang="en"/>
              <a:t>and a research method.</a:t>
            </a:r>
            <a:endParaRPr/>
          </a:p>
          <a:p>
            <a:pPr marL="0" lvl="0" indent="0" algn="l">
              <a:spcBef>
                <a:spcPts val="0"/>
              </a:spcBef>
              <a:spcAft>
                <a:spcPts val="0"/>
              </a:spcAft>
              <a:buNone/>
              <a:defRPr/>
            </a:pPr>
            <a:endParaRPr/>
          </a:p>
          <a:p>
            <a:pPr marL="0" lvl="0" indent="0" algn="l">
              <a:spcBef>
                <a:spcPts val="0"/>
              </a:spcBef>
              <a:spcAft>
                <a:spcPts val="0"/>
              </a:spcAft>
              <a:buNone/>
              <a:defRPr/>
            </a:pPr>
            <a:r>
              <a:rPr lang="en"/>
              <a:t>Let's instantiate a researcher instance and see its attributes and methods.</a:t>
            </a:r>
            <a:endParaRPr/>
          </a:p>
          <a:p>
            <a:pPr marL="0" lvl="0" indent="0" algn="l">
              <a:spcBef>
                <a:spcPts val="0"/>
              </a:spcBef>
              <a:spcAft>
                <a:spcPts val="0"/>
              </a:spcAft>
              <a:buNone/>
              <a:defRPr/>
            </a:pPr>
            <a:endParaRPr/>
          </a:p>
          <a:p>
            <a:pPr marL="0" lvl="0" indent="0" algn="l">
              <a:spcBef>
                <a:spcPts val="0"/>
              </a:spcBef>
              <a:spcAft>
                <a:spcPts val="0"/>
              </a:spcAft>
              <a:buNone/>
              <a:defRPr/>
            </a:pPr>
            <a:r>
              <a:rPr lang="en"/>
              <a:t>We use the dir method as before.</a:t>
            </a:r>
            <a:endParaRPr/>
          </a:p>
          <a:p>
            <a:pPr marL="0" lvl="0" indent="0" algn="l">
              <a:spcBef>
                <a:spcPts val="0"/>
              </a:spcBef>
              <a:spcAft>
                <a:spcPts val="0"/>
              </a:spcAft>
              <a:buNone/>
              <a:defRPr/>
            </a:pPr>
            <a:endParaRPr/>
          </a:p>
          <a:p>
            <a:pPr marL="0" lvl="0" indent="0" algn="l">
              <a:spcBef>
                <a:spcPts val="0"/>
              </a:spcBef>
              <a:spcAft>
                <a:spcPts val="0"/>
              </a:spcAft>
              <a:buNone/>
              <a:defRPr/>
            </a:pPr>
            <a:r>
              <a:rPr lang="en"/>
              <a:t>You can see the attributes name, age, lab, std_id, faculty, year, emp_id, salary and methods greet, get_grad_year, work and research.</a:t>
            </a:r>
            <a:endParaRPr/>
          </a:p>
          <a:p>
            <a:pPr marL="0" lvl="0" indent="0" algn="l">
              <a:spcBef>
                <a:spcPts val="0"/>
              </a:spcBef>
              <a:spcAft>
                <a:spcPts val="0"/>
              </a:spcAft>
              <a:buNone/>
              <a:defRPr/>
            </a:pPr>
            <a:endParaRPr/>
          </a:p>
          <a:p>
            <a:pPr marL="0" lvl="0" indent="0" algn="l">
              <a:spcBef>
                <a:spcPts val="0"/>
              </a:spcBef>
              <a:spcAft>
                <a:spcPts val="0"/>
              </a:spcAft>
              <a:buNone/>
              <a:defRPr/>
            </a:pPr>
            <a:endParaRPr/>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43" name="Google Shape;443;gb9ce9180a6_0_138: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444" name="Google Shape;444;gb9ce9180a6_0_138: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r>
              <a:rPr lang="en"/>
              <a:t>In this section, we’ll talk about method overriding in Python. Let’s directly jump into codes and see method overriding in action.</a:t>
            </a:r>
            <a:endParaRPr/>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48" name="Google Shape;448;gbb3fd497a0_0_48: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449" name="Google Shape;449;gbb3fd497a0_0_48: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r>
              <a:rPr lang="en"/>
              <a:t>Method overriding is a part of the inheritance mechanism. It is the property of a class to change the implementation of a method provided by one of its base classes. In Python method, overriding occurs by simply defining in the child class a method with the same name of a method in the parent class. Let's define a class named `Animal` with a method named `move`, which prints `Animal moves around.`.</a:t>
            </a:r>
            <a:endParaRPr/>
          </a:p>
          <a:p>
            <a:pPr marL="0" lvl="0" indent="0" algn="l">
              <a:spcBef>
                <a:spcPts val="0"/>
              </a:spcBef>
              <a:spcAft>
                <a:spcPts val="0"/>
              </a:spcAft>
              <a:buNone/>
              <a:defRPr/>
            </a:pPr>
            <a:endParaRPr/>
          </a:p>
          <a:p>
            <a:pPr marL="0" lvl="0" indent="0" algn="l">
              <a:spcBef>
                <a:spcPts val="0"/>
              </a:spcBef>
              <a:spcAft>
                <a:spcPts val="0"/>
              </a:spcAft>
              <a:buNone/>
              <a:defRPr/>
            </a:pPr>
            <a:r>
              <a:rPr lang="en"/>
              <a:t>Let's define some other specific classes: `Dog`, `Snake` and `Bird`, which are derived from the base class `Animal`. Well, a dog moves on its legs. So, we define the move method again. In other words, we override the method in the base class `Animal`.</a:t>
            </a:r>
            <a:endParaRPr/>
          </a:p>
          <a:p>
            <a:pPr marL="0" lvl="0" indent="0" algn="l">
              <a:spcBef>
                <a:spcPts val="0"/>
              </a:spcBef>
              <a:spcAft>
                <a:spcPts val="0"/>
              </a:spcAft>
              <a:buNone/>
              <a:defRPr/>
            </a:pPr>
            <a:endParaRPr/>
          </a:p>
          <a:p>
            <a:pPr marL="0" lvl="0" indent="0" algn="l">
              <a:spcBef>
                <a:spcPts val="0"/>
              </a:spcBef>
              <a:spcAft>
                <a:spcPts val="0"/>
              </a:spcAft>
              <a:buNone/>
              <a:defRPr/>
            </a:pPr>
            <a:r>
              <a:rPr lang="en"/>
              <a:t>Similarly, a snake crawls, Hence, we override the move method in Snake class as here.</a:t>
            </a:r>
            <a:endParaRPr/>
          </a:p>
          <a:p>
            <a:pPr marL="0" lvl="0" indent="0" algn="l">
              <a:spcBef>
                <a:spcPts val="0"/>
              </a:spcBef>
              <a:spcAft>
                <a:spcPts val="0"/>
              </a:spcAft>
              <a:buNone/>
              <a:defRPr/>
            </a:pPr>
            <a:endParaRPr/>
          </a:p>
          <a:p>
            <a:pPr marL="0" lvl="0" indent="0" algn="l">
              <a:spcBef>
                <a:spcPts val="0"/>
              </a:spcBef>
              <a:spcAft>
                <a:spcPts val="0"/>
              </a:spcAft>
              <a:buNone/>
              <a:defRPr/>
            </a:pPr>
            <a:r>
              <a:rPr lang="en"/>
              <a:t>Likewise, we override the move function in `Bird` class to show that a bird flies as here.</a:t>
            </a:r>
            <a:endParaRPr/>
          </a:p>
          <a:p>
            <a:pPr marL="0" lvl="0" indent="0" algn="l">
              <a:spcBef>
                <a:spcPts val="0"/>
              </a:spcBef>
              <a:spcAft>
                <a:spcPts val="0"/>
              </a:spcAft>
              <a:buNone/>
              <a:defRPr/>
            </a:pPr>
            <a:endParaRPr/>
          </a:p>
          <a:p>
            <a:pPr marL="0" lvl="0" indent="0" algn="l">
              <a:spcBef>
                <a:spcPts val="0"/>
              </a:spcBef>
              <a:spcAft>
                <a:spcPts val="0"/>
              </a:spcAft>
              <a:buNone/>
              <a:defRPr/>
            </a:pPr>
            <a:r>
              <a:rPr lang="en"/>
              <a:t>Let's now instantiate the derived classes.</a:t>
            </a:r>
            <a:endParaRPr/>
          </a:p>
          <a:p>
            <a:pPr marL="0" lvl="0" indent="0" algn="l">
              <a:spcBef>
                <a:spcPts val="0"/>
              </a:spcBef>
              <a:spcAft>
                <a:spcPts val="0"/>
              </a:spcAft>
              <a:buNone/>
              <a:defRPr/>
            </a:pPr>
            <a:endParaRPr/>
          </a:p>
          <a:p>
            <a:pPr marL="0" lvl="0" indent="0" algn="l">
              <a:spcBef>
                <a:spcPts val="0"/>
              </a:spcBef>
              <a:spcAft>
                <a:spcPts val="0"/>
              </a:spcAft>
              <a:buNone/>
              <a:defRPr/>
            </a:pPr>
            <a:r>
              <a:rPr lang="en"/>
              <a:t>And, call the move function in each instance.</a:t>
            </a:r>
            <a:endParaRPr/>
          </a:p>
          <a:p>
            <a:pPr marL="0" lvl="0" indent="0" algn="l">
              <a:spcBef>
                <a:spcPts val="0"/>
              </a:spcBef>
              <a:spcAft>
                <a:spcPts val="0"/>
              </a:spcAft>
              <a:buNone/>
              <a:defRPr/>
            </a:pPr>
            <a:endParaRPr/>
          </a:p>
          <a:p>
            <a:pPr marL="0" lvl="0" indent="0" algn="l">
              <a:spcBef>
                <a:spcPts val="0"/>
              </a:spcBef>
              <a:spcAft>
                <a:spcPts val="0"/>
              </a:spcAft>
              <a:buNone/>
              <a:defRPr/>
            </a:pPr>
            <a:r>
              <a:rPr lang="en"/>
              <a:t>As you can see, calling `move` function from each instance calls the method defined in each child `class`. This process is called method overriding. The `move` function which would print `Animal moves around.` has been over-ridden by the specific `move` functions in child classes.</a:t>
            </a:r>
            <a:endParaRPr/>
          </a:p>
          <a:p>
            <a:pPr marL="0" lvl="0" indent="0" algn="l">
              <a:spcBef>
                <a:spcPts val="0"/>
              </a:spcBef>
              <a:spcAft>
                <a:spcPts val="0"/>
              </a:spcAft>
              <a:buNone/>
              <a:defRPr/>
            </a:pPr>
            <a:endParaRPr/>
          </a:p>
          <a:p>
            <a:pPr marL="0" lvl="0" indent="0" algn="l">
              <a:spcBef>
                <a:spcPts val="0"/>
              </a:spcBef>
              <a:spcAft>
                <a:spcPts val="0"/>
              </a:spcAft>
              <a:buNone/>
              <a:defRPr/>
            </a:pPr>
            <a:endParaRPr/>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53" name="Google Shape;453;gb9ce9180a6_0_143: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454" name="Google Shape;454;gb9ce9180a6_0_143: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Clr>
                <a:schemeClr val="dk1"/>
              </a:buClr>
              <a:buSzPts val="1100"/>
              <a:buFont typeface="Arial"/>
              <a:buNone/>
              <a:defRPr/>
            </a:pPr>
            <a:r>
              <a:rPr lang="en">
                <a:solidFill>
                  <a:schemeClr val="dk1"/>
                </a:solidFill>
              </a:rPr>
              <a:t>In this section, we’ll talk about operator overloading in Python. Let’s directly jump into codes and see operator overloading in action.</a:t>
            </a:r>
            <a:endParaRPr>
              <a:solidFill>
                <a:schemeClr val="dk1"/>
              </a:solidFill>
            </a:endParaRPr>
          </a:p>
          <a:p>
            <a:pPr marL="0" lvl="0" indent="0" algn="l">
              <a:spcBef>
                <a:spcPts val="0"/>
              </a:spcBef>
              <a:spcAft>
                <a:spcPts val="0"/>
              </a:spcAft>
              <a:buNone/>
              <a:defRPr/>
            </a:pPr>
            <a:endParaRPr/>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58" name="Google Shape;458;gbb3fd497a0_0_52: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459" name="Google Shape;459;gbb3fd497a0_0_52: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r>
              <a:rPr lang="en"/>
              <a:t>Let's define a fraction class to represent fractions in mathematics, which has two numbers integer: numerator and denominator. </a:t>
            </a:r>
            <a:endParaRPr/>
          </a:p>
          <a:p>
            <a:pPr marL="0" lvl="0" indent="0" algn="l">
              <a:spcBef>
                <a:spcPts val="0"/>
              </a:spcBef>
              <a:spcAft>
                <a:spcPts val="0"/>
              </a:spcAft>
              <a:buNone/>
              <a:defRPr/>
            </a:pPr>
            <a:endParaRPr/>
          </a:p>
          <a:p>
            <a:pPr marL="0" lvl="0" indent="0" algn="l">
              <a:spcBef>
                <a:spcPts val="0"/>
              </a:spcBef>
              <a:spcAft>
                <a:spcPts val="0"/>
              </a:spcAft>
              <a:buNone/>
              <a:defRPr/>
            </a:pPr>
            <a:r>
              <a:rPr lang="en"/>
              <a:t>The initialization function takes in these two values </a:t>
            </a:r>
            <a:endParaRPr/>
          </a:p>
          <a:p>
            <a:pPr marL="0" lvl="0" indent="0" algn="l">
              <a:spcBef>
                <a:spcPts val="0"/>
              </a:spcBef>
              <a:spcAft>
                <a:spcPts val="0"/>
              </a:spcAft>
              <a:buNone/>
              <a:defRPr/>
            </a:pPr>
            <a:endParaRPr/>
          </a:p>
          <a:p>
            <a:pPr marL="0" lvl="0" indent="0" algn="l">
              <a:spcBef>
                <a:spcPts val="0"/>
              </a:spcBef>
              <a:spcAft>
                <a:spcPts val="0"/>
              </a:spcAft>
              <a:buNone/>
              <a:defRPr/>
            </a:pPr>
            <a:r>
              <a:rPr lang="en"/>
              <a:t>and calculates their highest common factor, hcf. We have defined a static function in this class named get_gcd for this. You can see it below. </a:t>
            </a:r>
            <a:endParaRPr/>
          </a:p>
          <a:p>
            <a:pPr marL="0" lvl="0" indent="0" algn="l">
              <a:spcBef>
                <a:spcPts val="0"/>
              </a:spcBef>
              <a:spcAft>
                <a:spcPts val="0"/>
              </a:spcAft>
              <a:buNone/>
              <a:defRPr/>
            </a:pPr>
            <a:endParaRPr/>
          </a:p>
          <a:p>
            <a:pPr marL="0" lvl="0" indent="0" algn="l">
              <a:spcBef>
                <a:spcPts val="0"/>
              </a:spcBef>
              <a:spcAft>
                <a:spcPts val="0"/>
              </a:spcAft>
              <a:buNone/>
              <a:defRPr/>
            </a:pPr>
            <a:r>
              <a:rPr lang="en"/>
              <a:t>And, then we store the numerator and denominator in n and d attributes respectively by dividing them by the hcf.</a:t>
            </a:r>
            <a:endParaRPr/>
          </a:p>
          <a:p>
            <a:pPr marL="0" lvl="0" indent="0" algn="l">
              <a:spcBef>
                <a:spcPts val="0"/>
              </a:spcBef>
              <a:spcAft>
                <a:spcPts val="0"/>
              </a:spcAft>
              <a:buNone/>
              <a:defRPr/>
            </a:pPr>
            <a:endParaRPr/>
          </a:p>
          <a:p>
            <a:pPr marL="0" lvl="0" indent="0" algn="l">
              <a:spcBef>
                <a:spcPts val="0"/>
              </a:spcBef>
              <a:spcAft>
                <a:spcPts val="0"/>
              </a:spcAft>
              <a:buNone/>
              <a:defRPr/>
            </a:pPr>
            <a:r>
              <a:rPr lang="en"/>
              <a:t>Next, let's create two fraction instances frac1 and frac2 with same values for numerator and denominator. 3 for numerator and 5 for denominator.</a:t>
            </a:r>
            <a:endParaRPr/>
          </a:p>
          <a:p>
            <a:pPr marL="0" lvl="0" indent="0" algn="l">
              <a:spcBef>
                <a:spcPts val="0"/>
              </a:spcBef>
              <a:spcAft>
                <a:spcPts val="0"/>
              </a:spcAft>
              <a:buNone/>
              <a:defRPr/>
            </a:pPr>
            <a:endParaRPr/>
          </a:p>
          <a:p>
            <a:pPr marL="0" lvl="0" indent="0" algn="l">
              <a:spcBef>
                <a:spcPts val="0"/>
              </a:spcBef>
              <a:spcAft>
                <a:spcPts val="0"/>
              </a:spcAft>
              <a:buNone/>
              <a:defRPr/>
            </a:pPr>
            <a:r>
              <a:rPr lang="en"/>
              <a:t>Mathematically, these two fractions must be equal since they have same numerator and denominator. Let's equate them.</a:t>
            </a:r>
            <a:endParaRPr/>
          </a:p>
          <a:p>
            <a:pPr marL="0" lvl="0" indent="0" algn="l">
              <a:spcBef>
                <a:spcPts val="0"/>
              </a:spcBef>
              <a:spcAft>
                <a:spcPts val="0"/>
              </a:spcAft>
              <a:buNone/>
              <a:defRPr/>
            </a:pPr>
            <a:endParaRPr/>
          </a:p>
          <a:p>
            <a:pPr marL="0" lvl="0" indent="0" algn="l">
              <a:spcBef>
                <a:spcPts val="0"/>
              </a:spcBef>
              <a:spcAft>
                <a:spcPts val="0"/>
              </a:spcAft>
              <a:buNone/>
              <a:defRPr/>
            </a:pPr>
            <a:r>
              <a:rPr lang="en"/>
              <a:t>We got false. This is not what we expect mathematically. But it's what we get in Python. Why? Because they are two different instances and Python doesn't care if they are mathematical fractions or any other entities. But in some cases, we may require such comparison to return `True`. Suppose we might be developing a mathematical toolbox. How can we enforce this?</a:t>
            </a:r>
            <a:endParaRPr/>
          </a:p>
          <a:p>
            <a:pPr marL="0" lvl="0" indent="0" algn="l">
              <a:spcBef>
                <a:spcPts val="0"/>
              </a:spcBef>
              <a:spcAft>
                <a:spcPts val="0"/>
              </a:spcAft>
              <a:buNone/>
              <a:defRPr/>
            </a:pPr>
            <a:endParaRPr/>
          </a:p>
          <a:p>
            <a:pPr marL="0" lvl="0" indent="0" algn="l">
              <a:spcBef>
                <a:spcPts val="0"/>
              </a:spcBef>
              <a:spcAft>
                <a:spcPts val="0"/>
              </a:spcAft>
              <a:buNone/>
              <a:defRPr/>
            </a:pPr>
            <a:r>
              <a:rPr lang="en"/>
              <a:t>Here arises the concept of operator overloading. We can overload the equals to operator. </a:t>
            </a:r>
            <a:endParaRPr/>
          </a:p>
          <a:p>
            <a:pPr marL="0" lvl="0" indent="0" algn="l">
              <a:spcBef>
                <a:spcPts val="0"/>
              </a:spcBef>
              <a:spcAft>
                <a:spcPts val="0"/>
              </a:spcAft>
              <a:buNone/>
              <a:defRPr/>
            </a:pPr>
            <a:endParaRPr/>
          </a:p>
          <a:p>
            <a:pPr marL="0" lvl="0" indent="0" algn="l">
              <a:spcBef>
                <a:spcPts val="0"/>
              </a:spcBef>
              <a:spcAft>
                <a:spcPts val="0"/>
              </a:spcAft>
              <a:buNone/>
              <a:defRPr/>
            </a:pPr>
            <a:r>
              <a:rPr lang="en"/>
              <a:t>Here's how we do it. Everything above in this class is the same code we discussed earlier. We override the `__eq__` function. Notice the first parameter is the `self` object and the second parameter is the another operand so we named the parameter as `other`/</a:t>
            </a:r>
            <a:endParaRPr/>
          </a:p>
          <a:p>
            <a:pPr marL="0" lvl="0" indent="0" algn="l">
              <a:spcBef>
                <a:spcPts val="0"/>
              </a:spcBef>
              <a:spcAft>
                <a:spcPts val="0"/>
              </a:spcAft>
              <a:buNone/>
              <a:defRPr/>
            </a:pPr>
            <a:endParaRPr/>
          </a:p>
          <a:p>
            <a:pPr marL="0" lvl="0" indent="0" algn="l">
              <a:spcBef>
                <a:spcPts val="0"/>
              </a:spcBef>
              <a:spcAft>
                <a:spcPts val="0"/>
              </a:spcAft>
              <a:buNone/>
              <a:defRPr/>
            </a:pPr>
            <a:r>
              <a:rPr lang="en"/>
              <a:t>Since the result of equals to comparison is either True or False, we need to return a bool value. And mathematically we say if both numerator and denominator are equal, the fractions are equal, which can be tested as here. Remember that the self parameter receives the first operand and the other parameter receives the another operand.</a:t>
            </a:r>
            <a:endParaRPr/>
          </a:p>
          <a:p>
            <a:pPr marL="0" lvl="0" indent="0" algn="l">
              <a:spcBef>
                <a:spcPts val="0"/>
              </a:spcBef>
              <a:spcAft>
                <a:spcPts val="0"/>
              </a:spcAft>
              <a:buNone/>
              <a:defRPr/>
            </a:pPr>
            <a:endParaRPr/>
          </a:p>
          <a:p>
            <a:pPr marL="0" lvl="0" indent="0" algn="l">
              <a:spcBef>
                <a:spcPts val="0"/>
              </a:spcBef>
              <a:spcAft>
                <a:spcPts val="0"/>
              </a:spcAft>
              <a:buNone/>
              <a:defRPr/>
            </a:pPr>
            <a:r>
              <a:rPr lang="en"/>
              <a:t>We have defined the class by overloading the equals operator. Let's create two instances as before with same numerator and denomin</a:t>
            </a:r>
            <a:r>
              <a:rPr lang="en">
                <a:solidFill>
                  <a:schemeClr val="dk1"/>
                </a:solidFill>
              </a:rPr>
              <a:t>a</a:t>
            </a:r>
            <a:r>
              <a:rPr lang="en"/>
              <a:t>tor, 3 and 5 respectively.</a:t>
            </a:r>
            <a:endParaRPr/>
          </a:p>
          <a:p>
            <a:pPr marL="0" lvl="0" indent="0" algn="l">
              <a:spcBef>
                <a:spcPts val="0"/>
              </a:spcBef>
              <a:spcAft>
                <a:spcPts val="0"/>
              </a:spcAft>
              <a:buNone/>
              <a:defRPr/>
            </a:pPr>
            <a:endParaRPr/>
          </a:p>
          <a:p>
            <a:pPr marL="0" lvl="0" indent="0" algn="l">
              <a:spcBef>
                <a:spcPts val="0"/>
              </a:spcBef>
              <a:spcAft>
                <a:spcPts val="0"/>
              </a:spcAft>
              <a:buNone/>
              <a:defRPr/>
            </a:pPr>
            <a:r>
              <a:rPr lang="en"/>
              <a:t>Let's check if they're equal.</a:t>
            </a:r>
            <a:endParaRPr/>
          </a:p>
          <a:p>
            <a:pPr marL="0" lvl="0" indent="0" algn="l">
              <a:spcBef>
                <a:spcPts val="0"/>
              </a:spcBef>
              <a:spcAft>
                <a:spcPts val="0"/>
              </a:spcAft>
              <a:buNone/>
              <a:defRPr/>
            </a:pPr>
            <a:endParaRPr/>
          </a:p>
          <a:p>
            <a:pPr marL="0" lvl="0" indent="0" algn="l">
              <a:spcBef>
                <a:spcPts val="0"/>
              </a:spcBef>
              <a:spcAft>
                <a:spcPts val="0"/>
              </a:spcAft>
              <a:buNone/>
              <a:defRPr/>
            </a:pPr>
            <a:r>
              <a:rPr lang="en"/>
              <a:t>It returns True. Hence, we achieved our goal to align fraction instances to check if two functions are equal mathematically. We talked about the equals to operator. Besides, we can overload other operators too. Let's see some examples next.</a:t>
            </a:r>
            <a:endParaRPr/>
          </a:p>
          <a:p>
            <a:pPr marL="0" lvl="0" indent="0" algn="l">
              <a:spcBef>
                <a:spcPts val="0"/>
              </a:spcBef>
              <a:spcAft>
                <a:spcPts val="0"/>
              </a:spcAft>
              <a:buNone/>
              <a:defRPr/>
            </a:pPr>
            <a:endParaRPr/>
          </a:p>
          <a:p>
            <a:pPr marL="0" lvl="0" indent="0" algn="l">
              <a:spcBef>
                <a:spcPts val="0"/>
              </a:spcBef>
              <a:spcAft>
                <a:spcPts val="0"/>
              </a:spcAft>
              <a:buNone/>
              <a:defRPr/>
            </a:pPr>
            <a:r>
              <a:rPr lang="en"/>
              <a:t>Here, we overload the addition operator, which is represented by double underscore add double underscore. As before we pass the self and other parameters, which represents two operands of the addition operator.</a:t>
            </a:r>
            <a:endParaRPr/>
          </a:p>
          <a:p>
            <a:pPr marL="0" lvl="0" indent="0" algn="l">
              <a:spcBef>
                <a:spcPts val="0"/>
              </a:spcBef>
              <a:spcAft>
                <a:spcPts val="0"/>
              </a:spcAft>
              <a:buNone/>
              <a:defRPr/>
            </a:pPr>
            <a:endParaRPr/>
          </a:p>
          <a:p>
            <a:pPr marL="0" lvl="0" indent="0" algn="l">
              <a:spcBef>
                <a:spcPts val="0"/>
              </a:spcBef>
              <a:spcAft>
                <a:spcPts val="0"/>
              </a:spcAft>
              <a:buNone/>
              <a:defRPr/>
            </a:pPr>
            <a:r>
              <a:rPr lang="en"/>
              <a:t>Here's the mathematical logic to implement fraction addition.</a:t>
            </a:r>
            <a:endParaRPr/>
          </a:p>
          <a:p>
            <a:pPr marL="0" lvl="0" indent="0" algn="l">
              <a:spcBef>
                <a:spcPts val="0"/>
              </a:spcBef>
              <a:spcAft>
                <a:spcPts val="0"/>
              </a:spcAft>
              <a:buNone/>
              <a:defRPr/>
            </a:pPr>
            <a:endParaRPr/>
          </a:p>
          <a:p>
            <a:pPr marL="0" lvl="0" indent="0" algn="l">
              <a:spcBef>
                <a:spcPts val="0"/>
              </a:spcBef>
              <a:spcAft>
                <a:spcPts val="0"/>
              </a:spcAft>
              <a:buNone/>
              <a:defRPr/>
            </a:pPr>
            <a:r>
              <a:rPr lang="en"/>
              <a:t>And, here we overload the subtraction operator, represented by double underscore sub double underscore.</a:t>
            </a:r>
            <a:endParaRPr/>
          </a:p>
          <a:p>
            <a:pPr marL="0" lvl="0" indent="0" algn="l">
              <a:spcBef>
                <a:spcPts val="0"/>
              </a:spcBef>
              <a:spcAft>
                <a:spcPts val="0"/>
              </a:spcAft>
              <a:buNone/>
              <a:defRPr/>
            </a:pPr>
            <a:endParaRPr/>
          </a:p>
          <a:p>
            <a:pPr marL="0" lvl="0" indent="0" algn="l">
              <a:spcBef>
                <a:spcPts val="0"/>
              </a:spcBef>
              <a:spcAft>
                <a:spcPts val="0"/>
              </a:spcAft>
              <a:buNone/>
              <a:defRPr/>
            </a:pPr>
            <a:r>
              <a:rPr lang="en"/>
              <a:t>Similarly, double underscore mul double underscore represents the multiplication operator. </a:t>
            </a:r>
            <a:endParaRPr/>
          </a:p>
          <a:p>
            <a:pPr marL="0" lvl="0" indent="0" algn="l">
              <a:spcBef>
                <a:spcPts val="0"/>
              </a:spcBef>
              <a:spcAft>
                <a:spcPts val="0"/>
              </a:spcAft>
              <a:buNone/>
              <a:defRPr/>
            </a:pPr>
            <a:endParaRPr/>
          </a:p>
          <a:p>
            <a:pPr marL="0" lvl="0" indent="0" algn="l">
              <a:spcBef>
                <a:spcPts val="0"/>
              </a:spcBef>
              <a:spcAft>
                <a:spcPts val="0"/>
              </a:spcAft>
              <a:buNone/>
              <a:defRPr/>
            </a:pPr>
            <a:r>
              <a:rPr lang="en"/>
              <a:t>Likewise, double underscore truediv double underscore represents the integer division .</a:t>
            </a:r>
            <a:endParaRPr/>
          </a:p>
          <a:p>
            <a:pPr marL="0" lvl="0" indent="0" algn="l">
              <a:spcBef>
                <a:spcPts val="0"/>
              </a:spcBef>
              <a:spcAft>
                <a:spcPts val="0"/>
              </a:spcAft>
              <a:buNone/>
              <a:defRPr/>
            </a:pPr>
            <a:endParaRPr/>
          </a:p>
          <a:p>
            <a:pPr marL="0" lvl="0" indent="0" algn="l">
              <a:spcBef>
                <a:spcPts val="0"/>
              </a:spcBef>
              <a:spcAft>
                <a:spcPts val="0"/>
              </a:spcAft>
              <a:buNone/>
              <a:defRPr/>
            </a:pPr>
            <a:r>
              <a:rPr lang="en"/>
              <a:t>And, defining double underscore pow double underscore method works to overload the exponentiation operator.</a:t>
            </a:r>
            <a:endParaRPr/>
          </a:p>
          <a:p>
            <a:pPr marL="0" lvl="0" indent="0" algn="l">
              <a:spcBef>
                <a:spcPts val="0"/>
              </a:spcBef>
              <a:spcAft>
                <a:spcPts val="0"/>
              </a:spcAft>
              <a:buNone/>
              <a:defRPr/>
            </a:pPr>
            <a:endParaRPr/>
          </a:p>
          <a:p>
            <a:pPr marL="0" lvl="0" indent="0" algn="l">
              <a:spcBef>
                <a:spcPts val="0"/>
              </a:spcBef>
              <a:spcAft>
                <a:spcPts val="0"/>
              </a:spcAft>
              <a:buNone/>
              <a:defRPr/>
            </a:pPr>
            <a:r>
              <a:rPr lang="en"/>
              <a:t>Here, we've implemented the __str__ method. It allows prettifying the string notation of the instance object.  </a:t>
            </a:r>
            <a:endParaRPr/>
          </a:p>
          <a:p>
            <a:pPr marL="0" lvl="0" indent="0" algn="l">
              <a:spcBef>
                <a:spcPts val="0"/>
              </a:spcBef>
              <a:spcAft>
                <a:spcPts val="0"/>
              </a:spcAft>
              <a:buNone/>
              <a:defRPr/>
            </a:pPr>
            <a:endParaRPr/>
          </a:p>
          <a:p>
            <a:pPr marL="0" lvl="0" indent="0" algn="l">
              <a:spcBef>
                <a:spcPts val="0"/>
              </a:spcBef>
              <a:spcAft>
                <a:spcPts val="0"/>
              </a:spcAft>
              <a:buClr>
                <a:schemeClr val="dk1"/>
              </a:buClr>
              <a:buSzPts val="1100"/>
              <a:buFont typeface="Arial"/>
              <a:buNone/>
              <a:defRPr/>
            </a:pPr>
            <a:r>
              <a:rPr lang="en"/>
              <a:t>We have implemented the method to represent function as numerator value by denominator value.</a:t>
            </a:r>
            <a:endParaRPr/>
          </a:p>
          <a:p>
            <a:pPr marL="0" lvl="0" indent="0" algn="l">
              <a:spcBef>
                <a:spcPts val="0"/>
              </a:spcBef>
              <a:spcAft>
                <a:spcPts val="0"/>
              </a:spcAft>
              <a:buClr>
                <a:schemeClr val="dk1"/>
              </a:buClr>
              <a:buSzPts val="1100"/>
              <a:buFont typeface="Arial"/>
              <a:buNone/>
              <a:defRPr/>
            </a:pPr>
            <a:endParaRPr/>
          </a:p>
          <a:p>
            <a:pPr marL="0" lvl="0" indent="0" algn="l">
              <a:spcBef>
                <a:spcPts val="0"/>
              </a:spcBef>
              <a:spcAft>
                <a:spcPts val="0"/>
              </a:spcAft>
              <a:buNone/>
              <a:defRPr/>
            </a:pPr>
            <a:r>
              <a:rPr lang="en"/>
              <a:t>Let's create fraction instances `frac1` and `frac2`. </a:t>
            </a:r>
            <a:endParaRPr/>
          </a:p>
          <a:p>
            <a:pPr marL="0" lvl="0" indent="0" algn="l">
              <a:spcBef>
                <a:spcPts val="0"/>
              </a:spcBef>
              <a:spcAft>
                <a:spcPts val="0"/>
              </a:spcAft>
              <a:buNone/>
              <a:defRPr/>
            </a:pPr>
            <a:endParaRPr/>
          </a:p>
          <a:p>
            <a:pPr marL="0" lvl="0" indent="0" algn="l">
              <a:spcBef>
                <a:spcPts val="0"/>
              </a:spcBef>
              <a:spcAft>
                <a:spcPts val="0"/>
              </a:spcAft>
              <a:buNone/>
              <a:defRPr/>
            </a:pPr>
            <a:r>
              <a:rPr lang="en"/>
              <a:t>Let's add, subtract, multiply, divide and square these fractions. Since, we've overloaded these operators, we can simply use the operators directly as below.</a:t>
            </a:r>
            <a:endParaRPr/>
          </a:p>
          <a:p>
            <a:pPr marL="0" lvl="0" indent="0" algn="l">
              <a:spcBef>
                <a:spcPts val="0"/>
              </a:spcBef>
              <a:spcAft>
                <a:spcPts val="0"/>
              </a:spcAft>
              <a:buNone/>
              <a:defRPr/>
            </a:pPr>
            <a:endParaRPr/>
          </a:p>
          <a:p>
            <a:pPr marL="0" lvl="0" indent="0" algn="l">
              <a:spcBef>
                <a:spcPts val="0"/>
              </a:spcBef>
              <a:spcAft>
                <a:spcPts val="0"/>
              </a:spcAft>
              <a:buNone/>
              <a:defRPr/>
            </a:pPr>
            <a:r>
              <a:rPr lang="en"/>
              <a:t>Let's print the values of the above calculations.</a:t>
            </a:r>
            <a:endParaRPr/>
          </a:p>
          <a:p>
            <a:pPr marL="0" lvl="0" indent="0" algn="l">
              <a:spcBef>
                <a:spcPts val="0"/>
              </a:spcBef>
              <a:spcAft>
                <a:spcPts val="0"/>
              </a:spcAft>
              <a:buNone/>
              <a:defRPr/>
            </a:pPr>
            <a:endParaRPr/>
          </a:p>
          <a:p>
            <a:pPr marL="0" lvl="0" indent="0" algn="l">
              <a:spcBef>
                <a:spcPts val="0"/>
              </a:spcBef>
              <a:spcAft>
                <a:spcPts val="0"/>
              </a:spcAft>
              <a:buNone/>
              <a:defRPr/>
            </a:pPr>
            <a:r>
              <a:rPr lang="en"/>
              <a:t>You can observe that the sum, difference and so on are printed for the two fractions.</a:t>
            </a:r>
            <a:endParaRPr/>
          </a:p>
          <a:p>
            <a:pPr marL="0" lvl="0" indent="0" algn="l">
              <a:spcBef>
                <a:spcPts val="0"/>
              </a:spcBef>
              <a:spcAft>
                <a:spcPts val="0"/>
              </a:spcAft>
              <a:buNone/>
              <a:defRPr/>
            </a:pPr>
            <a:endParaRPr/>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63" name="Google Shape;463;gbb06d4a93e_1_1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464" name="Google Shape;464;gbb06d4a93e_1_11: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r>
              <a:rPr lang="en"/>
              <a:t>Here we show the operators and their </a:t>
            </a:r>
            <a:r>
              <a:rPr lang="en"/>
              <a:t>corresponding functions that need to be overridden for operator overloading in python. In the left, we have arithmetic operators and on the right we have comparison operators. For overriding plus `+` operator, we need to override `__add__()` method. Similarly,for minus operator, we need to override `__sub__()` method and so on. This list will be provided in your reading material for this chapter. You can find them and use whenever you require to. </a:t>
            </a:r>
            <a:endParaRPr/>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slide" preserve="0" showMasterPhAnim="0" showMasterSp="1" type="title" userDrawn="1">
  <p:cSld name="TITLE">
    <p:bg>
      <p:bgPr shadeToTitle="0">
        <a:blipFill>
          <a:blip r:embed="rId2">
            <a:alphaModFix/>
          </a:blip>
          <a:stretch/>
        </a:blipFill>
      </p:bgPr>
    </p:bg>
    <p:spTree>
      <p:nvGrpSpPr>
        <p:cNvPr id="1" name=""/>
        <p:cNvGrpSpPr/>
        <p:nvPr/>
      </p:nvGrpSpPr>
      <p:grpSpPr bwMode="auto">
        <a:xfrm>
          <a:off x="0" y="0"/>
          <a:ext cx="0" cy="0"/>
          <a:chOff x="0" y="0"/>
          <a:chExt cx="0" cy="0"/>
        </a:xfrm>
      </p:grpSpPr>
      <p:sp>
        <p:nvSpPr>
          <p:cNvPr id="10" name="Google Shape;10;p2"/>
          <p:cNvSpPr txBox="1"/>
          <p:nvPr>
            <p:ph type="ctrTitle"/>
          </p:nvPr>
        </p:nvSpPr>
        <p:spPr bwMode="auto">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FFFFFF"/>
              </a:buClr>
              <a:buSzPts val="3400"/>
              <a:buNone/>
              <a:defRPr sz="3400" b="1">
                <a:solidFill>
                  <a:srgbClr val="FFFFFF"/>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pPr>
              <a:defRPr/>
            </a:pPr>
            <a:endParaRPr/>
          </a:p>
        </p:txBody>
      </p:sp>
      <p:sp>
        <p:nvSpPr>
          <p:cNvPr id="11" name="Google Shape;11;p2"/>
          <p:cNvSpPr txBox="1"/>
          <p:nvPr>
            <p:ph type="subTitle" idx="1"/>
          </p:nvPr>
        </p:nvSpPr>
        <p:spPr bwMode="auto">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rgbClr val="FFFFFF"/>
              </a:buClr>
              <a:buSzPts val="2600"/>
              <a:buNone/>
              <a:defRPr sz="2600">
                <a:solidFill>
                  <a:srgbClr val="FFFFFF"/>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pPr>
              <a:defRPr/>
            </a:pPr>
            <a:endParaRPr/>
          </a:p>
        </p:txBody>
      </p:sp>
      <p:sp>
        <p:nvSpPr>
          <p:cNvPr id="12" name="Google Shape;12;p2"/>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en"/>
              <a:t>‹#›</a:t>
            </a:fld>
            <a:endParaRPr/>
          </a:p>
        </p:txBody>
      </p:sp>
      <p:pic>
        <p:nvPicPr>
          <p:cNvPr id="13" name="Google Shape;13;p2" descr="C:\Users\lt107\Desktop\3x\Asset 1@3x.png"/>
          <p:cNvPicPr/>
          <p:nvPr/>
        </p:nvPicPr>
        <p:blipFill>
          <a:blip r:embed="rId3">
            <a:alphaModFix/>
          </a:blip>
          <a:srcRect l="0" t="0" r="0" b="0"/>
          <a:stretch/>
        </p:blipFill>
        <p:spPr bwMode="auto">
          <a:xfrm>
            <a:off x="7696200" y="438149"/>
            <a:ext cx="1002030" cy="32988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redits" preserve="0" showMasterPhAnim="0" showMasterSp="1" userDrawn="1">
  <p:cSld name="TITLE_1">
    <p:bg>
      <p:bgPr shadeToTitle="0">
        <a:blipFill>
          <a:blip r:embed="rId2">
            <a:alphaModFix/>
          </a:blip>
          <a:stretch/>
        </a:blipFill>
      </p:bgPr>
    </p:bg>
    <p:spTree>
      <p:nvGrpSpPr>
        <p:cNvPr id="1" name=""/>
        <p:cNvGrpSpPr/>
        <p:nvPr/>
      </p:nvGrpSpPr>
      <p:grpSpPr bwMode="auto">
        <a:xfrm>
          <a:off x="0" y="0"/>
          <a:ext cx="0" cy="0"/>
          <a:chOff x="0" y="0"/>
          <a:chExt cx="0" cy="0"/>
        </a:xfrm>
      </p:grpSpPr>
      <p:sp>
        <p:nvSpPr>
          <p:cNvPr id="15" name="Google Shape;15;p3"/>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en"/>
              <a:t>‹#›</a:t>
            </a:fld>
            <a:endParaRPr/>
          </a:p>
        </p:txBody>
      </p:sp>
      <p:pic>
        <p:nvPicPr>
          <p:cNvPr id="16" name="Google Shape;16;p3" descr="C:\Users\lt107\Desktop\3x\Asset 1@3x.png"/>
          <p:cNvPicPr/>
          <p:nvPr/>
        </p:nvPicPr>
        <p:blipFill>
          <a:blip r:embed="rId3">
            <a:alphaModFix/>
          </a:blip>
          <a:srcRect l="0" t="0" r="0" b="0"/>
          <a:stretch/>
        </p:blipFill>
        <p:spPr bwMode="auto">
          <a:xfrm>
            <a:off x="7696200" y="438149"/>
            <a:ext cx="1002030" cy="329886"/>
          </a:xfrm>
          <a:prstGeom prst="rect">
            <a:avLst/>
          </a:prstGeom>
          <a:noFill/>
          <a:ln>
            <a:noFill/>
          </a:ln>
        </p:spPr>
      </p:pic>
      <p:sp>
        <p:nvSpPr>
          <p:cNvPr id="17" name="Google Shape;17;p3"/>
          <p:cNvSpPr txBox="1"/>
          <p:nvPr/>
        </p:nvSpPr>
        <p:spPr bwMode="auto">
          <a:xfrm>
            <a:off x="661475" y="322225"/>
            <a:ext cx="2751300" cy="445800"/>
          </a:xfrm>
          <a:prstGeom prst="rect">
            <a:avLst/>
          </a:prstGeom>
          <a:noFill/>
          <a:ln>
            <a:noFill/>
          </a:ln>
        </p:spPr>
        <p:txBody>
          <a:bodyPr spcFirstLastPara="1" wrap="square" lIns="91425" tIns="91425" rIns="91425" bIns="91425" anchor="t" anchorCtr="0">
            <a:noAutofit/>
          </a:bodyPr>
          <a:lstStyle/>
          <a:p>
            <a:pPr marL="0" lvl="0" indent="0" algn="l">
              <a:spcBef>
                <a:spcPts val="0"/>
              </a:spcBef>
              <a:spcAft>
                <a:spcPts val="0"/>
              </a:spcAft>
              <a:buNone/>
              <a:defRPr/>
            </a:pPr>
            <a:r>
              <a:rPr lang="en" sz="2400" b="1">
                <a:solidFill>
                  <a:schemeClr val="lt1"/>
                </a:solidFill>
                <a:latin typeface="Montserrat"/>
                <a:ea typeface="Montserrat"/>
                <a:cs typeface="Montserrat"/>
              </a:rPr>
              <a:t>Credits: </a:t>
            </a:r>
            <a:endParaRPr sz="2400" b="1">
              <a:solidFill>
                <a:schemeClr val="lt1"/>
              </a:solidFill>
              <a:latin typeface="Montserrat"/>
              <a:ea typeface="Montserrat"/>
              <a:cs typeface="Montserrat"/>
            </a:endParaRPr>
          </a:p>
        </p:txBody>
      </p:sp>
      <p:sp>
        <p:nvSpPr>
          <p:cNvPr id="18" name="Google Shape;18;p3"/>
          <p:cNvSpPr txBox="1"/>
          <p:nvPr>
            <p:ph type="body" idx="1"/>
          </p:nvPr>
        </p:nvSpPr>
        <p:spPr bwMode="auto">
          <a:xfrm>
            <a:off x="661475" y="1152475"/>
            <a:ext cx="81708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Clr>
                <a:srgbClr val="FFFFFF"/>
              </a:buClr>
              <a:buSzPts val="1800"/>
              <a:buChar char="●"/>
              <a:defRPr>
                <a:solidFill>
                  <a:srgbClr val="FFFFFF"/>
                </a:solidFill>
              </a:defRPr>
            </a:lvl1pPr>
            <a:lvl2pPr marL="914400" lvl="1" indent="-317500">
              <a:spcBef>
                <a:spcPts val="1600"/>
              </a:spcBef>
              <a:spcAft>
                <a:spcPts val="0"/>
              </a:spcAft>
              <a:buClr>
                <a:srgbClr val="FFFFFF"/>
              </a:buClr>
              <a:buSzPts val="1400"/>
              <a:buChar char="○"/>
              <a:defRPr>
                <a:solidFill>
                  <a:srgbClr val="FFFFFF"/>
                </a:solidFill>
              </a:defRPr>
            </a:lvl2pPr>
            <a:lvl3pPr marL="1371600" lvl="2" indent="-317500">
              <a:spcBef>
                <a:spcPts val="1600"/>
              </a:spcBef>
              <a:spcAft>
                <a:spcPts val="0"/>
              </a:spcAft>
              <a:buClr>
                <a:srgbClr val="FFFFFF"/>
              </a:buClr>
              <a:buSzPts val="1400"/>
              <a:buChar char="■"/>
              <a:defRPr>
                <a:solidFill>
                  <a:srgbClr val="FFFFFF"/>
                </a:solidFill>
              </a:defRPr>
            </a:lvl3pPr>
            <a:lvl4pPr marL="1828800" lvl="3" indent="-317500">
              <a:spcBef>
                <a:spcPts val="1600"/>
              </a:spcBef>
              <a:spcAft>
                <a:spcPts val="0"/>
              </a:spcAft>
              <a:buClr>
                <a:srgbClr val="FFFFFF"/>
              </a:buClr>
              <a:buSzPts val="1400"/>
              <a:buChar char="●"/>
              <a:defRPr>
                <a:solidFill>
                  <a:srgbClr val="FFFFFF"/>
                </a:solidFill>
              </a:defRPr>
            </a:lvl4pPr>
            <a:lvl5pPr marL="2286000" lvl="4" indent="-317500">
              <a:spcBef>
                <a:spcPts val="1600"/>
              </a:spcBef>
              <a:spcAft>
                <a:spcPts val="0"/>
              </a:spcAft>
              <a:buClr>
                <a:srgbClr val="FFFFFF"/>
              </a:buClr>
              <a:buSzPts val="1400"/>
              <a:buChar char="○"/>
              <a:defRPr>
                <a:solidFill>
                  <a:srgbClr val="FFFFFF"/>
                </a:solidFill>
              </a:defRPr>
            </a:lvl5pPr>
            <a:lvl6pPr marL="2743200" lvl="5" indent="-317500">
              <a:spcBef>
                <a:spcPts val="1600"/>
              </a:spcBef>
              <a:spcAft>
                <a:spcPts val="0"/>
              </a:spcAft>
              <a:buClr>
                <a:srgbClr val="FFFFFF"/>
              </a:buClr>
              <a:buSzPts val="1400"/>
              <a:buChar char="■"/>
              <a:defRPr>
                <a:solidFill>
                  <a:srgbClr val="FFFFFF"/>
                </a:solidFill>
              </a:defRPr>
            </a:lvl6pPr>
            <a:lvl7pPr marL="3200400" lvl="6" indent="-317500">
              <a:spcBef>
                <a:spcPts val="1600"/>
              </a:spcBef>
              <a:spcAft>
                <a:spcPts val="0"/>
              </a:spcAft>
              <a:buClr>
                <a:srgbClr val="FFFFFF"/>
              </a:buClr>
              <a:buSzPts val="1400"/>
              <a:buChar char="●"/>
              <a:defRPr>
                <a:solidFill>
                  <a:srgbClr val="FFFFFF"/>
                </a:solidFill>
              </a:defRPr>
            </a:lvl7pPr>
            <a:lvl8pPr marL="3657600" lvl="7" indent="-317500">
              <a:spcBef>
                <a:spcPts val="1600"/>
              </a:spcBef>
              <a:spcAft>
                <a:spcPts val="0"/>
              </a:spcAft>
              <a:buClr>
                <a:srgbClr val="FFFFFF"/>
              </a:buClr>
              <a:buSzPts val="1400"/>
              <a:buChar char="○"/>
              <a:defRPr>
                <a:solidFill>
                  <a:srgbClr val="FFFFFF"/>
                </a:solidFill>
              </a:defRPr>
            </a:lvl8pPr>
            <a:lvl9pPr marL="4114800" lvl="8" indent="-317500">
              <a:spcBef>
                <a:spcPts val="1600"/>
              </a:spcBef>
              <a:spcAft>
                <a:spcPts val="1600"/>
              </a:spcAft>
              <a:buClr>
                <a:srgbClr val="FFFFFF"/>
              </a:buClr>
              <a:buSzPts val="1400"/>
              <a:buChar char="■"/>
              <a:defRPr>
                <a:solidFill>
                  <a:srgbClr val="FFFFFF"/>
                </a:solidFill>
              </a:defRPr>
            </a:lvl9pPr>
          </a:lstStyle>
          <a:p>
            <a:pPr>
              <a:defRPr/>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header" preserve="0" showMasterPhAnim="0" showMasterSp="1" type="secHead" userDrawn="1">
  <p:cSld name="SECTION_HEADER">
    <p:bg>
      <p:bgPr shadeToTitle="0">
        <a:solidFill>
          <a:srgbClr val="58A4E2"/>
        </a:solidFill>
      </p:bgPr>
    </p:bg>
    <p:spTree>
      <p:nvGrpSpPr>
        <p:cNvPr id="1" name=""/>
        <p:cNvGrpSpPr/>
        <p:nvPr/>
      </p:nvGrpSpPr>
      <p:grpSpPr bwMode="auto">
        <a:xfrm>
          <a:off x="0" y="0"/>
          <a:ext cx="0" cy="0"/>
          <a:chOff x="0" y="0"/>
          <a:chExt cx="0" cy="0"/>
        </a:xfrm>
      </p:grpSpPr>
      <p:sp>
        <p:nvSpPr>
          <p:cNvPr id="20" name="Google Shape;20;p4"/>
          <p:cNvSpPr txBox="1"/>
          <p:nvPr>
            <p:ph type="title"/>
          </p:nvPr>
        </p:nvSpPr>
        <p:spPr bwMode="auto">
          <a:xfrm>
            <a:off x="540300" y="2990425"/>
            <a:ext cx="8093700" cy="1672800"/>
          </a:xfrm>
          <a:prstGeom prst="rect">
            <a:avLst/>
          </a:prstGeom>
        </p:spPr>
        <p:txBody>
          <a:bodyPr spcFirstLastPara="1" wrap="square" lIns="91425" tIns="91425" rIns="91425" bIns="91425" anchor="ctr" anchorCtr="0">
            <a:noAutofit/>
          </a:bodyPr>
          <a:lstStyle>
            <a:lvl1pPr lvl="0">
              <a:spcBef>
                <a:spcPts val="0"/>
              </a:spcBef>
              <a:spcAft>
                <a:spcPts val="0"/>
              </a:spcAft>
              <a:buClr>
                <a:srgbClr val="FFFFFF"/>
              </a:buClr>
              <a:buSzPts val="2800"/>
              <a:buNone/>
              <a:defRPr sz="2800" b="1">
                <a:solidFill>
                  <a:srgbClr val="FFFFFF"/>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pPr>
              <a:defRPr/>
            </a:pPr>
            <a:endParaRPr/>
          </a:p>
        </p:txBody>
      </p:sp>
      <p:sp>
        <p:nvSpPr>
          <p:cNvPr id="21" name="Google Shape;21;p4"/>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en"/>
              <a:t>‹#›</a:t>
            </a:fld>
            <a:endParaRPr/>
          </a:p>
        </p:txBody>
      </p:sp>
      <p:pic>
        <p:nvPicPr>
          <p:cNvPr id="22" name="Google Shape;22;p4" descr="C:\Users\lt107\Desktop\3x\Asset 1@3x.png"/>
          <p:cNvPicPr/>
          <p:nvPr/>
        </p:nvPicPr>
        <p:blipFill>
          <a:blip r:embed="rId2">
            <a:alphaModFix/>
          </a:blip>
          <a:srcRect l="0" t="0" r="0" b="0"/>
          <a:stretch/>
        </p:blipFill>
        <p:spPr bwMode="auto">
          <a:xfrm>
            <a:off x="540300" y="603125"/>
            <a:ext cx="1002030" cy="32988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body" preserve="0" showMasterPhAnim="0" showMasterSp="1" type="tx" userDrawn="1">
  <p:cSld name="TITLE_AND_BODY">
    <p:spTree>
      <p:nvGrpSpPr>
        <p:cNvPr id="1" name=""/>
        <p:cNvGrpSpPr/>
        <p:nvPr/>
      </p:nvGrpSpPr>
      <p:grpSpPr bwMode="auto">
        <a:xfrm>
          <a:off x="0" y="0"/>
          <a:ext cx="0" cy="0"/>
          <a:chOff x="0" y="0"/>
          <a:chExt cx="0" cy="0"/>
        </a:xfrm>
      </p:grpSpPr>
      <p:sp>
        <p:nvSpPr>
          <p:cNvPr id="24" name="Google Shape;24;p5"/>
          <p:cNvSpPr txBox="1"/>
          <p:nvPr>
            <p:ph type="title"/>
          </p:nvPr>
        </p:nvSpPr>
        <p:spPr bwMode="auto">
          <a:xfrm>
            <a:off x="311700" y="286500"/>
            <a:ext cx="8520600" cy="572700"/>
          </a:xfrm>
          <a:prstGeom prst="rect">
            <a:avLst/>
          </a:prstGeom>
        </p:spPr>
        <p:txBody>
          <a:bodyPr spcFirstLastPara="1" wrap="square" lIns="91425" tIns="91425" rIns="91425" bIns="91425" anchor="ctr" anchorCtr="0">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pPr>
              <a:defRPr/>
            </a:pPr>
            <a:endParaRPr/>
          </a:p>
        </p:txBody>
      </p:sp>
      <p:sp>
        <p:nvSpPr>
          <p:cNvPr id="25" name="Google Shape;25;p5"/>
          <p:cNvSpPr txBox="1"/>
          <p:nvPr>
            <p:ph type="body" idx="1"/>
          </p:nvPr>
        </p:nvSpPr>
        <p:spPr bwMode="auto">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pPr>
              <a:defRPr/>
            </a:pPr>
            <a:endParaRPr/>
          </a:p>
        </p:txBody>
      </p:sp>
      <p:sp>
        <p:nvSpPr>
          <p:cNvPr id="26" name="Google Shape;26;p5"/>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en"/>
              <a:t>‹#›</a:t>
            </a:fld>
            <a:endParaRPr/>
          </a:p>
        </p:txBody>
      </p:sp>
      <p:sp>
        <p:nvSpPr>
          <p:cNvPr id="27" name="Google Shape;27;p5"/>
          <p:cNvSpPr/>
          <p:nvPr/>
        </p:nvSpPr>
        <p:spPr bwMode="auto">
          <a:xfrm>
            <a:off x="0" y="326707"/>
            <a:ext cx="152400" cy="4923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a:spcBef>
                <a:spcPts val="0"/>
              </a:spcBef>
              <a:spcAft>
                <a:spcPts val="0"/>
              </a:spcAft>
              <a:buNone/>
              <a:defRPr/>
            </a:pPr>
            <a:r>
              <a:rPr lang="en" sz="1800">
                <a:solidFill>
                  <a:srgbClr val="FFFFFF"/>
                </a:solidFill>
                <a:latin typeface="Calibri"/>
                <a:ea typeface="Calibri"/>
                <a:cs typeface="Calibri"/>
              </a:rPr>
              <a:t> </a:t>
            </a:r>
            <a:endParaRPr sz="1800">
              <a:solidFill>
                <a:srgbClr val="FFFFFF"/>
              </a:solidFill>
              <a:latin typeface="Calibri"/>
              <a:ea typeface="Calibri"/>
              <a:cs typeface="Calibri"/>
            </a:endParaRPr>
          </a:p>
        </p:txBody>
      </p:sp>
      <p:sp>
        <p:nvSpPr>
          <p:cNvPr id="28" name="Google Shape;28;p5"/>
          <p:cNvSpPr/>
          <p:nvPr/>
        </p:nvSpPr>
        <p:spPr bwMode="auto">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a:spcBef>
                <a:spcPts val="0"/>
              </a:spcBef>
              <a:spcAft>
                <a:spcPts val="0"/>
              </a:spcAft>
              <a:buNone/>
              <a:defRPr/>
            </a:pPr>
            <a:endParaRPr sz="1800">
              <a:solidFill>
                <a:srgbClr val="FFFFFF"/>
              </a:solidFill>
              <a:latin typeface="Calibri"/>
              <a:ea typeface="Calibri"/>
              <a:cs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opic Heading-Body" preserve="0" showMasterPhAnim="0" showMasterSp="1" userDrawn="1">
  <p:cSld name="TITLE_AND_BODY_2">
    <p:spTree>
      <p:nvGrpSpPr>
        <p:cNvPr id="1" name=""/>
        <p:cNvGrpSpPr/>
        <p:nvPr/>
      </p:nvGrpSpPr>
      <p:grpSpPr bwMode="auto">
        <a:xfrm>
          <a:off x="0" y="0"/>
          <a:ext cx="0" cy="0"/>
          <a:chOff x="0" y="0"/>
          <a:chExt cx="0" cy="0"/>
        </a:xfrm>
      </p:grpSpPr>
      <p:sp>
        <p:nvSpPr>
          <p:cNvPr id="30" name="Google Shape;30;p6"/>
          <p:cNvSpPr txBox="1"/>
          <p:nvPr>
            <p:ph type="title"/>
          </p:nvPr>
        </p:nvSpPr>
        <p:spPr bwMode="auto">
          <a:xfrm>
            <a:off x="311700" y="286500"/>
            <a:ext cx="3439800" cy="572700"/>
          </a:xfrm>
          <a:prstGeom prst="rect">
            <a:avLst/>
          </a:prstGeom>
        </p:spPr>
        <p:txBody>
          <a:bodyPr spcFirstLastPara="1" wrap="square" lIns="91425" tIns="91425" rIns="91425" bIns="91425" anchor="ctr" anchorCtr="0">
            <a:noAutofit/>
          </a:bodyPr>
          <a:lstStyle>
            <a:lvl1pPr lvl="0">
              <a:spcBef>
                <a:spcPts val="0"/>
              </a:spcBef>
              <a:spcAft>
                <a:spcPts val="0"/>
              </a:spcAft>
              <a:buSzPts val="2600"/>
              <a:buNone/>
              <a:defRPr b="1"/>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pPr>
              <a:defRPr/>
            </a:pPr>
            <a:endParaRPr/>
          </a:p>
        </p:txBody>
      </p:sp>
      <p:sp>
        <p:nvSpPr>
          <p:cNvPr id="31" name="Google Shape;31;p6"/>
          <p:cNvSpPr txBox="1"/>
          <p:nvPr>
            <p:ph type="body" idx="1"/>
          </p:nvPr>
        </p:nvSpPr>
        <p:spPr bwMode="auto">
          <a:xfrm>
            <a:off x="311700" y="1283150"/>
            <a:ext cx="8520600" cy="32856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pPr>
              <a:defRPr/>
            </a:pPr>
            <a:endParaRPr/>
          </a:p>
        </p:txBody>
      </p:sp>
      <p:sp>
        <p:nvSpPr>
          <p:cNvPr id="32" name="Google Shape;32;p6"/>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en"/>
              <a:t>‹#›</a:t>
            </a:fld>
            <a:endParaRPr/>
          </a:p>
        </p:txBody>
      </p:sp>
      <p:sp>
        <p:nvSpPr>
          <p:cNvPr id="33" name="Google Shape;33;p6"/>
          <p:cNvSpPr/>
          <p:nvPr/>
        </p:nvSpPr>
        <p:spPr bwMode="auto">
          <a:xfrm>
            <a:off x="0" y="326707"/>
            <a:ext cx="152400" cy="4923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a:spcBef>
                <a:spcPts val="0"/>
              </a:spcBef>
              <a:spcAft>
                <a:spcPts val="0"/>
              </a:spcAft>
              <a:buNone/>
              <a:defRPr/>
            </a:pPr>
            <a:r>
              <a:rPr lang="en" sz="1800">
                <a:solidFill>
                  <a:srgbClr val="FFFFFF"/>
                </a:solidFill>
                <a:latin typeface="Calibri"/>
                <a:ea typeface="Calibri"/>
                <a:cs typeface="Calibri"/>
              </a:rPr>
              <a:t> </a:t>
            </a:r>
            <a:endParaRPr sz="1800">
              <a:solidFill>
                <a:srgbClr val="FFFFFF"/>
              </a:solidFill>
              <a:latin typeface="Calibri"/>
              <a:ea typeface="Calibri"/>
              <a:cs typeface="Calibri"/>
            </a:endParaRPr>
          </a:p>
        </p:txBody>
      </p:sp>
      <p:sp>
        <p:nvSpPr>
          <p:cNvPr id="34" name="Google Shape;34;p6"/>
          <p:cNvSpPr/>
          <p:nvPr/>
        </p:nvSpPr>
        <p:spPr bwMode="auto">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a:spcBef>
                <a:spcPts val="0"/>
              </a:spcBef>
              <a:spcAft>
                <a:spcPts val="0"/>
              </a:spcAft>
              <a:buNone/>
              <a:defRPr/>
            </a:pPr>
            <a:endParaRPr sz="1800">
              <a:solidFill>
                <a:srgbClr val="FFFFFF"/>
              </a:solidFill>
              <a:latin typeface="Calibri"/>
              <a:ea typeface="Calibri"/>
              <a:cs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Assertion-Evidence" preserve="0" showMasterPhAnim="0" showMasterSp="1" userDrawn="1">
  <p:cSld name="TITLE_AND_BODY_1">
    <p:spTree>
      <p:nvGrpSpPr>
        <p:cNvPr id="1" name=""/>
        <p:cNvGrpSpPr/>
        <p:nvPr/>
      </p:nvGrpSpPr>
      <p:grpSpPr bwMode="auto">
        <a:xfrm>
          <a:off x="0" y="0"/>
          <a:ext cx="0" cy="0"/>
          <a:chOff x="0" y="0"/>
          <a:chExt cx="0" cy="0"/>
        </a:xfrm>
      </p:grpSpPr>
      <p:sp>
        <p:nvSpPr>
          <p:cNvPr id="36" name="Google Shape;36;p7"/>
          <p:cNvSpPr txBox="1"/>
          <p:nvPr>
            <p:ph type="title"/>
          </p:nvPr>
        </p:nvSpPr>
        <p:spPr bwMode="auto">
          <a:xfrm>
            <a:off x="311700" y="216425"/>
            <a:ext cx="8520600" cy="934799"/>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4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pPr>
              <a:defRPr/>
            </a:pPr>
            <a:endParaRPr/>
          </a:p>
        </p:txBody>
      </p:sp>
      <p:sp>
        <p:nvSpPr>
          <p:cNvPr id="37" name="Google Shape;37;p7"/>
          <p:cNvSpPr txBox="1"/>
          <p:nvPr>
            <p:ph type="body" idx="1"/>
          </p:nvPr>
        </p:nvSpPr>
        <p:spPr bwMode="auto">
          <a:xfrm>
            <a:off x="311700" y="1405125"/>
            <a:ext cx="8520600" cy="31638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pPr>
              <a:defRPr/>
            </a:pPr>
            <a:endParaRPr/>
          </a:p>
        </p:txBody>
      </p:sp>
      <p:sp>
        <p:nvSpPr>
          <p:cNvPr id="38" name="Google Shape;38;p7"/>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en"/>
              <a:t>‹#›</a:t>
            </a:fld>
            <a:endParaRPr/>
          </a:p>
        </p:txBody>
      </p:sp>
      <p:sp>
        <p:nvSpPr>
          <p:cNvPr id="39" name="Google Shape;39;p7"/>
          <p:cNvSpPr/>
          <p:nvPr/>
        </p:nvSpPr>
        <p:spPr bwMode="auto">
          <a:xfrm>
            <a:off x="0" y="216419"/>
            <a:ext cx="152400" cy="934799"/>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a:spcBef>
                <a:spcPts val="0"/>
              </a:spcBef>
              <a:spcAft>
                <a:spcPts val="0"/>
              </a:spcAft>
              <a:buNone/>
              <a:defRPr/>
            </a:pPr>
            <a:r>
              <a:rPr lang="en" sz="1800">
                <a:solidFill>
                  <a:srgbClr val="FFFFFF"/>
                </a:solidFill>
                <a:latin typeface="Calibri"/>
                <a:ea typeface="Calibri"/>
                <a:cs typeface="Calibri"/>
              </a:rPr>
              <a:t> </a:t>
            </a:r>
            <a:endParaRPr sz="1800">
              <a:solidFill>
                <a:srgbClr val="FFFFFF"/>
              </a:solidFill>
              <a:latin typeface="Calibri"/>
              <a:ea typeface="Calibri"/>
              <a:cs typeface="Calibri"/>
            </a:endParaRPr>
          </a:p>
        </p:txBody>
      </p:sp>
      <p:sp>
        <p:nvSpPr>
          <p:cNvPr id="40" name="Google Shape;40;p7"/>
          <p:cNvSpPr/>
          <p:nvPr/>
        </p:nvSpPr>
        <p:spPr bwMode="auto">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a:spcBef>
                <a:spcPts val="0"/>
              </a:spcBef>
              <a:spcAft>
                <a:spcPts val="0"/>
              </a:spcAft>
              <a:buNone/>
              <a:defRPr/>
            </a:pPr>
            <a:endParaRPr sz="1800">
              <a:solidFill>
                <a:srgbClr val="FFFFFF"/>
              </a:solidFill>
              <a:latin typeface="Calibri"/>
              <a:ea typeface="Calibri"/>
              <a:cs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Assertion-Evidence 1" preserve="0" showMasterPhAnim="0" showMasterSp="1" userDrawn="1">
  <p:cSld name="TITLE_AND_BODY_1_1">
    <p:spTree>
      <p:nvGrpSpPr>
        <p:cNvPr id="1" name=""/>
        <p:cNvGrpSpPr/>
        <p:nvPr/>
      </p:nvGrpSpPr>
      <p:grpSpPr bwMode="auto">
        <a:xfrm>
          <a:off x="0" y="0"/>
          <a:ext cx="0" cy="0"/>
          <a:chOff x="0" y="0"/>
          <a:chExt cx="0" cy="0"/>
        </a:xfrm>
      </p:grpSpPr>
      <p:sp>
        <p:nvSpPr>
          <p:cNvPr id="42" name="Google Shape;42;p8"/>
          <p:cNvSpPr txBox="1"/>
          <p:nvPr>
            <p:ph type="title"/>
          </p:nvPr>
        </p:nvSpPr>
        <p:spPr bwMode="auto">
          <a:xfrm>
            <a:off x="311700" y="216425"/>
            <a:ext cx="8520600" cy="934799"/>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4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pPr>
              <a:defRPr/>
            </a:pPr>
            <a:endParaRPr/>
          </a:p>
        </p:txBody>
      </p:sp>
      <p:sp>
        <p:nvSpPr>
          <p:cNvPr id="43" name="Google Shape;43;p8"/>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en"/>
              <a:t>‹#›</a:t>
            </a:fld>
            <a:endParaRPr/>
          </a:p>
        </p:txBody>
      </p:sp>
      <p:sp>
        <p:nvSpPr>
          <p:cNvPr id="44" name="Google Shape;44;p8"/>
          <p:cNvSpPr/>
          <p:nvPr/>
        </p:nvSpPr>
        <p:spPr bwMode="auto">
          <a:xfrm>
            <a:off x="0" y="216419"/>
            <a:ext cx="152400" cy="934799"/>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a:spcBef>
                <a:spcPts val="0"/>
              </a:spcBef>
              <a:spcAft>
                <a:spcPts val="0"/>
              </a:spcAft>
              <a:buNone/>
              <a:defRPr/>
            </a:pPr>
            <a:r>
              <a:rPr lang="en" sz="1800">
                <a:solidFill>
                  <a:srgbClr val="FFFFFF"/>
                </a:solidFill>
                <a:latin typeface="Calibri"/>
                <a:ea typeface="Calibri"/>
                <a:cs typeface="Calibri"/>
              </a:rPr>
              <a:t> </a:t>
            </a:r>
            <a:endParaRPr sz="1800">
              <a:solidFill>
                <a:srgbClr val="FFFFFF"/>
              </a:solidFill>
              <a:latin typeface="Calibri"/>
              <a:ea typeface="Calibri"/>
              <a:cs typeface="Calibri"/>
            </a:endParaRPr>
          </a:p>
        </p:txBody>
      </p:sp>
      <p:sp>
        <p:nvSpPr>
          <p:cNvPr id="45" name="Google Shape;45;p8"/>
          <p:cNvSpPr/>
          <p:nvPr/>
        </p:nvSpPr>
        <p:spPr bwMode="auto">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a:spcBef>
                <a:spcPts val="0"/>
              </a:spcBef>
              <a:spcAft>
                <a:spcPts val="0"/>
              </a:spcAft>
              <a:buNone/>
              <a:defRPr/>
            </a:pPr>
            <a:endParaRPr sz="1800">
              <a:solidFill>
                <a:srgbClr val="FFFFFF"/>
              </a:solidFill>
              <a:latin typeface="Calibri"/>
              <a:ea typeface="Calibri"/>
              <a:cs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with corner" preserve="0" showMasterPhAnim="0" showMasterSp="1" userDrawn="1">
  <p:cSld name="TITLE_AND_BODY_1_1_3">
    <p:spTree>
      <p:nvGrpSpPr>
        <p:cNvPr id="1" name=""/>
        <p:cNvGrpSpPr/>
        <p:nvPr/>
      </p:nvGrpSpPr>
      <p:grpSpPr bwMode="auto">
        <a:xfrm>
          <a:off x="0" y="0"/>
          <a:ext cx="0" cy="0"/>
          <a:chOff x="0" y="0"/>
          <a:chExt cx="0" cy="0"/>
        </a:xfrm>
      </p:grpSpPr>
      <p:sp>
        <p:nvSpPr>
          <p:cNvPr id="47" name="Google Shape;47;p9"/>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en"/>
              <a:t>‹#›</a:t>
            </a:fld>
            <a:endParaRPr/>
          </a:p>
        </p:txBody>
      </p:sp>
      <p:sp>
        <p:nvSpPr>
          <p:cNvPr id="48" name="Google Shape;48;p9"/>
          <p:cNvSpPr/>
          <p:nvPr/>
        </p:nvSpPr>
        <p:spPr bwMode="auto">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a:spcBef>
                <a:spcPts val="0"/>
              </a:spcBef>
              <a:spcAft>
                <a:spcPts val="0"/>
              </a:spcAft>
              <a:buNone/>
              <a:defRPr/>
            </a:pPr>
            <a:endParaRPr sz="1800">
              <a:solidFill>
                <a:srgbClr val="FFFFFF"/>
              </a:solidFill>
              <a:latin typeface="Calibri"/>
              <a:ea typeface="Calibri"/>
              <a:cs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Reflection Spot" preserve="0" showMasterPhAnim="0" showMasterSp="1" userDrawn="1">
  <p:cSld name="TITLE_AND_BODY_1_1_2">
    <p:spTree>
      <p:nvGrpSpPr>
        <p:cNvPr id="1" name=""/>
        <p:cNvGrpSpPr/>
        <p:nvPr/>
      </p:nvGrpSpPr>
      <p:grpSpPr bwMode="auto">
        <a:xfrm>
          <a:off x="0" y="0"/>
          <a:ext cx="0" cy="0"/>
          <a:chOff x="0" y="0"/>
          <a:chExt cx="0" cy="0"/>
        </a:xfrm>
      </p:grpSpPr>
      <p:sp>
        <p:nvSpPr>
          <p:cNvPr id="50" name="Google Shape;50;p10"/>
          <p:cNvSpPr txBox="1"/>
          <p:nvPr>
            <p:ph type="title"/>
          </p:nvPr>
        </p:nvSpPr>
        <p:spPr bwMode="auto">
          <a:xfrm>
            <a:off x="1456750" y="390550"/>
            <a:ext cx="7362300" cy="934799"/>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4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pPr>
              <a:defRPr/>
            </a:pPr>
            <a:endParaRPr/>
          </a:p>
        </p:txBody>
      </p:sp>
      <p:sp>
        <p:nvSpPr>
          <p:cNvPr id="51" name="Google Shape;51;p10"/>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en"/>
              <a:t>‹#›</a:t>
            </a:fld>
            <a:endParaRPr/>
          </a:p>
        </p:txBody>
      </p:sp>
      <p:sp>
        <p:nvSpPr>
          <p:cNvPr id="52" name="Google Shape;52;p10"/>
          <p:cNvSpPr/>
          <p:nvPr/>
        </p:nvSpPr>
        <p:spPr bwMode="auto">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a:spcBef>
                <a:spcPts val="0"/>
              </a:spcBef>
              <a:spcAft>
                <a:spcPts val="0"/>
              </a:spcAft>
              <a:buNone/>
              <a:defRPr/>
            </a:pPr>
            <a:endParaRPr sz="1800">
              <a:solidFill>
                <a:srgbClr val="FFFFFF"/>
              </a:solidFill>
              <a:latin typeface="Calibri"/>
              <a:ea typeface="Calibri"/>
              <a:cs typeface="Calibri"/>
            </a:endParaRPr>
          </a:p>
        </p:txBody>
      </p:sp>
      <p:pic>
        <p:nvPicPr>
          <p:cNvPr id="53" name="Google Shape;53;p10" descr="C:\Users\lt107\Desktop\3x\Asset 2@3x.png"/>
          <p:cNvPicPr/>
          <p:nvPr/>
        </p:nvPicPr>
        <p:blipFill>
          <a:blip r:embed="rId2">
            <a:alphaModFix/>
          </a:blip>
          <a:srcRect l="0" t="0" r="0" b="0"/>
          <a:stretch/>
        </p:blipFill>
        <p:spPr bwMode="auto">
          <a:xfrm>
            <a:off x="363818" y="4781550"/>
            <a:ext cx="588358" cy="230832"/>
          </a:xfrm>
          <a:prstGeom prst="rect">
            <a:avLst/>
          </a:prstGeom>
          <a:noFill/>
          <a:ln>
            <a:noFill/>
          </a:ln>
        </p:spPr>
      </p:pic>
      <p:grpSp>
        <p:nvGrpSpPr>
          <p:cNvPr id="54" name="Google Shape;54;p10"/>
          <p:cNvGrpSpPr/>
          <p:nvPr/>
        </p:nvGrpSpPr>
        <p:grpSpPr bwMode="auto">
          <a:xfrm>
            <a:off x="275437" y="298844"/>
            <a:ext cx="934799" cy="934799"/>
            <a:chOff x="170337" y="194819"/>
            <a:chExt cx="934799" cy="934799"/>
          </a:xfrm>
        </p:grpSpPr>
        <p:sp>
          <p:nvSpPr>
            <p:cNvPr id="55" name="Google Shape;55;p10"/>
            <p:cNvSpPr/>
            <p:nvPr/>
          </p:nvSpPr>
          <p:spPr bwMode="auto">
            <a:xfrm>
              <a:off x="170337" y="194819"/>
              <a:ext cx="934799" cy="934799"/>
            </a:xfrm>
            <a:prstGeom prst="ellipse">
              <a:avLst/>
            </a:prstGeom>
            <a:solidFill>
              <a:srgbClr val="2074B9"/>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56" name="Google Shape;56;p10"/>
            <p:cNvSpPr/>
            <p:nvPr/>
          </p:nvSpPr>
          <p:spPr bwMode="auto">
            <a:xfrm>
              <a:off x="447325" y="409432"/>
              <a:ext cx="152400" cy="4923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a:spcBef>
                  <a:spcPts val="0"/>
                </a:spcBef>
                <a:spcAft>
                  <a:spcPts val="0"/>
                </a:spcAft>
                <a:buNone/>
                <a:defRPr/>
              </a:pPr>
              <a:r>
                <a:rPr lang="en" sz="1800">
                  <a:solidFill>
                    <a:srgbClr val="FFFFFF"/>
                  </a:solidFill>
                  <a:latin typeface="Calibri"/>
                  <a:ea typeface="Calibri"/>
                  <a:cs typeface="Calibri"/>
                </a:rPr>
                <a:t> </a:t>
              </a:r>
              <a:endParaRPr sz="1800">
                <a:solidFill>
                  <a:srgbClr val="FFFFFF"/>
                </a:solidFill>
                <a:latin typeface="Calibri"/>
                <a:ea typeface="Calibri"/>
                <a:cs typeface="Calibri"/>
              </a:endParaRPr>
            </a:p>
          </p:txBody>
        </p:sp>
        <p:sp>
          <p:nvSpPr>
            <p:cNvPr id="57" name="Google Shape;57;p10"/>
            <p:cNvSpPr/>
            <p:nvPr/>
          </p:nvSpPr>
          <p:spPr bwMode="auto">
            <a:xfrm>
              <a:off x="689375" y="409432"/>
              <a:ext cx="152400" cy="4923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a:spcBef>
                  <a:spcPts val="0"/>
                </a:spcBef>
                <a:spcAft>
                  <a:spcPts val="0"/>
                </a:spcAft>
                <a:buNone/>
                <a:defRPr/>
              </a:pPr>
              <a:r>
                <a:rPr lang="en" sz="1800">
                  <a:solidFill>
                    <a:srgbClr val="FFFFFF"/>
                  </a:solidFill>
                  <a:latin typeface="Calibri"/>
                  <a:ea typeface="Calibri"/>
                  <a:cs typeface="Calibri"/>
                </a:rPr>
                <a:t> </a:t>
              </a:r>
              <a:endParaRPr sz="1800">
                <a:solidFill>
                  <a:srgbClr val="FFFFFF"/>
                </a:solidFill>
                <a:latin typeface="Calibri"/>
                <a:ea typeface="Calibri"/>
                <a:cs typeface="Calibri"/>
              </a:endParaRPr>
            </a:p>
          </p:txBody>
        </p:sp>
      </p:grpSp>
      <p:sp>
        <p:nvSpPr>
          <p:cNvPr id="58" name="Google Shape;58;p10"/>
          <p:cNvSpPr txBox="1"/>
          <p:nvPr>
            <p:ph type="body" idx="1"/>
          </p:nvPr>
        </p:nvSpPr>
        <p:spPr bwMode="auto">
          <a:xfrm>
            <a:off x="905400" y="1537450"/>
            <a:ext cx="7333200" cy="29403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pPr>
              <a:defRPr/>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Flipped Assertion-Evidence" preserve="0" showMasterPhAnim="0" showMasterSp="1" userDrawn="1">
  <p:cSld name="TITLE_AND_BODY_1_1_1">
    <p:spTree>
      <p:nvGrpSpPr>
        <p:cNvPr id="1" name=""/>
        <p:cNvGrpSpPr/>
        <p:nvPr/>
      </p:nvGrpSpPr>
      <p:grpSpPr bwMode="auto">
        <a:xfrm>
          <a:off x="0" y="0"/>
          <a:ext cx="0" cy="0"/>
          <a:chOff x="0" y="0"/>
          <a:chExt cx="0" cy="0"/>
        </a:xfrm>
      </p:grpSpPr>
      <p:sp>
        <p:nvSpPr>
          <p:cNvPr id="60" name="Google Shape;60;p11"/>
          <p:cNvSpPr txBox="1"/>
          <p:nvPr>
            <p:ph type="title"/>
          </p:nvPr>
        </p:nvSpPr>
        <p:spPr bwMode="auto">
          <a:xfrm>
            <a:off x="311700" y="4026425"/>
            <a:ext cx="8520600" cy="934799"/>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4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pPr>
              <a:defRPr/>
            </a:pPr>
            <a:endParaRPr/>
          </a:p>
        </p:txBody>
      </p:sp>
      <p:sp>
        <p:nvSpPr>
          <p:cNvPr id="61" name="Google Shape;61;p11"/>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en"/>
              <a:t>‹#›</a:t>
            </a:fld>
            <a:endParaRPr/>
          </a:p>
        </p:txBody>
      </p:sp>
      <p:sp>
        <p:nvSpPr>
          <p:cNvPr id="62" name="Google Shape;62;p11"/>
          <p:cNvSpPr/>
          <p:nvPr/>
        </p:nvSpPr>
        <p:spPr bwMode="auto">
          <a:xfrm>
            <a:off x="0" y="4026419"/>
            <a:ext cx="152400" cy="934799"/>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a:spcBef>
                <a:spcPts val="0"/>
              </a:spcBef>
              <a:spcAft>
                <a:spcPts val="0"/>
              </a:spcAft>
              <a:buNone/>
              <a:defRPr/>
            </a:pPr>
            <a:r>
              <a:rPr lang="en" sz="1800">
                <a:solidFill>
                  <a:srgbClr val="FFFFFF"/>
                </a:solidFill>
                <a:latin typeface="Calibri"/>
                <a:ea typeface="Calibri"/>
                <a:cs typeface="Calibri"/>
              </a:rPr>
              <a:t> </a:t>
            </a:r>
            <a:endParaRPr sz="1800">
              <a:solidFill>
                <a:srgbClr val="FFFFFF"/>
              </a:solidFill>
              <a:latin typeface="Calibri"/>
              <a:ea typeface="Calibri"/>
              <a:cs typeface="Calibri"/>
            </a:endParaRPr>
          </a:p>
        </p:txBody>
      </p:sp>
      <p:sp>
        <p:nvSpPr>
          <p:cNvPr id="63" name="Google Shape;63;p11"/>
          <p:cNvSpPr/>
          <p:nvPr/>
        </p:nvSpPr>
        <p:spPr bwMode="auto">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a:spcBef>
                <a:spcPts val="0"/>
              </a:spcBef>
              <a:spcAft>
                <a:spcPts val="0"/>
              </a:spcAft>
              <a:buNone/>
              <a:defRPr/>
            </a:pPr>
            <a:endParaRPr sz="1800">
              <a:solidFill>
                <a:srgbClr val="FFFFFF"/>
              </a:solidFill>
              <a:latin typeface="Calibri"/>
              <a:ea typeface="Calibri"/>
              <a:cs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two columns" preserve="0" showMasterPhAnim="0" showMasterSp="1" type="twoColTx" userDrawn="1">
  <p:cSld name="TITLE_AND_TWO_COLUMNS">
    <p:spTree>
      <p:nvGrpSpPr>
        <p:cNvPr id="1" name=""/>
        <p:cNvGrpSpPr/>
        <p:nvPr/>
      </p:nvGrpSpPr>
      <p:grpSpPr bwMode="auto">
        <a:xfrm>
          <a:off x="0" y="0"/>
          <a:ext cx="0" cy="0"/>
          <a:chOff x="0" y="0"/>
          <a:chExt cx="0" cy="0"/>
        </a:xfrm>
      </p:grpSpPr>
      <p:sp>
        <p:nvSpPr>
          <p:cNvPr id="65" name="Google Shape;65;p12"/>
          <p:cNvSpPr txBox="1"/>
          <p:nvPr>
            <p:ph type="body" idx="1"/>
          </p:nvPr>
        </p:nvSpPr>
        <p:spPr bwMode="auto">
          <a:xfrm>
            <a:off x="311700" y="1275238"/>
            <a:ext cx="3999900" cy="3293699"/>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pPr>
              <a:defRPr/>
            </a:pPr>
            <a:endParaRPr/>
          </a:p>
        </p:txBody>
      </p:sp>
      <p:sp>
        <p:nvSpPr>
          <p:cNvPr id="66" name="Google Shape;66;p12"/>
          <p:cNvSpPr txBox="1"/>
          <p:nvPr>
            <p:ph type="body" idx="2"/>
          </p:nvPr>
        </p:nvSpPr>
        <p:spPr bwMode="auto">
          <a:xfrm>
            <a:off x="4832399" y="1275238"/>
            <a:ext cx="3999900" cy="3293699"/>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pPr>
              <a:defRPr/>
            </a:pPr>
            <a:endParaRPr/>
          </a:p>
        </p:txBody>
      </p:sp>
      <p:sp>
        <p:nvSpPr>
          <p:cNvPr id="67" name="Google Shape;67;p12"/>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en"/>
              <a:t>‹#›</a:t>
            </a:fld>
            <a:endParaRPr/>
          </a:p>
        </p:txBody>
      </p:sp>
      <p:sp>
        <p:nvSpPr>
          <p:cNvPr id="68" name="Google Shape;68;p12"/>
          <p:cNvSpPr/>
          <p:nvPr/>
        </p:nvSpPr>
        <p:spPr bwMode="auto">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a:spcBef>
                <a:spcPts val="0"/>
              </a:spcBef>
              <a:spcAft>
                <a:spcPts val="0"/>
              </a:spcAft>
              <a:buNone/>
              <a:defRPr/>
            </a:pPr>
            <a:endParaRPr sz="1800">
              <a:solidFill>
                <a:srgbClr val="FFFFFF"/>
              </a:solidFill>
              <a:latin typeface="Calibri"/>
              <a:ea typeface="Calibri"/>
              <a:cs typeface="Calibri"/>
            </a:endParaRPr>
          </a:p>
        </p:txBody>
      </p:sp>
      <p:sp>
        <p:nvSpPr>
          <p:cNvPr id="69" name="Google Shape;69;p12"/>
          <p:cNvSpPr txBox="1"/>
          <p:nvPr>
            <p:ph type="title"/>
          </p:nvPr>
        </p:nvSpPr>
        <p:spPr bwMode="auto">
          <a:xfrm>
            <a:off x="311700" y="216425"/>
            <a:ext cx="8520600" cy="934799"/>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4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pPr>
              <a:defRPr/>
            </a:pPr>
            <a:endParaRPr/>
          </a:p>
        </p:txBody>
      </p:sp>
      <p:sp>
        <p:nvSpPr>
          <p:cNvPr id="70" name="Google Shape;70;p12"/>
          <p:cNvSpPr/>
          <p:nvPr/>
        </p:nvSpPr>
        <p:spPr bwMode="auto">
          <a:xfrm>
            <a:off x="0" y="216419"/>
            <a:ext cx="152400" cy="934799"/>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a:spcBef>
                <a:spcPts val="0"/>
              </a:spcBef>
              <a:spcAft>
                <a:spcPts val="0"/>
              </a:spcAft>
              <a:buNone/>
              <a:defRPr/>
            </a:pPr>
            <a:r>
              <a:rPr lang="en" sz="1800">
                <a:solidFill>
                  <a:srgbClr val="FFFFFF"/>
                </a:solidFill>
                <a:latin typeface="Calibri"/>
                <a:ea typeface="Calibri"/>
                <a:cs typeface="Calibri"/>
              </a:rPr>
              <a:t> </a:t>
            </a:r>
            <a:endParaRPr sz="1800">
              <a:solidFill>
                <a:srgbClr val="FFFFFF"/>
              </a:solidFill>
              <a:latin typeface="Calibri"/>
              <a:ea typeface="Calibri"/>
              <a:cs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only" preserve="0" showMasterPhAnim="0" showMasterSp="1" type="titleOnly" userDrawn="1">
  <p:cSld name="TITLE_ONLY">
    <p:spTree>
      <p:nvGrpSpPr>
        <p:cNvPr id="1" name=""/>
        <p:cNvGrpSpPr/>
        <p:nvPr/>
      </p:nvGrpSpPr>
      <p:grpSpPr bwMode="auto">
        <a:xfrm>
          <a:off x="0" y="0"/>
          <a:ext cx="0" cy="0"/>
          <a:chOff x="0" y="0"/>
          <a:chExt cx="0" cy="0"/>
        </a:xfrm>
      </p:grpSpPr>
      <p:sp>
        <p:nvSpPr>
          <p:cNvPr id="72" name="Google Shape;72;p13"/>
          <p:cNvSpPr txBox="1"/>
          <p:nvPr>
            <p:ph type="title"/>
          </p:nvPr>
        </p:nvSpPr>
        <p:spPr bwMode="auto">
          <a:xfrm>
            <a:off x="311700" y="286500"/>
            <a:ext cx="8520600" cy="572700"/>
          </a:xfrm>
          <a:prstGeom prst="rect">
            <a:avLst/>
          </a:prstGeom>
        </p:spPr>
        <p:txBody>
          <a:bodyPr spcFirstLastPara="1" wrap="square" lIns="91425" tIns="91425" rIns="91425" bIns="91425" anchor="ctr" anchorCtr="0">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pPr>
              <a:defRPr/>
            </a:pPr>
            <a:endParaRPr/>
          </a:p>
        </p:txBody>
      </p:sp>
      <p:sp>
        <p:nvSpPr>
          <p:cNvPr id="73" name="Google Shape;73;p13"/>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en"/>
              <a:t>‹#›</a:t>
            </a:fld>
            <a:endParaRPr/>
          </a:p>
        </p:txBody>
      </p:sp>
      <p:sp>
        <p:nvSpPr>
          <p:cNvPr id="74" name="Google Shape;74;p13"/>
          <p:cNvSpPr/>
          <p:nvPr/>
        </p:nvSpPr>
        <p:spPr bwMode="auto">
          <a:xfrm>
            <a:off x="0" y="326707"/>
            <a:ext cx="152400" cy="4923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a:spcBef>
                <a:spcPts val="0"/>
              </a:spcBef>
              <a:spcAft>
                <a:spcPts val="0"/>
              </a:spcAft>
              <a:buNone/>
              <a:defRPr/>
            </a:pPr>
            <a:r>
              <a:rPr lang="en" sz="1800">
                <a:solidFill>
                  <a:srgbClr val="FFFFFF"/>
                </a:solidFill>
                <a:latin typeface="Calibri"/>
                <a:ea typeface="Calibri"/>
                <a:cs typeface="Calibri"/>
              </a:rPr>
              <a:t> </a:t>
            </a:r>
            <a:endParaRPr sz="1800">
              <a:solidFill>
                <a:srgbClr val="FFFFFF"/>
              </a:solidFill>
              <a:latin typeface="Calibri"/>
              <a:ea typeface="Calibri"/>
              <a:cs typeface="Calibri"/>
            </a:endParaRPr>
          </a:p>
        </p:txBody>
      </p:sp>
      <p:sp>
        <p:nvSpPr>
          <p:cNvPr id="75" name="Google Shape;75;p13"/>
          <p:cNvSpPr/>
          <p:nvPr/>
        </p:nvSpPr>
        <p:spPr bwMode="auto">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a:spcBef>
                <a:spcPts val="0"/>
              </a:spcBef>
              <a:spcAft>
                <a:spcPts val="0"/>
              </a:spcAft>
              <a:buNone/>
              <a:defRPr/>
            </a:pPr>
            <a:endParaRPr sz="1800">
              <a:solidFill>
                <a:srgbClr val="FFFFFF"/>
              </a:solidFill>
              <a:latin typeface="Calibri"/>
              <a:ea typeface="Calibri"/>
              <a:cs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One column text" preserve="0" showMasterPhAnim="0" showMasterSp="1" userDrawn="1">
  <p:cSld name="ONE_COLUMN_TEXT">
    <p:spTree>
      <p:nvGrpSpPr>
        <p:cNvPr id="1" name=""/>
        <p:cNvGrpSpPr/>
        <p:nvPr/>
      </p:nvGrpSpPr>
      <p:grpSpPr bwMode="auto">
        <a:xfrm>
          <a:off x="0" y="0"/>
          <a:ext cx="0" cy="0"/>
          <a:chOff x="0" y="0"/>
          <a:chExt cx="0" cy="0"/>
        </a:xfrm>
      </p:grpSpPr>
      <p:sp>
        <p:nvSpPr>
          <p:cNvPr id="77" name="Google Shape;77;p14"/>
          <p:cNvSpPr txBox="1"/>
          <p:nvPr>
            <p:ph type="body" idx="1"/>
          </p:nvPr>
        </p:nvSpPr>
        <p:spPr bwMode="auto">
          <a:xfrm>
            <a:off x="311700" y="1228775"/>
            <a:ext cx="2808000" cy="3340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pPr>
              <a:defRPr/>
            </a:pPr>
            <a:endParaRPr/>
          </a:p>
        </p:txBody>
      </p:sp>
      <p:sp>
        <p:nvSpPr>
          <p:cNvPr id="78" name="Google Shape;78;p14"/>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en"/>
              <a:t>‹#›</a:t>
            </a:fld>
            <a:endParaRPr/>
          </a:p>
        </p:txBody>
      </p:sp>
      <p:sp>
        <p:nvSpPr>
          <p:cNvPr id="79" name="Google Shape;79;p14"/>
          <p:cNvSpPr/>
          <p:nvPr/>
        </p:nvSpPr>
        <p:spPr bwMode="auto">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a:spcBef>
                <a:spcPts val="0"/>
              </a:spcBef>
              <a:spcAft>
                <a:spcPts val="0"/>
              </a:spcAft>
              <a:buNone/>
              <a:defRPr/>
            </a:pPr>
            <a:endParaRPr sz="1800">
              <a:solidFill>
                <a:srgbClr val="FFFFFF"/>
              </a:solidFill>
              <a:latin typeface="Calibri"/>
              <a:ea typeface="Calibri"/>
              <a:cs typeface="Calibri"/>
            </a:endParaRPr>
          </a:p>
        </p:txBody>
      </p:sp>
      <p:sp>
        <p:nvSpPr>
          <p:cNvPr id="80" name="Google Shape;80;p14"/>
          <p:cNvSpPr txBox="1"/>
          <p:nvPr>
            <p:ph type="title"/>
          </p:nvPr>
        </p:nvSpPr>
        <p:spPr bwMode="auto">
          <a:xfrm>
            <a:off x="311700" y="216425"/>
            <a:ext cx="8520600" cy="934799"/>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4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pPr>
              <a:defRPr/>
            </a:pPr>
            <a:endParaRPr/>
          </a:p>
        </p:txBody>
      </p:sp>
      <p:sp>
        <p:nvSpPr>
          <p:cNvPr id="81" name="Google Shape;81;p14"/>
          <p:cNvSpPr/>
          <p:nvPr/>
        </p:nvSpPr>
        <p:spPr bwMode="auto">
          <a:xfrm>
            <a:off x="0" y="216419"/>
            <a:ext cx="152400" cy="934799"/>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a:spcBef>
                <a:spcPts val="0"/>
              </a:spcBef>
              <a:spcAft>
                <a:spcPts val="0"/>
              </a:spcAft>
              <a:buNone/>
              <a:defRPr/>
            </a:pPr>
            <a:r>
              <a:rPr lang="en" sz="1800">
                <a:solidFill>
                  <a:srgbClr val="FFFFFF"/>
                </a:solidFill>
                <a:latin typeface="Calibri"/>
                <a:ea typeface="Calibri"/>
                <a:cs typeface="Calibri"/>
              </a:rPr>
              <a:t> </a:t>
            </a:r>
            <a:endParaRPr sz="1800">
              <a:solidFill>
                <a:srgbClr val="FFFFFF"/>
              </a:solidFill>
              <a:latin typeface="Calibri"/>
              <a:ea typeface="Calibri"/>
              <a:cs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Main point" preserve="0" showMasterPhAnim="0" showMasterSp="1" userDrawn="1">
  <p:cSld name="MAIN_POINT">
    <p:spTree>
      <p:nvGrpSpPr>
        <p:cNvPr id="1" name=""/>
        <p:cNvGrpSpPr/>
        <p:nvPr/>
      </p:nvGrpSpPr>
      <p:grpSpPr bwMode="auto">
        <a:xfrm>
          <a:off x="0" y="0"/>
          <a:ext cx="0" cy="0"/>
          <a:chOff x="0" y="0"/>
          <a:chExt cx="0" cy="0"/>
        </a:xfrm>
      </p:grpSpPr>
      <p:sp>
        <p:nvSpPr>
          <p:cNvPr id="83" name="Google Shape;83;p15"/>
          <p:cNvSpPr txBox="1"/>
          <p:nvPr>
            <p:ph type="title"/>
          </p:nvPr>
        </p:nvSpPr>
        <p:spPr bwMode="auto">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pPr>
              <a:defRPr/>
            </a:pPr>
            <a:endParaRPr/>
          </a:p>
        </p:txBody>
      </p:sp>
      <p:sp>
        <p:nvSpPr>
          <p:cNvPr id="84" name="Google Shape;84;p15"/>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title and description" preserve="0" showMasterPhAnim="0" showMasterSp="1" userDrawn="1">
  <p:cSld name="SECTION_TITLE_AND_DESCRIPTION">
    <p:spTree>
      <p:nvGrpSpPr>
        <p:cNvPr id="1" name=""/>
        <p:cNvGrpSpPr/>
        <p:nvPr/>
      </p:nvGrpSpPr>
      <p:grpSpPr bwMode="auto">
        <a:xfrm>
          <a:off x="0" y="0"/>
          <a:ext cx="0" cy="0"/>
          <a:chOff x="0" y="0"/>
          <a:chExt cx="0" cy="0"/>
        </a:xfrm>
      </p:grpSpPr>
      <p:sp>
        <p:nvSpPr>
          <p:cNvPr id="86" name="Google Shape;86;p16"/>
          <p:cNvSpPr/>
          <p:nvPr/>
        </p:nvSpPr>
        <p:spPr bwMode="auto">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87" name="Google Shape;87;p16"/>
          <p:cNvSpPr txBox="1"/>
          <p:nvPr>
            <p:ph type="title"/>
          </p:nvPr>
        </p:nvSpPr>
        <p:spPr bwMode="auto">
          <a:xfrm>
            <a:off x="265500" y="1233175"/>
            <a:ext cx="4045199"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pPr>
              <a:defRPr/>
            </a:pPr>
            <a:endParaRPr/>
          </a:p>
        </p:txBody>
      </p:sp>
      <p:sp>
        <p:nvSpPr>
          <p:cNvPr id="88" name="Google Shape;88;p16"/>
          <p:cNvSpPr txBox="1"/>
          <p:nvPr>
            <p:ph type="subTitle" idx="1"/>
          </p:nvPr>
        </p:nvSpPr>
        <p:spPr bwMode="auto">
          <a:xfrm>
            <a:off x="265500" y="2803075"/>
            <a:ext cx="4045199" cy="1235099"/>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pPr>
              <a:defRPr/>
            </a:pPr>
            <a:endParaRPr/>
          </a:p>
        </p:txBody>
      </p:sp>
      <p:sp>
        <p:nvSpPr>
          <p:cNvPr id="89" name="Google Shape;89;p16"/>
          <p:cNvSpPr txBox="1"/>
          <p:nvPr>
            <p:ph type="body" idx="2"/>
          </p:nvPr>
        </p:nvSpPr>
        <p:spPr bwMode="auto">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pPr>
              <a:defRPr/>
            </a:pPr>
            <a:endParaRPr/>
          </a:p>
        </p:txBody>
      </p:sp>
      <p:sp>
        <p:nvSpPr>
          <p:cNvPr id="90" name="Google Shape;90;p16"/>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ig number" preserve="0" showMasterPhAnim="0" showMasterSp="1" userDrawn="1">
  <p:cSld name="BIG_NUMBER">
    <p:spTree>
      <p:nvGrpSpPr>
        <p:cNvPr id="1" name=""/>
        <p:cNvGrpSpPr/>
        <p:nvPr/>
      </p:nvGrpSpPr>
      <p:grpSpPr bwMode="auto">
        <a:xfrm>
          <a:off x="0" y="0"/>
          <a:ext cx="0" cy="0"/>
          <a:chOff x="0" y="0"/>
          <a:chExt cx="0" cy="0"/>
        </a:xfrm>
      </p:grpSpPr>
      <p:sp>
        <p:nvSpPr>
          <p:cNvPr id="92" name="Google Shape;92;p17"/>
          <p:cNvSpPr txBox="1"/>
          <p:nvPr>
            <p:ph type="title" hasCustomPrompt="1"/>
          </p:nvPr>
        </p:nvSpPr>
        <p:spPr bwMode="auto">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pPr>
              <a:defRPr/>
            </a:pPr>
            <a:r>
              <a:rPr/>
              <a:t>xx%</a:t>
            </a:r>
            <a:endParaRPr/>
          </a:p>
        </p:txBody>
      </p:sp>
      <p:sp>
        <p:nvSpPr>
          <p:cNvPr id="93" name="Google Shape;93;p17"/>
          <p:cNvSpPr txBox="1"/>
          <p:nvPr>
            <p:ph type="body" idx="1"/>
          </p:nvPr>
        </p:nvSpPr>
        <p:spPr bwMode="auto">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pPr>
              <a:defRPr/>
            </a:pPr>
            <a:endParaRPr/>
          </a:p>
        </p:txBody>
      </p:sp>
      <p:sp>
        <p:nvSpPr>
          <p:cNvPr id="94" name="Google Shape;94;p17"/>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en"/>
              <a:t>‹#›</a:t>
            </a:fld>
            <a:endParaRPr/>
          </a:p>
        </p:txBody>
      </p:sp>
      <p:sp>
        <p:nvSpPr>
          <p:cNvPr id="95" name="Google Shape;95;p17"/>
          <p:cNvSpPr/>
          <p:nvPr/>
        </p:nvSpPr>
        <p:spPr bwMode="auto">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a:spcBef>
                <a:spcPts val="0"/>
              </a:spcBef>
              <a:spcAft>
                <a:spcPts val="0"/>
              </a:spcAft>
              <a:buNone/>
              <a:defRPr/>
            </a:pPr>
            <a:endParaRPr sz="1800">
              <a:solidFill>
                <a:srgbClr val="FFFFFF"/>
              </a:solidFill>
              <a:latin typeface="Calibri"/>
              <a:ea typeface="Calibri"/>
              <a:cs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Frame" preserve="0" showMasterPhAnim="0" showMasterSp="1" userDrawn="1">
  <p:cSld name="BIG_NUMBER_1">
    <p:spTree>
      <p:nvGrpSpPr>
        <p:cNvPr id="1" name=""/>
        <p:cNvGrpSpPr/>
        <p:nvPr/>
      </p:nvGrpSpPr>
      <p:grpSpPr bwMode="auto">
        <a:xfrm>
          <a:off x="0" y="0"/>
          <a:ext cx="0" cy="0"/>
          <a:chOff x="0" y="0"/>
          <a:chExt cx="0" cy="0"/>
        </a:xfrm>
      </p:grpSpPr>
      <p:sp>
        <p:nvSpPr>
          <p:cNvPr id="97" name="Google Shape;97;p18"/>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en"/>
              <a:t>‹#›</a:t>
            </a:fld>
            <a:endParaRPr/>
          </a:p>
        </p:txBody>
      </p:sp>
      <p:sp>
        <p:nvSpPr>
          <p:cNvPr id="98" name="Google Shape;98;p18"/>
          <p:cNvSpPr/>
          <p:nvPr/>
        </p:nvSpPr>
        <p:spPr bwMode="auto">
          <a:xfrm rot="10800000">
            <a:off x="8564662" y="827"/>
            <a:ext cx="585000" cy="572100"/>
          </a:xfrm>
          <a:prstGeom prst="rtTriangle">
            <a:avLst/>
          </a:prstGeom>
          <a:solidFill>
            <a:srgbClr val="2074B9"/>
          </a:solidFill>
          <a:ln>
            <a:noFill/>
          </a:ln>
        </p:spPr>
        <p:txBody>
          <a:bodyPr spcFirstLastPara="1" wrap="square" lIns="91425" tIns="45700" rIns="91425" bIns="45700" anchor="ctr" anchorCtr="0">
            <a:noAutofit/>
          </a:bodyPr>
          <a:lstStyle/>
          <a:p>
            <a:pPr marL="0" marR="0" lvl="0" indent="0" algn="ctr">
              <a:spcBef>
                <a:spcPts val="0"/>
              </a:spcBef>
              <a:spcAft>
                <a:spcPts val="0"/>
              </a:spcAft>
              <a:buNone/>
              <a:defRPr/>
            </a:pPr>
            <a:endParaRPr sz="1800">
              <a:solidFill>
                <a:srgbClr val="FFFFFF"/>
              </a:solidFill>
              <a:latin typeface="Calibri"/>
              <a:ea typeface="Calibri"/>
              <a:cs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preserve="0" showMasterPhAnim="0" showMasterSp="1" type="blank" userDrawn="1">
  <p:cSld name="BLANK">
    <p:spTree>
      <p:nvGrpSpPr>
        <p:cNvPr id="1" name=""/>
        <p:cNvGrpSpPr/>
        <p:nvPr/>
      </p:nvGrpSpPr>
      <p:grpSpPr bwMode="auto">
        <a:xfrm>
          <a:off x="0" y="0"/>
          <a:ext cx="0" cy="0"/>
          <a:chOff x="0" y="0"/>
          <a:chExt cx="0" cy="0"/>
        </a:xfrm>
      </p:grpSpPr>
      <p:sp>
        <p:nvSpPr>
          <p:cNvPr id="100" name="Google Shape;100;p19"/>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3" preserve="0" showMasterPhAnim="0" showMasterSp="1" userDrawn="1">
  <p:cSld name="BLANK_3">
    <p:spTree>
      <p:nvGrpSpPr>
        <p:cNvPr id="1" name=""/>
        <p:cNvGrpSpPr/>
        <p:nvPr/>
      </p:nvGrpSpPr>
      <p:grpSpPr bwMode="auto">
        <a:xfrm>
          <a:off x="0" y="0"/>
          <a:ext cx="0" cy="0"/>
          <a:chOff x="0" y="0"/>
          <a:chExt cx="0" cy="0"/>
        </a:xfrm>
      </p:grpSpPr>
      <p:sp>
        <p:nvSpPr>
          <p:cNvPr id="102" name="Google Shape;102;p20"/>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en"/>
              <a:t>‹#›</a:t>
            </a:fld>
            <a:endParaRPr/>
          </a:p>
        </p:txBody>
      </p:sp>
      <p:sp>
        <p:nvSpPr>
          <p:cNvPr id="103" name="Google Shape;103;p20"/>
          <p:cNvSpPr/>
          <p:nvPr/>
        </p:nvSpPr>
        <p:spPr bwMode="auto">
          <a:xfrm>
            <a:off x="3408394" y="326707"/>
            <a:ext cx="152400" cy="492300"/>
          </a:xfrm>
          <a:prstGeom prst="rect">
            <a:avLst/>
          </a:prstGeom>
          <a:solidFill>
            <a:srgbClr val="2074B9"/>
          </a:solidFill>
          <a:ln>
            <a:noFill/>
          </a:ln>
        </p:spPr>
        <p:txBody>
          <a:bodyPr spcFirstLastPara="1" wrap="square" lIns="91425" tIns="45700" rIns="91425" bIns="45700" anchor="ctr" anchorCtr="0">
            <a:noAutofit/>
          </a:bodyPr>
          <a:lstStyle/>
          <a:p>
            <a:pPr marL="0" marR="0" lvl="0" indent="0" algn="ctr">
              <a:spcBef>
                <a:spcPts val="0"/>
              </a:spcBef>
              <a:spcAft>
                <a:spcPts val="0"/>
              </a:spcAft>
              <a:buNone/>
              <a:defRPr/>
            </a:pPr>
            <a:r>
              <a:rPr lang="en" sz="1800">
                <a:solidFill>
                  <a:srgbClr val="FFFFFF"/>
                </a:solidFill>
                <a:latin typeface="Calibri"/>
                <a:ea typeface="Calibri"/>
                <a:cs typeface="Calibri"/>
              </a:rPr>
              <a:t> </a:t>
            </a:r>
            <a:endParaRPr sz="1800">
              <a:solidFill>
                <a:srgbClr val="FFFFFF"/>
              </a:solidFill>
              <a:latin typeface="Calibri"/>
              <a:ea typeface="Calibri"/>
              <a:cs typeface="Calibri"/>
            </a:endParaRPr>
          </a:p>
        </p:txBody>
      </p:sp>
      <p:sp>
        <p:nvSpPr>
          <p:cNvPr id="104" name="Google Shape;104;p20"/>
          <p:cNvSpPr txBox="1"/>
          <p:nvPr>
            <p:ph type="title"/>
          </p:nvPr>
        </p:nvSpPr>
        <p:spPr bwMode="auto">
          <a:xfrm>
            <a:off x="3764000" y="328450"/>
            <a:ext cx="3439800" cy="572700"/>
          </a:xfrm>
          <a:prstGeom prst="rect">
            <a:avLst/>
          </a:prstGeom>
        </p:spPr>
        <p:txBody>
          <a:bodyPr spcFirstLastPara="1" wrap="square" lIns="91425" tIns="91425" rIns="91425" bIns="91425" anchor="ctr" anchorCtr="0">
            <a:noAutofit/>
          </a:bodyPr>
          <a:lstStyle>
            <a:lvl1pPr lvl="0">
              <a:spcBef>
                <a:spcPts val="0"/>
              </a:spcBef>
              <a:spcAft>
                <a:spcPts val="0"/>
              </a:spcAft>
              <a:buSzPts val="2600"/>
              <a:buNone/>
              <a:defRPr b="1"/>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pPr>
              <a:defRPr/>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2" preserve="0" showMasterPhAnim="0" showMasterSp="1" userDrawn="1">
  <p:cSld name="BLANK_2">
    <p:spTree>
      <p:nvGrpSpPr>
        <p:cNvPr id="1" name=""/>
        <p:cNvGrpSpPr/>
        <p:nvPr/>
      </p:nvGrpSpPr>
      <p:grpSpPr bwMode="auto">
        <a:xfrm>
          <a:off x="0" y="0"/>
          <a:ext cx="0" cy="0"/>
          <a:chOff x="0" y="0"/>
          <a:chExt cx="0" cy="0"/>
        </a:xfrm>
      </p:grpSpPr>
      <p:sp>
        <p:nvSpPr>
          <p:cNvPr id="106" name="Google Shape;106;p21"/>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1" preserve="0" showMasterPhAnim="0" showMasterSp="1" userDrawn="1">
  <p:cSld name="BLANK_1">
    <p:bg>
      <p:bgPr shadeToTitle="0">
        <a:solidFill>
          <a:srgbClr val="2074B9"/>
        </a:solidFill>
      </p:bgPr>
    </p:bg>
    <p:spTree>
      <p:nvGrpSpPr>
        <p:cNvPr id="1" name=""/>
        <p:cNvGrpSpPr/>
        <p:nvPr/>
      </p:nvGrpSpPr>
      <p:grpSpPr bwMode="auto">
        <a:xfrm>
          <a:off x="0" y="0"/>
          <a:ext cx="0" cy="0"/>
          <a:chOff x="0" y="0"/>
          <a:chExt cx="0" cy="0"/>
        </a:xfrm>
      </p:grpSpPr>
      <p:sp>
        <p:nvSpPr>
          <p:cNvPr id="108" name="Google Shape;108;p22"/>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marL="0" lvl="0" indent="0" algn="r">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1 1" preserve="0" showMasterPhAnim="0" showMasterSp="1" userDrawn="1">
  <p:cSld name="BLANK_1_1">
    <p:bg>
      <p:bgPr shadeToTitle="0">
        <a:solidFill>
          <a:srgbClr val="2074B9"/>
        </a:solidFill>
      </p:bgPr>
    </p:bg>
    <p:spTree>
      <p:nvGrpSpPr>
        <p:cNvPr id="1" name=""/>
        <p:cNvGrpSpPr/>
        <p:nvPr/>
      </p:nvGrpSpPr>
      <p:grpSpPr bwMode="auto">
        <a:xfrm>
          <a:off x="0" y="0"/>
          <a:ext cx="0" cy="0"/>
          <a:chOff x="0" y="0"/>
          <a:chExt cx="0" cy="0"/>
        </a:xfrm>
      </p:grpSpPr>
      <p:sp>
        <p:nvSpPr>
          <p:cNvPr id="110" name="Google Shape;110;p23"/>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en"/>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simple-light-2">
    <p:bg>
      <p:bgPr shadeToTitle="0">
        <a:solidFill>
          <a:schemeClr val="lt1"/>
        </a:solidFill>
      </p:bgPr>
    </p:bg>
    <p:spTree>
      <p:nvGrpSpPr>
        <p:cNvPr id="1" name=""/>
        <p:cNvGrpSpPr/>
        <p:nvPr/>
      </p:nvGrpSpPr>
      <p:grpSpPr bwMode="auto">
        <a:xfrm>
          <a:off x="0" y="0"/>
          <a:ext cx="0" cy="0"/>
          <a:chOff x="0" y="0"/>
          <a:chExt cx="0" cy="0"/>
        </a:xfrm>
      </p:grpSpPr>
      <p:sp>
        <p:nvSpPr>
          <p:cNvPr id="6" name="Google Shape;6;p1"/>
          <p:cNvSpPr txBox="1"/>
          <p:nvPr>
            <p:ph type="title"/>
          </p:nvPr>
        </p:nvSpPr>
        <p:spPr bwMode="auto">
          <a:xfrm>
            <a:off x="311700" y="216425"/>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dk1"/>
              </a:buClr>
              <a:buSzPts val="2600"/>
              <a:buFont typeface="Montserrat"/>
              <a:buNone/>
              <a:defRPr sz="2600">
                <a:solidFill>
                  <a:schemeClr val="dk1"/>
                </a:solidFill>
                <a:latin typeface="Montserrat"/>
                <a:ea typeface="Montserrat"/>
                <a:cs typeface="Montserrat"/>
              </a:defRPr>
            </a:lvl1pPr>
            <a:lvl2pPr lvl="1">
              <a:spcBef>
                <a:spcPts val="0"/>
              </a:spcBef>
              <a:spcAft>
                <a:spcPts val="0"/>
              </a:spcAft>
              <a:buClr>
                <a:schemeClr val="dk1"/>
              </a:buClr>
              <a:buSzPts val="2600"/>
              <a:buFont typeface="Montserrat"/>
              <a:buNone/>
              <a:defRPr sz="2600">
                <a:solidFill>
                  <a:schemeClr val="dk1"/>
                </a:solidFill>
                <a:latin typeface="Montserrat"/>
                <a:ea typeface="Montserrat"/>
                <a:cs typeface="Montserrat"/>
              </a:defRPr>
            </a:lvl2pPr>
            <a:lvl3pPr lvl="2">
              <a:spcBef>
                <a:spcPts val="0"/>
              </a:spcBef>
              <a:spcAft>
                <a:spcPts val="0"/>
              </a:spcAft>
              <a:buClr>
                <a:schemeClr val="dk1"/>
              </a:buClr>
              <a:buSzPts val="2600"/>
              <a:buFont typeface="Montserrat"/>
              <a:buNone/>
              <a:defRPr sz="2600">
                <a:solidFill>
                  <a:schemeClr val="dk1"/>
                </a:solidFill>
                <a:latin typeface="Montserrat"/>
                <a:ea typeface="Montserrat"/>
                <a:cs typeface="Montserrat"/>
              </a:defRPr>
            </a:lvl3pPr>
            <a:lvl4pPr lvl="3">
              <a:spcBef>
                <a:spcPts val="0"/>
              </a:spcBef>
              <a:spcAft>
                <a:spcPts val="0"/>
              </a:spcAft>
              <a:buClr>
                <a:schemeClr val="dk1"/>
              </a:buClr>
              <a:buSzPts val="2600"/>
              <a:buFont typeface="Montserrat"/>
              <a:buNone/>
              <a:defRPr sz="2600">
                <a:solidFill>
                  <a:schemeClr val="dk1"/>
                </a:solidFill>
                <a:latin typeface="Montserrat"/>
                <a:ea typeface="Montserrat"/>
                <a:cs typeface="Montserrat"/>
              </a:defRPr>
            </a:lvl4pPr>
            <a:lvl5pPr lvl="4">
              <a:spcBef>
                <a:spcPts val="0"/>
              </a:spcBef>
              <a:spcAft>
                <a:spcPts val="0"/>
              </a:spcAft>
              <a:buClr>
                <a:schemeClr val="dk1"/>
              </a:buClr>
              <a:buSzPts val="2600"/>
              <a:buFont typeface="Montserrat"/>
              <a:buNone/>
              <a:defRPr sz="2600">
                <a:solidFill>
                  <a:schemeClr val="dk1"/>
                </a:solidFill>
                <a:latin typeface="Montserrat"/>
                <a:ea typeface="Montserrat"/>
                <a:cs typeface="Montserrat"/>
              </a:defRPr>
            </a:lvl5pPr>
            <a:lvl6pPr lvl="5">
              <a:spcBef>
                <a:spcPts val="0"/>
              </a:spcBef>
              <a:spcAft>
                <a:spcPts val="0"/>
              </a:spcAft>
              <a:buClr>
                <a:schemeClr val="dk1"/>
              </a:buClr>
              <a:buSzPts val="2600"/>
              <a:buFont typeface="Montserrat"/>
              <a:buNone/>
              <a:defRPr sz="2600">
                <a:solidFill>
                  <a:schemeClr val="dk1"/>
                </a:solidFill>
                <a:latin typeface="Montserrat"/>
                <a:ea typeface="Montserrat"/>
                <a:cs typeface="Montserrat"/>
              </a:defRPr>
            </a:lvl6pPr>
            <a:lvl7pPr lvl="6">
              <a:spcBef>
                <a:spcPts val="0"/>
              </a:spcBef>
              <a:spcAft>
                <a:spcPts val="0"/>
              </a:spcAft>
              <a:buClr>
                <a:schemeClr val="dk1"/>
              </a:buClr>
              <a:buSzPts val="2600"/>
              <a:buFont typeface="Montserrat"/>
              <a:buNone/>
              <a:defRPr sz="2600">
                <a:solidFill>
                  <a:schemeClr val="dk1"/>
                </a:solidFill>
                <a:latin typeface="Montserrat"/>
                <a:ea typeface="Montserrat"/>
                <a:cs typeface="Montserrat"/>
              </a:defRPr>
            </a:lvl7pPr>
            <a:lvl8pPr lvl="7">
              <a:spcBef>
                <a:spcPts val="0"/>
              </a:spcBef>
              <a:spcAft>
                <a:spcPts val="0"/>
              </a:spcAft>
              <a:buClr>
                <a:schemeClr val="dk1"/>
              </a:buClr>
              <a:buSzPts val="2600"/>
              <a:buFont typeface="Montserrat"/>
              <a:buNone/>
              <a:defRPr sz="2600">
                <a:solidFill>
                  <a:schemeClr val="dk1"/>
                </a:solidFill>
                <a:latin typeface="Montserrat"/>
                <a:ea typeface="Montserrat"/>
                <a:cs typeface="Montserrat"/>
              </a:defRPr>
            </a:lvl8pPr>
            <a:lvl9pPr lvl="8">
              <a:spcBef>
                <a:spcPts val="0"/>
              </a:spcBef>
              <a:spcAft>
                <a:spcPts val="0"/>
              </a:spcAft>
              <a:buClr>
                <a:schemeClr val="dk1"/>
              </a:buClr>
              <a:buSzPts val="2600"/>
              <a:buFont typeface="Montserrat"/>
              <a:buNone/>
              <a:defRPr sz="2600">
                <a:solidFill>
                  <a:schemeClr val="dk1"/>
                </a:solidFill>
                <a:latin typeface="Montserrat"/>
                <a:ea typeface="Montserrat"/>
                <a:cs typeface="Montserrat"/>
              </a:defRPr>
            </a:lvl9pPr>
          </a:lstStyle>
          <a:p>
            <a:pPr>
              <a:defRPr/>
            </a:pPr>
            <a:endParaRPr/>
          </a:p>
        </p:txBody>
      </p:sp>
      <p:sp>
        <p:nvSpPr>
          <p:cNvPr id="7" name="Google Shape;7;p1"/>
          <p:cNvSpPr txBox="1"/>
          <p:nvPr>
            <p:ph type="body" idx="1"/>
          </p:nvPr>
        </p:nvSpPr>
        <p:spPr bwMode="auto">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4999"/>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defRPr>
            </a:lvl1pPr>
            <a:lvl2pPr marL="914400" lvl="1" indent="-317500">
              <a:lnSpc>
                <a:spcPct val="114999"/>
              </a:lnSpc>
              <a:spcBef>
                <a:spcPts val="1600"/>
              </a:spcBef>
              <a:spcAft>
                <a:spcPts val="0"/>
              </a:spcAft>
              <a:buClr>
                <a:schemeClr val="dk2"/>
              </a:buClr>
              <a:buSzPts val="1400"/>
              <a:buFont typeface="Montserrat"/>
              <a:buChar char="○"/>
              <a:defRPr>
                <a:solidFill>
                  <a:schemeClr val="dk2"/>
                </a:solidFill>
                <a:latin typeface="Montserrat"/>
                <a:ea typeface="Montserrat"/>
                <a:cs typeface="Montserrat"/>
              </a:defRPr>
            </a:lvl2pPr>
            <a:lvl3pPr marL="1371600" lvl="2" indent="-317500">
              <a:lnSpc>
                <a:spcPct val="114999"/>
              </a:lnSpc>
              <a:spcBef>
                <a:spcPts val="1600"/>
              </a:spcBef>
              <a:spcAft>
                <a:spcPts val="0"/>
              </a:spcAft>
              <a:buClr>
                <a:schemeClr val="dk2"/>
              </a:buClr>
              <a:buSzPts val="1400"/>
              <a:buFont typeface="Montserrat"/>
              <a:buChar char="■"/>
              <a:defRPr>
                <a:solidFill>
                  <a:schemeClr val="dk2"/>
                </a:solidFill>
                <a:latin typeface="Montserrat"/>
                <a:ea typeface="Montserrat"/>
                <a:cs typeface="Montserrat"/>
              </a:defRPr>
            </a:lvl3pPr>
            <a:lvl4pPr marL="1828800" lvl="3" indent="-317500">
              <a:lnSpc>
                <a:spcPct val="114999"/>
              </a:lnSpc>
              <a:spcBef>
                <a:spcPts val="1600"/>
              </a:spcBef>
              <a:spcAft>
                <a:spcPts val="0"/>
              </a:spcAft>
              <a:buClr>
                <a:schemeClr val="dk2"/>
              </a:buClr>
              <a:buSzPts val="1400"/>
              <a:buFont typeface="Montserrat"/>
              <a:buChar char="●"/>
              <a:defRPr>
                <a:solidFill>
                  <a:schemeClr val="dk2"/>
                </a:solidFill>
                <a:latin typeface="Montserrat"/>
                <a:ea typeface="Montserrat"/>
                <a:cs typeface="Montserrat"/>
              </a:defRPr>
            </a:lvl4pPr>
            <a:lvl5pPr marL="2286000" lvl="4" indent="-317500">
              <a:lnSpc>
                <a:spcPct val="114999"/>
              </a:lnSpc>
              <a:spcBef>
                <a:spcPts val="1600"/>
              </a:spcBef>
              <a:spcAft>
                <a:spcPts val="0"/>
              </a:spcAft>
              <a:buClr>
                <a:schemeClr val="dk2"/>
              </a:buClr>
              <a:buSzPts val="1400"/>
              <a:buFont typeface="Montserrat"/>
              <a:buChar char="○"/>
              <a:defRPr>
                <a:solidFill>
                  <a:schemeClr val="dk2"/>
                </a:solidFill>
                <a:latin typeface="Montserrat"/>
                <a:ea typeface="Montserrat"/>
                <a:cs typeface="Montserrat"/>
              </a:defRPr>
            </a:lvl5pPr>
            <a:lvl6pPr marL="2743200" lvl="5" indent="-317500">
              <a:lnSpc>
                <a:spcPct val="114999"/>
              </a:lnSpc>
              <a:spcBef>
                <a:spcPts val="1600"/>
              </a:spcBef>
              <a:spcAft>
                <a:spcPts val="0"/>
              </a:spcAft>
              <a:buClr>
                <a:schemeClr val="dk2"/>
              </a:buClr>
              <a:buSzPts val="1400"/>
              <a:buFont typeface="Montserrat"/>
              <a:buChar char="■"/>
              <a:defRPr>
                <a:solidFill>
                  <a:schemeClr val="dk2"/>
                </a:solidFill>
                <a:latin typeface="Montserrat"/>
                <a:ea typeface="Montserrat"/>
                <a:cs typeface="Montserrat"/>
              </a:defRPr>
            </a:lvl6pPr>
            <a:lvl7pPr marL="3200400" lvl="6" indent="-317500">
              <a:lnSpc>
                <a:spcPct val="114999"/>
              </a:lnSpc>
              <a:spcBef>
                <a:spcPts val="1600"/>
              </a:spcBef>
              <a:spcAft>
                <a:spcPts val="0"/>
              </a:spcAft>
              <a:buClr>
                <a:schemeClr val="dk2"/>
              </a:buClr>
              <a:buSzPts val="1400"/>
              <a:buFont typeface="Montserrat"/>
              <a:buChar char="●"/>
              <a:defRPr>
                <a:solidFill>
                  <a:schemeClr val="dk2"/>
                </a:solidFill>
                <a:latin typeface="Montserrat"/>
                <a:ea typeface="Montserrat"/>
                <a:cs typeface="Montserrat"/>
              </a:defRPr>
            </a:lvl7pPr>
            <a:lvl8pPr marL="3657600" lvl="7" indent="-317500">
              <a:lnSpc>
                <a:spcPct val="114999"/>
              </a:lnSpc>
              <a:spcBef>
                <a:spcPts val="1600"/>
              </a:spcBef>
              <a:spcAft>
                <a:spcPts val="0"/>
              </a:spcAft>
              <a:buClr>
                <a:schemeClr val="dk2"/>
              </a:buClr>
              <a:buSzPts val="1400"/>
              <a:buFont typeface="Montserrat"/>
              <a:buChar char="○"/>
              <a:defRPr>
                <a:solidFill>
                  <a:schemeClr val="dk2"/>
                </a:solidFill>
                <a:latin typeface="Montserrat"/>
                <a:ea typeface="Montserrat"/>
                <a:cs typeface="Montserrat"/>
              </a:defRPr>
            </a:lvl8pPr>
            <a:lvl9pPr marL="4114800" lvl="8" indent="-317500">
              <a:lnSpc>
                <a:spcPct val="114999"/>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defRPr>
            </a:lvl9pPr>
          </a:lstStyle>
          <a:p>
            <a:pPr>
              <a:defRPr/>
            </a:pPr>
            <a:endParaRPr/>
          </a:p>
        </p:txBody>
      </p:sp>
      <p:sp>
        <p:nvSpPr>
          <p:cNvPr id="8" name="Google Shape;8;p1"/>
          <p:cNvSpPr txBox="1"/>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a:spcBef>
                <a:spcPts val="0"/>
              </a:spcBef>
              <a:spcAft>
                <a:spcPts val="0"/>
              </a:spcAft>
              <a:buNone/>
              <a:defRPr/>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dt="0" ftr="0" hdr="0" sldNum="0"/>
  <p:txStyles>
    <p:title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5" name="Google Shape;115;p24"/>
          <p:cNvSpPr txBox="1"/>
          <p:nvPr>
            <p:ph type="ctrTitle"/>
          </p:nvPr>
        </p:nvSpPr>
        <p:spPr bwMode="auto">
          <a:xfrm>
            <a:off x="311707" y="800604"/>
            <a:ext cx="8520600" cy="2052600"/>
          </a:xfrm>
          <a:prstGeom prst="rect">
            <a:avLst/>
          </a:prstGeom>
        </p:spPr>
        <p:txBody>
          <a:bodyPr spcFirstLastPara="1" wrap="square" lIns="91425" tIns="91425" rIns="91425" bIns="91425" anchor="b" anchorCtr="0">
            <a:noAutofit/>
          </a:bodyPr>
          <a:lstStyle/>
          <a:p>
            <a:pPr marL="0" lvl="0" indent="0" algn="ctr">
              <a:spcBef>
                <a:spcPts val="0"/>
              </a:spcBef>
              <a:spcAft>
                <a:spcPts val="0"/>
              </a:spcAft>
              <a:buNone/>
              <a:defRPr/>
            </a:pPr>
            <a:r>
              <a:rPr lang="en"/>
              <a:t>Object-Oriented Programming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0" name="Google Shape;120;p25"/>
          <p:cNvSpPr txBox="1"/>
          <p:nvPr>
            <p:ph type="title"/>
          </p:nvPr>
        </p:nvSpPr>
        <p:spPr bwMode="auto">
          <a:xfrm>
            <a:off x="540300" y="2990425"/>
            <a:ext cx="8093700" cy="1672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defRPr/>
            </a:pPr>
            <a:r>
              <a:rPr lang="en"/>
              <a:t>Object Oriented Programming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5" name="Google Shape;125;p26"/>
          <p:cNvSpPr txBox="1"/>
          <p:nvPr>
            <p:ph type="title"/>
          </p:nvPr>
        </p:nvSpPr>
        <p:spPr bwMode="auto">
          <a:xfrm>
            <a:off x="311700" y="216425"/>
            <a:ext cx="8520600" cy="934799"/>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defRPr/>
            </a:pPr>
            <a:r>
              <a:rPr lang="en"/>
              <a:t>Modelling</a:t>
            </a:r>
            <a:r>
              <a:rPr lang="en" b="1"/>
              <a:t> r</a:t>
            </a:r>
            <a:r>
              <a:rPr lang="en" b="1"/>
              <a:t>eal-world objects</a:t>
            </a:r>
            <a:r>
              <a:rPr lang="en"/>
              <a:t> with </a:t>
            </a:r>
            <a:r>
              <a:rPr lang="en" b="1"/>
              <a:t>Attributes</a:t>
            </a:r>
            <a:r>
              <a:rPr lang="en"/>
              <a:t> and </a:t>
            </a:r>
            <a:r>
              <a:rPr lang="en" b="1"/>
              <a:t>Behavior.</a:t>
            </a:r>
            <a:endParaRPr b="1"/>
          </a:p>
        </p:txBody>
      </p:sp>
      <p:sp>
        <p:nvSpPr>
          <p:cNvPr id="126" name="Google Shape;126;p26"/>
          <p:cNvSpPr txBox="1"/>
          <p:nvPr/>
        </p:nvSpPr>
        <p:spPr bwMode="auto">
          <a:xfrm>
            <a:off x="601825" y="1420616"/>
            <a:ext cx="2684100" cy="446400"/>
          </a:xfrm>
          <a:prstGeom prst="rect">
            <a:avLst/>
          </a:prstGeom>
          <a:noFill/>
          <a:ln>
            <a:noFill/>
          </a:ln>
        </p:spPr>
        <p:txBody>
          <a:bodyPr spcFirstLastPara="1" wrap="square" lIns="91425" tIns="91425" rIns="91425" bIns="91425" anchor="t" anchorCtr="0">
            <a:spAutoFit/>
          </a:bodyPr>
          <a:lstStyle/>
          <a:p>
            <a:pPr marL="0" lvl="0" indent="0" algn="l">
              <a:spcBef>
                <a:spcPts val="0"/>
              </a:spcBef>
              <a:spcAft>
                <a:spcPts val="0"/>
              </a:spcAft>
              <a:buNone/>
              <a:defRPr/>
            </a:pPr>
            <a:r>
              <a:rPr lang="en" sz="1700" b="1">
                <a:latin typeface="Montserrat"/>
                <a:ea typeface="Montserrat"/>
                <a:cs typeface="Montserrat"/>
              </a:rPr>
              <a:t>Attributes:</a:t>
            </a:r>
            <a:endParaRPr sz="1700" b="1">
              <a:latin typeface="Montserrat"/>
              <a:ea typeface="Montserrat"/>
              <a:cs typeface="Montserrat"/>
            </a:endParaRPr>
          </a:p>
        </p:txBody>
      </p:sp>
      <p:sp>
        <p:nvSpPr>
          <p:cNvPr id="127" name="Google Shape;127;p26"/>
          <p:cNvSpPr txBox="1"/>
          <p:nvPr/>
        </p:nvSpPr>
        <p:spPr bwMode="auto">
          <a:xfrm>
            <a:off x="601825" y="2944616"/>
            <a:ext cx="2684100" cy="446400"/>
          </a:xfrm>
          <a:prstGeom prst="rect">
            <a:avLst/>
          </a:prstGeom>
          <a:noFill/>
          <a:ln>
            <a:noFill/>
          </a:ln>
        </p:spPr>
        <p:txBody>
          <a:bodyPr spcFirstLastPara="1" wrap="square" lIns="91425" tIns="91425" rIns="91425" bIns="91425" anchor="t" anchorCtr="0">
            <a:spAutoFit/>
          </a:bodyPr>
          <a:lstStyle/>
          <a:p>
            <a:pPr marL="0" lvl="0" indent="0" algn="l">
              <a:spcBef>
                <a:spcPts val="0"/>
              </a:spcBef>
              <a:spcAft>
                <a:spcPts val="0"/>
              </a:spcAft>
              <a:buNone/>
              <a:defRPr/>
            </a:pPr>
            <a:r>
              <a:rPr lang="en" sz="1700" b="1">
                <a:latin typeface="Montserrat"/>
                <a:ea typeface="Montserrat"/>
                <a:cs typeface="Montserrat"/>
              </a:rPr>
              <a:t>Behavior</a:t>
            </a:r>
            <a:r>
              <a:rPr lang="en" sz="1700" b="1">
                <a:latin typeface="Montserrat"/>
                <a:ea typeface="Montserrat"/>
                <a:cs typeface="Montserrat"/>
              </a:rPr>
              <a:t>:</a:t>
            </a:r>
            <a:endParaRPr sz="1700" b="1">
              <a:latin typeface="Montserrat"/>
              <a:ea typeface="Montserrat"/>
              <a:cs typeface="Montserrat"/>
            </a:endParaRPr>
          </a:p>
        </p:txBody>
      </p:sp>
      <p:pic>
        <p:nvPicPr>
          <p:cNvPr id="128" name="Google Shape;128;p26"/>
          <p:cNvPicPr/>
          <p:nvPr/>
        </p:nvPicPr>
        <p:blipFill>
          <a:blip r:embed="rId3">
            <a:alphaModFix/>
          </a:blip>
          <a:srcRect l="0" t="0" r="3147" b="0"/>
          <a:stretch/>
        </p:blipFill>
        <p:spPr bwMode="auto">
          <a:xfrm>
            <a:off x="3605725" y="1243700"/>
            <a:ext cx="4682722" cy="3223024"/>
          </a:xfrm>
          <a:prstGeom prst="rect">
            <a:avLst/>
          </a:prstGeom>
          <a:noFill/>
          <a:ln>
            <a:noFill/>
          </a:ln>
        </p:spPr>
      </p:pic>
      <p:sp>
        <p:nvSpPr>
          <p:cNvPr id="129" name="Google Shape;129;p26"/>
          <p:cNvSpPr txBox="1"/>
          <p:nvPr/>
        </p:nvSpPr>
        <p:spPr bwMode="auto">
          <a:xfrm>
            <a:off x="700375" y="1765491"/>
            <a:ext cx="2684100" cy="831299"/>
          </a:xfrm>
          <a:prstGeom prst="rect">
            <a:avLst/>
          </a:prstGeom>
          <a:noFill/>
          <a:ln>
            <a:noFill/>
          </a:ln>
        </p:spPr>
        <p:txBody>
          <a:bodyPr spcFirstLastPara="1" wrap="square" lIns="91425" tIns="91425" rIns="91425" bIns="91425" anchor="t" anchorCtr="0">
            <a:spAutoFit/>
          </a:bodyPr>
          <a:lstStyle/>
          <a:p>
            <a:pPr marL="457200" lvl="0" indent="-317500" algn="l">
              <a:spcBef>
                <a:spcPts val="0"/>
              </a:spcBef>
              <a:spcAft>
                <a:spcPts val="0"/>
              </a:spcAft>
              <a:buSzPts val="1400"/>
              <a:buFont typeface="Montserrat"/>
              <a:buChar char="●"/>
              <a:defRPr/>
            </a:pPr>
            <a:r>
              <a:rPr lang="en">
                <a:latin typeface="Montserrat"/>
                <a:ea typeface="Montserrat"/>
                <a:cs typeface="Montserrat"/>
              </a:rPr>
              <a:t>Color</a:t>
            </a:r>
            <a:endParaRPr>
              <a:latin typeface="Montserrat"/>
              <a:ea typeface="Montserrat"/>
              <a:cs typeface="Montserrat"/>
            </a:endParaRPr>
          </a:p>
          <a:p>
            <a:pPr marL="457200" lvl="0" indent="-317500" algn="l">
              <a:spcBef>
                <a:spcPts val="0"/>
              </a:spcBef>
              <a:spcAft>
                <a:spcPts val="0"/>
              </a:spcAft>
              <a:buSzPts val="1400"/>
              <a:buFont typeface="Montserrat"/>
              <a:buChar char="●"/>
              <a:defRPr/>
            </a:pPr>
            <a:r>
              <a:rPr lang="en">
                <a:latin typeface="Montserrat"/>
                <a:ea typeface="Montserrat"/>
                <a:cs typeface="Montserrat"/>
              </a:rPr>
              <a:t>Horsepower</a:t>
            </a:r>
            <a:endParaRPr>
              <a:latin typeface="Montserrat"/>
              <a:ea typeface="Montserrat"/>
              <a:cs typeface="Montserrat"/>
            </a:endParaRPr>
          </a:p>
          <a:p>
            <a:pPr marL="457200" lvl="0" indent="-317500" algn="l">
              <a:spcBef>
                <a:spcPts val="0"/>
              </a:spcBef>
              <a:spcAft>
                <a:spcPts val="0"/>
              </a:spcAft>
              <a:buSzPts val="1400"/>
              <a:buFont typeface="Montserrat"/>
              <a:buChar char="●"/>
              <a:defRPr/>
            </a:pPr>
            <a:r>
              <a:rPr lang="en">
                <a:solidFill>
                  <a:schemeClr val="dk1"/>
                </a:solidFill>
                <a:latin typeface="Montserrat"/>
                <a:ea typeface="Montserrat"/>
                <a:cs typeface="Montserrat"/>
              </a:rPr>
              <a:t>Speed</a:t>
            </a:r>
            <a:endParaRPr>
              <a:latin typeface="Montserrat"/>
              <a:ea typeface="Montserrat"/>
              <a:cs typeface="Montserrat"/>
            </a:endParaRPr>
          </a:p>
        </p:txBody>
      </p:sp>
      <p:sp>
        <p:nvSpPr>
          <p:cNvPr id="130" name="Google Shape;130;p26"/>
          <p:cNvSpPr txBox="1"/>
          <p:nvPr/>
        </p:nvSpPr>
        <p:spPr bwMode="auto">
          <a:xfrm>
            <a:off x="700477" y="3289491"/>
            <a:ext cx="2684100" cy="831299"/>
          </a:xfrm>
          <a:prstGeom prst="rect">
            <a:avLst/>
          </a:prstGeom>
          <a:noFill/>
          <a:ln>
            <a:noFill/>
          </a:ln>
        </p:spPr>
        <p:txBody>
          <a:bodyPr spcFirstLastPara="1" wrap="square" lIns="91425" tIns="91425" rIns="91425" bIns="91425" anchor="t" anchorCtr="0">
            <a:spAutoFit/>
          </a:bodyPr>
          <a:lstStyle/>
          <a:p>
            <a:pPr marL="457200" lvl="0" indent="-317500" algn="l">
              <a:spcBef>
                <a:spcPts val="0"/>
              </a:spcBef>
              <a:spcAft>
                <a:spcPts val="0"/>
              </a:spcAft>
              <a:buSzPts val="1400"/>
              <a:buFont typeface="Montserrat"/>
              <a:buChar char="●"/>
              <a:defRPr/>
            </a:pPr>
            <a:r>
              <a:rPr lang="en">
                <a:latin typeface="Montserrat"/>
                <a:ea typeface="Montserrat"/>
                <a:cs typeface="Montserrat"/>
              </a:rPr>
              <a:t>Accelerate</a:t>
            </a:r>
            <a:endParaRPr>
              <a:latin typeface="Montserrat"/>
              <a:ea typeface="Montserrat"/>
              <a:cs typeface="Montserrat"/>
            </a:endParaRPr>
          </a:p>
          <a:p>
            <a:pPr marL="457200" lvl="0" indent="-317500" algn="l">
              <a:spcBef>
                <a:spcPts val="0"/>
              </a:spcBef>
              <a:spcAft>
                <a:spcPts val="0"/>
              </a:spcAft>
              <a:buSzPts val="1400"/>
              <a:buFont typeface="Montserrat"/>
              <a:buChar char="●"/>
              <a:defRPr/>
            </a:pPr>
            <a:r>
              <a:rPr lang="en">
                <a:latin typeface="Montserrat"/>
                <a:ea typeface="Montserrat"/>
                <a:cs typeface="Montserrat"/>
              </a:rPr>
              <a:t>Apply Brakes</a:t>
            </a:r>
            <a:endParaRPr>
              <a:latin typeface="Montserrat"/>
              <a:ea typeface="Montserrat"/>
              <a:cs typeface="Montserrat"/>
            </a:endParaRPr>
          </a:p>
          <a:p>
            <a:pPr marL="457200" lvl="0" indent="-317500" algn="l">
              <a:spcBef>
                <a:spcPts val="0"/>
              </a:spcBef>
              <a:spcAft>
                <a:spcPts val="0"/>
              </a:spcAft>
              <a:buSzPts val="1400"/>
              <a:buFont typeface="Montserrat"/>
              <a:buChar char="●"/>
              <a:defRPr/>
            </a:pPr>
            <a:r>
              <a:rPr lang="en">
                <a:latin typeface="Montserrat"/>
                <a:ea typeface="Montserrat"/>
                <a:cs typeface="Montserrat"/>
              </a:rPr>
              <a:t>Blow Horn</a:t>
            </a:r>
            <a:endParaRPr>
              <a:latin typeface="Montserrat"/>
              <a:ea typeface="Montserrat"/>
              <a:cs typeface="Montserra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5" name="Google Shape;135;p27"/>
          <p:cNvSpPr txBox="1"/>
          <p:nvPr>
            <p:ph type="title"/>
          </p:nvPr>
        </p:nvSpPr>
        <p:spPr bwMode="auto">
          <a:xfrm>
            <a:off x="311700" y="216425"/>
            <a:ext cx="8520600" cy="934799"/>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defRPr/>
            </a:pPr>
            <a:r>
              <a:rPr lang="en" b="1"/>
              <a:t>Central OOP idea</a:t>
            </a:r>
            <a:r>
              <a:rPr lang="en"/>
              <a:t>: combine both </a:t>
            </a:r>
            <a:r>
              <a:rPr lang="en" b="1"/>
              <a:t>data</a:t>
            </a:r>
            <a:r>
              <a:rPr lang="en"/>
              <a:t> and </a:t>
            </a:r>
            <a:r>
              <a:rPr lang="en" b="1"/>
              <a:t>functions</a:t>
            </a:r>
            <a:r>
              <a:rPr lang="en"/>
              <a:t> that operate on that data into a single unit (</a:t>
            </a:r>
            <a:r>
              <a:rPr lang="en" b="1"/>
              <a:t>o</a:t>
            </a:r>
            <a:r>
              <a:rPr lang="en" b="1"/>
              <a:t>bject</a:t>
            </a:r>
            <a:r>
              <a:rPr lang="en"/>
              <a:t>)</a:t>
            </a:r>
            <a:endParaRPr/>
          </a:p>
        </p:txBody>
      </p:sp>
      <p:grpSp>
        <p:nvGrpSpPr>
          <p:cNvPr id="136" name="Google Shape;136;p27"/>
          <p:cNvGrpSpPr/>
          <p:nvPr/>
        </p:nvGrpSpPr>
        <p:grpSpPr bwMode="auto">
          <a:xfrm>
            <a:off x="878578" y="1845590"/>
            <a:ext cx="2773180" cy="2350202"/>
            <a:chOff x="3247800" y="1845536"/>
            <a:chExt cx="2634600" cy="2174100"/>
          </a:xfrm>
        </p:grpSpPr>
        <p:sp>
          <p:nvSpPr>
            <p:cNvPr id="137" name="Google Shape;137;p27"/>
            <p:cNvSpPr/>
            <p:nvPr/>
          </p:nvSpPr>
          <p:spPr bwMode="auto">
            <a:xfrm>
              <a:off x="3247800" y="1845536"/>
              <a:ext cx="2634600" cy="21741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38" name="Google Shape;138;p27"/>
            <p:cNvSpPr/>
            <p:nvPr/>
          </p:nvSpPr>
          <p:spPr bwMode="auto">
            <a:xfrm>
              <a:off x="3507150" y="2397799"/>
              <a:ext cx="2129700" cy="640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a:spcBef>
                  <a:spcPts val="0"/>
                </a:spcBef>
                <a:spcAft>
                  <a:spcPts val="0"/>
                </a:spcAft>
                <a:buNone/>
                <a:defRPr/>
              </a:pPr>
              <a:r>
                <a:rPr lang="en" sz="1500">
                  <a:latin typeface="Montserrat"/>
                  <a:ea typeface="Montserrat"/>
                  <a:cs typeface="Montserrat"/>
                </a:rPr>
                <a:t>Data</a:t>
              </a:r>
              <a:endParaRPr sz="1500">
                <a:latin typeface="Montserrat"/>
                <a:ea typeface="Montserrat"/>
                <a:cs typeface="Montserrat"/>
              </a:endParaRPr>
            </a:p>
          </p:txBody>
        </p:sp>
        <p:sp>
          <p:nvSpPr>
            <p:cNvPr id="139" name="Google Shape;139;p27"/>
            <p:cNvSpPr/>
            <p:nvPr/>
          </p:nvSpPr>
          <p:spPr bwMode="auto">
            <a:xfrm>
              <a:off x="3507150" y="3183949"/>
              <a:ext cx="2129700" cy="6987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a:spcBef>
                  <a:spcPts val="0"/>
                </a:spcBef>
                <a:spcAft>
                  <a:spcPts val="0"/>
                </a:spcAft>
                <a:buNone/>
                <a:defRPr/>
              </a:pPr>
              <a:r>
                <a:rPr lang="en" sz="1500">
                  <a:latin typeface="Montserrat"/>
                  <a:ea typeface="Montserrat"/>
                  <a:cs typeface="Montserrat"/>
                </a:rPr>
                <a:t>Methods</a:t>
              </a:r>
              <a:endParaRPr sz="1500">
                <a:latin typeface="Montserrat"/>
                <a:ea typeface="Montserrat"/>
                <a:cs typeface="Montserrat"/>
              </a:endParaRPr>
            </a:p>
          </p:txBody>
        </p:sp>
        <p:sp>
          <p:nvSpPr>
            <p:cNvPr id="140" name="Google Shape;140;p27"/>
            <p:cNvSpPr txBox="1"/>
            <p:nvPr/>
          </p:nvSpPr>
          <p:spPr bwMode="auto">
            <a:xfrm>
              <a:off x="3262650" y="1859474"/>
              <a:ext cx="1003500" cy="398700"/>
            </a:xfrm>
            <a:prstGeom prst="rect">
              <a:avLst/>
            </a:prstGeom>
            <a:solidFill>
              <a:srgbClr val="D9EAD3"/>
            </a:solidFill>
            <a:ln>
              <a:noFill/>
            </a:ln>
          </p:spPr>
          <p:txBody>
            <a:bodyPr spcFirstLastPara="1" wrap="square" lIns="91425" tIns="91425" rIns="91425" bIns="91425" anchor="t" anchorCtr="0">
              <a:spAutoFit/>
            </a:bodyPr>
            <a:lstStyle/>
            <a:p>
              <a:pPr marL="0" lvl="0" indent="0" algn="l">
                <a:spcBef>
                  <a:spcPts val="0"/>
                </a:spcBef>
                <a:spcAft>
                  <a:spcPts val="0"/>
                </a:spcAft>
                <a:buNone/>
                <a:defRPr/>
              </a:pPr>
              <a:r>
                <a:rPr lang="en" sz="1600">
                  <a:latin typeface="Montserrat"/>
                  <a:ea typeface="Montserrat"/>
                  <a:cs typeface="Montserrat"/>
                </a:rPr>
                <a:t>Object</a:t>
              </a:r>
              <a:endParaRPr sz="1600">
                <a:latin typeface="Montserrat"/>
                <a:ea typeface="Montserrat"/>
                <a:cs typeface="Montserrat"/>
              </a:endParaRPr>
            </a:p>
          </p:txBody>
        </p:sp>
      </p:grpSp>
      <p:grpSp>
        <p:nvGrpSpPr>
          <p:cNvPr id="141" name="Google Shape;141;p27"/>
          <p:cNvGrpSpPr/>
          <p:nvPr/>
        </p:nvGrpSpPr>
        <p:grpSpPr bwMode="auto">
          <a:xfrm>
            <a:off x="5492132" y="1845526"/>
            <a:ext cx="2773180" cy="2350202"/>
            <a:chOff x="3247800" y="1845536"/>
            <a:chExt cx="2634600" cy="2174100"/>
          </a:xfrm>
        </p:grpSpPr>
        <p:sp>
          <p:nvSpPr>
            <p:cNvPr id="142" name="Google Shape;142;p27"/>
            <p:cNvSpPr/>
            <p:nvPr/>
          </p:nvSpPr>
          <p:spPr bwMode="auto">
            <a:xfrm>
              <a:off x="3247800" y="1845536"/>
              <a:ext cx="2634600" cy="2174100"/>
            </a:xfrm>
            <a:prstGeom prst="rect">
              <a:avLst/>
            </a:prstGeom>
            <a:solidFill>
              <a:srgbClr val="D9EAD3"/>
            </a:solidFill>
            <a:ln w="9525" cap="flat" cmpd="sng">
              <a:solidFill>
                <a:srgbClr val="000000"/>
              </a:solidFill>
              <a:prstDash val="solid"/>
              <a:round/>
              <a:headEnd type="none" w="sm" len="sm"/>
              <a:tailEnd type="none" w="sm" len="sm"/>
            </a:ln>
          </p:spPr>
          <p:txBody>
            <a:bodyPr spcFirstLastPara="1" wrap="square" lIns="91425" tIns="45700" rIns="91425" bIns="0" anchor="ctr" anchorCtr="0">
              <a:noAutofit/>
            </a:bodyPr>
            <a:lstStyle/>
            <a:p>
              <a:pPr marL="0" lvl="0" indent="0" algn="l">
                <a:spcBef>
                  <a:spcPts val="0"/>
                </a:spcBef>
                <a:spcAft>
                  <a:spcPts val="0"/>
                </a:spcAft>
                <a:buNone/>
                <a:defRPr/>
              </a:pPr>
              <a:endParaRPr sz="1300"/>
            </a:p>
          </p:txBody>
        </p:sp>
        <p:sp>
          <p:nvSpPr>
            <p:cNvPr id="143" name="Google Shape;143;p27"/>
            <p:cNvSpPr/>
            <p:nvPr/>
          </p:nvSpPr>
          <p:spPr bwMode="auto">
            <a:xfrm>
              <a:off x="3500263" y="2290575"/>
              <a:ext cx="2129700" cy="747600"/>
            </a:xfrm>
            <a:prstGeom prst="rect">
              <a:avLst/>
            </a:prstGeom>
            <a:solidFill>
              <a:srgbClr val="B6D7A8"/>
            </a:solidFill>
            <a:ln w="9525" cap="flat" cmpd="sng">
              <a:solidFill>
                <a:srgbClr val="000000"/>
              </a:solidFill>
              <a:prstDash val="solid"/>
              <a:round/>
              <a:headEnd type="none" w="sm" len="sm"/>
              <a:tailEnd type="none" w="sm" len="sm"/>
            </a:ln>
          </p:spPr>
          <p:txBody>
            <a:bodyPr spcFirstLastPara="1" wrap="square" lIns="91425" tIns="45700" rIns="91425" bIns="0" anchor="t" anchorCtr="0">
              <a:noAutofit/>
            </a:bodyPr>
            <a:lstStyle/>
            <a:p>
              <a:pPr marL="0" lvl="0" indent="0" algn="l">
                <a:lnSpc>
                  <a:spcPct val="100000"/>
                </a:lnSpc>
                <a:spcBef>
                  <a:spcPts val="0"/>
                </a:spcBef>
                <a:spcAft>
                  <a:spcPts val="0"/>
                </a:spcAft>
                <a:buClr>
                  <a:schemeClr val="dk1"/>
                </a:buClr>
                <a:buSzPts val="1100"/>
                <a:buFont typeface="Arial"/>
                <a:buNone/>
                <a:defRPr/>
              </a:pPr>
              <a:r>
                <a:rPr lang="en" sz="1500">
                  <a:latin typeface="Courier New"/>
                  <a:ea typeface="Courier New"/>
                  <a:cs typeface="Courier New"/>
                </a:rPr>
                <a:t>color = </a:t>
              </a:r>
              <a:r>
                <a:rPr lang="en" sz="1500">
                  <a:latin typeface="Courier New"/>
                  <a:ea typeface="Courier New"/>
                  <a:cs typeface="Courier New"/>
                </a:rPr>
                <a:t>'gray</a:t>
              </a:r>
              <a:r>
                <a:rPr lang="en" sz="1500">
                  <a:solidFill>
                    <a:schemeClr val="dk1"/>
                  </a:solidFill>
                  <a:latin typeface="Courier New"/>
                  <a:ea typeface="Courier New"/>
                  <a:cs typeface="Courier New"/>
                </a:rPr>
                <a:t>'</a:t>
              </a:r>
              <a:endParaRPr sz="1500">
                <a:latin typeface="Courier New"/>
                <a:ea typeface="Courier New"/>
                <a:cs typeface="Courier New"/>
              </a:endParaRPr>
            </a:p>
            <a:p>
              <a:pPr marL="0" lvl="0" indent="0" algn="l">
                <a:lnSpc>
                  <a:spcPct val="100000"/>
                </a:lnSpc>
                <a:spcBef>
                  <a:spcPts val="0"/>
                </a:spcBef>
                <a:spcAft>
                  <a:spcPts val="0"/>
                </a:spcAft>
                <a:buClr>
                  <a:schemeClr val="dk1"/>
                </a:buClr>
                <a:buSzPts val="1100"/>
                <a:buFont typeface="Arial"/>
                <a:buNone/>
                <a:defRPr/>
              </a:pPr>
              <a:r>
                <a:rPr lang="en" sz="1500">
                  <a:latin typeface="Courier New"/>
                  <a:ea typeface="Courier New"/>
                  <a:cs typeface="Courier New"/>
                </a:rPr>
                <a:t>horsepower = 362</a:t>
              </a:r>
              <a:endParaRPr sz="1500">
                <a:latin typeface="Courier New"/>
                <a:ea typeface="Courier New"/>
                <a:cs typeface="Courier New"/>
              </a:endParaRPr>
            </a:p>
            <a:p>
              <a:pPr marL="0" lvl="0" indent="0" algn="l">
                <a:lnSpc>
                  <a:spcPct val="100000"/>
                </a:lnSpc>
                <a:spcBef>
                  <a:spcPts val="0"/>
                </a:spcBef>
                <a:spcAft>
                  <a:spcPts val="0"/>
                </a:spcAft>
                <a:buNone/>
                <a:defRPr/>
              </a:pPr>
              <a:r>
                <a:rPr lang="en" sz="1500">
                  <a:latin typeface="Courier New"/>
                  <a:ea typeface="Courier New"/>
                  <a:cs typeface="Courier New"/>
                </a:rPr>
                <a:t>speed = 60</a:t>
              </a:r>
              <a:endParaRPr sz="1500">
                <a:latin typeface="Courier New"/>
                <a:ea typeface="Courier New"/>
                <a:cs typeface="Courier New"/>
              </a:endParaRPr>
            </a:p>
          </p:txBody>
        </p:sp>
        <p:sp>
          <p:nvSpPr>
            <p:cNvPr id="144" name="Google Shape;144;p27"/>
            <p:cNvSpPr/>
            <p:nvPr/>
          </p:nvSpPr>
          <p:spPr bwMode="auto">
            <a:xfrm>
              <a:off x="3507151" y="3135059"/>
              <a:ext cx="2129700" cy="747600"/>
            </a:xfrm>
            <a:prstGeom prst="rect">
              <a:avLst/>
            </a:prstGeom>
            <a:solidFill>
              <a:srgbClr val="B6D7A8"/>
            </a:solidFill>
            <a:ln w="9525" cap="flat" cmpd="sng">
              <a:solidFill>
                <a:srgbClr val="000000"/>
              </a:solidFill>
              <a:prstDash val="solid"/>
              <a:round/>
              <a:headEnd type="none" w="sm" len="sm"/>
              <a:tailEnd type="none" w="sm" len="sm"/>
            </a:ln>
          </p:spPr>
          <p:txBody>
            <a:bodyPr spcFirstLastPara="1" wrap="square" lIns="91425" tIns="45700" rIns="91425" bIns="0" anchor="t" anchorCtr="0">
              <a:noAutofit/>
            </a:bodyPr>
            <a:lstStyle/>
            <a:p>
              <a:pPr marL="0" lvl="0" indent="0" algn="l">
                <a:spcBef>
                  <a:spcPts val="0"/>
                </a:spcBef>
                <a:spcAft>
                  <a:spcPts val="0"/>
                </a:spcAft>
                <a:buClr>
                  <a:schemeClr val="dk1"/>
                </a:buClr>
                <a:buSzPts val="1100"/>
                <a:buFont typeface="Arial"/>
                <a:buNone/>
                <a:defRPr/>
              </a:pPr>
              <a:r>
                <a:rPr lang="en" sz="1500">
                  <a:latin typeface="Courier New"/>
                  <a:ea typeface="Courier New"/>
                  <a:cs typeface="Courier New"/>
                </a:rPr>
                <a:t>accelerate()</a:t>
              </a:r>
              <a:endParaRPr sz="1500">
                <a:latin typeface="Courier New"/>
                <a:ea typeface="Courier New"/>
                <a:cs typeface="Courier New"/>
              </a:endParaRPr>
            </a:p>
            <a:p>
              <a:pPr marL="0" lvl="0" indent="0" algn="l">
                <a:spcBef>
                  <a:spcPts val="0"/>
                </a:spcBef>
                <a:spcAft>
                  <a:spcPts val="0"/>
                </a:spcAft>
                <a:buClr>
                  <a:schemeClr val="dk1"/>
                </a:buClr>
                <a:buSzPts val="1100"/>
                <a:buFont typeface="Arial"/>
                <a:buNone/>
                <a:defRPr/>
              </a:pPr>
              <a:r>
                <a:rPr lang="en" sz="1500">
                  <a:latin typeface="Courier New"/>
                  <a:ea typeface="Courier New"/>
                  <a:cs typeface="Courier New"/>
                </a:rPr>
                <a:t>apply_brakes()</a:t>
              </a:r>
              <a:endParaRPr sz="1500">
                <a:latin typeface="Courier New"/>
                <a:ea typeface="Courier New"/>
                <a:cs typeface="Courier New"/>
              </a:endParaRPr>
            </a:p>
            <a:p>
              <a:pPr marL="0" lvl="0" indent="0" algn="l">
                <a:spcBef>
                  <a:spcPts val="0"/>
                </a:spcBef>
                <a:spcAft>
                  <a:spcPts val="0"/>
                </a:spcAft>
                <a:buClr>
                  <a:schemeClr val="dk1"/>
                </a:buClr>
                <a:buSzPts val="1100"/>
                <a:buFont typeface="Arial"/>
                <a:buNone/>
                <a:defRPr/>
              </a:pPr>
              <a:r>
                <a:rPr lang="en" sz="1500">
                  <a:latin typeface="Courier New"/>
                  <a:ea typeface="Courier New"/>
                  <a:cs typeface="Courier New"/>
                </a:rPr>
                <a:t>blow_horn()</a:t>
              </a:r>
              <a:endParaRPr sz="1500">
                <a:latin typeface="Courier New"/>
                <a:ea typeface="Courier New"/>
                <a:cs typeface="Courier New"/>
              </a:endParaRPr>
            </a:p>
            <a:p>
              <a:pPr marL="0" lvl="0" indent="0" algn="l">
                <a:spcBef>
                  <a:spcPts val="0"/>
                </a:spcBef>
                <a:spcAft>
                  <a:spcPts val="0"/>
                </a:spcAft>
                <a:buNone/>
                <a:defRPr/>
              </a:pPr>
              <a:endParaRPr sz="1500">
                <a:latin typeface="Montserrat"/>
                <a:ea typeface="Montserrat"/>
                <a:cs typeface="Montserrat"/>
              </a:endParaRPr>
            </a:p>
          </p:txBody>
        </p:sp>
        <p:sp>
          <p:nvSpPr>
            <p:cNvPr id="145" name="Google Shape;145;p27"/>
            <p:cNvSpPr txBox="1"/>
            <p:nvPr/>
          </p:nvSpPr>
          <p:spPr bwMode="auto">
            <a:xfrm>
              <a:off x="3262650" y="1859474"/>
              <a:ext cx="1383599" cy="398700"/>
            </a:xfrm>
            <a:prstGeom prst="rect">
              <a:avLst/>
            </a:prstGeom>
            <a:solidFill>
              <a:srgbClr val="D9EAD3"/>
            </a:solidFill>
            <a:ln>
              <a:noFill/>
            </a:ln>
          </p:spPr>
          <p:txBody>
            <a:bodyPr spcFirstLastPara="1" wrap="square" lIns="91425" tIns="91425" rIns="91425" bIns="91425" anchor="t" anchorCtr="0">
              <a:spAutoFit/>
            </a:bodyPr>
            <a:lstStyle/>
            <a:p>
              <a:pPr marL="0" lvl="0" indent="0" algn="l">
                <a:spcBef>
                  <a:spcPts val="0"/>
                </a:spcBef>
                <a:spcAft>
                  <a:spcPts val="0"/>
                </a:spcAft>
                <a:buNone/>
                <a:defRPr/>
              </a:pPr>
              <a:r>
                <a:rPr lang="en" sz="1600">
                  <a:latin typeface="Montserrat"/>
                  <a:ea typeface="Montserrat"/>
                  <a:cs typeface="Montserrat"/>
                </a:rPr>
                <a:t>Car Object</a:t>
              </a:r>
              <a:endParaRPr sz="1600">
                <a:latin typeface="Montserrat"/>
                <a:ea typeface="Montserrat"/>
                <a:cs typeface="Montserrat"/>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dur="indefinite" restart="never" nodeType="tmRoot">
          <p:childTnLst>
            <p:seq concurrent="1" nextAc="seek">
              <p:cTn id="2" dur="indefinite" nodeType="mainSeq">
                <p:childTnLst>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141"/>
                                        </p:tgtEl>
                                        <p:attrNameLst>
                                          <p:attrName>style.visibility</p:attrName>
                                        </p:attrNameLst>
                                      </p:cBhvr>
                                      <p:to>
                                        <p:strVal val="visible"/>
                                      </p:to>
                                    </p:set>
                                    <p:animEffect transition="in" filter="fade">
                                      <p:cBhvr>
                                        <p:cTn dur="500"/>
                                        <p:tgtEl>
                                          <p:spTgt spid="1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0" name="Google Shape;150;p28"/>
          <p:cNvSpPr txBox="1"/>
          <p:nvPr>
            <p:ph type="title"/>
          </p:nvPr>
        </p:nvSpPr>
        <p:spPr bwMode="auto">
          <a:xfrm>
            <a:off x="311700" y="216425"/>
            <a:ext cx="8520600" cy="934799"/>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defRPr/>
            </a:pPr>
            <a:r>
              <a:rPr lang="en"/>
              <a:t>A </a:t>
            </a:r>
            <a:r>
              <a:rPr lang="en" b="1"/>
              <a:t>class</a:t>
            </a:r>
            <a:r>
              <a:rPr lang="en"/>
              <a:t> is a </a:t>
            </a:r>
            <a:r>
              <a:rPr lang="en" b="1"/>
              <a:t>blueprint</a:t>
            </a:r>
            <a:r>
              <a:rPr lang="en"/>
              <a:t> of an </a:t>
            </a:r>
            <a:r>
              <a:rPr lang="en" b="1"/>
              <a:t>object</a:t>
            </a:r>
            <a:r>
              <a:rPr lang="en"/>
              <a:t> and an </a:t>
            </a:r>
            <a:r>
              <a:rPr lang="en" b="1"/>
              <a:t>object</a:t>
            </a:r>
            <a:r>
              <a:rPr lang="en"/>
              <a:t> is an </a:t>
            </a:r>
            <a:r>
              <a:rPr lang="en" b="1"/>
              <a:t>instance</a:t>
            </a:r>
            <a:r>
              <a:rPr lang="en"/>
              <a:t> of the </a:t>
            </a:r>
            <a:r>
              <a:rPr lang="en" b="1"/>
              <a:t>class</a:t>
            </a:r>
            <a:r>
              <a:rPr lang="en"/>
              <a:t>.</a:t>
            </a:r>
            <a:endParaRPr/>
          </a:p>
        </p:txBody>
      </p:sp>
      <p:grpSp>
        <p:nvGrpSpPr>
          <p:cNvPr id="151" name="Google Shape;151;p28"/>
          <p:cNvGrpSpPr/>
          <p:nvPr/>
        </p:nvGrpSpPr>
        <p:grpSpPr bwMode="auto">
          <a:xfrm>
            <a:off x="1053028" y="2801948"/>
            <a:ext cx="2258126" cy="1793262"/>
            <a:chOff x="1241347" y="1855684"/>
            <a:chExt cx="2271300" cy="1809000"/>
          </a:xfrm>
        </p:grpSpPr>
        <p:sp>
          <p:nvSpPr>
            <p:cNvPr id="152" name="Google Shape;152;p28"/>
            <p:cNvSpPr/>
            <p:nvPr/>
          </p:nvSpPr>
          <p:spPr bwMode="auto">
            <a:xfrm>
              <a:off x="1241347" y="1855684"/>
              <a:ext cx="2271300" cy="1809000"/>
            </a:xfrm>
            <a:prstGeom prst="rect">
              <a:avLst/>
            </a:prstGeom>
            <a:solidFill>
              <a:srgbClr val="C9DAF8"/>
            </a:solidFill>
            <a:ln w="9525" cap="flat" cmpd="sng">
              <a:solidFill>
                <a:srgbClr val="000000"/>
              </a:solidFill>
              <a:prstDash val="solid"/>
              <a:round/>
              <a:headEnd type="none" w="sm" len="sm"/>
              <a:tailEnd type="none" w="sm" len="sm"/>
            </a:ln>
          </p:spPr>
          <p:txBody>
            <a:bodyPr spcFirstLastPara="1" wrap="square" lIns="91425" tIns="45700" rIns="91425" bIns="0" anchor="ctr" anchorCtr="0">
              <a:noAutofit/>
            </a:bodyPr>
            <a:lstStyle/>
            <a:p>
              <a:pPr marL="0" lvl="0" indent="0" algn="l">
                <a:spcBef>
                  <a:spcPts val="0"/>
                </a:spcBef>
                <a:spcAft>
                  <a:spcPts val="0"/>
                </a:spcAft>
                <a:buNone/>
                <a:defRPr/>
              </a:pPr>
              <a:endParaRPr sz="1100"/>
            </a:p>
          </p:txBody>
        </p:sp>
        <p:sp>
          <p:nvSpPr>
            <p:cNvPr id="153" name="Google Shape;153;p28"/>
            <p:cNvSpPr txBox="1"/>
            <p:nvPr/>
          </p:nvSpPr>
          <p:spPr bwMode="auto">
            <a:xfrm>
              <a:off x="1346472" y="1907517"/>
              <a:ext cx="1332000" cy="201900"/>
            </a:xfrm>
            <a:prstGeom prst="rect">
              <a:avLst/>
            </a:prstGeom>
            <a:solidFill>
              <a:srgbClr val="C9DAF8"/>
            </a:solidFill>
            <a:ln>
              <a:noFill/>
            </a:ln>
          </p:spPr>
          <p:txBody>
            <a:bodyPr spcFirstLastPara="1" wrap="square" lIns="0" tIns="0" rIns="0" bIns="0" anchor="t" anchorCtr="0">
              <a:spAutoFit/>
            </a:bodyPr>
            <a:lstStyle/>
            <a:p>
              <a:pPr marL="0" lvl="0" indent="0" algn="l">
                <a:spcBef>
                  <a:spcPts val="0"/>
                </a:spcBef>
                <a:spcAft>
                  <a:spcPts val="0"/>
                </a:spcAft>
                <a:buNone/>
                <a:defRPr/>
              </a:pPr>
              <a:r>
                <a:rPr lang="en" sz="1300" b="1">
                  <a:latin typeface="Montserrat"/>
                  <a:ea typeface="Montserrat"/>
                  <a:cs typeface="Montserrat"/>
                </a:rPr>
                <a:t>Car Class</a:t>
              </a:r>
              <a:endParaRPr sz="1300" b="1">
                <a:latin typeface="Montserrat"/>
                <a:ea typeface="Montserrat"/>
                <a:cs typeface="Montserrat"/>
              </a:endParaRPr>
            </a:p>
          </p:txBody>
        </p:sp>
        <p:sp>
          <p:nvSpPr>
            <p:cNvPr id="154" name="Google Shape;154;p28"/>
            <p:cNvSpPr/>
            <p:nvPr/>
          </p:nvSpPr>
          <p:spPr bwMode="auto">
            <a:xfrm>
              <a:off x="1441557" y="2177532"/>
              <a:ext cx="1983000" cy="6564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91425" tIns="45700" rIns="91425" bIns="0" anchor="t" anchorCtr="0">
              <a:noAutofit/>
            </a:bodyPr>
            <a:lstStyle/>
            <a:p>
              <a:pPr marL="0" lvl="0" indent="0" algn="l">
                <a:lnSpc>
                  <a:spcPct val="100000"/>
                </a:lnSpc>
                <a:spcBef>
                  <a:spcPts val="0"/>
                </a:spcBef>
                <a:spcAft>
                  <a:spcPts val="0"/>
                </a:spcAft>
                <a:buNone/>
                <a:defRPr/>
              </a:pPr>
              <a:r>
                <a:rPr lang="en" sz="1300">
                  <a:latin typeface="Courier New"/>
                  <a:ea typeface="Courier New"/>
                  <a:cs typeface="Courier New"/>
                </a:rPr>
                <a:t>color</a:t>
              </a:r>
              <a:endParaRPr sz="1300">
                <a:latin typeface="Courier New"/>
                <a:ea typeface="Courier New"/>
                <a:cs typeface="Courier New"/>
              </a:endParaRPr>
            </a:p>
            <a:p>
              <a:pPr marL="0" lvl="0" indent="0" algn="l">
                <a:lnSpc>
                  <a:spcPct val="100000"/>
                </a:lnSpc>
                <a:spcBef>
                  <a:spcPts val="0"/>
                </a:spcBef>
                <a:spcAft>
                  <a:spcPts val="0"/>
                </a:spcAft>
                <a:buNone/>
                <a:defRPr/>
              </a:pPr>
              <a:r>
                <a:rPr lang="en" sz="1300">
                  <a:latin typeface="Courier New"/>
                  <a:ea typeface="Courier New"/>
                  <a:cs typeface="Courier New"/>
                </a:rPr>
                <a:t>horsepower</a:t>
              </a:r>
              <a:endParaRPr sz="1300">
                <a:latin typeface="Courier New"/>
                <a:ea typeface="Courier New"/>
                <a:cs typeface="Courier New"/>
              </a:endParaRPr>
            </a:p>
            <a:p>
              <a:pPr marL="0" lvl="0" indent="0" algn="l">
                <a:lnSpc>
                  <a:spcPct val="100000"/>
                </a:lnSpc>
                <a:spcBef>
                  <a:spcPts val="0"/>
                </a:spcBef>
                <a:spcAft>
                  <a:spcPts val="0"/>
                </a:spcAft>
                <a:buNone/>
                <a:defRPr/>
              </a:pPr>
              <a:r>
                <a:rPr lang="en" sz="1300">
                  <a:latin typeface="Courier New"/>
                  <a:ea typeface="Courier New"/>
                  <a:cs typeface="Courier New"/>
                </a:rPr>
                <a:t>speed</a:t>
              </a:r>
              <a:endParaRPr sz="1300">
                <a:latin typeface="Courier New"/>
                <a:ea typeface="Courier New"/>
                <a:cs typeface="Courier New"/>
              </a:endParaRPr>
            </a:p>
          </p:txBody>
        </p:sp>
        <p:sp>
          <p:nvSpPr>
            <p:cNvPr id="155" name="Google Shape;155;p28"/>
            <p:cNvSpPr/>
            <p:nvPr/>
          </p:nvSpPr>
          <p:spPr bwMode="auto">
            <a:xfrm>
              <a:off x="1447972" y="2918966"/>
              <a:ext cx="1983000" cy="6564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91425" tIns="45700" rIns="91425" bIns="0" anchor="t" anchorCtr="0">
              <a:noAutofit/>
            </a:bodyPr>
            <a:lstStyle/>
            <a:p>
              <a:pPr marL="0" lvl="0" indent="0" algn="l">
                <a:spcBef>
                  <a:spcPts val="0"/>
                </a:spcBef>
                <a:spcAft>
                  <a:spcPts val="0"/>
                </a:spcAft>
                <a:buNone/>
                <a:defRPr/>
              </a:pPr>
              <a:r>
                <a:rPr lang="en" sz="1300">
                  <a:latin typeface="Courier New"/>
                  <a:ea typeface="Courier New"/>
                  <a:cs typeface="Courier New"/>
                </a:rPr>
                <a:t>accelerate()</a:t>
              </a:r>
              <a:endParaRPr sz="1300">
                <a:latin typeface="Courier New"/>
                <a:ea typeface="Courier New"/>
                <a:cs typeface="Courier New"/>
              </a:endParaRPr>
            </a:p>
            <a:p>
              <a:pPr marL="0" lvl="0" indent="0" algn="l">
                <a:spcBef>
                  <a:spcPts val="0"/>
                </a:spcBef>
                <a:spcAft>
                  <a:spcPts val="0"/>
                </a:spcAft>
                <a:buNone/>
                <a:defRPr/>
              </a:pPr>
              <a:r>
                <a:rPr lang="en" sz="1300">
                  <a:latin typeface="Courier New"/>
                  <a:ea typeface="Courier New"/>
                  <a:cs typeface="Courier New"/>
                </a:rPr>
                <a:t>apply_brakes()</a:t>
              </a:r>
              <a:endParaRPr sz="1300">
                <a:latin typeface="Courier New"/>
                <a:ea typeface="Courier New"/>
                <a:cs typeface="Courier New"/>
              </a:endParaRPr>
            </a:p>
            <a:p>
              <a:pPr marL="0" lvl="0" indent="0" algn="l">
                <a:spcBef>
                  <a:spcPts val="0"/>
                </a:spcBef>
                <a:spcAft>
                  <a:spcPts val="0"/>
                </a:spcAft>
                <a:buNone/>
                <a:defRPr/>
              </a:pPr>
              <a:r>
                <a:rPr lang="en" sz="1300">
                  <a:latin typeface="Courier New"/>
                  <a:ea typeface="Courier New"/>
                  <a:cs typeface="Courier New"/>
                </a:rPr>
                <a:t>blow_horn()</a:t>
              </a:r>
              <a:endParaRPr sz="1300">
                <a:latin typeface="Courier New"/>
                <a:ea typeface="Courier New"/>
                <a:cs typeface="Courier New"/>
              </a:endParaRPr>
            </a:p>
            <a:p>
              <a:pPr marL="0" lvl="0" indent="0" algn="l">
                <a:spcBef>
                  <a:spcPts val="0"/>
                </a:spcBef>
                <a:spcAft>
                  <a:spcPts val="0"/>
                </a:spcAft>
                <a:buNone/>
                <a:defRPr/>
              </a:pPr>
              <a:endParaRPr sz="1300">
                <a:latin typeface="Montserrat"/>
                <a:ea typeface="Montserrat"/>
                <a:cs typeface="Montserrat"/>
              </a:endParaRPr>
            </a:p>
          </p:txBody>
        </p:sp>
      </p:grpSp>
      <p:grpSp>
        <p:nvGrpSpPr>
          <p:cNvPr id="156" name="Google Shape;156;p28"/>
          <p:cNvGrpSpPr/>
          <p:nvPr/>
        </p:nvGrpSpPr>
        <p:grpSpPr bwMode="auto">
          <a:xfrm>
            <a:off x="3311154" y="1154855"/>
            <a:ext cx="4885601" cy="2543724"/>
            <a:chOff x="3311154" y="1154855"/>
            <a:chExt cx="4885601" cy="2543724"/>
          </a:xfrm>
        </p:grpSpPr>
        <p:grpSp>
          <p:nvGrpSpPr>
            <p:cNvPr id="157" name="Google Shape;157;p28"/>
            <p:cNvGrpSpPr/>
            <p:nvPr/>
          </p:nvGrpSpPr>
          <p:grpSpPr bwMode="auto">
            <a:xfrm>
              <a:off x="5938629" y="1154855"/>
              <a:ext cx="2258126" cy="1793262"/>
              <a:chOff x="5925515" y="718942"/>
              <a:chExt cx="2271300" cy="1809000"/>
            </a:xfrm>
          </p:grpSpPr>
          <p:sp>
            <p:nvSpPr>
              <p:cNvPr id="158" name="Google Shape;158;p28"/>
              <p:cNvSpPr/>
              <p:nvPr/>
            </p:nvSpPr>
            <p:spPr bwMode="auto">
              <a:xfrm>
                <a:off x="5925515" y="718942"/>
                <a:ext cx="2271300" cy="1809000"/>
              </a:xfrm>
              <a:prstGeom prst="rect">
                <a:avLst/>
              </a:prstGeom>
              <a:solidFill>
                <a:srgbClr val="D9EAD3"/>
              </a:solidFill>
              <a:ln w="9525" cap="flat" cmpd="sng">
                <a:solidFill>
                  <a:srgbClr val="000000"/>
                </a:solidFill>
                <a:prstDash val="solid"/>
                <a:round/>
                <a:headEnd type="none" w="sm" len="sm"/>
                <a:tailEnd type="none" w="sm" len="sm"/>
              </a:ln>
            </p:spPr>
            <p:txBody>
              <a:bodyPr spcFirstLastPara="1" wrap="square" lIns="91425" tIns="45700" rIns="91425" bIns="0" anchor="ctr" anchorCtr="0">
                <a:noAutofit/>
              </a:bodyPr>
              <a:lstStyle/>
              <a:p>
                <a:pPr marL="0" lvl="0" indent="0" algn="l">
                  <a:spcBef>
                    <a:spcPts val="0"/>
                  </a:spcBef>
                  <a:spcAft>
                    <a:spcPts val="0"/>
                  </a:spcAft>
                  <a:buNone/>
                  <a:defRPr/>
                </a:pPr>
                <a:r>
                  <a:rPr lang="en" sz="1100"/>
                  <a:t>`</a:t>
                </a:r>
                <a:endParaRPr sz="1100"/>
              </a:p>
            </p:txBody>
          </p:sp>
          <p:sp>
            <p:nvSpPr>
              <p:cNvPr id="159" name="Google Shape;159;p28"/>
              <p:cNvSpPr txBox="1"/>
              <p:nvPr/>
            </p:nvSpPr>
            <p:spPr bwMode="auto">
              <a:xfrm>
                <a:off x="6022279" y="751834"/>
                <a:ext cx="1332000" cy="201900"/>
              </a:xfrm>
              <a:prstGeom prst="rect">
                <a:avLst/>
              </a:prstGeom>
              <a:solidFill>
                <a:srgbClr val="D9EAD3"/>
              </a:solidFill>
              <a:ln>
                <a:noFill/>
              </a:ln>
            </p:spPr>
            <p:txBody>
              <a:bodyPr spcFirstLastPara="1" wrap="square" lIns="0" tIns="0" rIns="0" bIns="0" anchor="t" anchorCtr="0">
                <a:spAutoFit/>
              </a:bodyPr>
              <a:lstStyle/>
              <a:p>
                <a:pPr marL="0" lvl="0" indent="0" algn="l">
                  <a:spcBef>
                    <a:spcPts val="0"/>
                  </a:spcBef>
                  <a:spcAft>
                    <a:spcPts val="0"/>
                  </a:spcAft>
                  <a:buNone/>
                  <a:defRPr/>
                </a:pPr>
                <a:r>
                  <a:rPr lang="en" sz="1300" b="1">
                    <a:latin typeface="Montserrat"/>
                    <a:ea typeface="Montserrat"/>
                    <a:cs typeface="Montserrat"/>
                  </a:rPr>
                  <a:t>Car Object 1</a:t>
                </a:r>
                <a:endParaRPr sz="1300" b="1">
                  <a:latin typeface="Montserrat"/>
                  <a:ea typeface="Montserrat"/>
                  <a:cs typeface="Montserrat"/>
                </a:endParaRPr>
              </a:p>
            </p:txBody>
          </p:sp>
          <p:sp>
            <p:nvSpPr>
              <p:cNvPr id="160" name="Google Shape;160;p28"/>
              <p:cNvSpPr/>
              <p:nvPr/>
            </p:nvSpPr>
            <p:spPr bwMode="auto">
              <a:xfrm>
                <a:off x="6089758" y="1009757"/>
                <a:ext cx="1983000" cy="656400"/>
              </a:xfrm>
              <a:prstGeom prst="rect">
                <a:avLst/>
              </a:prstGeom>
              <a:solidFill>
                <a:srgbClr val="B6D7A8"/>
              </a:solidFill>
              <a:ln w="9525" cap="flat" cmpd="sng">
                <a:solidFill>
                  <a:srgbClr val="000000"/>
                </a:solidFill>
                <a:prstDash val="solid"/>
                <a:round/>
                <a:headEnd type="none" w="sm" len="sm"/>
                <a:tailEnd type="none" w="sm" len="sm"/>
              </a:ln>
            </p:spPr>
            <p:txBody>
              <a:bodyPr spcFirstLastPara="1" wrap="square" lIns="91425" tIns="45700" rIns="91425" bIns="0" anchor="t" anchorCtr="0">
                <a:noAutofit/>
              </a:bodyPr>
              <a:lstStyle/>
              <a:p>
                <a:pPr marL="0" lvl="0" indent="0" algn="l">
                  <a:lnSpc>
                    <a:spcPct val="100000"/>
                  </a:lnSpc>
                  <a:spcBef>
                    <a:spcPts val="0"/>
                  </a:spcBef>
                  <a:spcAft>
                    <a:spcPts val="0"/>
                  </a:spcAft>
                  <a:buNone/>
                  <a:defRPr/>
                </a:pPr>
                <a:r>
                  <a:rPr lang="en" sz="1300">
                    <a:latin typeface="Courier New"/>
                    <a:ea typeface="Courier New"/>
                    <a:cs typeface="Courier New"/>
                  </a:rPr>
                  <a:t>color = </a:t>
                </a:r>
                <a:r>
                  <a:rPr lang="en" sz="1500">
                    <a:solidFill>
                      <a:schemeClr val="dk1"/>
                    </a:solidFill>
                    <a:latin typeface="Courier New"/>
                    <a:ea typeface="Courier New"/>
                    <a:cs typeface="Courier New"/>
                  </a:rPr>
                  <a:t>'</a:t>
                </a:r>
                <a:r>
                  <a:rPr lang="en" sz="1300">
                    <a:latin typeface="Courier New"/>
                    <a:ea typeface="Courier New"/>
                    <a:cs typeface="Courier New"/>
                  </a:rPr>
                  <a:t>black</a:t>
                </a:r>
                <a:r>
                  <a:rPr lang="en" sz="1500">
                    <a:solidFill>
                      <a:schemeClr val="dk1"/>
                    </a:solidFill>
                    <a:latin typeface="Courier New"/>
                    <a:ea typeface="Courier New"/>
                    <a:cs typeface="Courier New"/>
                  </a:rPr>
                  <a:t>'</a:t>
                </a:r>
                <a:endParaRPr sz="1300">
                  <a:latin typeface="Courier New"/>
                  <a:ea typeface="Courier New"/>
                  <a:cs typeface="Courier New"/>
                </a:endParaRPr>
              </a:p>
              <a:p>
                <a:pPr marL="0" lvl="0" indent="0" algn="l">
                  <a:lnSpc>
                    <a:spcPct val="100000"/>
                  </a:lnSpc>
                  <a:spcBef>
                    <a:spcPts val="0"/>
                  </a:spcBef>
                  <a:spcAft>
                    <a:spcPts val="0"/>
                  </a:spcAft>
                  <a:buNone/>
                  <a:defRPr/>
                </a:pPr>
                <a:r>
                  <a:rPr lang="en" sz="1300">
                    <a:latin typeface="Courier New"/>
                    <a:ea typeface="Courier New"/>
                    <a:cs typeface="Courier New"/>
                  </a:rPr>
                  <a:t>horsepower = 429</a:t>
                </a:r>
                <a:endParaRPr sz="1300">
                  <a:latin typeface="Courier New"/>
                  <a:ea typeface="Courier New"/>
                  <a:cs typeface="Courier New"/>
                </a:endParaRPr>
              </a:p>
              <a:p>
                <a:pPr marL="0" lvl="0" indent="0" algn="l">
                  <a:lnSpc>
                    <a:spcPct val="100000"/>
                  </a:lnSpc>
                  <a:spcBef>
                    <a:spcPts val="0"/>
                  </a:spcBef>
                  <a:spcAft>
                    <a:spcPts val="0"/>
                  </a:spcAft>
                  <a:buNone/>
                  <a:defRPr/>
                </a:pPr>
                <a:r>
                  <a:rPr lang="en" sz="1300">
                    <a:latin typeface="Courier New"/>
                    <a:ea typeface="Courier New"/>
                    <a:cs typeface="Courier New"/>
                  </a:rPr>
                  <a:t>speed = 70</a:t>
                </a:r>
                <a:endParaRPr sz="1300">
                  <a:latin typeface="Courier New"/>
                  <a:ea typeface="Courier New"/>
                  <a:cs typeface="Courier New"/>
                </a:endParaRPr>
              </a:p>
            </p:txBody>
          </p:sp>
          <p:sp>
            <p:nvSpPr>
              <p:cNvPr id="161" name="Google Shape;161;p28"/>
              <p:cNvSpPr/>
              <p:nvPr/>
            </p:nvSpPr>
            <p:spPr bwMode="auto">
              <a:xfrm>
                <a:off x="6096172" y="1751191"/>
                <a:ext cx="1983000" cy="656400"/>
              </a:xfrm>
              <a:prstGeom prst="rect">
                <a:avLst/>
              </a:prstGeom>
              <a:solidFill>
                <a:srgbClr val="B6D7A8"/>
              </a:solidFill>
              <a:ln w="9525" cap="flat" cmpd="sng">
                <a:solidFill>
                  <a:srgbClr val="000000"/>
                </a:solidFill>
                <a:prstDash val="solid"/>
                <a:round/>
                <a:headEnd type="none" w="sm" len="sm"/>
                <a:tailEnd type="none" w="sm" len="sm"/>
              </a:ln>
            </p:spPr>
            <p:txBody>
              <a:bodyPr spcFirstLastPara="1" wrap="square" lIns="91425" tIns="45700" rIns="91425" bIns="0" anchor="t" anchorCtr="0">
                <a:noAutofit/>
              </a:bodyPr>
              <a:lstStyle/>
              <a:p>
                <a:pPr marL="0" lvl="0" indent="0" algn="l">
                  <a:spcBef>
                    <a:spcPts val="0"/>
                  </a:spcBef>
                  <a:spcAft>
                    <a:spcPts val="0"/>
                  </a:spcAft>
                  <a:buNone/>
                  <a:defRPr/>
                </a:pPr>
                <a:r>
                  <a:rPr lang="en" sz="1300">
                    <a:latin typeface="Courier New"/>
                    <a:ea typeface="Courier New"/>
                    <a:cs typeface="Courier New"/>
                  </a:rPr>
                  <a:t>accelerate()</a:t>
                </a:r>
                <a:endParaRPr sz="1300">
                  <a:latin typeface="Courier New"/>
                  <a:ea typeface="Courier New"/>
                  <a:cs typeface="Courier New"/>
                </a:endParaRPr>
              </a:p>
              <a:p>
                <a:pPr marL="0" lvl="0" indent="0" algn="l">
                  <a:spcBef>
                    <a:spcPts val="0"/>
                  </a:spcBef>
                  <a:spcAft>
                    <a:spcPts val="0"/>
                  </a:spcAft>
                  <a:buNone/>
                  <a:defRPr/>
                </a:pPr>
                <a:r>
                  <a:rPr lang="en" sz="1300">
                    <a:latin typeface="Courier New"/>
                    <a:ea typeface="Courier New"/>
                    <a:cs typeface="Courier New"/>
                  </a:rPr>
                  <a:t>apply_brakes()</a:t>
                </a:r>
                <a:endParaRPr sz="1300">
                  <a:latin typeface="Courier New"/>
                  <a:ea typeface="Courier New"/>
                  <a:cs typeface="Courier New"/>
                </a:endParaRPr>
              </a:p>
              <a:p>
                <a:pPr marL="0" lvl="0" indent="0" algn="l">
                  <a:spcBef>
                    <a:spcPts val="0"/>
                  </a:spcBef>
                  <a:spcAft>
                    <a:spcPts val="0"/>
                  </a:spcAft>
                  <a:buNone/>
                  <a:defRPr/>
                </a:pPr>
                <a:r>
                  <a:rPr lang="en" sz="1300">
                    <a:latin typeface="Courier New"/>
                    <a:ea typeface="Courier New"/>
                    <a:cs typeface="Courier New"/>
                  </a:rPr>
                  <a:t>blow_horn()</a:t>
                </a:r>
                <a:endParaRPr sz="1300">
                  <a:latin typeface="Courier New"/>
                  <a:ea typeface="Courier New"/>
                  <a:cs typeface="Courier New"/>
                </a:endParaRPr>
              </a:p>
              <a:p>
                <a:pPr marL="0" lvl="0" indent="0" algn="l">
                  <a:spcBef>
                    <a:spcPts val="0"/>
                  </a:spcBef>
                  <a:spcAft>
                    <a:spcPts val="0"/>
                  </a:spcAft>
                  <a:buNone/>
                  <a:defRPr/>
                </a:pPr>
                <a:endParaRPr sz="1300">
                  <a:latin typeface="Montserrat"/>
                  <a:ea typeface="Montserrat"/>
                  <a:cs typeface="Montserrat"/>
                </a:endParaRPr>
              </a:p>
            </p:txBody>
          </p:sp>
        </p:grpSp>
        <p:cxnSp>
          <p:nvCxnSpPr>
            <p:cNvPr id="162" name="Google Shape;162;p28"/>
            <p:cNvCxnSpPr>
              <a:stCxn id="152" idx="3"/>
              <a:endCxn id="158" idx="1"/>
            </p:cNvCxnSpPr>
            <p:nvPr/>
          </p:nvCxnSpPr>
          <p:spPr bwMode="auto">
            <a:xfrm rot="10800000" flipH="1">
              <a:off x="3311154" y="2051579"/>
              <a:ext cx="2627400" cy="1647000"/>
            </a:xfrm>
            <a:prstGeom prst="straightConnector1">
              <a:avLst/>
            </a:prstGeom>
            <a:noFill/>
            <a:ln w="19050" cap="flat" cmpd="sng">
              <a:solidFill>
                <a:schemeClr val="dk2"/>
              </a:solidFill>
              <a:prstDash val="solid"/>
              <a:round/>
              <a:headEnd type="none" w="med" len="med"/>
              <a:tailEnd type="stealth" w="med" len="med"/>
            </a:ln>
          </p:spPr>
        </p:cxnSp>
      </p:grpSp>
      <p:grpSp>
        <p:nvGrpSpPr>
          <p:cNvPr id="163" name="Google Shape;163;p28"/>
          <p:cNvGrpSpPr/>
          <p:nvPr/>
        </p:nvGrpSpPr>
        <p:grpSpPr bwMode="auto">
          <a:xfrm>
            <a:off x="3311154" y="3324399"/>
            <a:ext cx="4885600" cy="1793262"/>
            <a:chOff x="3311154" y="3324399"/>
            <a:chExt cx="4885600" cy="1793262"/>
          </a:xfrm>
        </p:grpSpPr>
        <p:cxnSp>
          <p:nvCxnSpPr>
            <p:cNvPr id="164" name="Google Shape;164;p28"/>
            <p:cNvCxnSpPr>
              <a:stCxn id="152" idx="3"/>
            </p:cNvCxnSpPr>
            <p:nvPr/>
          </p:nvCxnSpPr>
          <p:spPr bwMode="auto">
            <a:xfrm>
              <a:off x="3311154" y="3698579"/>
              <a:ext cx="2635500" cy="533700"/>
            </a:xfrm>
            <a:prstGeom prst="straightConnector1">
              <a:avLst/>
            </a:prstGeom>
            <a:noFill/>
            <a:ln w="19050" cap="flat" cmpd="sng">
              <a:solidFill>
                <a:schemeClr val="dk2"/>
              </a:solidFill>
              <a:prstDash val="solid"/>
              <a:round/>
              <a:headEnd type="none" w="med" len="med"/>
              <a:tailEnd type="stealth" w="med" len="med"/>
            </a:ln>
          </p:spPr>
        </p:cxnSp>
        <p:grpSp>
          <p:nvGrpSpPr>
            <p:cNvPr id="165" name="Google Shape;165;p28"/>
            <p:cNvGrpSpPr/>
            <p:nvPr/>
          </p:nvGrpSpPr>
          <p:grpSpPr bwMode="auto">
            <a:xfrm>
              <a:off x="5938627" y="3324399"/>
              <a:ext cx="2258126" cy="1793262"/>
              <a:chOff x="5925515" y="718942"/>
              <a:chExt cx="2271300" cy="1809000"/>
            </a:xfrm>
          </p:grpSpPr>
          <p:sp>
            <p:nvSpPr>
              <p:cNvPr id="166" name="Google Shape;166;p28"/>
              <p:cNvSpPr/>
              <p:nvPr/>
            </p:nvSpPr>
            <p:spPr bwMode="auto">
              <a:xfrm>
                <a:off x="5925515" y="718942"/>
                <a:ext cx="2271300" cy="1809000"/>
              </a:xfrm>
              <a:prstGeom prst="rect">
                <a:avLst/>
              </a:prstGeom>
              <a:solidFill>
                <a:srgbClr val="D9EAD3"/>
              </a:solidFill>
              <a:ln w="9525" cap="flat" cmpd="sng">
                <a:solidFill>
                  <a:srgbClr val="000000"/>
                </a:solidFill>
                <a:prstDash val="solid"/>
                <a:round/>
                <a:headEnd type="none" w="sm" len="sm"/>
                <a:tailEnd type="none" w="sm" len="sm"/>
              </a:ln>
            </p:spPr>
            <p:txBody>
              <a:bodyPr spcFirstLastPara="1" wrap="square" lIns="91425" tIns="45700" rIns="91425" bIns="0" anchor="ctr" anchorCtr="0">
                <a:noAutofit/>
              </a:bodyPr>
              <a:lstStyle/>
              <a:p>
                <a:pPr marL="0" lvl="0" indent="0" algn="l">
                  <a:spcBef>
                    <a:spcPts val="0"/>
                  </a:spcBef>
                  <a:spcAft>
                    <a:spcPts val="0"/>
                  </a:spcAft>
                  <a:buNone/>
                  <a:defRPr/>
                </a:pPr>
                <a:r>
                  <a:rPr lang="en" sz="1100"/>
                  <a:t>`</a:t>
                </a:r>
                <a:endParaRPr sz="1100"/>
              </a:p>
            </p:txBody>
          </p:sp>
          <p:sp>
            <p:nvSpPr>
              <p:cNvPr id="167" name="Google Shape;167;p28"/>
              <p:cNvSpPr txBox="1"/>
              <p:nvPr/>
            </p:nvSpPr>
            <p:spPr bwMode="auto">
              <a:xfrm>
                <a:off x="6022279" y="751834"/>
                <a:ext cx="1332000" cy="201900"/>
              </a:xfrm>
              <a:prstGeom prst="rect">
                <a:avLst/>
              </a:prstGeom>
              <a:solidFill>
                <a:srgbClr val="D9EAD3"/>
              </a:solidFill>
              <a:ln>
                <a:noFill/>
              </a:ln>
            </p:spPr>
            <p:txBody>
              <a:bodyPr spcFirstLastPara="1" wrap="square" lIns="0" tIns="0" rIns="0" bIns="0" anchor="t" anchorCtr="0">
                <a:spAutoFit/>
              </a:bodyPr>
              <a:lstStyle/>
              <a:p>
                <a:pPr marL="0" lvl="0" indent="0" algn="l">
                  <a:spcBef>
                    <a:spcPts val="0"/>
                  </a:spcBef>
                  <a:spcAft>
                    <a:spcPts val="0"/>
                  </a:spcAft>
                  <a:buNone/>
                  <a:defRPr/>
                </a:pPr>
                <a:r>
                  <a:rPr lang="en" sz="1300" b="1">
                    <a:latin typeface="Montserrat"/>
                    <a:ea typeface="Montserrat"/>
                    <a:cs typeface="Montserrat"/>
                  </a:rPr>
                  <a:t>Car Object 2</a:t>
                </a:r>
                <a:endParaRPr sz="1300" b="1">
                  <a:latin typeface="Montserrat"/>
                  <a:ea typeface="Montserrat"/>
                  <a:cs typeface="Montserrat"/>
                </a:endParaRPr>
              </a:p>
            </p:txBody>
          </p:sp>
          <p:sp>
            <p:nvSpPr>
              <p:cNvPr id="168" name="Google Shape;168;p28"/>
              <p:cNvSpPr/>
              <p:nvPr/>
            </p:nvSpPr>
            <p:spPr bwMode="auto">
              <a:xfrm>
                <a:off x="6089758" y="1009757"/>
                <a:ext cx="1983000" cy="656400"/>
              </a:xfrm>
              <a:prstGeom prst="rect">
                <a:avLst/>
              </a:prstGeom>
              <a:solidFill>
                <a:srgbClr val="B6D7A8"/>
              </a:solidFill>
              <a:ln w="9525" cap="flat" cmpd="sng">
                <a:solidFill>
                  <a:srgbClr val="000000"/>
                </a:solidFill>
                <a:prstDash val="solid"/>
                <a:round/>
                <a:headEnd type="none" w="sm" len="sm"/>
                <a:tailEnd type="none" w="sm" len="sm"/>
              </a:ln>
            </p:spPr>
            <p:txBody>
              <a:bodyPr spcFirstLastPara="1" wrap="square" lIns="91425" tIns="45700" rIns="91425" bIns="0" anchor="t" anchorCtr="0">
                <a:noAutofit/>
              </a:bodyPr>
              <a:lstStyle/>
              <a:p>
                <a:pPr marL="0" lvl="0" indent="0" algn="l">
                  <a:lnSpc>
                    <a:spcPct val="100000"/>
                  </a:lnSpc>
                  <a:spcBef>
                    <a:spcPts val="0"/>
                  </a:spcBef>
                  <a:spcAft>
                    <a:spcPts val="0"/>
                  </a:spcAft>
                  <a:buNone/>
                  <a:defRPr/>
                </a:pPr>
                <a:r>
                  <a:rPr lang="en" sz="1300">
                    <a:latin typeface="Courier New"/>
                    <a:ea typeface="Courier New"/>
                    <a:cs typeface="Courier New"/>
                  </a:rPr>
                  <a:t>color = </a:t>
                </a:r>
                <a:r>
                  <a:rPr lang="en" sz="1500">
                    <a:solidFill>
                      <a:schemeClr val="dk1"/>
                    </a:solidFill>
                    <a:latin typeface="Courier New"/>
                    <a:ea typeface="Courier New"/>
                    <a:cs typeface="Courier New"/>
                  </a:rPr>
                  <a:t>'</a:t>
                </a:r>
                <a:r>
                  <a:rPr lang="en" sz="1300">
                    <a:latin typeface="Courier New"/>
                    <a:ea typeface="Courier New"/>
                    <a:cs typeface="Courier New"/>
                  </a:rPr>
                  <a:t>gray</a:t>
                </a:r>
                <a:r>
                  <a:rPr lang="en" sz="1500">
                    <a:solidFill>
                      <a:schemeClr val="dk1"/>
                    </a:solidFill>
                    <a:latin typeface="Courier New"/>
                    <a:ea typeface="Courier New"/>
                    <a:cs typeface="Courier New"/>
                  </a:rPr>
                  <a:t>'</a:t>
                </a:r>
                <a:endParaRPr sz="1300">
                  <a:latin typeface="Courier New"/>
                  <a:ea typeface="Courier New"/>
                  <a:cs typeface="Courier New"/>
                </a:endParaRPr>
              </a:p>
              <a:p>
                <a:pPr marL="0" lvl="0" indent="0" algn="l">
                  <a:lnSpc>
                    <a:spcPct val="100000"/>
                  </a:lnSpc>
                  <a:spcBef>
                    <a:spcPts val="0"/>
                  </a:spcBef>
                  <a:spcAft>
                    <a:spcPts val="0"/>
                  </a:spcAft>
                  <a:buNone/>
                  <a:defRPr/>
                </a:pPr>
                <a:r>
                  <a:rPr lang="en" sz="1300">
                    <a:latin typeface="Courier New"/>
                    <a:ea typeface="Courier New"/>
                    <a:cs typeface="Courier New"/>
                  </a:rPr>
                  <a:t>horsepower = 362</a:t>
                </a:r>
                <a:endParaRPr sz="1300">
                  <a:latin typeface="Courier New"/>
                  <a:ea typeface="Courier New"/>
                  <a:cs typeface="Courier New"/>
                </a:endParaRPr>
              </a:p>
              <a:p>
                <a:pPr marL="0" lvl="0" indent="0" algn="l">
                  <a:lnSpc>
                    <a:spcPct val="100000"/>
                  </a:lnSpc>
                  <a:spcBef>
                    <a:spcPts val="0"/>
                  </a:spcBef>
                  <a:spcAft>
                    <a:spcPts val="0"/>
                  </a:spcAft>
                  <a:buNone/>
                  <a:defRPr/>
                </a:pPr>
                <a:r>
                  <a:rPr lang="en" sz="1300">
                    <a:latin typeface="Courier New"/>
                    <a:ea typeface="Courier New"/>
                    <a:cs typeface="Courier New"/>
                  </a:rPr>
                  <a:t>speed = 60</a:t>
                </a:r>
                <a:endParaRPr sz="1300">
                  <a:latin typeface="Courier New"/>
                  <a:ea typeface="Courier New"/>
                  <a:cs typeface="Courier New"/>
                </a:endParaRPr>
              </a:p>
            </p:txBody>
          </p:sp>
          <p:sp>
            <p:nvSpPr>
              <p:cNvPr id="169" name="Google Shape;169;p28"/>
              <p:cNvSpPr/>
              <p:nvPr/>
            </p:nvSpPr>
            <p:spPr bwMode="auto">
              <a:xfrm>
                <a:off x="6096172" y="1751191"/>
                <a:ext cx="1983000" cy="656400"/>
              </a:xfrm>
              <a:prstGeom prst="rect">
                <a:avLst/>
              </a:prstGeom>
              <a:solidFill>
                <a:srgbClr val="B6D7A8"/>
              </a:solidFill>
              <a:ln w="9525" cap="flat" cmpd="sng">
                <a:solidFill>
                  <a:srgbClr val="000000"/>
                </a:solidFill>
                <a:prstDash val="solid"/>
                <a:round/>
                <a:headEnd type="none" w="sm" len="sm"/>
                <a:tailEnd type="none" w="sm" len="sm"/>
              </a:ln>
            </p:spPr>
            <p:txBody>
              <a:bodyPr spcFirstLastPara="1" wrap="square" lIns="91425" tIns="45700" rIns="91425" bIns="0" anchor="t" anchorCtr="0">
                <a:noAutofit/>
              </a:bodyPr>
              <a:lstStyle/>
              <a:p>
                <a:pPr marL="0" lvl="0" indent="0" algn="l">
                  <a:spcBef>
                    <a:spcPts val="0"/>
                  </a:spcBef>
                  <a:spcAft>
                    <a:spcPts val="0"/>
                  </a:spcAft>
                  <a:buNone/>
                  <a:defRPr/>
                </a:pPr>
                <a:r>
                  <a:rPr lang="en" sz="1300">
                    <a:latin typeface="Courier New"/>
                    <a:ea typeface="Courier New"/>
                    <a:cs typeface="Courier New"/>
                  </a:rPr>
                  <a:t>accelerate()</a:t>
                </a:r>
                <a:endParaRPr sz="1300">
                  <a:latin typeface="Courier New"/>
                  <a:ea typeface="Courier New"/>
                  <a:cs typeface="Courier New"/>
                </a:endParaRPr>
              </a:p>
              <a:p>
                <a:pPr marL="0" lvl="0" indent="0" algn="l">
                  <a:spcBef>
                    <a:spcPts val="0"/>
                  </a:spcBef>
                  <a:spcAft>
                    <a:spcPts val="0"/>
                  </a:spcAft>
                  <a:buNone/>
                  <a:defRPr/>
                </a:pPr>
                <a:r>
                  <a:rPr lang="en" sz="1300">
                    <a:latin typeface="Courier New"/>
                    <a:ea typeface="Courier New"/>
                    <a:cs typeface="Courier New"/>
                  </a:rPr>
                  <a:t>apply_brakes()</a:t>
                </a:r>
                <a:endParaRPr sz="1300">
                  <a:latin typeface="Courier New"/>
                  <a:ea typeface="Courier New"/>
                  <a:cs typeface="Courier New"/>
                </a:endParaRPr>
              </a:p>
              <a:p>
                <a:pPr marL="0" lvl="0" indent="0" algn="l">
                  <a:spcBef>
                    <a:spcPts val="0"/>
                  </a:spcBef>
                  <a:spcAft>
                    <a:spcPts val="0"/>
                  </a:spcAft>
                  <a:buNone/>
                  <a:defRPr/>
                </a:pPr>
                <a:r>
                  <a:rPr lang="en" sz="1300">
                    <a:latin typeface="Courier New"/>
                    <a:ea typeface="Courier New"/>
                    <a:cs typeface="Courier New"/>
                  </a:rPr>
                  <a:t>blow_horn()</a:t>
                </a:r>
                <a:endParaRPr sz="1300">
                  <a:latin typeface="Courier New"/>
                  <a:ea typeface="Courier New"/>
                  <a:cs typeface="Courier New"/>
                </a:endParaRPr>
              </a:p>
              <a:p>
                <a:pPr marL="0" lvl="0" indent="0" algn="l">
                  <a:spcBef>
                    <a:spcPts val="0"/>
                  </a:spcBef>
                  <a:spcAft>
                    <a:spcPts val="0"/>
                  </a:spcAft>
                  <a:buNone/>
                  <a:defRPr/>
                </a:pPr>
                <a:endParaRPr sz="1300">
                  <a:latin typeface="Montserrat"/>
                  <a:ea typeface="Montserrat"/>
                  <a:cs typeface="Montserrat"/>
                </a:endParaRPr>
              </a:p>
            </p:txBody>
          </p:sp>
        </p:grpSp>
      </p:grpSp>
      <p:sp>
        <p:nvSpPr>
          <p:cNvPr id="170" name="Google Shape;170;p28"/>
          <p:cNvSpPr txBox="1"/>
          <p:nvPr/>
        </p:nvSpPr>
        <p:spPr bwMode="auto">
          <a:xfrm>
            <a:off x="608224" y="1638625"/>
            <a:ext cx="977400" cy="369300"/>
          </a:xfrm>
          <a:prstGeom prst="rect">
            <a:avLst/>
          </a:prstGeom>
          <a:solidFill>
            <a:srgbClr val="A4C2F4"/>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a:spcBef>
                <a:spcPts val="0"/>
              </a:spcBef>
              <a:spcAft>
                <a:spcPts val="0"/>
              </a:spcAft>
              <a:buNone/>
              <a:defRPr/>
            </a:pPr>
            <a:r>
              <a:rPr lang="en" sz="1300">
                <a:latin typeface="Montserrat"/>
                <a:ea typeface="Montserrat"/>
                <a:cs typeface="Montserrat"/>
              </a:rPr>
              <a:t>Class</a:t>
            </a:r>
            <a:endParaRPr sz="1300">
              <a:latin typeface="Montserrat"/>
              <a:ea typeface="Montserrat"/>
              <a:cs typeface="Montserrat"/>
            </a:endParaRPr>
          </a:p>
        </p:txBody>
      </p:sp>
      <p:sp>
        <p:nvSpPr>
          <p:cNvPr id="171" name="Google Shape;171;p28"/>
          <p:cNvSpPr txBox="1"/>
          <p:nvPr/>
        </p:nvSpPr>
        <p:spPr bwMode="auto">
          <a:xfrm>
            <a:off x="3250257" y="1638625"/>
            <a:ext cx="977400" cy="369300"/>
          </a:xfrm>
          <a:prstGeom prst="rect">
            <a:avLst/>
          </a:prstGeom>
          <a:solidFill>
            <a:srgbClr val="B6D7A8"/>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a:spcBef>
                <a:spcPts val="0"/>
              </a:spcBef>
              <a:spcAft>
                <a:spcPts val="0"/>
              </a:spcAft>
              <a:buNone/>
              <a:defRPr/>
            </a:pPr>
            <a:r>
              <a:rPr lang="en" sz="1300">
                <a:latin typeface="Montserrat"/>
                <a:ea typeface="Montserrat"/>
                <a:cs typeface="Montserrat"/>
              </a:rPr>
              <a:t>Object</a:t>
            </a:r>
            <a:endParaRPr sz="1300">
              <a:latin typeface="Montserrat"/>
              <a:ea typeface="Montserrat"/>
              <a:cs typeface="Montserrat"/>
            </a:endParaRPr>
          </a:p>
        </p:txBody>
      </p:sp>
      <p:grpSp>
        <p:nvGrpSpPr>
          <p:cNvPr id="172" name="Google Shape;172;p28"/>
          <p:cNvGrpSpPr/>
          <p:nvPr/>
        </p:nvGrpSpPr>
        <p:grpSpPr bwMode="auto">
          <a:xfrm>
            <a:off x="1585475" y="1341175"/>
            <a:ext cx="1673583" cy="383246"/>
            <a:chOff x="1585475" y="1264975"/>
            <a:chExt cx="1673583" cy="383246"/>
          </a:xfrm>
        </p:grpSpPr>
        <p:sp>
          <p:nvSpPr>
            <p:cNvPr id="173" name="Google Shape;173;p28"/>
            <p:cNvSpPr/>
            <p:nvPr/>
          </p:nvSpPr>
          <p:spPr bwMode="auto">
            <a:xfrm>
              <a:off x="1585475" y="1552970"/>
              <a:ext cx="1673583" cy="95250"/>
            </a:xfrm>
            <a:custGeom>
              <a:avLst/>
              <a:gdLst/>
              <a:ahLst/>
              <a:cxnLst/>
              <a:rect l="l" t="t" r="r" b="b"/>
              <a:pathLst>
                <a:path w="98533" h="8183" fill="norm" stroke="1" extrusionOk="0">
                  <a:moveTo>
                    <a:pt x="0" y="8183"/>
                  </a:moveTo>
                  <a:cubicBezTo>
                    <a:pt x="7695" y="6820"/>
                    <a:pt x="29748" y="138"/>
                    <a:pt x="46170" y="2"/>
                  </a:cubicBezTo>
                  <a:cubicBezTo>
                    <a:pt x="62592" y="-134"/>
                    <a:pt x="89806" y="6138"/>
                    <a:pt x="98533" y="7365"/>
                  </a:cubicBezTo>
                </a:path>
              </a:pathLst>
            </a:custGeom>
            <a:noFill/>
            <a:ln w="19050" cap="flat" cmpd="sng">
              <a:solidFill>
                <a:schemeClr val="dk2"/>
              </a:solidFill>
              <a:prstDash val="solid"/>
              <a:round/>
              <a:headEnd type="none" w="med" len="med"/>
              <a:tailEnd type="stealth" w="med" len="med"/>
            </a:ln>
          </p:spPr>
        </p:sp>
        <p:sp>
          <p:nvSpPr>
            <p:cNvPr id="174" name="Google Shape;174;p28"/>
            <p:cNvSpPr txBox="1"/>
            <p:nvPr/>
          </p:nvSpPr>
          <p:spPr bwMode="auto">
            <a:xfrm>
              <a:off x="1700650" y="1264975"/>
              <a:ext cx="1320900" cy="369300"/>
            </a:xfrm>
            <a:prstGeom prst="rect">
              <a:avLst/>
            </a:prstGeom>
            <a:noFill/>
            <a:ln>
              <a:noFill/>
            </a:ln>
          </p:spPr>
          <p:txBody>
            <a:bodyPr spcFirstLastPara="1" wrap="square" lIns="91425" tIns="91425" rIns="91425" bIns="91425" anchor="t" anchorCtr="0">
              <a:spAutoFit/>
            </a:bodyPr>
            <a:lstStyle/>
            <a:p>
              <a:pPr marL="0" lvl="0" indent="0" algn="ctr">
                <a:spcBef>
                  <a:spcPts val="0"/>
                </a:spcBef>
                <a:spcAft>
                  <a:spcPts val="0"/>
                </a:spcAft>
                <a:buNone/>
                <a:defRPr/>
              </a:pPr>
              <a:r>
                <a:rPr lang="en" sz="1200">
                  <a:solidFill>
                    <a:schemeClr val="dk1"/>
                  </a:solidFill>
                  <a:latin typeface="Montserrat"/>
                  <a:ea typeface="Montserrat"/>
                  <a:cs typeface="Montserrat"/>
                </a:rPr>
                <a:t>b</a:t>
              </a:r>
              <a:r>
                <a:rPr lang="en" sz="1200">
                  <a:solidFill>
                    <a:schemeClr val="dk1"/>
                  </a:solidFill>
                  <a:latin typeface="Montserrat"/>
                  <a:ea typeface="Montserrat"/>
                  <a:cs typeface="Montserrat"/>
                </a:rPr>
                <a:t>lueprint of</a:t>
              </a:r>
              <a:endParaRPr sz="1200">
                <a:solidFill>
                  <a:schemeClr val="dk1"/>
                </a:solidFill>
                <a:latin typeface="Montserrat"/>
                <a:ea typeface="Montserrat"/>
                <a:cs typeface="Montserrat"/>
              </a:endParaRPr>
            </a:p>
          </p:txBody>
        </p:sp>
      </p:grpSp>
      <p:grpSp>
        <p:nvGrpSpPr>
          <p:cNvPr id="175" name="Google Shape;175;p28"/>
          <p:cNvGrpSpPr/>
          <p:nvPr/>
        </p:nvGrpSpPr>
        <p:grpSpPr bwMode="auto">
          <a:xfrm>
            <a:off x="1582100" y="1921500"/>
            <a:ext cx="1670750" cy="388349"/>
            <a:chOff x="1582100" y="1845300"/>
            <a:chExt cx="1670750" cy="388349"/>
          </a:xfrm>
        </p:grpSpPr>
        <p:sp>
          <p:nvSpPr>
            <p:cNvPr id="176" name="Google Shape;176;p28"/>
            <p:cNvSpPr/>
            <p:nvPr/>
          </p:nvSpPr>
          <p:spPr bwMode="auto">
            <a:xfrm>
              <a:off x="1582100" y="1845300"/>
              <a:ext cx="1670750" cy="95258"/>
            </a:xfrm>
            <a:custGeom>
              <a:avLst/>
              <a:gdLst/>
              <a:ahLst/>
              <a:cxnLst/>
              <a:rect l="l" t="t" r="r" b="b"/>
              <a:pathLst>
                <a:path w="66830" h="6842" fill="norm" stroke="1" extrusionOk="0">
                  <a:moveTo>
                    <a:pt x="66830" y="309"/>
                  </a:moveTo>
                  <a:cubicBezTo>
                    <a:pt x="61112" y="1398"/>
                    <a:pt x="43657" y="6894"/>
                    <a:pt x="32519" y="6842"/>
                  </a:cubicBezTo>
                  <a:cubicBezTo>
                    <a:pt x="21381" y="6791"/>
                    <a:pt x="5420" y="1140"/>
                    <a:pt x="0" y="0"/>
                  </a:cubicBezTo>
                </a:path>
              </a:pathLst>
            </a:custGeom>
            <a:noFill/>
            <a:ln w="19050" cap="flat" cmpd="sng">
              <a:solidFill>
                <a:schemeClr val="dk2"/>
              </a:solidFill>
              <a:prstDash val="solid"/>
              <a:round/>
              <a:headEnd type="none" w="med" len="med"/>
              <a:tailEnd type="stealth" w="med" len="med"/>
            </a:ln>
          </p:spPr>
        </p:sp>
        <p:sp>
          <p:nvSpPr>
            <p:cNvPr id="177" name="Google Shape;177;p28"/>
            <p:cNvSpPr txBox="1"/>
            <p:nvPr/>
          </p:nvSpPr>
          <p:spPr bwMode="auto">
            <a:xfrm>
              <a:off x="1700650" y="1864349"/>
              <a:ext cx="1320900" cy="369300"/>
            </a:xfrm>
            <a:prstGeom prst="rect">
              <a:avLst/>
            </a:prstGeom>
            <a:noFill/>
            <a:ln>
              <a:noFill/>
            </a:ln>
          </p:spPr>
          <p:txBody>
            <a:bodyPr spcFirstLastPara="1" wrap="square" lIns="91425" tIns="91425" rIns="91425" bIns="91425" anchor="t" anchorCtr="0">
              <a:spAutoFit/>
            </a:bodyPr>
            <a:lstStyle/>
            <a:p>
              <a:pPr marL="0" lvl="0" indent="0" algn="ctr">
                <a:spcBef>
                  <a:spcPts val="0"/>
                </a:spcBef>
                <a:spcAft>
                  <a:spcPts val="0"/>
                </a:spcAft>
                <a:buNone/>
                <a:defRPr/>
              </a:pPr>
              <a:r>
                <a:rPr lang="en" sz="1200">
                  <a:solidFill>
                    <a:schemeClr val="dk1"/>
                  </a:solidFill>
                  <a:latin typeface="Montserrat"/>
                  <a:ea typeface="Montserrat"/>
                  <a:cs typeface="Montserrat"/>
                </a:rPr>
                <a:t>instance</a:t>
              </a:r>
              <a:r>
                <a:rPr lang="en" sz="1200">
                  <a:solidFill>
                    <a:schemeClr val="dk1"/>
                  </a:solidFill>
                  <a:latin typeface="Montserrat"/>
                  <a:ea typeface="Montserrat"/>
                  <a:cs typeface="Montserrat"/>
                </a:rPr>
                <a:t> of</a:t>
              </a:r>
              <a:endParaRPr sz="1200">
                <a:solidFill>
                  <a:schemeClr val="dk1"/>
                </a:solidFill>
                <a:latin typeface="Montserrat"/>
                <a:ea typeface="Montserrat"/>
                <a:cs typeface="Montserrat"/>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dur="indefinite" restart="never" nodeType="tmRoot">
          <p:childTnLst>
            <p:seq concurrent="1" nextAc="seek">
              <p:cTn id="2" dur="indefinite" nodeType="mainSeq">
                <p:childTnLst>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172"/>
                                        </p:tgtEl>
                                        <p:attrNameLst>
                                          <p:attrName>style.visibility</p:attrName>
                                        </p:attrNameLst>
                                      </p:cBhvr>
                                      <p:to>
                                        <p:strVal val="visible"/>
                                      </p:to>
                                    </p:set>
                                    <p:animEffect transition="in" filter="fade">
                                      <p:cBhvr>
                                        <p:cTn dur="500"/>
                                        <p:tgtEl>
                                          <p:spTgt spid="172"/>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175"/>
                                        </p:tgtEl>
                                        <p:attrNameLst>
                                          <p:attrName>style.visibility</p:attrName>
                                        </p:attrNameLst>
                                      </p:cBhvr>
                                      <p:to>
                                        <p:strVal val="visible"/>
                                      </p:to>
                                    </p:set>
                                    <p:animEffect transition="in" filter="fade">
                                      <p:cBhvr>
                                        <p:cTn dur="500"/>
                                        <p:tgtEl>
                                          <p:spTgt spid="175"/>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151"/>
                                        </p:tgtEl>
                                        <p:attrNameLst>
                                          <p:attrName>style.visibility</p:attrName>
                                        </p:attrNameLst>
                                      </p:cBhvr>
                                      <p:to>
                                        <p:strVal val="visible"/>
                                      </p:to>
                                    </p:set>
                                    <p:animEffect transition="in" filter="fade">
                                      <p:cBhvr>
                                        <p:cTn dur="500"/>
                                        <p:tgtEl>
                                          <p:spTgt spid="151"/>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156"/>
                                        </p:tgtEl>
                                        <p:attrNameLst>
                                          <p:attrName>style.visibility</p:attrName>
                                        </p:attrNameLst>
                                      </p:cBhvr>
                                      <p:to>
                                        <p:strVal val="visible"/>
                                      </p:to>
                                    </p:set>
                                    <p:animEffect transition="in" filter="fade">
                                      <p:cBhvr>
                                        <p:cTn dur="500"/>
                                        <p:tgtEl>
                                          <p:spTgt spid="156"/>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163"/>
                                        </p:tgtEl>
                                        <p:attrNameLst>
                                          <p:attrName>style.visibility</p:attrName>
                                        </p:attrNameLst>
                                      </p:cBhvr>
                                      <p:to>
                                        <p:strVal val="visible"/>
                                      </p:to>
                                    </p:set>
                                    <p:animEffect transition="in" filter="fade">
                                      <p:cBhvr>
                                        <p:cTn dur="500"/>
                                        <p:tgtEl>
                                          <p:spTgt spid="1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2" name="Google Shape;182;p29"/>
          <p:cNvSpPr txBox="1"/>
          <p:nvPr>
            <p:ph type="title"/>
          </p:nvPr>
        </p:nvSpPr>
        <p:spPr bwMode="auto">
          <a:xfrm>
            <a:off x="540300" y="2990425"/>
            <a:ext cx="8093700" cy="1672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defRPr/>
            </a:pPr>
            <a:r>
              <a:rPr lang="en"/>
              <a:t>Unified Modeling Language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7" name="Google Shape;187;p30"/>
          <p:cNvSpPr txBox="1"/>
          <p:nvPr>
            <p:ph type="title"/>
          </p:nvPr>
        </p:nvSpPr>
        <p:spPr bwMode="auto">
          <a:xfrm>
            <a:off x="311700" y="286500"/>
            <a:ext cx="8520600" cy="5727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defRPr/>
            </a:pPr>
            <a:r>
              <a:rPr lang="en" b="1"/>
              <a:t>UML Diagrams</a:t>
            </a:r>
            <a:r>
              <a:rPr lang="en"/>
              <a:t> to represent </a:t>
            </a:r>
            <a:r>
              <a:rPr lang="en" b="1"/>
              <a:t>Class</a:t>
            </a:r>
            <a:r>
              <a:rPr lang="en"/>
              <a:t> and </a:t>
            </a:r>
            <a:r>
              <a:rPr lang="en" b="1"/>
              <a:t>Instance</a:t>
            </a:r>
            <a:endParaRPr b="1"/>
          </a:p>
        </p:txBody>
      </p:sp>
      <p:sp>
        <p:nvSpPr>
          <p:cNvPr id="188" name="Google Shape;188;p30"/>
          <p:cNvSpPr/>
          <p:nvPr/>
        </p:nvSpPr>
        <p:spPr bwMode="auto">
          <a:xfrm>
            <a:off x="180750" y="2086350"/>
            <a:ext cx="1993200" cy="1571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latin typeface="Montserrat"/>
              <a:ea typeface="Montserrat"/>
              <a:cs typeface="Montserrat"/>
            </a:endParaRPr>
          </a:p>
        </p:txBody>
      </p:sp>
      <p:sp>
        <p:nvSpPr>
          <p:cNvPr id="189" name="Google Shape;189;p30"/>
          <p:cNvSpPr/>
          <p:nvPr/>
        </p:nvSpPr>
        <p:spPr bwMode="auto">
          <a:xfrm>
            <a:off x="180750" y="2550729"/>
            <a:ext cx="1993200" cy="679500"/>
          </a:xfrm>
          <a:prstGeom prst="rect">
            <a:avLst/>
          </a:prstGeom>
          <a:noFill/>
          <a:ln w="9525" cap="flat" cmpd="sng">
            <a:solidFill>
              <a:schemeClr val="dk2"/>
            </a:solidFill>
            <a:prstDash val="solid"/>
            <a:round/>
            <a:headEnd type="none" w="sm" len="sm"/>
            <a:tailEnd type="none" w="sm" len="sm"/>
          </a:ln>
        </p:spPr>
        <p:txBody>
          <a:bodyPr spcFirstLastPara="1" wrap="square" lIns="91425" tIns="182875" rIns="91425" bIns="91425" anchor="ctr" anchorCtr="0">
            <a:noAutofit/>
          </a:bodyPr>
          <a:lstStyle/>
          <a:p>
            <a:pPr marL="0" lvl="0" indent="0" algn="l">
              <a:lnSpc>
                <a:spcPct val="150000"/>
              </a:lnSpc>
              <a:spcBef>
                <a:spcPts val="0"/>
              </a:spcBef>
              <a:spcAft>
                <a:spcPts val="0"/>
              </a:spcAft>
              <a:buNone/>
              <a:defRPr/>
            </a:pPr>
            <a:r>
              <a:rPr lang="en">
                <a:latin typeface="Montserrat"/>
                <a:ea typeface="Montserrat"/>
                <a:cs typeface="Montserrat"/>
              </a:rPr>
              <a:t>Length</a:t>
            </a:r>
            <a:endParaRPr>
              <a:latin typeface="Montserrat"/>
              <a:ea typeface="Montserrat"/>
              <a:cs typeface="Montserrat"/>
            </a:endParaRPr>
          </a:p>
          <a:p>
            <a:pPr marL="0" lvl="0" indent="0" algn="l">
              <a:lnSpc>
                <a:spcPct val="150000"/>
              </a:lnSpc>
              <a:spcBef>
                <a:spcPts val="0"/>
              </a:spcBef>
              <a:spcAft>
                <a:spcPts val="0"/>
              </a:spcAft>
              <a:buNone/>
              <a:defRPr/>
            </a:pPr>
            <a:r>
              <a:rPr lang="en">
                <a:latin typeface="Montserrat"/>
                <a:ea typeface="Montserrat"/>
                <a:cs typeface="Montserrat"/>
              </a:rPr>
              <a:t>Breadth</a:t>
            </a:r>
            <a:endParaRPr>
              <a:latin typeface="Montserrat"/>
              <a:ea typeface="Montserrat"/>
              <a:cs typeface="Montserrat"/>
            </a:endParaRPr>
          </a:p>
        </p:txBody>
      </p:sp>
      <p:sp>
        <p:nvSpPr>
          <p:cNvPr id="190" name="Google Shape;190;p30"/>
          <p:cNvSpPr txBox="1"/>
          <p:nvPr/>
        </p:nvSpPr>
        <p:spPr bwMode="auto">
          <a:xfrm>
            <a:off x="180846" y="2134925"/>
            <a:ext cx="1993200" cy="400200"/>
          </a:xfrm>
          <a:prstGeom prst="rect">
            <a:avLst/>
          </a:prstGeom>
          <a:noFill/>
          <a:ln>
            <a:noFill/>
          </a:ln>
        </p:spPr>
        <p:txBody>
          <a:bodyPr spcFirstLastPara="1" wrap="square" lIns="91425" tIns="91425" rIns="91425" bIns="91425" anchor="t" anchorCtr="0">
            <a:spAutoFit/>
          </a:bodyPr>
          <a:lstStyle/>
          <a:p>
            <a:pPr marL="0" lvl="0" indent="0" algn="ctr">
              <a:spcBef>
                <a:spcPts val="0"/>
              </a:spcBef>
              <a:spcAft>
                <a:spcPts val="0"/>
              </a:spcAft>
              <a:buNone/>
              <a:defRPr/>
            </a:pPr>
            <a:r>
              <a:rPr lang="en">
                <a:latin typeface="Montserrat"/>
                <a:ea typeface="Montserrat"/>
                <a:cs typeface="Montserrat"/>
              </a:rPr>
              <a:t>Rectangle</a:t>
            </a:r>
            <a:endParaRPr>
              <a:latin typeface="Montserrat"/>
              <a:ea typeface="Montserrat"/>
              <a:cs typeface="Montserrat"/>
            </a:endParaRPr>
          </a:p>
        </p:txBody>
      </p:sp>
      <p:sp>
        <p:nvSpPr>
          <p:cNvPr id="191" name="Google Shape;191;p30"/>
          <p:cNvSpPr/>
          <p:nvPr/>
        </p:nvSpPr>
        <p:spPr bwMode="auto">
          <a:xfrm>
            <a:off x="180750" y="3230950"/>
            <a:ext cx="1993200" cy="512100"/>
          </a:xfrm>
          <a:prstGeom prst="rect">
            <a:avLst/>
          </a:prstGeom>
          <a:noFill/>
          <a:ln>
            <a:noFill/>
          </a:ln>
        </p:spPr>
        <p:txBody>
          <a:bodyPr spcFirstLastPara="1" wrap="square" lIns="91425" tIns="91425" rIns="91425" bIns="91425" anchor="ctr" anchorCtr="0">
            <a:noAutofit/>
          </a:bodyPr>
          <a:lstStyle/>
          <a:p>
            <a:pPr marL="0" lvl="0" indent="0" algn="l">
              <a:lnSpc>
                <a:spcPct val="150000"/>
              </a:lnSpc>
              <a:spcBef>
                <a:spcPts val="0"/>
              </a:spcBef>
              <a:spcAft>
                <a:spcPts val="0"/>
              </a:spcAft>
              <a:buNone/>
              <a:defRPr/>
            </a:pPr>
            <a:r>
              <a:rPr lang="en">
                <a:latin typeface="Montserrat"/>
                <a:ea typeface="Montserrat"/>
                <a:cs typeface="Montserrat"/>
              </a:rPr>
              <a:t>Calculate Area</a:t>
            </a:r>
            <a:endParaRPr>
              <a:latin typeface="Montserrat"/>
              <a:ea typeface="Montserrat"/>
              <a:cs typeface="Montserrat"/>
            </a:endParaRPr>
          </a:p>
        </p:txBody>
      </p:sp>
      <p:grpSp>
        <p:nvGrpSpPr>
          <p:cNvPr id="192" name="Google Shape;192;p30"/>
          <p:cNvGrpSpPr/>
          <p:nvPr/>
        </p:nvGrpSpPr>
        <p:grpSpPr bwMode="auto">
          <a:xfrm>
            <a:off x="1996531" y="2699811"/>
            <a:ext cx="3094305" cy="400200"/>
            <a:chOff x="1996531" y="2699811"/>
            <a:chExt cx="3094305" cy="400200"/>
          </a:xfrm>
        </p:grpSpPr>
        <p:cxnSp>
          <p:nvCxnSpPr>
            <p:cNvPr id="193" name="Google Shape;193;p30"/>
            <p:cNvCxnSpPr/>
            <p:nvPr/>
          </p:nvCxnSpPr>
          <p:spPr bwMode="auto">
            <a:xfrm>
              <a:off x="1996531" y="2890474"/>
              <a:ext cx="846000" cy="0"/>
            </a:xfrm>
            <a:prstGeom prst="straightConnector1">
              <a:avLst/>
            </a:prstGeom>
            <a:noFill/>
            <a:ln w="19050" cap="flat" cmpd="sng">
              <a:solidFill>
                <a:schemeClr val="dk2"/>
              </a:solidFill>
              <a:prstDash val="solid"/>
              <a:round/>
              <a:headEnd type="oval" w="med" len="med"/>
              <a:tailEnd type="none" w="med" len="med"/>
            </a:ln>
          </p:spPr>
        </p:cxnSp>
        <p:sp>
          <p:nvSpPr>
            <p:cNvPr id="194" name="Google Shape;194;p30"/>
            <p:cNvSpPr txBox="1"/>
            <p:nvPr/>
          </p:nvSpPr>
          <p:spPr bwMode="auto">
            <a:xfrm>
              <a:off x="2858236" y="2699811"/>
              <a:ext cx="2232600" cy="400200"/>
            </a:xfrm>
            <a:prstGeom prst="rect">
              <a:avLst/>
            </a:prstGeom>
            <a:noFill/>
            <a:ln>
              <a:noFill/>
            </a:ln>
          </p:spPr>
          <p:txBody>
            <a:bodyPr spcFirstLastPara="1" wrap="square" lIns="91425" tIns="91425" rIns="91425" bIns="91425" anchor="t" anchorCtr="0">
              <a:spAutoFit/>
            </a:bodyPr>
            <a:lstStyle/>
            <a:p>
              <a:pPr marL="0" lvl="0" indent="0" algn="l">
                <a:spcBef>
                  <a:spcPts val="0"/>
                </a:spcBef>
                <a:spcAft>
                  <a:spcPts val="0"/>
                </a:spcAft>
                <a:buNone/>
                <a:defRPr/>
              </a:pPr>
              <a:r>
                <a:rPr lang="en">
                  <a:latin typeface="Montserrat"/>
                  <a:ea typeface="Montserrat"/>
                  <a:cs typeface="Montserrat"/>
                </a:rPr>
                <a:t>Attributes</a:t>
              </a:r>
              <a:endParaRPr>
                <a:latin typeface="Montserrat"/>
                <a:ea typeface="Montserrat"/>
                <a:cs typeface="Montserrat"/>
              </a:endParaRPr>
            </a:p>
          </p:txBody>
        </p:sp>
      </p:grpSp>
      <p:grpSp>
        <p:nvGrpSpPr>
          <p:cNvPr id="195" name="Google Shape;195;p30"/>
          <p:cNvGrpSpPr/>
          <p:nvPr/>
        </p:nvGrpSpPr>
        <p:grpSpPr bwMode="auto">
          <a:xfrm>
            <a:off x="1996531" y="3233214"/>
            <a:ext cx="3094305" cy="400200"/>
            <a:chOff x="1996531" y="3233214"/>
            <a:chExt cx="3094305" cy="400200"/>
          </a:xfrm>
        </p:grpSpPr>
        <p:cxnSp>
          <p:nvCxnSpPr>
            <p:cNvPr id="196" name="Google Shape;196;p30"/>
            <p:cNvCxnSpPr/>
            <p:nvPr/>
          </p:nvCxnSpPr>
          <p:spPr bwMode="auto">
            <a:xfrm>
              <a:off x="1996531" y="3423874"/>
              <a:ext cx="846000" cy="0"/>
            </a:xfrm>
            <a:prstGeom prst="straightConnector1">
              <a:avLst/>
            </a:prstGeom>
            <a:noFill/>
            <a:ln w="19050" cap="flat" cmpd="sng">
              <a:solidFill>
                <a:schemeClr val="dk2"/>
              </a:solidFill>
              <a:prstDash val="solid"/>
              <a:round/>
              <a:headEnd type="oval" w="med" len="med"/>
              <a:tailEnd type="none" w="med" len="med"/>
            </a:ln>
          </p:spPr>
        </p:cxnSp>
        <p:sp>
          <p:nvSpPr>
            <p:cNvPr id="197" name="Google Shape;197;p30"/>
            <p:cNvSpPr txBox="1"/>
            <p:nvPr/>
          </p:nvSpPr>
          <p:spPr bwMode="auto">
            <a:xfrm>
              <a:off x="2858236" y="3233214"/>
              <a:ext cx="2232600" cy="400200"/>
            </a:xfrm>
            <a:prstGeom prst="rect">
              <a:avLst/>
            </a:prstGeom>
            <a:noFill/>
            <a:ln>
              <a:noFill/>
            </a:ln>
          </p:spPr>
          <p:txBody>
            <a:bodyPr spcFirstLastPara="1" wrap="square" lIns="91425" tIns="91425" rIns="91425" bIns="91425" anchor="t" anchorCtr="0">
              <a:spAutoFit/>
            </a:bodyPr>
            <a:lstStyle/>
            <a:p>
              <a:pPr marL="0" lvl="0" indent="0" algn="l">
                <a:spcBef>
                  <a:spcPts val="0"/>
                </a:spcBef>
                <a:spcAft>
                  <a:spcPts val="0"/>
                </a:spcAft>
                <a:buNone/>
                <a:defRPr/>
              </a:pPr>
              <a:r>
                <a:rPr lang="en">
                  <a:latin typeface="Montserrat"/>
                  <a:ea typeface="Montserrat"/>
                  <a:cs typeface="Montserrat"/>
                </a:rPr>
                <a:t>Methods or Behavior</a:t>
              </a:r>
              <a:endParaRPr>
                <a:latin typeface="Montserrat"/>
                <a:ea typeface="Montserrat"/>
                <a:cs typeface="Montserrat"/>
              </a:endParaRPr>
            </a:p>
          </p:txBody>
        </p:sp>
      </p:grpSp>
      <p:grpSp>
        <p:nvGrpSpPr>
          <p:cNvPr id="198" name="Google Shape;198;p30"/>
          <p:cNvGrpSpPr/>
          <p:nvPr/>
        </p:nvGrpSpPr>
        <p:grpSpPr bwMode="auto">
          <a:xfrm>
            <a:off x="1052402" y="1369425"/>
            <a:ext cx="2846110" cy="888257"/>
            <a:chOff x="1052402" y="1369425"/>
            <a:chExt cx="2846110" cy="888257"/>
          </a:xfrm>
        </p:grpSpPr>
        <p:sp>
          <p:nvSpPr>
            <p:cNvPr id="199" name="Google Shape;199;p30"/>
            <p:cNvSpPr/>
            <p:nvPr/>
          </p:nvSpPr>
          <p:spPr bwMode="auto">
            <a:xfrm flipH="1">
              <a:off x="1052402" y="1578175"/>
              <a:ext cx="1006648" cy="679507"/>
            </a:xfrm>
            <a:custGeom>
              <a:avLst/>
              <a:gdLst/>
              <a:ahLst/>
              <a:cxnLst/>
              <a:rect l="l" t="t" r="r" b="b"/>
              <a:pathLst>
                <a:path w="29962" h="9488" fill="norm" stroke="1" extrusionOk="0">
                  <a:moveTo>
                    <a:pt x="0" y="0"/>
                  </a:moveTo>
                  <a:lnTo>
                    <a:pt x="29962" y="0"/>
                  </a:lnTo>
                  <a:lnTo>
                    <a:pt x="29962" y="9488"/>
                  </a:lnTo>
                </a:path>
              </a:pathLst>
            </a:custGeom>
            <a:noFill/>
            <a:ln w="19050" cap="flat" cmpd="sng">
              <a:solidFill>
                <a:schemeClr val="dk2"/>
              </a:solidFill>
              <a:prstDash val="solid"/>
              <a:round/>
              <a:headEnd type="none" w="med" len="med"/>
              <a:tailEnd type="oval" w="med" len="med"/>
            </a:ln>
          </p:spPr>
        </p:sp>
        <p:sp>
          <p:nvSpPr>
            <p:cNvPr id="200" name="Google Shape;200;p30"/>
            <p:cNvSpPr txBox="1"/>
            <p:nvPr/>
          </p:nvSpPr>
          <p:spPr bwMode="auto">
            <a:xfrm>
              <a:off x="2123712" y="1369425"/>
              <a:ext cx="1774800" cy="400200"/>
            </a:xfrm>
            <a:prstGeom prst="rect">
              <a:avLst/>
            </a:prstGeom>
            <a:noFill/>
            <a:ln>
              <a:noFill/>
            </a:ln>
          </p:spPr>
          <p:txBody>
            <a:bodyPr spcFirstLastPara="1" wrap="square" lIns="91425" tIns="91425" rIns="91425" bIns="91425" anchor="t" anchorCtr="0">
              <a:spAutoFit/>
            </a:bodyPr>
            <a:lstStyle/>
            <a:p>
              <a:pPr marL="0" lvl="0" indent="0" algn="l">
                <a:spcBef>
                  <a:spcPts val="0"/>
                </a:spcBef>
                <a:spcAft>
                  <a:spcPts val="0"/>
                </a:spcAft>
                <a:buNone/>
                <a:defRPr/>
              </a:pPr>
              <a:r>
                <a:rPr lang="en">
                  <a:latin typeface="Montserrat"/>
                  <a:ea typeface="Montserrat"/>
                  <a:cs typeface="Montserrat"/>
                </a:rPr>
                <a:t>Class Name</a:t>
              </a:r>
              <a:endParaRPr>
                <a:latin typeface="Montserrat"/>
                <a:ea typeface="Montserrat"/>
                <a:cs typeface="Montserrat"/>
              </a:endParaRPr>
            </a:p>
          </p:txBody>
        </p:sp>
      </p:grpSp>
      <p:grpSp>
        <p:nvGrpSpPr>
          <p:cNvPr id="201" name="Google Shape;201;p30"/>
          <p:cNvGrpSpPr/>
          <p:nvPr/>
        </p:nvGrpSpPr>
        <p:grpSpPr bwMode="auto">
          <a:xfrm>
            <a:off x="5695125" y="2086350"/>
            <a:ext cx="2175000" cy="1656700"/>
            <a:chOff x="5695125" y="2086350"/>
            <a:chExt cx="2175000" cy="1656700"/>
          </a:xfrm>
        </p:grpSpPr>
        <p:sp>
          <p:nvSpPr>
            <p:cNvPr id="202" name="Google Shape;202;p30"/>
            <p:cNvSpPr/>
            <p:nvPr/>
          </p:nvSpPr>
          <p:spPr bwMode="auto">
            <a:xfrm>
              <a:off x="5695125" y="2086350"/>
              <a:ext cx="2175000" cy="1571400"/>
            </a:xfrm>
            <a:prstGeom prst="rect">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latin typeface="Montserrat"/>
                <a:ea typeface="Montserrat"/>
                <a:cs typeface="Montserrat"/>
              </a:endParaRPr>
            </a:p>
          </p:txBody>
        </p:sp>
        <p:sp>
          <p:nvSpPr>
            <p:cNvPr id="203" name="Google Shape;203;p30"/>
            <p:cNvSpPr/>
            <p:nvPr/>
          </p:nvSpPr>
          <p:spPr bwMode="auto">
            <a:xfrm>
              <a:off x="5695125" y="2550729"/>
              <a:ext cx="2175000" cy="679500"/>
            </a:xfrm>
            <a:prstGeom prst="rect">
              <a:avLst/>
            </a:prstGeom>
            <a:solidFill>
              <a:srgbClr val="CFE2F3"/>
            </a:solidFill>
            <a:ln w="9525" cap="flat" cmpd="sng">
              <a:solidFill>
                <a:srgbClr val="000000"/>
              </a:solidFill>
              <a:prstDash val="solid"/>
              <a:round/>
              <a:headEnd type="none" w="sm" len="sm"/>
              <a:tailEnd type="none" w="sm" len="sm"/>
            </a:ln>
          </p:spPr>
          <p:txBody>
            <a:bodyPr spcFirstLastPara="1" wrap="square" lIns="91425" tIns="182875" rIns="91425" bIns="91425" anchor="ctr" anchorCtr="0">
              <a:noAutofit/>
            </a:bodyPr>
            <a:lstStyle/>
            <a:p>
              <a:pPr marL="0" lvl="0" indent="0" algn="l">
                <a:lnSpc>
                  <a:spcPct val="150000"/>
                </a:lnSpc>
                <a:spcBef>
                  <a:spcPts val="0"/>
                </a:spcBef>
                <a:spcAft>
                  <a:spcPts val="0"/>
                </a:spcAft>
                <a:buNone/>
                <a:defRPr/>
              </a:pPr>
              <a:r>
                <a:rPr lang="en">
                  <a:latin typeface="Montserrat"/>
                  <a:ea typeface="Montserrat"/>
                  <a:cs typeface="Montserrat"/>
                </a:rPr>
                <a:t>Length = 40</a:t>
              </a:r>
              <a:endParaRPr>
                <a:latin typeface="Montserrat"/>
                <a:ea typeface="Montserrat"/>
                <a:cs typeface="Montserrat"/>
              </a:endParaRPr>
            </a:p>
            <a:p>
              <a:pPr marL="0" lvl="0" indent="0" algn="l">
                <a:lnSpc>
                  <a:spcPct val="150000"/>
                </a:lnSpc>
                <a:spcBef>
                  <a:spcPts val="0"/>
                </a:spcBef>
                <a:spcAft>
                  <a:spcPts val="0"/>
                </a:spcAft>
                <a:buNone/>
                <a:defRPr/>
              </a:pPr>
              <a:r>
                <a:rPr lang="en">
                  <a:latin typeface="Montserrat"/>
                  <a:ea typeface="Montserrat"/>
                  <a:cs typeface="Montserrat"/>
                </a:rPr>
                <a:t>Breadth = 30</a:t>
              </a:r>
              <a:endParaRPr>
                <a:latin typeface="Montserrat"/>
                <a:ea typeface="Montserrat"/>
                <a:cs typeface="Montserrat"/>
              </a:endParaRPr>
            </a:p>
          </p:txBody>
        </p:sp>
        <p:sp>
          <p:nvSpPr>
            <p:cNvPr id="204" name="Google Shape;204;p30"/>
            <p:cNvSpPr txBox="1"/>
            <p:nvPr/>
          </p:nvSpPr>
          <p:spPr bwMode="auto">
            <a:xfrm>
              <a:off x="5695127" y="2134925"/>
              <a:ext cx="2148000" cy="400200"/>
            </a:xfrm>
            <a:prstGeom prst="rect">
              <a:avLst/>
            </a:prstGeom>
            <a:solidFill>
              <a:srgbClr val="CFE2F3"/>
            </a:solidFill>
            <a:ln>
              <a:noFill/>
            </a:ln>
          </p:spPr>
          <p:txBody>
            <a:bodyPr spcFirstLastPara="1" wrap="square" lIns="91425" tIns="91425" rIns="91425" bIns="91425" anchor="t" anchorCtr="0">
              <a:spAutoFit/>
            </a:bodyPr>
            <a:lstStyle/>
            <a:p>
              <a:pPr marL="0" lvl="0" indent="0" algn="ctr">
                <a:spcBef>
                  <a:spcPts val="0"/>
                </a:spcBef>
                <a:spcAft>
                  <a:spcPts val="0"/>
                </a:spcAft>
                <a:buNone/>
                <a:defRPr/>
              </a:pPr>
              <a:r>
                <a:rPr lang="en">
                  <a:latin typeface="Montserrat"/>
                  <a:ea typeface="Montserrat"/>
                  <a:cs typeface="Montserrat"/>
                </a:rPr>
                <a:t>rect: </a:t>
              </a:r>
              <a:r>
                <a:rPr lang="en">
                  <a:latin typeface="Montserrat"/>
                  <a:ea typeface="Montserrat"/>
                  <a:cs typeface="Montserrat"/>
                </a:rPr>
                <a:t>Rectangle</a:t>
              </a:r>
              <a:endParaRPr>
                <a:latin typeface="Montserrat"/>
                <a:ea typeface="Montserrat"/>
                <a:cs typeface="Montserrat"/>
              </a:endParaRPr>
            </a:p>
          </p:txBody>
        </p:sp>
        <p:sp>
          <p:nvSpPr>
            <p:cNvPr id="205" name="Google Shape;205;p30"/>
            <p:cNvSpPr/>
            <p:nvPr/>
          </p:nvSpPr>
          <p:spPr bwMode="auto">
            <a:xfrm>
              <a:off x="5695125" y="3230950"/>
              <a:ext cx="2175000" cy="512100"/>
            </a:xfrm>
            <a:prstGeom prst="rect">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a:lnSpc>
                  <a:spcPct val="150000"/>
                </a:lnSpc>
                <a:spcBef>
                  <a:spcPts val="0"/>
                </a:spcBef>
                <a:spcAft>
                  <a:spcPts val="0"/>
                </a:spcAft>
                <a:buNone/>
                <a:defRPr/>
              </a:pPr>
              <a:r>
                <a:rPr lang="en">
                  <a:latin typeface="Montserrat"/>
                  <a:ea typeface="Montserrat"/>
                  <a:cs typeface="Montserrat"/>
                </a:rPr>
                <a:t>Calculate Area</a:t>
              </a:r>
              <a:endParaRPr>
                <a:latin typeface="Montserrat"/>
                <a:ea typeface="Montserrat"/>
                <a:cs typeface="Montserrat"/>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dur="indefinite" restart="never" nodeType="tmRoot">
          <p:childTnLst>
            <p:seq concurrent="1" nextAc="seek">
              <p:cTn id="2" dur="indefinite" nodeType="mainSeq">
                <p:childTnLst>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198"/>
                                        </p:tgtEl>
                                        <p:attrNameLst>
                                          <p:attrName>style.visibility</p:attrName>
                                        </p:attrNameLst>
                                      </p:cBhvr>
                                      <p:to>
                                        <p:strVal val="visible"/>
                                      </p:to>
                                    </p:set>
                                    <p:animEffect transition="in" filter="fade">
                                      <p:cBhvr>
                                        <p:cTn dur="500"/>
                                        <p:tgtEl>
                                          <p:spTgt spid="198"/>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192"/>
                                        </p:tgtEl>
                                        <p:attrNameLst>
                                          <p:attrName>style.visibility</p:attrName>
                                        </p:attrNameLst>
                                      </p:cBhvr>
                                      <p:to>
                                        <p:strVal val="visible"/>
                                      </p:to>
                                    </p:set>
                                    <p:animEffect transition="in" filter="fade">
                                      <p:cBhvr>
                                        <p:cTn dur="500"/>
                                        <p:tgtEl>
                                          <p:spTgt spid="192"/>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195"/>
                                        </p:tgtEl>
                                        <p:attrNameLst>
                                          <p:attrName>style.visibility</p:attrName>
                                        </p:attrNameLst>
                                      </p:cBhvr>
                                      <p:to>
                                        <p:strVal val="visible"/>
                                      </p:to>
                                    </p:set>
                                    <p:animEffect transition="in" filter="fade">
                                      <p:cBhvr>
                                        <p:cTn dur="500"/>
                                        <p:tgtEl>
                                          <p:spTgt spid="195"/>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201"/>
                                        </p:tgtEl>
                                        <p:attrNameLst>
                                          <p:attrName>style.visibility</p:attrName>
                                        </p:attrNameLst>
                                      </p:cBhvr>
                                      <p:to>
                                        <p:strVal val="visible"/>
                                      </p:to>
                                    </p:set>
                                    <p:animEffect transition="in" filter="fade">
                                      <p:cBhvr>
                                        <p:cTn dur="500"/>
                                        <p:tgtEl>
                                          <p:spTgt spid="2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0" name="Google Shape;210;p31"/>
          <p:cNvSpPr txBox="1"/>
          <p:nvPr>
            <p:ph type="title"/>
          </p:nvPr>
        </p:nvSpPr>
        <p:spPr bwMode="auto">
          <a:xfrm>
            <a:off x="540300" y="2990425"/>
            <a:ext cx="8093700" cy="1672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defRPr/>
            </a:pPr>
            <a:r>
              <a:rPr lang="en"/>
              <a:t>Class Definition and Instantiation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5" name="Google Shape;215;p32"/>
          <p:cNvSpPr txBox="1"/>
          <p:nvPr>
            <p:ph type="body" idx="1"/>
          </p:nvPr>
        </p:nvSpPr>
        <p:spPr bwMode="auto">
          <a:xfrm>
            <a:off x="4492375" y="1481400"/>
            <a:ext cx="4881600" cy="2407500"/>
          </a:xfrm>
          <a:prstGeom prst="rect">
            <a:avLst/>
          </a:prstGeom>
        </p:spPr>
        <p:txBody>
          <a:bodyPr spcFirstLastPara="1" wrap="square" lIns="91425" tIns="91425" rIns="91425" bIns="91425" anchor="t" anchorCtr="0">
            <a:noAutofit/>
          </a:bodyPr>
          <a:lstStyle/>
          <a:p>
            <a:pPr marL="0" lvl="0" indent="0" algn="l">
              <a:lnSpc>
                <a:spcPct val="200000"/>
              </a:lnSpc>
              <a:spcBef>
                <a:spcPts val="0"/>
              </a:spcBef>
              <a:spcAft>
                <a:spcPts val="0"/>
              </a:spcAft>
              <a:buNone/>
              <a:defRPr/>
            </a:pPr>
            <a:r>
              <a:rPr lang="en" sz="1450">
                <a:solidFill>
                  <a:srgbClr val="0000FF"/>
                </a:solidFill>
                <a:highlight>
                  <a:srgbClr val="FFFFFE"/>
                </a:highlight>
                <a:latin typeface="Courier New"/>
                <a:ea typeface="Courier New"/>
                <a:cs typeface="Courier New"/>
              </a:rPr>
              <a:t>class</a:t>
            </a:r>
            <a:r>
              <a:rPr lang="en" sz="1450">
                <a:solidFill>
                  <a:schemeClr val="dk1"/>
                </a:solidFill>
                <a:highlight>
                  <a:srgbClr val="FFFFFE"/>
                </a:highlight>
                <a:latin typeface="Courier New"/>
                <a:ea typeface="Courier New"/>
                <a:cs typeface="Courier New"/>
              </a:rPr>
              <a:t> Rectangle:</a:t>
            </a:r>
            <a:endParaRPr sz="1450">
              <a:solidFill>
                <a:schemeClr val="dk1"/>
              </a:solidFill>
              <a:highlight>
                <a:srgbClr val="FFFFFE"/>
              </a:highlight>
              <a:latin typeface="Courier New"/>
              <a:ea typeface="Courier New"/>
              <a:cs typeface="Courier New"/>
            </a:endParaRPr>
          </a:p>
          <a:p>
            <a:pPr marL="0" lvl="0" indent="0" algn="l">
              <a:lnSpc>
                <a:spcPct val="135714"/>
              </a:lnSpc>
              <a:spcBef>
                <a:spcPts val="0"/>
              </a:spcBef>
              <a:spcAft>
                <a:spcPts val="0"/>
              </a:spcAft>
              <a:buNone/>
              <a:defRPr/>
            </a:pPr>
            <a:r>
              <a:rPr lang="en" sz="1450">
                <a:solidFill>
                  <a:schemeClr val="dk1"/>
                </a:solidFill>
                <a:highlight>
                  <a:srgbClr val="FFFFFE"/>
                </a:highlight>
                <a:latin typeface="Courier New"/>
                <a:ea typeface="Courier New"/>
                <a:cs typeface="Courier New"/>
              </a:rPr>
              <a:t>   </a:t>
            </a:r>
            <a:r>
              <a:rPr lang="en" sz="1450">
                <a:solidFill>
                  <a:srgbClr val="0000FF"/>
                </a:solidFill>
                <a:highlight>
                  <a:srgbClr val="FFFFFE"/>
                </a:highlight>
                <a:latin typeface="Courier New"/>
                <a:ea typeface="Courier New"/>
                <a:cs typeface="Courier New"/>
              </a:rPr>
              <a:t>def</a:t>
            </a:r>
            <a:r>
              <a:rPr lang="en" sz="1450">
                <a:solidFill>
                  <a:schemeClr val="dk1"/>
                </a:solidFill>
                <a:highlight>
                  <a:srgbClr val="FFFFFE"/>
                </a:highlight>
                <a:latin typeface="Courier New"/>
                <a:ea typeface="Courier New"/>
                <a:cs typeface="Courier New"/>
              </a:rPr>
              <a:t> </a:t>
            </a:r>
            <a:r>
              <a:rPr lang="en" sz="1450">
                <a:solidFill>
                  <a:srgbClr val="795E26"/>
                </a:solidFill>
                <a:highlight>
                  <a:srgbClr val="FFFFFE"/>
                </a:highlight>
                <a:latin typeface="Courier New"/>
                <a:ea typeface="Courier New"/>
                <a:cs typeface="Courier New"/>
              </a:rPr>
              <a:t>__init__</a:t>
            </a:r>
            <a:r>
              <a:rPr lang="en" sz="1450">
                <a:solidFill>
                  <a:schemeClr val="dk1"/>
                </a:solidFill>
                <a:highlight>
                  <a:srgbClr val="FFFFFE"/>
                </a:highlight>
                <a:latin typeface="Courier New"/>
                <a:ea typeface="Courier New"/>
                <a:cs typeface="Courier New"/>
              </a:rPr>
              <a:t>(</a:t>
            </a:r>
            <a:r>
              <a:rPr lang="en" sz="1450">
                <a:solidFill>
                  <a:srgbClr val="001080"/>
                </a:solidFill>
                <a:highlight>
                  <a:srgbClr val="FFFFFE"/>
                </a:highlight>
                <a:latin typeface="Courier New"/>
                <a:ea typeface="Courier New"/>
                <a:cs typeface="Courier New"/>
              </a:rPr>
              <a:t>self</a:t>
            </a:r>
            <a:r>
              <a:rPr lang="en" sz="1450">
                <a:solidFill>
                  <a:schemeClr val="dk1"/>
                </a:solidFill>
                <a:highlight>
                  <a:srgbClr val="FFFFFE"/>
                </a:highlight>
                <a:latin typeface="Courier New"/>
                <a:ea typeface="Courier New"/>
                <a:cs typeface="Courier New"/>
              </a:rPr>
              <a:t>, </a:t>
            </a:r>
            <a:r>
              <a:rPr lang="en" sz="1450">
                <a:solidFill>
                  <a:srgbClr val="001080"/>
                </a:solidFill>
                <a:highlight>
                  <a:srgbClr val="FFFFFE"/>
                </a:highlight>
                <a:latin typeface="Courier New"/>
                <a:ea typeface="Courier New"/>
                <a:cs typeface="Courier New"/>
              </a:rPr>
              <a:t>length</a:t>
            </a:r>
            <a:r>
              <a:rPr lang="en" sz="1450">
                <a:solidFill>
                  <a:schemeClr val="dk1"/>
                </a:solidFill>
                <a:highlight>
                  <a:srgbClr val="FFFFFE"/>
                </a:highlight>
                <a:latin typeface="Courier New"/>
                <a:ea typeface="Courier New"/>
                <a:cs typeface="Courier New"/>
              </a:rPr>
              <a:t>, </a:t>
            </a:r>
            <a:r>
              <a:rPr lang="en" sz="1450">
                <a:solidFill>
                  <a:srgbClr val="001080"/>
                </a:solidFill>
                <a:highlight>
                  <a:srgbClr val="FFFFFE"/>
                </a:highlight>
                <a:latin typeface="Courier New"/>
                <a:ea typeface="Courier New"/>
                <a:cs typeface="Courier New"/>
              </a:rPr>
              <a:t>breadth</a:t>
            </a:r>
            <a:r>
              <a:rPr lang="en" sz="1450">
                <a:solidFill>
                  <a:schemeClr val="dk1"/>
                </a:solidFill>
                <a:highlight>
                  <a:srgbClr val="FFFFFE"/>
                </a:highlight>
                <a:latin typeface="Courier New"/>
                <a:ea typeface="Courier New"/>
                <a:cs typeface="Courier New"/>
              </a:rPr>
              <a:t>):</a:t>
            </a:r>
            <a:endParaRPr sz="1450">
              <a:solidFill>
                <a:schemeClr val="dk1"/>
              </a:solidFill>
              <a:highlight>
                <a:srgbClr val="FFFFFE"/>
              </a:highlight>
              <a:latin typeface="Courier New"/>
              <a:ea typeface="Courier New"/>
              <a:cs typeface="Courier New"/>
            </a:endParaRPr>
          </a:p>
          <a:p>
            <a:pPr marL="0" lvl="0" indent="0" algn="l">
              <a:lnSpc>
                <a:spcPct val="135714"/>
              </a:lnSpc>
              <a:spcBef>
                <a:spcPts val="0"/>
              </a:spcBef>
              <a:spcAft>
                <a:spcPts val="0"/>
              </a:spcAft>
              <a:buNone/>
              <a:defRPr/>
            </a:pPr>
            <a:r>
              <a:rPr lang="en" sz="1450">
                <a:solidFill>
                  <a:schemeClr val="dk1"/>
                </a:solidFill>
                <a:highlight>
                  <a:srgbClr val="FFFFFE"/>
                </a:highlight>
                <a:latin typeface="Courier New"/>
                <a:ea typeface="Courier New"/>
                <a:cs typeface="Courier New"/>
              </a:rPr>
              <a:t>       </a:t>
            </a:r>
            <a:r>
              <a:rPr lang="en" sz="1450">
                <a:solidFill>
                  <a:srgbClr val="001080"/>
                </a:solidFill>
                <a:highlight>
                  <a:srgbClr val="FFFFFE"/>
                </a:highlight>
                <a:latin typeface="Courier New"/>
                <a:ea typeface="Courier New"/>
                <a:cs typeface="Courier New"/>
              </a:rPr>
              <a:t>self</a:t>
            </a:r>
            <a:r>
              <a:rPr lang="en" sz="1450">
                <a:solidFill>
                  <a:schemeClr val="dk1"/>
                </a:solidFill>
                <a:highlight>
                  <a:srgbClr val="FFFFFE"/>
                </a:highlight>
                <a:latin typeface="Courier New"/>
                <a:ea typeface="Courier New"/>
                <a:cs typeface="Courier New"/>
              </a:rPr>
              <a:t>.length = length</a:t>
            </a:r>
            <a:endParaRPr sz="1450">
              <a:solidFill>
                <a:schemeClr val="dk1"/>
              </a:solidFill>
              <a:highlight>
                <a:srgbClr val="FFFFFE"/>
              </a:highlight>
              <a:latin typeface="Courier New"/>
              <a:ea typeface="Courier New"/>
              <a:cs typeface="Courier New"/>
            </a:endParaRPr>
          </a:p>
          <a:p>
            <a:pPr marL="0" lvl="0" indent="0" algn="l">
              <a:lnSpc>
                <a:spcPct val="135714"/>
              </a:lnSpc>
              <a:spcBef>
                <a:spcPts val="0"/>
              </a:spcBef>
              <a:spcAft>
                <a:spcPts val="0"/>
              </a:spcAft>
              <a:buNone/>
              <a:defRPr/>
            </a:pPr>
            <a:r>
              <a:rPr lang="en" sz="1450">
                <a:solidFill>
                  <a:schemeClr val="dk1"/>
                </a:solidFill>
                <a:highlight>
                  <a:srgbClr val="FFFFFE"/>
                </a:highlight>
                <a:latin typeface="Courier New"/>
                <a:ea typeface="Courier New"/>
                <a:cs typeface="Courier New"/>
              </a:rPr>
              <a:t>       </a:t>
            </a:r>
            <a:r>
              <a:rPr lang="en" sz="1450">
                <a:solidFill>
                  <a:srgbClr val="001080"/>
                </a:solidFill>
                <a:highlight>
                  <a:srgbClr val="FFFFFE"/>
                </a:highlight>
                <a:latin typeface="Courier New"/>
                <a:ea typeface="Courier New"/>
                <a:cs typeface="Courier New"/>
              </a:rPr>
              <a:t>self</a:t>
            </a:r>
            <a:r>
              <a:rPr lang="en" sz="1450">
                <a:solidFill>
                  <a:schemeClr val="dk1"/>
                </a:solidFill>
                <a:highlight>
                  <a:srgbClr val="FFFFFE"/>
                </a:highlight>
                <a:latin typeface="Courier New"/>
                <a:ea typeface="Courier New"/>
                <a:cs typeface="Courier New"/>
              </a:rPr>
              <a:t>.breadth = breadth</a:t>
            </a:r>
            <a:endParaRPr sz="1450">
              <a:solidFill>
                <a:schemeClr val="dk1"/>
              </a:solidFill>
              <a:highlight>
                <a:srgbClr val="FFFFFE"/>
              </a:highlight>
              <a:latin typeface="Courier New"/>
              <a:ea typeface="Courier New"/>
              <a:cs typeface="Courier New"/>
            </a:endParaRPr>
          </a:p>
          <a:p>
            <a:pPr marL="0" lvl="0" indent="0" algn="l">
              <a:lnSpc>
                <a:spcPct val="135714"/>
              </a:lnSpc>
              <a:spcBef>
                <a:spcPts val="0"/>
              </a:spcBef>
              <a:spcAft>
                <a:spcPts val="0"/>
              </a:spcAft>
              <a:buNone/>
              <a:defRPr/>
            </a:pPr>
            <a:endParaRPr sz="1450">
              <a:solidFill>
                <a:schemeClr val="dk1"/>
              </a:solidFill>
              <a:highlight>
                <a:srgbClr val="FFFFFE"/>
              </a:highlight>
              <a:latin typeface="Courier New"/>
              <a:ea typeface="Courier New"/>
              <a:cs typeface="Courier New"/>
            </a:endParaRPr>
          </a:p>
          <a:p>
            <a:pPr marL="0" lvl="0" indent="0" algn="l">
              <a:lnSpc>
                <a:spcPct val="135714"/>
              </a:lnSpc>
              <a:spcBef>
                <a:spcPts val="0"/>
              </a:spcBef>
              <a:spcAft>
                <a:spcPts val="0"/>
              </a:spcAft>
              <a:buNone/>
              <a:defRPr/>
            </a:pPr>
            <a:r>
              <a:rPr lang="en" sz="1450">
                <a:solidFill>
                  <a:schemeClr val="dk1"/>
                </a:solidFill>
                <a:highlight>
                  <a:srgbClr val="FFFFFE"/>
                </a:highlight>
                <a:latin typeface="Courier New"/>
                <a:ea typeface="Courier New"/>
                <a:cs typeface="Courier New"/>
              </a:rPr>
              <a:t>   </a:t>
            </a:r>
            <a:r>
              <a:rPr lang="en" sz="1450">
                <a:solidFill>
                  <a:srgbClr val="0000FF"/>
                </a:solidFill>
                <a:highlight>
                  <a:srgbClr val="FFFFFE"/>
                </a:highlight>
                <a:latin typeface="Courier New"/>
                <a:ea typeface="Courier New"/>
                <a:cs typeface="Courier New"/>
              </a:rPr>
              <a:t>def</a:t>
            </a:r>
            <a:r>
              <a:rPr lang="en" sz="1450">
                <a:solidFill>
                  <a:schemeClr val="dk1"/>
                </a:solidFill>
                <a:highlight>
                  <a:srgbClr val="FFFFFE"/>
                </a:highlight>
                <a:latin typeface="Courier New"/>
                <a:ea typeface="Courier New"/>
                <a:cs typeface="Courier New"/>
              </a:rPr>
              <a:t> </a:t>
            </a:r>
            <a:r>
              <a:rPr lang="en" sz="1450">
                <a:solidFill>
                  <a:srgbClr val="795E26"/>
                </a:solidFill>
                <a:highlight>
                  <a:srgbClr val="FFFFFE"/>
                </a:highlight>
                <a:latin typeface="Courier New"/>
                <a:ea typeface="Courier New"/>
                <a:cs typeface="Courier New"/>
              </a:rPr>
              <a:t>calculate_area</a:t>
            </a:r>
            <a:r>
              <a:rPr lang="en" sz="1450">
                <a:solidFill>
                  <a:schemeClr val="dk1"/>
                </a:solidFill>
                <a:highlight>
                  <a:srgbClr val="FFFFFE"/>
                </a:highlight>
                <a:latin typeface="Courier New"/>
                <a:ea typeface="Courier New"/>
                <a:cs typeface="Courier New"/>
              </a:rPr>
              <a:t>(</a:t>
            </a:r>
            <a:r>
              <a:rPr lang="en" sz="1450">
                <a:solidFill>
                  <a:srgbClr val="001080"/>
                </a:solidFill>
                <a:highlight>
                  <a:srgbClr val="FFFFFE"/>
                </a:highlight>
                <a:latin typeface="Courier New"/>
                <a:ea typeface="Courier New"/>
                <a:cs typeface="Courier New"/>
              </a:rPr>
              <a:t>self</a:t>
            </a:r>
            <a:r>
              <a:rPr lang="en" sz="1450">
                <a:solidFill>
                  <a:schemeClr val="dk1"/>
                </a:solidFill>
                <a:highlight>
                  <a:srgbClr val="FFFFFE"/>
                </a:highlight>
                <a:latin typeface="Courier New"/>
                <a:ea typeface="Courier New"/>
                <a:cs typeface="Courier New"/>
              </a:rPr>
              <a:t>):</a:t>
            </a:r>
            <a:endParaRPr sz="1450">
              <a:solidFill>
                <a:schemeClr val="dk1"/>
              </a:solidFill>
              <a:highlight>
                <a:srgbClr val="FFFFFE"/>
              </a:highlight>
              <a:latin typeface="Courier New"/>
              <a:ea typeface="Courier New"/>
              <a:cs typeface="Courier New"/>
            </a:endParaRPr>
          </a:p>
          <a:p>
            <a:pPr marL="0" lvl="0" indent="0" algn="l">
              <a:lnSpc>
                <a:spcPct val="135714"/>
              </a:lnSpc>
              <a:spcBef>
                <a:spcPts val="0"/>
              </a:spcBef>
              <a:spcAft>
                <a:spcPts val="0"/>
              </a:spcAft>
              <a:buNone/>
              <a:defRPr/>
            </a:pPr>
            <a:r>
              <a:rPr lang="en" sz="1450">
                <a:solidFill>
                  <a:schemeClr val="dk1"/>
                </a:solidFill>
                <a:highlight>
                  <a:srgbClr val="FFFFFE"/>
                </a:highlight>
                <a:latin typeface="Courier New"/>
                <a:ea typeface="Courier New"/>
                <a:cs typeface="Courier New"/>
              </a:rPr>
              <a:t>       </a:t>
            </a:r>
            <a:r>
              <a:rPr lang="en" sz="1450">
                <a:solidFill>
                  <a:srgbClr val="AF00DB"/>
                </a:solidFill>
                <a:highlight>
                  <a:srgbClr val="FFFFFE"/>
                </a:highlight>
                <a:latin typeface="Courier New"/>
                <a:ea typeface="Courier New"/>
                <a:cs typeface="Courier New"/>
              </a:rPr>
              <a:t>return</a:t>
            </a:r>
            <a:r>
              <a:rPr lang="en" sz="1450">
                <a:solidFill>
                  <a:schemeClr val="dk1"/>
                </a:solidFill>
                <a:highlight>
                  <a:srgbClr val="FFFFFE"/>
                </a:highlight>
                <a:latin typeface="Courier New"/>
                <a:ea typeface="Courier New"/>
                <a:cs typeface="Courier New"/>
              </a:rPr>
              <a:t> </a:t>
            </a:r>
            <a:r>
              <a:rPr lang="en" sz="1450">
                <a:solidFill>
                  <a:srgbClr val="001080"/>
                </a:solidFill>
                <a:highlight>
                  <a:srgbClr val="FFFFFE"/>
                </a:highlight>
                <a:latin typeface="Courier New"/>
                <a:ea typeface="Courier New"/>
                <a:cs typeface="Courier New"/>
              </a:rPr>
              <a:t>self</a:t>
            </a:r>
            <a:r>
              <a:rPr lang="en" sz="1450">
                <a:solidFill>
                  <a:schemeClr val="dk1"/>
                </a:solidFill>
                <a:highlight>
                  <a:srgbClr val="FFFFFE"/>
                </a:highlight>
                <a:latin typeface="Courier New"/>
                <a:ea typeface="Courier New"/>
                <a:cs typeface="Courier New"/>
              </a:rPr>
              <a:t>.length * </a:t>
            </a:r>
            <a:r>
              <a:rPr lang="en" sz="1450">
                <a:solidFill>
                  <a:srgbClr val="001080"/>
                </a:solidFill>
                <a:highlight>
                  <a:srgbClr val="FFFFFE"/>
                </a:highlight>
                <a:latin typeface="Courier New"/>
                <a:ea typeface="Courier New"/>
                <a:cs typeface="Courier New"/>
              </a:rPr>
              <a:t>self</a:t>
            </a:r>
            <a:r>
              <a:rPr lang="en" sz="1450">
                <a:solidFill>
                  <a:schemeClr val="dk1"/>
                </a:solidFill>
                <a:highlight>
                  <a:srgbClr val="FFFFFE"/>
                </a:highlight>
                <a:latin typeface="Courier New"/>
                <a:ea typeface="Courier New"/>
                <a:cs typeface="Courier New"/>
              </a:rPr>
              <a:t>.breadth</a:t>
            </a:r>
            <a:endParaRPr sz="1450">
              <a:solidFill>
                <a:schemeClr val="dk1"/>
              </a:solidFill>
              <a:highlight>
                <a:srgbClr val="FFFFFE"/>
              </a:highlight>
              <a:latin typeface="Courier New"/>
              <a:ea typeface="Courier New"/>
              <a:cs typeface="Courier New"/>
            </a:endParaRPr>
          </a:p>
          <a:p>
            <a:pPr marL="0" lvl="0" indent="0" algn="l">
              <a:spcBef>
                <a:spcPts val="0"/>
              </a:spcBef>
              <a:spcAft>
                <a:spcPts val="1600"/>
              </a:spcAft>
              <a:buNone/>
              <a:defRPr/>
            </a:pPr>
            <a:endParaRPr sz="2200"/>
          </a:p>
        </p:txBody>
      </p:sp>
      <p:sp>
        <p:nvSpPr>
          <p:cNvPr id="216" name="Google Shape;216;p32"/>
          <p:cNvSpPr txBox="1"/>
          <p:nvPr>
            <p:ph type="title"/>
          </p:nvPr>
        </p:nvSpPr>
        <p:spPr bwMode="auto">
          <a:xfrm>
            <a:off x="311700" y="286500"/>
            <a:ext cx="8520600" cy="5727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defRPr/>
            </a:pPr>
            <a:r>
              <a:rPr lang="en"/>
              <a:t>Class Definition Example</a:t>
            </a:r>
            <a:endParaRPr/>
          </a:p>
        </p:txBody>
      </p:sp>
      <p:sp>
        <p:nvSpPr>
          <p:cNvPr id="217" name="Google Shape;217;p32"/>
          <p:cNvSpPr/>
          <p:nvPr/>
        </p:nvSpPr>
        <p:spPr bwMode="auto">
          <a:xfrm>
            <a:off x="145525" y="1809575"/>
            <a:ext cx="2190600" cy="1571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latin typeface="Montserrat"/>
              <a:ea typeface="Montserrat"/>
              <a:cs typeface="Montserrat"/>
            </a:endParaRPr>
          </a:p>
        </p:txBody>
      </p:sp>
      <p:sp>
        <p:nvSpPr>
          <p:cNvPr id="218" name="Google Shape;218;p32"/>
          <p:cNvSpPr/>
          <p:nvPr/>
        </p:nvSpPr>
        <p:spPr bwMode="auto">
          <a:xfrm>
            <a:off x="145525" y="2273950"/>
            <a:ext cx="2190600" cy="679500"/>
          </a:xfrm>
          <a:prstGeom prst="rect">
            <a:avLst/>
          </a:prstGeom>
          <a:noFill/>
          <a:ln w="9525" cap="flat" cmpd="sng">
            <a:solidFill>
              <a:schemeClr val="dk2"/>
            </a:solidFill>
            <a:prstDash val="solid"/>
            <a:round/>
            <a:headEnd type="none" w="sm" len="sm"/>
            <a:tailEnd type="none" w="sm" len="sm"/>
          </a:ln>
        </p:spPr>
        <p:txBody>
          <a:bodyPr spcFirstLastPara="1" wrap="square" lIns="91425" tIns="182875" rIns="91425" bIns="91425" anchor="ctr" anchorCtr="0">
            <a:noAutofit/>
          </a:bodyPr>
          <a:lstStyle/>
          <a:p>
            <a:pPr marL="0" lvl="0" indent="0" algn="l">
              <a:lnSpc>
                <a:spcPct val="150000"/>
              </a:lnSpc>
              <a:spcBef>
                <a:spcPts val="0"/>
              </a:spcBef>
              <a:spcAft>
                <a:spcPts val="0"/>
              </a:spcAft>
              <a:buNone/>
              <a:defRPr/>
            </a:pPr>
            <a:r>
              <a:rPr lang="en">
                <a:latin typeface="Montserrat"/>
                <a:ea typeface="Montserrat"/>
                <a:cs typeface="Montserrat"/>
              </a:rPr>
              <a:t>Length</a:t>
            </a:r>
            <a:endParaRPr>
              <a:latin typeface="Montserrat"/>
              <a:ea typeface="Montserrat"/>
              <a:cs typeface="Montserrat"/>
            </a:endParaRPr>
          </a:p>
          <a:p>
            <a:pPr marL="0" lvl="0" indent="0" algn="l">
              <a:lnSpc>
                <a:spcPct val="150000"/>
              </a:lnSpc>
              <a:spcBef>
                <a:spcPts val="0"/>
              </a:spcBef>
              <a:spcAft>
                <a:spcPts val="0"/>
              </a:spcAft>
              <a:buNone/>
              <a:defRPr/>
            </a:pPr>
            <a:r>
              <a:rPr lang="en">
                <a:latin typeface="Montserrat"/>
                <a:ea typeface="Montserrat"/>
                <a:cs typeface="Montserrat"/>
              </a:rPr>
              <a:t>Breadth</a:t>
            </a:r>
            <a:endParaRPr>
              <a:latin typeface="Montserrat"/>
              <a:ea typeface="Montserrat"/>
              <a:cs typeface="Montserrat"/>
            </a:endParaRPr>
          </a:p>
        </p:txBody>
      </p:sp>
      <p:sp>
        <p:nvSpPr>
          <p:cNvPr id="219" name="Google Shape;219;p32"/>
          <p:cNvSpPr txBox="1"/>
          <p:nvPr/>
        </p:nvSpPr>
        <p:spPr bwMode="auto">
          <a:xfrm>
            <a:off x="145630" y="1858150"/>
            <a:ext cx="2190600" cy="400200"/>
          </a:xfrm>
          <a:prstGeom prst="rect">
            <a:avLst/>
          </a:prstGeom>
          <a:noFill/>
          <a:ln>
            <a:noFill/>
          </a:ln>
        </p:spPr>
        <p:txBody>
          <a:bodyPr spcFirstLastPara="1" wrap="square" lIns="91425" tIns="91425" rIns="91425" bIns="91425" anchor="t" anchorCtr="0">
            <a:spAutoFit/>
          </a:bodyPr>
          <a:lstStyle/>
          <a:p>
            <a:pPr marL="0" lvl="0" indent="0" algn="ctr">
              <a:spcBef>
                <a:spcPts val="0"/>
              </a:spcBef>
              <a:spcAft>
                <a:spcPts val="0"/>
              </a:spcAft>
              <a:buNone/>
              <a:defRPr/>
            </a:pPr>
            <a:r>
              <a:rPr lang="en">
                <a:latin typeface="Montserrat"/>
                <a:ea typeface="Montserrat"/>
                <a:cs typeface="Montserrat"/>
              </a:rPr>
              <a:t>Rectangle</a:t>
            </a:r>
            <a:endParaRPr>
              <a:latin typeface="Montserrat"/>
              <a:ea typeface="Montserrat"/>
              <a:cs typeface="Montserrat"/>
            </a:endParaRPr>
          </a:p>
        </p:txBody>
      </p:sp>
      <p:sp>
        <p:nvSpPr>
          <p:cNvPr id="220" name="Google Shape;220;p32"/>
          <p:cNvSpPr/>
          <p:nvPr/>
        </p:nvSpPr>
        <p:spPr bwMode="auto">
          <a:xfrm>
            <a:off x="145525" y="2954165"/>
            <a:ext cx="2190600" cy="512100"/>
          </a:xfrm>
          <a:prstGeom prst="rect">
            <a:avLst/>
          </a:prstGeom>
          <a:noFill/>
          <a:ln>
            <a:noFill/>
          </a:ln>
        </p:spPr>
        <p:txBody>
          <a:bodyPr spcFirstLastPara="1" wrap="square" lIns="91425" tIns="91425" rIns="91425" bIns="91425" anchor="ctr" anchorCtr="0">
            <a:noAutofit/>
          </a:bodyPr>
          <a:lstStyle/>
          <a:p>
            <a:pPr marL="0" lvl="0" indent="0" algn="l">
              <a:lnSpc>
                <a:spcPct val="150000"/>
              </a:lnSpc>
              <a:spcBef>
                <a:spcPts val="0"/>
              </a:spcBef>
              <a:spcAft>
                <a:spcPts val="0"/>
              </a:spcAft>
              <a:buNone/>
              <a:defRPr/>
            </a:pPr>
            <a:r>
              <a:rPr lang="en">
                <a:latin typeface="Montserrat"/>
                <a:ea typeface="Montserrat"/>
                <a:cs typeface="Montserrat"/>
              </a:rPr>
              <a:t>Calculate Area</a:t>
            </a:r>
            <a:endParaRPr>
              <a:latin typeface="Montserrat"/>
              <a:ea typeface="Montserrat"/>
              <a:cs typeface="Montserrat"/>
            </a:endParaRPr>
          </a:p>
        </p:txBody>
      </p:sp>
      <p:grpSp>
        <p:nvGrpSpPr>
          <p:cNvPr id="221" name="Google Shape;221;p32"/>
          <p:cNvGrpSpPr/>
          <p:nvPr/>
        </p:nvGrpSpPr>
        <p:grpSpPr bwMode="auto">
          <a:xfrm>
            <a:off x="1239275" y="1008302"/>
            <a:ext cx="4528521" cy="972592"/>
            <a:chOff x="1239275" y="1236902"/>
            <a:chExt cx="4528521" cy="972592"/>
          </a:xfrm>
        </p:grpSpPr>
        <p:sp>
          <p:nvSpPr>
            <p:cNvPr id="222" name="Google Shape;222;p32"/>
            <p:cNvSpPr/>
            <p:nvPr/>
          </p:nvSpPr>
          <p:spPr bwMode="auto">
            <a:xfrm flipH="1">
              <a:off x="1239275" y="1465469"/>
              <a:ext cx="1263123" cy="744025"/>
            </a:xfrm>
            <a:custGeom>
              <a:avLst/>
              <a:gdLst/>
              <a:ahLst/>
              <a:cxnLst/>
              <a:rect l="l" t="t" r="r" b="b"/>
              <a:pathLst>
                <a:path w="29962" h="9488" fill="norm" stroke="1" extrusionOk="0">
                  <a:moveTo>
                    <a:pt x="0" y="0"/>
                  </a:moveTo>
                  <a:lnTo>
                    <a:pt x="29962" y="0"/>
                  </a:lnTo>
                  <a:lnTo>
                    <a:pt x="29962" y="9488"/>
                  </a:lnTo>
                </a:path>
              </a:pathLst>
            </a:custGeom>
            <a:noFill/>
            <a:ln w="19050" cap="flat" cmpd="sng">
              <a:solidFill>
                <a:schemeClr val="dk2"/>
              </a:solidFill>
              <a:prstDash val="solid"/>
              <a:round/>
              <a:headEnd type="none" w="med" len="med"/>
              <a:tailEnd type="oval" w="med" len="med"/>
            </a:ln>
          </p:spPr>
        </p:sp>
        <p:sp>
          <p:nvSpPr>
            <p:cNvPr id="223" name="Google Shape;223;p32"/>
            <p:cNvSpPr txBox="1"/>
            <p:nvPr/>
          </p:nvSpPr>
          <p:spPr bwMode="auto">
            <a:xfrm>
              <a:off x="2478375" y="1236902"/>
              <a:ext cx="2034000" cy="400200"/>
            </a:xfrm>
            <a:prstGeom prst="rect">
              <a:avLst/>
            </a:prstGeom>
            <a:noFill/>
            <a:ln>
              <a:noFill/>
            </a:ln>
          </p:spPr>
          <p:txBody>
            <a:bodyPr spcFirstLastPara="1" wrap="square" lIns="91425" tIns="91425" rIns="91425" bIns="91425" anchor="t" anchorCtr="0">
              <a:spAutoFit/>
            </a:bodyPr>
            <a:lstStyle/>
            <a:p>
              <a:pPr marL="0" lvl="0" indent="0" algn="l">
                <a:spcBef>
                  <a:spcPts val="0"/>
                </a:spcBef>
                <a:spcAft>
                  <a:spcPts val="0"/>
                </a:spcAft>
                <a:buNone/>
                <a:defRPr/>
              </a:pPr>
              <a:r>
                <a:rPr lang="en" b="1">
                  <a:latin typeface="Montserrat"/>
                  <a:ea typeface="Montserrat"/>
                  <a:cs typeface="Montserrat"/>
                </a:rPr>
                <a:t>Class Name</a:t>
              </a:r>
              <a:endParaRPr b="1">
                <a:latin typeface="Montserrat"/>
                <a:ea typeface="Montserrat"/>
                <a:cs typeface="Montserrat"/>
              </a:endParaRPr>
            </a:p>
          </p:txBody>
        </p:sp>
        <p:sp>
          <p:nvSpPr>
            <p:cNvPr id="224" name="Google Shape;224;p32"/>
            <p:cNvSpPr/>
            <p:nvPr/>
          </p:nvSpPr>
          <p:spPr bwMode="auto">
            <a:xfrm>
              <a:off x="3733825" y="1465475"/>
              <a:ext cx="2033970" cy="383481"/>
            </a:xfrm>
            <a:custGeom>
              <a:avLst/>
              <a:gdLst/>
              <a:ahLst/>
              <a:cxnLst/>
              <a:rect l="l" t="t" r="r" b="b"/>
              <a:pathLst>
                <a:path w="29962" h="9488" fill="norm" stroke="1" extrusionOk="0">
                  <a:moveTo>
                    <a:pt x="0" y="0"/>
                  </a:moveTo>
                  <a:lnTo>
                    <a:pt x="29962" y="0"/>
                  </a:lnTo>
                  <a:lnTo>
                    <a:pt x="29962" y="9488"/>
                  </a:lnTo>
                </a:path>
              </a:pathLst>
            </a:custGeom>
            <a:noFill/>
            <a:ln w="19050" cap="flat" cmpd="sng">
              <a:solidFill>
                <a:schemeClr val="dk2"/>
              </a:solidFill>
              <a:prstDash val="solid"/>
              <a:round/>
              <a:headEnd type="none" w="med" len="med"/>
              <a:tailEnd type="oval" w="med" len="med"/>
            </a:ln>
          </p:spPr>
        </p:sp>
      </p:grpSp>
      <p:grpSp>
        <p:nvGrpSpPr>
          <p:cNvPr id="225" name="Google Shape;225;p32"/>
          <p:cNvGrpSpPr/>
          <p:nvPr/>
        </p:nvGrpSpPr>
        <p:grpSpPr bwMode="auto">
          <a:xfrm>
            <a:off x="1921824" y="2469050"/>
            <a:ext cx="4323212" cy="400200"/>
            <a:chOff x="1921824" y="2697650"/>
            <a:chExt cx="4323212" cy="400200"/>
          </a:xfrm>
        </p:grpSpPr>
        <p:cxnSp>
          <p:nvCxnSpPr>
            <p:cNvPr id="226" name="Google Shape;226;p32"/>
            <p:cNvCxnSpPr/>
            <p:nvPr/>
          </p:nvCxnSpPr>
          <p:spPr bwMode="auto">
            <a:xfrm>
              <a:off x="1921824" y="2904636"/>
              <a:ext cx="1156800" cy="0"/>
            </a:xfrm>
            <a:prstGeom prst="straightConnector1">
              <a:avLst/>
            </a:prstGeom>
            <a:noFill/>
            <a:ln w="19050" cap="flat" cmpd="sng">
              <a:solidFill>
                <a:schemeClr val="dk2"/>
              </a:solidFill>
              <a:prstDash val="solid"/>
              <a:round/>
              <a:headEnd type="oval" w="med" len="med"/>
              <a:tailEnd type="none" w="med" len="med"/>
            </a:ln>
          </p:spPr>
        </p:cxnSp>
        <p:sp>
          <p:nvSpPr>
            <p:cNvPr id="227" name="Google Shape;227;p32"/>
            <p:cNvSpPr txBox="1"/>
            <p:nvPr/>
          </p:nvSpPr>
          <p:spPr bwMode="auto">
            <a:xfrm>
              <a:off x="3072101" y="2697650"/>
              <a:ext cx="1156800" cy="400200"/>
            </a:xfrm>
            <a:prstGeom prst="rect">
              <a:avLst/>
            </a:prstGeom>
            <a:noFill/>
            <a:ln>
              <a:noFill/>
            </a:ln>
          </p:spPr>
          <p:txBody>
            <a:bodyPr spcFirstLastPara="1" wrap="square" lIns="91425" tIns="91425" rIns="91425" bIns="91425" anchor="t" anchorCtr="0">
              <a:spAutoFit/>
            </a:bodyPr>
            <a:lstStyle/>
            <a:p>
              <a:pPr marL="0" lvl="0" indent="0" algn="l">
                <a:spcBef>
                  <a:spcPts val="0"/>
                </a:spcBef>
                <a:spcAft>
                  <a:spcPts val="0"/>
                </a:spcAft>
                <a:buNone/>
                <a:defRPr/>
              </a:pPr>
              <a:r>
                <a:rPr lang="en" b="1">
                  <a:latin typeface="Montserrat"/>
                  <a:ea typeface="Montserrat"/>
                  <a:cs typeface="Montserrat"/>
                </a:rPr>
                <a:t>Attributes</a:t>
              </a:r>
              <a:endParaRPr b="1">
                <a:latin typeface="Montserrat"/>
                <a:ea typeface="Montserrat"/>
                <a:cs typeface="Montserrat"/>
              </a:endParaRPr>
            </a:p>
          </p:txBody>
        </p:sp>
        <p:sp>
          <p:nvSpPr>
            <p:cNvPr id="228" name="Google Shape;228;p32"/>
            <p:cNvSpPr/>
            <p:nvPr/>
          </p:nvSpPr>
          <p:spPr bwMode="auto">
            <a:xfrm rot="5400000">
              <a:off x="5143233" y="1694183"/>
              <a:ext cx="83894" cy="2119714"/>
            </a:xfrm>
            <a:custGeom>
              <a:avLst/>
              <a:gdLst/>
              <a:ahLst/>
              <a:cxnLst/>
              <a:rect l="l" t="t" r="r" b="b"/>
              <a:pathLst>
                <a:path w="29962" h="9488" fill="norm" stroke="1" extrusionOk="0">
                  <a:moveTo>
                    <a:pt x="0" y="0"/>
                  </a:moveTo>
                  <a:lnTo>
                    <a:pt x="29962" y="0"/>
                  </a:lnTo>
                  <a:lnTo>
                    <a:pt x="29962" y="9488"/>
                  </a:lnTo>
                </a:path>
              </a:pathLst>
            </a:custGeom>
            <a:noFill/>
            <a:ln w="19050" cap="flat" cmpd="sng">
              <a:solidFill>
                <a:schemeClr val="dk2"/>
              </a:solidFill>
              <a:prstDash val="solid"/>
              <a:round/>
              <a:headEnd type="oval" w="med" len="med"/>
              <a:tailEnd type="none" w="med" len="med"/>
            </a:ln>
          </p:spPr>
        </p:sp>
        <p:sp>
          <p:nvSpPr>
            <p:cNvPr id="229" name="Google Shape;229;p32"/>
            <p:cNvSpPr/>
            <p:nvPr/>
          </p:nvSpPr>
          <p:spPr bwMode="auto">
            <a:xfrm rot="5400000">
              <a:off x="5143233" y="1960235"/>
              <a:ext cx="83894" cy="2119714"/>
            </a:xfrm>
            <a:custGeom>
              <a:avLst/>
              <a:gdLst/>
              <a:ahLst/>
              <a:cxnLst/>
              <a:rect l="l" t="t" r="r" b="b"/>
              <a:pathLst>
                <a:path w="29962" h="9488" fill="norm" stroke="1" extrusionOk="0">
                  <a:moveTo>
                    <a:pt x="0" y="0"/>
                  </a:moveTo>
                  <a:lnTo>
                    <a:pt x="29962" y="0"/>
                  </a:lnTo>
                  <a:lnTo>
                    <a:pt x="29962" y="9488"/>
                  </a:lnTo>
                </a:path>
              </a:pathLst>
            </a:custGeom>
            <a:noFill/>
            <a:ln w="19050" cap="flat" cmpd="sng">
              <a:solidFill>
                <a:schemeClr val="dk2"/>
              </a:solidFill>
              <a:prstDash val="solid"/>
              <a:round/>
              <a:headEnd type="oval" w="med" len="med"/>
              <a:tailEnd type="none" w="med" len="med"/>
            </a:ln>
          </p:spPr>
        </p:sp>
      </p:grpSp>
      <p:grpSp>
        <p:nvGrpSpPr>
          <p:cNvPr id="230" name="Google Shape;230;p32"/>
          <p:cNvGrpSpPr/>
          <p:nvPr/>
        </p:nvGrpSpPr>
        <p:grpSpPr bwMode="auto">
          <a:xfrm>
            <a:off x="1921824" y="2966375"/>
            <a:ext cx="2944405" cy="465075"/>
            <a:chOff x="1921824" y="3194975"/>
            <a:chExt cx="2944405" cy="465075"/>
          </a:xfrm>
        </p:grpSpPr>
        <p:cxnSp>
          <p:nvCxnSpPr>
            <p:cNvPr id="231" name="Google Shape;231;p32"/>
            <p:cNvCxnSpPr/>
            <p:nvPr/>
          </p:nvCxnSpPr>
          <p:spPr bwMode="auto">
            <a:xfrm>
              <a:off x="1921824" y="3375700"/>
              <a:ext cx="1156800" cy="0"/>
            </a:xfrm>
            <a:prstGeom prst="straightConnector1">
              <a:avLst/>
            </a:prstGeom>
            <a:noFill/>
            <a:ln w="19050" cap="flat" cmpd="sng">
              <a:solidFill>
                <a:schemeClr val="dk2"/>
              </a:solidFill>
              <a:prstDash val="solid"/>
              <a:round/>
              <a:headEnd type="oval" w="med" len="med"/>
              <a:tailEnd type="none" w="med" len="med"/>
            </a:ln>
          </p:spPr>
        </p:cxnSp>
        <p:sp>
          <p:nvSpPr>
            <p:cNvPr id="232" name="Google Shape;232;p32"/>
            <p:cNvSpPr txBox="1"/>
            <p:nvPr/>
          </p:nvSpPr>
          <p:spPr bwMode="auto">
            <a:xfrm>
              <a:off x="3072114" y="3194975"/>
              <a:ext cx="1315500" cy="400200"/>
            </a:xfrm>
            <a:prstGeom prst="rect">
              <a:avLst/>
            </a:prstGeom>
            <a:noFill/>
            <a:ln>
              <a:noFill/>
            </a:ln>
          </p:spPr>
          <p:txBody>
            <a:bodyPr spcFirstLastPara="1" wrap="square" lIns="91425" tIns="91425" rIns="91425" bIns="91425" anchor="t" anchorCtr="0">
              <a:spAutoFit/>
            </a:bodyPr>
            <a:lstStyle/>
            <a:p>
              <a:pPr marL="0" lvl="0" indent="0" algn="l">
                <a:spcBef>
                  <a:spcPts val="0"/>
                </a:spcBef>
                <a:spcAft>
                  <a:spcPts val="0"/>
                </a:spcAft>
                <a:buNone/>
                <a:defRPr/>
              </a:pPr>
              <a:r>
                <a:rPr lang="en" b="1">
                  <a:latin typeface="Montserrat"/>
                  <a:ea typeface="Montserrat"/>
                  <a:cs typeface="Montserrat"/>
                </a:rPr>
                <a:t>Method</a:t>
              </a:r>
              <a:endParaRPr b="1">
                <a:latin typeface="Montserrat"/>
                <a:ea typeface="Montserrat"/>
                <a:cs typeface="Montserrat"/>
              </a:endParaRPr>
            </a:p>
          </p:txBody>
        </p:sp>
        <p:sp>
          <p:nvSpPr>
            <p:cNvPr id="233" name="Google Shape;233;p32"/>
            <p:cNvSpPr/>
            <p:nvPr/>
          </p:nvSpPr>
          <p:spPr bwMode="auto">
            <a:xfrm rot="-5400000" flipH="1">
              <a:off x="4108029" y="2901849"/>
              <a:ext cx="179922" cy="1336480"/>
            </a:xfrm>
            <a:custGeom>
              <a:avLst/>
              <a:gdLst/>
              <a:ahLst/>
              <a:cxnLst/>
              <a:rect l="l" t="t" r="r" b="b"/>
              <a:pathLst>
                <a:path w="29962" h="9488" fill="norm" stroke="1" extrusionOk="0">
                  <a:moveTo>
                    <a:pt x="0" y="0"/>
                  </a:moveTo>
                  <a:lnTo>
                    <a:pt x="29962" y="0"/>
                  </a:lnTo>
                  <a:lnTo>
                    <a:pt x="29962" y="9488"/>
                  </a:lnTo>
                </a:path>
              </a:pathLst>
            </a:custGeom>
            <a:noFill/>
            <a:ln w="19050" cap="flat" cmpd="sng">
              <a:solidFill>
                <a:schemeClr val="dk2"/>
              </a:solidFill>
              <a:prstDash val="solid"/>
              <a:round/>
              <a:headEnd type="none" w="med" len="med"/>
              <a:tailEnd type="oval" w="med" len="med"/>
            </a:ln>
          </p:spPr>
        </p:sp>
      </p:grpSp>
      <p:sp>
        <p:nvSpPr>
          <p:cNvPr id="234" name="Google Shape;234;p32"/>
          <p:cNvSpPr txBox="1"/>
          <p:nvPr/>
        </p:nvSpPr>
        <p:spPr bwMode="auto">
          <a:xfrm>
            <a:off x="388200" y="3583975"/>
            <a:ext cx="1594200" cy="400200"/>
          </a:xfrm>
          <a:prstGeom prst="rect">
            <a:avLst/>
          </a:prstGeom>
          <a:noFill/>
          <a:ln>
            <a:noFill/>
          </a:ln>
        </p:spPr>
        <p:txBody>
          <a:bodyPr spcFirstLastPara="1" wrap="square" lIns="91425" tIns="91425" rIns="91425" bIns="91425" anchor="t" anchorCtr="0">
            <a:spAutoFit/>
          </a:bodyPr>
          <a:lstStyle/>
          <a:p>
            <a:pPr marL="0" lvl="0" indent="0" algn="l">
              <a:spcBef>
                <a:spcPts val="0"/>
              </a:spcBef>
              <a:spcAft>
                <a:spcPts val="0"/>
              </a:spcAft>
              <a:buNone/>
              <a:defRPr/>
            </a:pPr>
            <a:r>
              <a:rPr lang="en" b="1">
                <a:latin typeface="Montserrat"/>
                <a:ea typeface="Montserrat"/>
                <a:cs typeface="Montserrat"/>
              </a:rPr>
              <a:t>Class Diagram</a:t>
            </a:r>
            <a:endParaRPr b="1">
              <a:latin typeface="Montserrat"/>
              <a:ea typeface="Montserrat"/>
              <a:cs typeface="Montserrat"/>
            </a:endParaRPr>
          </a:p>
        </p:txBody>
      </p:sp>
      <p:sp>
        <p:nvSpPr>
          <p:cNvPr id="235" name="Google Shape;235;p32"/>
          <p:cNvSpPr txBox="1"/>
          <p:nvPr/>
        </p:nvSpPr>
        <p:spPr bwMode="auto">
          <a:xfrm>
            <a:off x="5874600" y="3964975"/>
            <a:ext cx="1944600" cy="400200"/>
          </a:xfrm>
          <a:prstGeom prst="rect">
            <a:avLst/>
          </a:prstGeom>
          <a:noFill/>
          <a:ln>
            <a:noFill/>
          </a:ln>
        </p:spPr>
        <p:txBody>
          <a:bodyPr spcFirstLastPara="1" wrap="square" lIns="91425" tIns="91425" rIns="91425" bIns="91425" anchor="t" anchorCtr="0">
            <a:spAutoFit/>
          </a:bodyPr>
          <a:lstStyle/>
          <a:p>
            <a:pPr marL="0" lvl="0" indent="0" algn="l">
              <a:spcBef>
                <a:spcPts val="0"/>
              </a:spcBef>
              <a:spcAft>
                <a:spcPts val="0"/>
              </a:spcAft>
              <a:buNone/>
              <a:defRPr/>
            </a:pPr>
            <a:r>
              <a:rPr lang="en" b="1">
                <a:latin typeface="Montserrat"/>
                <a:ea typeface="Montserrat"/>
                <a:cs typeface="Montserrat"/>
              </a:rPr>
              <a:t>Class Definition</a:t>
            </a:r>
            <a:endParaRPr b="1">
              <a:latin typeface="Montserrat"/>
              <a:ea typeface="Montserrat"/>
              <a:cs typeface="Montserra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dur="indefinite" restart="never" nodeType="tmRoot">
          <p:childTnLst>
            <p:seq concurrent="1" nextAc="seek">
              <p:cTn id="2" dur="indefinite" nodeType="mainSeq">
                <p:childTnLst>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221"/>
                                        </p:tgtEl>
                                        <p:attrNameLst>
                                          <p:attrName>style.visibility</p:attrName>
                                        </p:attrNameLst>
                                      </p:cBhvr>
                                      <p:to>
                                        <p:strVal val="visible"/>
                                      </p:to>
                                    </p:set>
                                    <p:animEffect transition="in" filter="fade">
                                      <p:cBhvr>
                                        <p:cTn dur="500"/>
                                        <p:tgtEl>
                                          <p:spTgt spid="221"/>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225"/>
                                        </p:tgtEl>
                                        <p:attrNameLst>
                                          <p:attrName>style.visibility</p:attrName>
                                        </p:attrNameLst>
                                      </p:cBhvr>
                                      <p:to>
                                        <p:strVal val="visible"/>
                                      </p:to>
                                    </p:set>
                                    <p:animEffect transition="in" filter="fade">
                                      <p:cBhvr>
                                        <p:cTn dur="500"/>
                                        <p:tgtEl>
                                          <p:spTgt spid="225"/>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230"/>
                                        </p:tgtEl>
                                        <p:attrNameLst>
                                          <p:attrName>style.visibility</p:attrName>
                                        </p:attrNameLst>
                                      </p:cBhvr>
                                      <p:to>
                                        <p:strVal val="visible"/>
                                      </p:to>
                                    </p:set>
                                    <p:animEffect transition="in" filter="fade">
                                      <p:cBhvr>
                                        <p:cTn dur="500"/>
                                        <p:tgtEl>
                                          <p:spTgt spid="2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40" name="Google Shape;240;p33"/>
          <p:cNvSpPr txBox="1"/>
          <p:nvPr>
            <p:ph type="title"/>
          </p:nvPr>
        </p:nvSpPr>
        <p:spPr bwMode="auto">
          <a:xfrm>
            <a:off x="311700" y="286500"/>
            <a:ext cx="8520600" cy="5727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defRPr/>
            </a:pPr>
            <a:r>
              <a:rPr lang="en"/>
              <a:t>Class Definition Example</a:t>
            </a:r>
            <a:endParaRPr/>
          </a:p>
        </p:txBody>
      </p:sp>
      <p:sp>
        <p:nvSpPr>
          <p:cNvPr id="241" name="Google Shape;241;p33"/>
          <p:cNvSpPr txBox="1"/>
          <p:nvPr>
            <p:ph type="body" idx="1"/>
          </p:nvPr>
        </p:nvSpPr>
        <p:spPr bwMode="auto">
          <a:xfrm>
            <a:off x="2130175" y="1686460"/>
            <a:ext cx="4881600" cy="2180700"/>
          </a:xfrm>
          <a:prstGeom prst="rect">
            <a:avLst/>
          </a:prstGeom>
        </p:spPr>
        <p:txBody>
          <a:bodyPr spcFirstLastPara="1" wrap="square" lIns="91425" tIns="91425" rIns="91425" bIns="91425" anchor="t" anchorCtr="0">
            <a:noAutofit/>
          </a:bodyPr>
          <a:lstStyle/>
          <a:p>
            <a:pPr marL="0" lvl="0" indent="0" algn="l">
              <a:lnSpc>
                <a:spcPct val="200000"/>
              </a:lnSpc>
              <a:spcBef>
                <a:spcPts val="0"/>
              </a:spcBef>
              <a:spcAft>
                <a:spcPts val="0"/>
              </a:spcAft>
              <a:buNone/>
              <a:defRPr/>
            </a:pPr>
            <a:r>
              <a:rPr lang="en" sz="1450">
                <a:solidFill>
                  <a:srgbClr val="0000FF"/>
                </a:solidFill>
                <a:highlight>
                  <a:srgbClr val="FFFFFE"/>
                </a:highlight>
                <a:latin typeface="Courier New"/>
                <a:ea typeface="Courier New"/>
                <a:cs typeface="Courier New"/>
              </a:rPr>
              <a:t>class</a:t>
            </a:r>
            <a:r>
              <a:rPr lang="en" sz="1450">
                <a:solidFill>
                  <a:schemeClr val="dk1"/>
                </a:solidFill>
                <a:highlight>
                  <a:srgbClr val="FFFFFE"/>
                </a:highlight>
                <a:latin typeface="Courier New"/>
                <a:ea typeface="Courier New"/>
                <a:cs typeface="Courier New"/>
              </a:rPr>
              <a:t> Rectangle:</a:t>
            </a:r>
            <a:endParaRPr sz="1450">
              <a:solidFill>
                <a:schemeClr val="dk1"/>
              </a:solidFill>
              <a:highlight>
                <a:srgbClr val="FFFFFE"/>
              </a:highlight>
              <a:latin typeface="Courier New"/>
              <a:ea typeface="Courier New"/>
              <a:cs typeface="Courier New"/>
            </a:endParaRPr>
          </a:p>
          <a:p>
            <a:pPr marL="0" lvl="0" indent="0" algn="l">
              <a:lnSpc>
                <a:spcPct val="135714"/>
              </a:lnSpc>
              <a:spcBef>
                <a:spcPts val="0"/>
              </a:spcBef>
              <a:spcAft>
                <a:spcPts val="0"/>
              </a:spcAft>
              <a:buNone/>
              <a:defRPr/>
            </a:pPr>
            <a:r>
              <a:rPr lang="en" sz="1450">
                <a:solidFill>
                  <a:schemeClr val="dk1"/>
                </a:solidFill>
                <a:highlight>
                  <a:srgbClr val="FFFFFE"/>
                </a:highlight>
                <a:latin typeface="Courier New"/>
                <a:ea typeface="Courier New"/>
                <a:cs typeface="Courier New"/>
              </a:rPr>
              <a:t>   </a:t>
            </a:r>
            <a:r>
              <a:rPr lang="en" sz="1450">
                <a:solidFill>
                  <a:srgbClr val="0000FF"/>
                </a:solidFill>
                <a:highlight>
                  <a:srgbClr val="FFFFFE"/>
                </a:highlight>
                <a:latin typeface="Courier New"/>
                <a:ea typeface="Courier New"/>
                <a:cs typeface="Courier New"/>
              </a:rPr>
              <a:t>def</a:t>
            </a:r>
            <a:r>
              <a:rPr lang="en" sz="1450">
                <a:solidFill>
                  <a:schemeClr val="dk1"/>
                </a:solidFill>
                <a:highlight>
                  <a:srgbClr val="FFFFFE"/>
                </a:highlight>
                <a:latin typeface="Courier New"/>
                <a:ea typeface="Courier New"/>
                <a:cs typeface="Courier New"/>
              </a:rPr>
              <a:t> </a:t>
            </a:r>
            <a:r>
              <a:rPr lang="en" sz="1450">
                <a:solidFill>
                  <a:srgbClr val="795E26"/>
                </a:solidFill>
                <a:highlight>
                  <a:srgbClr val="FFFFFE"/>
                </a:highlight>
                <a:latin typeface="Courier New"/>
                <a:ea typeface="Courier New"/>
                <a:cs typeface="Courier New"/>
              </a:rPr>
              <a:t>__init__</a:t>
            </a:r>
            <a:r>
              <a:rPr lang="en" sz="1450">
                <a:solidFill>
                  <a:schemeClr val="dk1"/>
                </a:solidFill>
                <a:highlight>
                  <a:srgbClr val="FFFFFE"/>
                </a:highlight>
                <a:latin typeface="Courier New"/>
                <a:ea typeface="Courier New"/>
                <a:cs typeface="Courier New"/>
              </a:rPr>
              <a:t>(</a:t>
            </a:r>
            <a:r>
              <a:rPr lang="en" sz="1450">
                <a:solidFill>
                  <a:srgbClr val="001080"/>
                </a:solidFill>
                <a:highlight>
                  <a:srgbClr val="FFFFFE"/>
                </a:highlight>
                <a:latin typeface="Courier New"/>
                <a:ea typeface="Courier New"/>
                <a:cs typeface="Courier New"/>
              </a:rPr>
              <a:t>self</a:t>
            </a:r>
            <a:r>
              <a:rPr lang="en" sz="1450">
                <a:solidFill>
                  <a:schemeClr val="dk1"/>
                </a:solidFill>
                <a:highlight>
                  <a:srgbClr val="FFFFFE"/>
                </a:highlight>
                <a:latin typeface="Courier New"/>
                <a:ea typeface="Courier New"/>
                <a:cs typeface="Courier New"/>
              </a:rPr>
              <a:t>, </a:t>
            </a:r>
            <a:r>
              <a:rPr lang="en" sz="1450">
                <a:solidFill>
                  <a:srgbClr val="001080"/>
                </a:solidFill>
                <a:highlight>
                  <a:srgbClr val="FFFFFE"/>
                </a:highlight>
                <a:latin typeface="Courier New"/>
                <a:ea typeface="Courier New"/>
                <a:cs typeface="Courier New"/>
              </a:rPr>
              <a:t>length</a:t>
            </a:r>
            <a:r>
              <a:rPr lang="en" sz="1450">
                <a:solidFill>
                  <a:schemeClr val="dk1"/>
                </a:solidFill>
                <a:highlight>
                  <a:srgbClr val="FFFFFE"/>
                </a:highlight>
                <a:latin typeface="Courier New"/>
                <a:ea typeface="Courier New"/>
                <a:cs typeface="Courier New"/>
              </a:rPr>
              <a:t>, </a:t>
            </a:r>
            <a:r>
              <a:rPr lang="en" sz="1450">
                <a:solidFill>
                  <a:srgbClr val="001080"/>
                </a:solidFill>
                <a:highlight>
                  <a:srgbClr val="FFFFFE"/>
                </a:highlight>
                <a:latin typeface="Courier New"/>
                <a:ea typeface="Courier New"/>
                <a:cs typeface="Courier New"/>
              </a:rPr>
              <a:t>breadth</a:t>
            </a:r>
            <a:r>
              <a:rPr lang="en" sz="1450">
                <a:solidFill>
                  <a:schemeClr val="dk1"/>
                </a:solidFill>
                <a:highlight>
                  <a:srgbClr val="FFFFFE"/>
                </a:highlight>
                <a:latin typeface="Courier New"/>
                <a:ea typeface="Courier New"/>
                <a:cs typeface="Courier New"/>
              </a:rPr>
              <a:t>):</a:t>
            </a:r>
            <a:endParaRPr sz="1450">
              <a:solidFill>
                <a:schemeClr val="dk1"/>
              </a:solidFill>
              <a:highlight>
                <a:srgbClr val="FFFFFE"/>
              </a:highlight>
              <a:latin typeface="Courier New"/>
              <a:ea typeface="Courier New"/>
              <a:cs typeface="Courier New"/>
            </a:endParaRPr>
          </a:p>
          <a:p>
            <a:pPr marL="0" lvl="0" indent="0" algn="l">
              <a:lnSpc>
                <a:spcPct val="135714"/>
              </a:lnSpc>
              <a:spcBef>
                <a:spcPts val="0"/>
              </a:spcBef>
              <a:spcAft>
                <a:spcPts val="0"/>
              </a:spcAft>
              <a:buNone/>
              <a:defRPr/>
            </a:pPr>
            <a:r>
              <a:rPr lang="en" sz="1450">
                <a:solidFill>
                  <a:schemeClr val="dk1"/>
                </a:solidFill>
                <a:highlight>
                  <a:srgbClr val="FFFFFE"/>
                </a:highlight>
                <a:latin typeface="Courier New"/>
                <a:ea typeface="Courier New"/>
                <a:cs typeface="Courier New"/>
              </a:rPr>
              <a:t>       </a:t>
            </a:r>
            <a:r>
              <a:rPr lang="en" sz="1450">
                <a:solidFill>
                  <a:srgbClr val="001080"/>
                </a:solidFill>
                <a:highlight>
                  <a:srgbClr val="FFFFFE"/>
                </a:highlight>
                <a:latin typeface="Courier New"/>
                <a:ea typeface="Courier New"/>
                <a:cs typeface="Courier New"/>
              </a:rPr>
              <a:t>self</a:t>
            </a:r>
            <a:r>
              <a:rPr lang="en" sz="1450">
                <a:solidFill>
                  <a:schemeClr val="dk1"/>
                </a:solidFill>
                <a:highlight>
                  <a:srgbClr val="FFFFFE"/>
                </a:highlight>
                <a:latin typeface="Courier New"/>
                <a:ea typeface="Courier New"/>
                <a:cs typeface="Courier New"/>
              </a:rPr>
              <a:t>.length = length</a:t>
            </a:r>
            <a:endParaRPr sz="1450">
              <a:solidFill>
                <a:schemeClr val="dk1"/>
              </a:solidFill>
              <a:highlight>
                <a:srgbClr val="FFFFFE"/>
              </a:highlight>
              <a:latin typeface="Courier New"/>
              <a:ea typeface="Courier New"/>
              <a:cs typeface="Courier New"/>
            </a:endParaRPr>
          </a:p>
          <a:p>
            <a:pPr marL="0" lvl="0" indent="0" algn="l">
              <a:lnSpc>
                <a:spcPct val="135714"/>
              </a:lnSpc>
              <a:spcBef>
                <a:spcPts val="0"/>
              </a:spcBef>
              <a:spcAft>
                <a:spcPts val="0"/>
              </a:spcAft>
              <a:buNone/>
              <a:defRPr/>
            </a:pPr>
            <a:r>
              <a:rPr lang="en" sz="1450">
                <a:solidFill>
                  <a:schemeClr val="dk1"/>
                </a:solidFill>
                <a:highlight>
                  <a:srgbClr val="FFFFFE"/>
                </a:highlight>
                <a:latin typeface="Courier New"/>
                <a:ea typeface="Courier New"/>
                <a:cs typeface="Courier New"/>
              </a:rPr>
              <a:t>       </a:t>
            </a:r>
            <a:r>
              <a:rPr lang="en" sz="1450">
                <a:solidFill>
                  <a:srgbClr val="001080"/>
                </a:solidFill>
                <a:highlight>
                  <a:srgbClr val="FFFFFE"/>
                </a:highlight>
                <a:latin typeface="Courier New"/>
                <a:ea typeface="Courier New"/>
                <a:cs typeface="Courier New"/>
              </a:rPr>
              <a:t>self</a:t>
            </a:r>
            <a:r>
              <a:rPr lang="en" sz="1450">
                <a:solidFill>
                  <a:schemeClr val="dk1"/>
                </a:solidFill>
                <a:highlight>
                  <a:srgbClr val="FFFFFE"/>
                </a:highlight>
                <a:latin typeface="Courier New"/>
                <a:ea typeface="Courier New"/>
                <a:cs typeface="Courier New"/>
              </a:rPr>
              <a:t>.breadth = breadth</a:t>
            </a:r>
            <a:endParaRPr sz="1450">
              <a:solidFill>
                <a:schemeClr val="dk1"/>
              </a:solidFill>
              <a:highlight>
                <a:srgbClr val="FFFFFE"/>
              </a:highlight>
              <a:latin typeface="Courier New"/>
              <a:ea typeface="Courier New"/>
              <a:cs typeface="Courier New"/>
            </a:endParaRPr>
          </a:p>
          <a:p>
            <a:pPr marL="0" lvl="0" indent="0" algn="l">
              <a:lnSpc>
                <a:spcPct val="135714"/>
              </a:lnSpc>
              <a:spcBef>
                <a:spcPts val="0"/>
              </a:spcBef>
              <a:spcAft>
                <a:spcPts val="0"/>
              </a:spcAft>
              <a:buNone/>
              <a:defRPr/>
            </a:pPr>
            <a:endParaRPr sz="1450">
              <a:solidFill>
                <a:schemeClr val="dk1"/>
              </a:solidFill>
              <a:highlight>
                <a:srgbClr val="FFFFFE"/>
              </a:highlight>
              <a:latin typeface="Courier New"/>
              <a:ea typeface="Courier New"/>
              <a:cs typeface="Courier New"/>
            </a:endParaRPr>
          </a:p>
          <a:p>
            <a:pPr marL="0" lvl="0" indent="0" algn="l">
              <a:lnSpc>
                <a:spcPct val="135714"/>
              </a:lnSpc>
              <a:spcBef>
                <a:spcPts val="0"/>
              </a:spcBef>
              <a:spcAft>
                <a:spcPts val="0"/>
              </a:spcAft>
              <a:buNone/>
              <a:defRPr/>
            </a:pPr>
            <a:r>
              <a:rPr lang="en" sz="1450">
                <a:solidFill>
                  <a:schemeClr val="dk1"/>
                </a:solidFill>
                <a:highlight>
                  <a:srgbClr val="FFFFFE"/>
                </a:highlight>
                <a:latin typeface="Courier New"/>
                <a:ea typeface="Courier New"/>
                <a:cs typeface="Courier New"/>
              </a:rPr>
              <a:t>   </a:t>
            </a:r>
            <a:r>
              <a:rPr lang="en" sz="1450">
                <a:solidFill>
                  <a:srgbClr val="0000FF"/>
                </a:solidFill>
                <a:highlight>
                  <a:srgbClr val="FFFFFE"/>
                </a:highlight>
                <a:latin typeface="Courier New"/>
                <a:ea typeface="Courier New"/>
                <a:cs typeface="Courier New"/>
              </a:rPr>
              <a:t>def</a:t>
            </a:r>
            <a:r>
              <a:rPr lang="en" sz="1450">
                <a:solidFill>
                  <a:schemeClr val="dk1"/>
                </a:solidFill>
                <a:highlight>
                  <a:srgbClr val="FFFFFE"/>
                </a:highlight>
                <a:latin typeface="Courier New"/>
                <a:ea typeface="Courier New"/>
                <a:cs typeface="Courier New"/>
              </a:rPr>
              <a:t> </a:t>
            </a:r>
            <a:r>
              <a:rPr lang="en" sz="1450">
                <a:solidFill>
                  <a:srgbClr val="795E26"/>
                </a:solidFill>
                <a:highlight>
                  <a:srgbClr val="FFFFFE"/>
                </a:highlight>
                <a:latin typeface="Courier New"/>
                <a:ea typeface="Courier New"/>
                <a:cs typeface="Courier New"/>
              </a:rPr>
              <a:t>calculate_area</a:t>
            </a:r>
            <a:r>
              <a:rPr lang="en" sz="1450">
                <a:solidFill>
                  <a:schemeClr val="dk1"/>
                </a:solidFill>
                <a:highlight>
                  <a:srgbClr val="FFFFFE"/>
                </a:highlight>
                <a:latin typeface="Courier New"/>
                <a:ea typeface="Courier New"/>
                <a:cs typeface="Courier New"/>
              </a:rPr>
              <a:t>(</a:t>
            </a:r>
            <a:r>
              <a:rPr lang="en" sz="1450">
                <a:solidFill>
                  <a:srgbClr val="001080"/>
                </a:solidFill>
                <a:highlight>
                  <a:srgbClr val="FFFFFE"/>
                </a:highlight>
                <a:latin typeface="Courier New"/>
                <a:ea typeface="Courier New"/>
                <a:cs typeface="Courier New"/>
              </a:rPr>
              <a:t>self</a:t>
            </a:r>
            <a:r>
              <a:rPr lang="en" sz="1450">
                <a:solidFill>
                  <a:schemeClr val="dk1"/>
                </a:solidFill>
                <a:highlight>
                  <a:srgbClr val="FFFFFE"/>
                </a:highlight>
                <a:latin typeface="Courier New"/>
                <a:ea typeface="Courier New"/>
                <a:cs typeface="Courier New"/>
              </a:rPr>
              <a:t>):</a:t>
            </a:r>
            <a:endParaRPr sz="1450">
              <a:solidFill>
                <a:schemeClr val="dk1"/>
              </a:solidFill>
              <a:highlight>
                <a:srgbClr val="FFFFFE"/>
              </a:highlight>
              <a:latin typeface="Courier New"/>
              <a:ea typeface="Courier New"/>
              <a:cs typeface="Courier New"/>
            </a:endParaRPr>
          </a:p>
          <a:p>
            <a:pPr marL="0" lvl="0" indent="0" algn="l">
              <a:lnSpc>
                <a:spcPct val="135714"/>
              </a:lnSpc>
              <a:spcBef>
                <a:spcPts val="0"/>
              </a:spcBef>
              <a:spcAft>
                <a:spcPts val="0"/>
              </a:spcAft>
              <a:buNone/>
              <a:defRPr/>
            </a:pPr>
            <a:r>
              <a:rPr lang="en" sz="1450">
                <a:solidFill>
                  <a:schemeClr val="dk1"/>
                </a:solidFill>
                <a:highlight>
                  <a:srgbClr val="FFFFFE"/>
                </a:highlight>
                <a:latin typeface="Courier New"/>
                <a:ea typeface="Courier New"/>
                <a:cs typeface="Courier New"/>
              </a:rPr>
              <a:t>       </a:t>
            </a:r>
            <a:r>
              <a:rPr lang="en" sz="1450">
                <a:solidFill>
                  <a:srgbClr val="AF00DB"/>
                </a:solidFill>
                <a:highlight>
                  <a:srgbClr val="FFFFFE"/>
                </a:highlight>
                <a:latin typeface="Courier New"/>
                <a:ea typeface="Courier New"/>
                <a:cs typeface="Courier New"/>
              </a:rPr>
              <a:t>return</a:t>
            </a:r>
            <a:r>
              <a:rPr lang="en" sz="1450">
                <a:solidFill>
                  <a:schemeClr val="dk1"/>
                </a:solidFill>
                <a:highlight>
                  <a:srgbClr val="FFFFFE"/>
                </a:highlight>
                <a:latin typeface="Courier New"/>
                <a:ea typeface="Courier New"/>
                <a:cs typeface="Courier New"/>
              </a:rPr>
              <a:t> </a:t>
            </a:r>
            <a:r>
              <a:rPr lang="en" sz="1450">
                <a:solidFill>
                  <a:srgbClr val="001080"/>
                </a:solidFill>
                <a:highlight>
                  <a:srgbClr val="FFFFFE"/>
                </a:highlight>
                <a:latin typeface="Courier New"/>
                <a:ea typeface="Courier New"/>
                <a:cs typeface="Courier New"/>
              </a:rPr>
              <a:t>self</a:t>
            </a:r>
            <a:r>
              <a:rPr lang="en" sz="1450">
                <a:solidFill>
                  <a:schemeClr val="dk1"/>
                </a:solidFill>
                <a:highlight>
                  <a:srgbClr val="FFFFFE"/>
                </a:highlight>
                <a:latin typeface="Courier New"/>
                <a:ea typeface="Courier New"/>
                <a:cs typeface="Courier New"/>
              </a:rPr>
              <a:t>.length * </a:t>
            </a:r>
            <a:r>
              <a:rPr lang="en" sz="1450">
                <a:solidFill>
                  <a:srgbClr val="001080"/>
                </a:solidFill>
                <a:highlight>
                  <a:srgbClr val="FFFFFE"/>
                </a:highlight>
                <a:latin typeface="Courier New"/>
                <a:ea typeface="Courier New"/>
                <a:cs typeface="Courier New"/>
              </a:rPr>
              <a:t>self</a:t>
            </a:r>
            <a:r>
              <a:rPr lang="en" sz="1450">
                <a:solidFill>
                  <a:schemeClr val="dk1"/>
                </a:solidFill>
                <a:highlight>
                  <a:srgbClr val="FFFFFE"/>
                </a:highlight>
                <a:latin typeface="Courier New"/>
                <a:ea typeface="Courier New"/>
                <a:cs typeface="Courier New"/>
              </a:rPr>
              <a:t>.breadth</a:t>
            </a:r>
            <a:endParaRPr sz="1450">
              <a:solidFill>
                <a:schemeClr val="dk1"/>
              </a:solidFill>
              <a:highlight>
                <a:srgbClr val="FFFFFE"/>
              </a:highlight>
              <a:latin typeface="Courier New"/>
              <a:ea typeface="Courier New"/>
              <a:cs typeface="Courier New"/>
            </a:endParaRPr>
          </a:p>
          <a:p>
            <a:pPr marL="0" lvl="0" indent="0" algn="l">
              <a:spcBef>
                <a:spcPts val="0"/>
              </a:spcBef>
              <a:spcAft>
                <a:spcPts val="1600"/>
              </a:spcAft>
              <a:buNone/>
              <a:defRPr/>
            </a:pPr>
            <a:endParaRPr sz="2200"/>
          </a:p>
        </p:txBody>
      </p:sp>
      <p:grpSp>
        <p:nvGrpSpPr>
          <p:cNvPr id="242" name="Google Shape;242;p33"/>
          <p:cNvGrpSpPr/>
          <p:nvPr/>
        </p:nvGrpSpPr>
        <p:grpSpPr bwMode="auto">
          <a:xfrm>
            <a:off x="2513225" y="2151310"/>
            <a:ext cx="4183600" cy="1854546"/>
            <a:chOff x="2208425" y="2151310"/>
            <a:chExt cx="4183600" cy="1854546"/>
          </a:xfrm>
        </p:grpSpPr>
        <p:sp>
          <p:nvSpPr>
            <p:cNvPr id="243" name="Google Shape;243;p33"/>
            <p:cNvSpPr/>
            <p:nvPr/>
          </p:nvSpPr>
          <p:spPr bwMode="auto">
            <a:xfrm>
              <a:off x="2208425" y="2151310"/>
              <a:ext cx="4082400" cy="972600"/>
            </a:xfrm>
            <a:prstGeom prst="rect">
              <a:avLst/>
            </a:prstGeom>
            <a:noFill/>
            <a:ln w="19050" cap="flat" cmpd="sng">
              <a:solidFill>
                <a:srgbClr val="3D85C6"/>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44" name="Google Shape;244;p33"/>
            <p:cNvSpPr/>
            <p:nvPr/>
          </p:nvSpPr>
          <p:spPr bwMode="auto">
            <a:xfrm>
              <a:off x="2209725" y="3331756"/>
              <a:ext cx="4182300" cy="674100"/>
            </a:xfrm>
            <a:prstGeom prst="rect">
              <a:avLst/>
            </a:prstGeom>
            <a:noFill/>
            <a:ln w="19050" cap="flat" cmpd="sng">
              <a:solidFill>
                <a:srgbClr val="3D85C6"/>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sp>
        <p:nvSpPr>
          <p:cNvPr id="245" name="Google Shape;245;p33"/>
          <p:cNvSpPr txBox="1"/>
          <p:nvPr/>
        </p:nvSpPr>
        <p:spPr bwMode="auto">
          <a:xfrm>
            <a:off x="6706641" y="2413060"/>
            <a:ext cx="2215500" cy="400200"/>
          </a:xfrm>
          <a:prstGeom prst="rect">
            <a:avLst/>
          </a:prstGeom>
          <a:noFill/>
          <a:ln>
            <a:noFill/>
          </a:ln>
        </p:spPr>
        <p:txBody>
          <a:bodyPr spcFirstLastPara="1" wrap="square" lIns="91425" tIns="91425" rIns="91425" bIns="91425" anchor="ctr" anchorCtr="0">
            <a:noAutofit/>
          </a:bodyPr>
          <a:lstStyle/>
          <a:p>
            <a:pPr marL="0" lvl="0" indent="0" algn="l">
              <a:spcBef>
                <a:spcPts val="0"/>
              </a:spcBef>
              <a:spcAft>
                <a:spcPts val="0"/>
              </a:spcAft>
              <a:buNone/>
              <a:defRPr/>
            </a:pPr>
            <a:r>
              <a:rPr lang="en" b="1">
                <a:latin typeface="Montserrat"/>
                <a:ea typeface="Montserrat"/>
                <a:cs typeface="Montserrat"/>
              </a:rPr>
              <a:t>Initialization method</a:t>
            </a:r>
            <a:endParaRPr b="1">
              <a:latin typeface="Montserrat"/>
              <a:ea typeface="Montserrat"/>
              <a:cs typeface="Montserrat"/>
            </a:endParaRPr>
          </a:p>
          <a:p>
            <a:pPr marL="0" lvl="0" indent="0" algn="ctr">
              <a:spcBef>
                <a:spcPts val="0"/>
              </a:spcBef>
              <a:spcAft>
                <a:spcPts val="0"/>
              </a:spcAft>
              <a:buNone/>
              <a:defRPr/>
            </a:pPr>
            <a:r>
              <a:rPr lang="en">
                <a:latin typeface="Montserrat"/>
                <a:ea typeface="Montserrat"/>
                <a:cs typeface="Montserrat"/>
              </a:rPr>
              <a:t>(special)</a:t>
            </a:r>
            <a:endParaRPr>
              <a:latin typeface="Montserrat"/>
              <a:ea typeface="Montserrat"/>
              <a:cs typeface="Montserrat"/>
            </a:endParaRPr>
          </a:p>
        </p:txBody>
      </p:sp>
      <p:sp>
        <p:nvSpPr>
          <p:cNvPr id="246" name="Google Shape;246;p33"/>
          <p:cNvSpPr txBox="1"/>
          <p:nvPr/>
        </p:nvSpPr>
        <p:spPr bwMode="auto">
          <a:xfrm>
            <a:off x="6795325" y="3468710"/>
            <a:ext cx="2215500" cy="400200"/>
          </a:xfrm>
          <a:prstGeom prst="rect">
            <a:avLst/>
          </a:prstGeom>
          <a:noFill/>
          <a:ln>
            <a:noFill/>
          </a:ln>
        </p:spPr>
        <p:txBody>
          <a:bodyPr spcFirstLastPara="1" wrap="square" lIns="91425" tIns="91425" rIns="91425" bIns="91425" anchor="ctr" anchorCtr="0">
            <a:noAutofit/>
          </a:bodyPr>
          <a:lstStyle/>
          <a:p>
            <a:pPr marL="0" lvl="0" indent="0" algn="l">
              <a:spcBef>
                <a:spcPts val="0"/>
              </a:spcBef>
              <a:spcAft>
                <a:spcPts val="0"/>
              </a:spcAft>
              <a:buNone/>
              <a:defRPr/>
            </a:pPr>
            <a:r>
              <a:rPr lang="en" b="1">
                <a:latin typeface="Montserrat"/>
                <a:ea typeface="Montserrat"/>
                <a:cs typeface="Montserrat"/>
              </a:rPr>
              <a:t>Method</a:t>
            </a:r>
            <a:endParaRPr b="1">
              <a:latin typeface="Montserrat"/>
              <a:ea typeface="Montserrat"/>
              <a:cs typeface="Montserrat"/>
            </a:endParaRPr>
          </a:p>
        </p:txBody>
      </p:sp>
      <p:grpSp>
        <p:nvGrpSpPr>
          <p:cNvPr id="247" name="Google Shape;247;p33"/>
          <p:cNvGrpSpPr/>
          <p:nvPr/>
        </p:nvGrpSpPr>
        <p:grpSpPr bwMode="auto">
          <a:xfrm>
            <a:off x="139139" y="2713110"/>
            <a:ext cx="3696110" cy="403798"/>
            <a:chOff x="-165661" y="2713110"/>
            <a:chExt cx="3696110" cy="403798"/>
          </a:xfrm>
        </p:grpSpPr>
        <p:sp>
          <p:nvSpPr>
            <p:cNvPr id="248" name="Google Shape;248;p33"/>
            <p:cNvSpPr/>
            <p:nvPr/>
          </p:nvSpPr>
          <p:spPr bwMode="auto">
            <a:xfrm rot="5400000">
              <a:off x="2428646" y="1695200"/>
              <a:ext cx="83894" cy="2119714"/>
            </a:xfrm>
            <a:custGeom>
              <a:avLst/>
              <a:gdLst/>
              <a:ahLst/>
              <a:cxnLst/>
              <a:rect l="l" t="t" r="r" b="b"/>
              <a:pathLst>
                <a:path w="29962" h="9488" fill="norm" stroke="1" extrusionOk="0">
                  <a:moveTo>
                    <a:pt x="0" y="0"/>
                  </a:moveTo>
                  <a:lnTo>
                    <a:pt x="29962" y="0"/>
                  </a:lnTo>
                  <a:lnTo>
                    <a:pt x="29962" y="9488"/>
                  </a:lnTo>
                </a:path>
              </a:pathLst>
            </a:custGeom>
            <a:noFill/>
            <a:ln w="19050" cap="flat" cmpd="sng">
              <a:solidFill>
                <a:schemeClr val="dk2"/>
              </a:solidFill>
              <a:prstDash val="solid"/>
              <a:round/>
              <a:headEnd type="oval" w="med" len="med"/>
              <a:tailEnd type="none" w="med" len="med"/>
            </a:ln>
          </p:spPr>
        </p:sp>
        <p:sp>
          <p:nvSpPr>
            <p:cNvPr id="249" name="Google Shape;249;p33"/>
            <p:cNvSpPr/>
            <p:nvPr/>
          </p:nvSpPr>
          <p:spPr bwMode="auto">
            <a:xfrm rot="5400000">
              <a:off x="2428646" y="1961252"/>
              <a:ext cx="83894" cy="2119714"/>
            </a:xfrm>
            <a:custGeom>
              <a:avLst/>
              <a:gdLst/>
              <a:ahLst/>
              <a:cxnLst/>
              <a:rect l="l" t="t" r="r" b="b"/>
              <a:pathLst>
                <a:path w="29962" h="9488" fill="norm" stroke="1" extrusionOk="0">
                  <a:moveTo>
                    <a:pt x="0" y="0"/>
                  </a:moveTo>
                  <a:lnTo>
                    <a:pt x="29962" y="0"/>
                  </a:lnTo>
                  <a:lnTo>
                    <a:pt x="29962" y="9488"/>
                  </a:lnTo>
                </a:path>
              </a:pathLst>
            </a:custGeom>
            <a:noFill/>
            <a:ln w="19050" cap="flat" cmpd="sng">
              <a:solidFill>
                <a:schemeClr val="dk2"/>
              </a:solidFill>
              <a:prstDash val="solid"/>
              <a:round/>
              <a:headEnd type="oval" w="med" len="med"/>
              <a:tailEnd type="none" w="med" len="med"/>
            </a:ln>
          </p:spPr>
        </p:sp>
        <p:sp>
          <p:nvSpPr>
            <p:cNvPr id="250" name="Google Shape;250;p33"/>
            <p:cNvSpPr txBox="1"/>
            <p:nvPr/>
          </p:nvSpPr>
          <p:spPr bwMode="auto">
            <a:xfrm>
              <a:off x="-165661" y="2716708"/>
              <a:ext cx="1662599" cy="400200"/>
            </a:xfrm>
            <a:prstGeom prst="rect">
              <a:avLst/>
            </a:prstGeom>
            <a:noFill/>
            <a:ln>
              <a:noFill/>
            </a:ln>
          </p:spPr>
          <p:txBody>
            <a:bodyPr spcFirstLastPara="1" wrap="square" lIns="91425" tIns="91425" rIns="91425" bIns="91425" anchor="t" anchorCtr="0">
              <a:spAutoFit/>
            </a:bodyPr>
            <a:lstStyle/>
            <a:p>
              <a:pPr marL="0" lvl="0" indent="0" algn="l">
                <a:spcBef>
                  <a:spcPts val="0"/>
                </a:spcBef>
                <a:spcAft>
                  <a:spcPts val="0"/>
                </a:spcAft>
                <a:buNone/>
                <a:defRPr/>
              </a:pPr>
              <a:r>
                <a:rPr lang="en" b="1">
                  <a:latin typeface="Montserrat"/>
                  <a:ea typeface="Montserrat"/>
                  <a:cs typeface="Montserrat"/>
                </a:rPr>
                <a:t>Data Attributes</a:t>
              </a:r>
              <a:endParaRPr b="1">
                <a:latin typeface="Montserrat"/>
                <a:ea typeface="Montserrat"/>
                <a:cs typeface="Montserrat"/>
              </a:endParaRPr>
            </a:p>
          </p:txBody>
        </p:sp>
      </p:grpSp>
      <p:grpSp>
        <p:nvGrpSpPr>
          <p:cNvPr id="251" name="Google Shape;251;p33"/>
          <p:cNvGrpSpPr/>
          <p:nvPr/>
        </p:nvGrpSpPr>
        <p:grpSpPr bwMode="auto">
          <a:xfrm>
            <a:off x="941501" y="1186510"/>
            <a:ext cx="1510586" cy="638909"/>
            <a:chOff x="636701" y="1186510"/>
            <a:chExt cx="1510586" cy="638909"/>
          </a:xfrm>
        </p:grpSpPr>
        <p:sp>
          <p:nvSpPr>
            <p:cNvPr id="252" name="Google Shape;252;p33"/>
            <p:cNvSpPr/>
            <p:nvPr/>
          </p:nvSpPr>
          <p:spPr bwMode="auto">
            <a:xfrm>
              <a:off x="1585500" y="1488334"/>
              <a:ext cx="561788" cy="337085"/>
            </a:xfrm>
            <a:custGeom>
              <a:avLst/>
              <a:gdLst/>
              <a:ahLst/>
              <a:cxnLst/>
              <a:rect l="l" t="t" r="r" b="b"/>
              <a:pathLst>
                <a:path w="29962" h="9488" fill="norm" stroke="1" extrusionOk="0">
                  <a:moveTo>
                    <a:pt x="0" y="0"/>
                  </a:moveTo>
                  <a:lnTo>
                    <a:pt x="29962" y="0"/>
                  </a:lnTo>
                  <a:lnTo>
                    <a:pt x="29962" y="9488"/>
                  </a:lnTo>
                </a:path>
              </a:pathLst>
            </a:custGeom>
            <a:noFill/>
            <a:ln w="19050" cap="flat" cmpd="sng">
              <a:solidFill>
                <a:schemeClr val="dk2"/>
              </a:solidFill>
              <a:prstDash val="solid"/>
              <a:round/>
              <a:headEnd type="none" w="med" len="med"/>
              <a:tailEnd type="oval" w="med" len="med"/>
            </a:ln>
          </p:spPr>
        </p:sp>
        <p:sp>
          <p:nvSpPr>
            <p:cNvPr id="253" name="Google Shape;253;p33"/>
            <p:cNvSpPr txBox="1"/>
            <p:nvPr/>
          </p:nvSpPr>
          <p:spPr bwMode="auto">
            <a:xfrm>
              <a:off x="636701" y="1186510"/>
              <a:ext cx="1015200" cy="615600"/>
            </a:xfrm>
            <a:prstGeom prst="rect">
              <a:avLst/>
            </a:prstGeom>
            <a:noFill/>
            <a:ln>
              <a:noFill/>
            </a:ln>
          </p:spPr>
          <p:txBody>
            <a:bodyPr spcFirstLastPara="1" wrap="square" lIns="91425" tIns="91425" rIns="91425" bIns="91425" anchor="t" anchorCtr="0">
              <a:spAutoFit/>
            </a:bodyPr>
            <a:lstStyle/>
            <a:p>
              <a:pPr marL="0" lvl="0" indent="0" algn="r">
                <a:spcBef>
                  <a:spcPts val="0"/>
                </a:spcBef>
                <a:spcAft>
                  <a:spcPts val="0"/>
                </a:spcAft>
                <a:buNone/>
                <a:defRPr/>
              </a:pPr>
              <a:r>
                <a:rPr lang="en" b="1">
                  <a:latin typeface="Montserrat"/>
                  <a:ea typeface="Montserrat"/>
                  <a:cs typeface="Montserrat"/>
                </a:rPr>
                <a:t>class keyword</a:t>
              </a:r>
              <a:endParaRPr b="1">
                <a:latin typeface="Montserrat"/>
                <a:ea typeface="Montserrat"/>
                <a:cs typeface="Montserrat"/>
              </a:endParaRPr>
            </a:p>
          </p:txBody>
        </p:sp>
      </p:grpSp>
      <p:grpSp>
        <p:nvGrpSpPr>
          <p:cNvPr id="254" name="Google Shape;254;p33"/>
          <p:cNvGrpSpPr/>
          <p:nvPr/>
        </p:nvGrpSpPr>
        <p:grpSpPr bwMode="auto">
          <a:xfrm>
            <a:off x="3290288" y="1186510"/>
            <a:ext cx="1234285" cy="638910"/>
            <a:chOff x="2985488" y="1186510"/>
            <a:chExt cx="1234285" cy="638910"/>
          </a:xfrm>
        </p:grpSpPr>
        <p:sp>
          <p:nvSpPr>
            <p:cNvPr id="255" name="Google Shape;255;p33"/>
            <p:cNvSpPr/>
            <p:nvPr/>
          </p:nvSpPr>
          <p:spPr bwMode="auto">
            <a:xfrm flipH="1">
              <a:off x="2985488" y="1488335"/>
              <a:ext cx="561788" cy="337085"/>
            </a:xfrm>
            <a:custGeom>
              <a:avLst/>
              <a:gdLst/>
              <a:ahLst/>
              <a:cxnLst/>
              <a:rect l="l" t="t" r="r" b="b"/>
              <a:pathLst>
                <a:path w="29962" h="9488" fill="norm" stroke="1" extrusionOk="0">
                  <a:moveTo>
                    <a:pt x="0" y="0"/>
                  </a:moveTo>
                  <a:lnTo>
                    <a:pt x="29962" y="0"/>
                  </a:lnTo>
                  <a:lnTo>
                    <a:pt x="29962" y="9488"/>
                  </a:lnTo>
                </a:path>
              </a:pathLst>
            </a:custGeom>
            <a:noFill/>
            <a:ln w="19050" cap="flat" cmpd="sng">
              <a:solidFill>
                <a:schemeClr val="dk2"/>
              </a:solidFill>
              <a:prstDash val="solid"/>
              <a:round/>
              <a:headEnd type="none" w="med" len="med"/>
              <a:tailEnd type="oval" w="med" len="med"/>
            </a:ln>
          </p:spPr>
        </p:sp>
        <p:sp>
          <p:nvSpPr>
            <p:cNvPr id="256" name="Google Shape;256;p33"/>
            <p:cNvSpPr txBox="1"/>
            <p:nvPr/>
          </p:nvSpPr>
          <p:spPr bwMode="auto">
            <a:xfrm>
              <a:off x="3462572" y="1186510"/>
              <a:ext cx="757200" cy="615600"/>
            </a:xfrm>
            <a:prstGeom prst="rect">
              <a:avLst/>
            </a:prstGeom>
            <a:noFill/>
            <a:ln>
              <a:noFill/>
            </a:ln>
          </p:spPr>
          <p:txBody>
            <a:bodyPr spcFirstLastPara="1" wrap="square" lIns="91425" tIns="91425" rIns="91425" bIns="91425" anchor="t" anchorCtr="0">
              <a:spAutoFit/>
            </a:bodyPr>
            <a:lstStyle/>
            <a:p>
              <a:pPr marL="0" lvl="0" indent="0" algn="l">
                <a:spcBef>
                  <a:spcPts val="0"/>
                </a:spcBef>
                <a:spcAft>
                  <a:spcPts val="0"/>
                </a:spcAft>
                <a:buNone/>
                <a:defRPr/>
              </a:pPr>
              <a:r>
                <a:rPr lang="en" b="1">
                  <a:latin typeface="Montserrat"/>
                  <a:ea typeface="Montserrat"/>
                  <a:cs typeface="Montserrat"/>
                </a:rPr>
                <a:t>Class name</a:t>
              </a:r>
              <a:endParaRPr b="1">
                <a:latin typeface="Montserrat"/>
                <a:ea typeface="Montserrat"/>
                <a:cs typeface="Montserrat"/>
              </a:endParaRPr>
            </a:p>
          </p:txBody>
        </p:sp>
      </p:grpSp>
      <p:grpSp>
        <p:nvGrpSpPr>
          <p:cNvPr id="257" name="Google Shape;257;p33"/>
          <p:cNvGrpSpPr/>
          <p:nvPr/>
        </p:nvGrpSpPr>
        <p:grpSpPr bwMode="auto">
          <a:xfrm>
            <a:off x="4187425" y="1030310"/>
            <a:ext cx="2988900" cy="2393100"/>
            <a:chOff x="3882625" y="1030310"/>
            <a:chExt cx="2988900" cy="2393100"/>
          </a:xfrm>
        </p:grpSpPr>
        <p:sp>
          <p:nvSpPr>
            <p:cNvPr id="258" name="Google Shape;258;p33"/>
            <p:cNvSpPr txBox="1"/>
            <p:nvPr/>
          </p:nvSpPr>
          <p:spPr bwMode="auto">
            <a:xfrm>
              <a:off x="5576125" y="1030310"/>
              <a:ext cx="1295400" cy="400200"/>
            </a:xfrm>
            <a:prstGeom prst="rect">
              <a:avLst/>
            </a:prstGeom>
            <a:noFill/>
            <a:ln>
              <a:noFill/>
            </a:ln>
          </p:spPr>
          <p:txBody>
            <a:bodyPr spcFirstLastPara="1" wrap="square" lIns="91425" tIns="91425" rIns="91425" bIns="91425" anchor="ctr" anchorCtr="0">
              <a:noAutofit/>
            </a:bodyPr>
            <a:lstStyle/>
            <a:p>
              <a:pPr marL="0" lvl="0" indent="0" algn="ctr">
                <a:spcBef>
                  <a:spcPts val="0"/>
                </a:spcBef>
                <a:spcAft>
                  <a:spcPts val="0"/>
                </a:spcAft>
                <a:buNone/>
                <a:defRPr/>
              </a:pPr>
              <a:r>
                <a:rPr lang="en" b="1">
                  <a:latin typeface="Montserrat"/>
                  <a:ea typeface="Montserrat"/>
                  <a:cs typeface="Montserrat"/>
                </a:rPr>
                <a:t>self object</a:t>
              </a:r>
              <a:endParaRPr b="1">
                <a:latin typeface="Montserrat"/>
                <a:ea typeface="Montserrat"/>
                <a:cs typeface="Montserrat"/>
              </a:endParaRPr>
            </a:p>
          </p:txBody>
        </p:sp>
        <p:cxnSp>
          <p:nvCxnSpPr>
            <p:cNvPr id="259" name="Google Shape;259;p33"/>
            <p:cNvCxnSpPr>
              <a:endCxn id="258" idx="2"/>
            </p:cNvCxnSpPr>
            <p:nvPr/>
          </p:nvCxnSpPr>
          <p:spPr bwMode="auto">
            <a:xfrm rot="10800000" flipH="1">
              <a:off x="3882625" y="1430510"/>
              <a:ext cx="2341200" cy="831900"/>
            </a:xfrm>
            <a:prstGeom prst="straightConnector1">
              <a:avLst/>
            </a:prstGeom>
            <a:noFill/>
            <a:ln w="19050" cap="flat" cmpd="sng">
              <a:solidFill>
                <a:schemeClr val="dk2"/>
              </a:solidFill>
              <a:prstDash val="solid"/>
              <a:round/>
              <a:headEnd type="oval" w="med" len="med"/>
              <a:tailEnd type="none" w="med" len="med"/>
            </a:ln>
          </p:spPr>
        </p:cxnSp>
        <p:cxnSp>
          <p:nvCxnSpPr>
            <p:cNvPr id="260" name="Google Shape;260;p33"/>
            <p:cNvCxnSpPr>
              <a:endCxn id="258" idx="2"/>
            </p:cNvCxnSpPr>
            <p:nvPr/>
          </p:nvCxnSpPr>
          <p:spPr bwMode="auto">
            <a:xfrm rot="10800000" flipH="1">
              <a:off x="4569325" y="1430510"/>
              <a:ext cx="1654500" cy="1992900"/>
            </a:xfrm>
            <a:prstGeom prst="straightConnector1">
              <a:avLst/>
            </a:prstGeom>
            <a:noFill/>
            <a:ln w="19050" cap="flat" cmpd="sng">
              <a:solidFill>
                <a:schemeClr val="dk2"/>
              </a:solidFill>
              <a:prstDash val="solid"/>
              <a:round/>
              <a:headEnd type="oval" w="med" len="med"/>
              <a:tailEnd type="none" w="med" len="med"/>
            </a:ln>
          </p:spPr>
        </p:cxn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dur="indefinite" restart="never" nodeType="tmRoot">
          <p:childTnLst>
            <p:seq concurrent="1" nextAc="seek">
              <p:cTn id="2" dur="indefinite" nodeType="mainSeq">
                <p:childTnLst>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251"/>
                                        </p:tgtEl>
                                        <p:attrNameLst>
                                          <p:attrName>style.visibility</p:attrName>
                                        </p:attrNameLst>
                                      </p:cBhvr>
                                      <p:to>
                                        <p:strVal val="visible"/>
                                      </p:to>
                                    </p:set>
                                    <p:animEffect transition="in" filter="fade">
                                      <p:cBhvr>
                                        <p:cTn dur="500"/>
                                        <p:tgtEl>
                                          <p:spTgt spid="251"/>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254"/>
                                        </p:tgtEl>
                                        <p:attrNameLst>
                                          <p:attrName>style.visibility</p:attrName>
                                        </p:attrNameLst>
                                      </p:cBhvr>
                                      <p:to>
                                        <p:strVal val="visible"/>
                                      </p:to>
                                    </p:set>
                                    <p:animEffect transition="in" filter="fade">
                                      <p:cBhvr>
                                        <p:cTn dur="500"/>
                                        <p:tgtEl>
                                          <p:spTgt spid="254"/>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242"/>
                                        </p:tgtEl>
                                        <p:attrNameLst>
                                          <p:attrName>style.visibility</p:attrName>
                                        </p:attrNameLst>
                                      </p:cBhvr>
                                      <p:to>
                                        <p:strVal val="visible"/>
                                      </p:to>
                                    </p:set>
                                    <p:animEffect transition="in" filter="fade">
                                      <p:cBhvr>
                                        <p:cTn dur="500"/>
                                        <p:tgtEl>
                                          <p:spTgt spid="242"/>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245"/>
                                        </p:tgtEl>
                                        <p:attrNameLst>
                                          <p:attrName>style.visibility</p:attrName>
                                        </p:attrNameLst>
                                      </p:cBhvr>
                                      <p:to>
                                        <p:strVal val="visible"/>
                                      </p:to>
                                    </p:set>
                                    <p:animEffect transition="in" filter="fade">
                                      <p:cBhvr>
                                        <p:cTn dur="500"/>
                                        <p:tgtEl>
                                          <p:spTgt spid="245"/>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246"/>
                                        </p:tgtEl>
                                        <p:attrNameLst>
                                          <p:attrName>style.visibility</p:attrName>
                                        </p:attrNameLst>
                                      </p:cBhvr>
                                      <p:to>
                                        <p:strVal val="visible"/>
                                      </p:to>
                                    </p:set>
                                    <p:animEffect transition="in" filter="fade">
                                      <p:cBhvr>
                                        <p:cTn dur="500"/>
                                        <p:tgtEl>
                                          <p:spTgt spid="246"/>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247"/>
                                        </p:tgtEl>
                                        <p:attrNameLst>
                                          <p:attrName>style.visibility</p:attrName>
                                        </p:attrNameLst>
                                      </p:cBhvr>
                                      <p:to>
                                        <p:strVal val="visible"/>
                                      </p:to>
                                    </p:set>
                                    <p:animEffect transition="in" filter="fade">
                                      <p:cBhvr>
                                        <p:cTn dur="500"/>
                                        <p:tgtEl>
                                          <p:spTgt spid="247"/>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257"/>
                                        </p:tgtEl>
                                        <p:attrNameLst>
                                          <p:attrName>style.visibility</p:attrName>
                                        </p:attrNameLst>
                                      </p:cBhvr>
                                      <p:to>
                                        <p:strVal val="visible"/>
                                      </p:to>
                                    </p:set>
                                    <p:animEffect transition="in" filter="fade">
                                      <p:cBhvr>
                                        <p:cTn dur="500"/>
                                        <p:tgtEl>
                                          <p:spTgt spid="2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65" name="Google Shape;265;p34"/>
          <p:cNvSpPr txBox="1"/>
          <p:nvPr/>
        </p:nvSpPr>
        <p:spPr bwMode="auto">
          <a:xfrm>
            <a:off x="0" y="1770300"/>
            <a:ext cx="9144000" cy="1602900"/>
          </a:xfrm>
          <a:prstGeom prst="rect">
            <a:avLst/>
          </a:prstGeom>
          <a:solidFill>
            <a:srgbClr val="0B5394"/>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a:lnSpc>
                <a:spcPct val="114999"/>
              </a:lnSpc>
              <a:spcBef>
                <a:spcPts val="0"/>
              </a:spcBef>
              <a:spcAft>
                <a:spcPts val="0"/>
              </a:spcAft>
              <a:buNone/>
              <a:defRPr/>
            </a:pPr>
            <a:r>
              <a:rPr lang="en" sz="3500">
                <a:solidFill>
                  <a:srgbClr val="FFFFFF"/>
                </a:solidFill>
                <a:latin typeface="Montserrat"/>
                <a:ea typeface="Montserrat"/>
                <a:cs typeface="Montserrat"/>
              </a:rPr>
              <a:t>Code Demo</a:t>
            </a:r>
            <a:endParaRPr sz="3500">
              <a:solidFill>
                <a:srgbClr val="FFFFFF"/>
              </a:solidFill>
              <a:latin typeface="Montserrat"/>
              <a:ea typeface="Montserrat"/>
              <a:cs typeface="Montserrat"/>
            </a:endParaRPr>
          </a:p>
          <a:p>
            <a:pPr marL="0" lvl="0" indent="0" algn="r">
              <a:spcBef>
                <a:spcPts val="0"/>
              </a:spcBef>
              <a:spcAft>
                <a:spcPts val="0"/>
              </a:spcAft>
              <a:buNone/>
              <a:defRPr/>
            </a:pPr>
            <a:r>
              <a:rPr lang="en" sz="2800">
                <a:solidFill>
                  <a:schemeClr val="lt1"/>
                </a:solidFill>
                <a:latin typeface="Montserrat"/>
                <a:ea typeface="Montserrat"/>
                <a:cs typeface="Montserrat"/>
              </a:rPr>
              <a:t>Class Definition and Instantiation</a:t>
            </a:r>
            <a:endParaRPr sz="2800">
              <a:solidFill>
                <a:schemeClr val="lt1"/>
              </a:solidFill>
              <a:latin typeface="Montserrat"/>
              <a:ea typeface="Montserrat"/>
              <a:cs typeface="Montserra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70" name="Google Shape;270;p35"/>
          <p:cNvSpPr txBox="1"/>
          <p:nvPr>
            <p:ph type="title"/>
          </p:nvPr>
        </p:nvSpPr>
        <p:spPr bwMode="auto">
          <a:xfrm>
            <a:off x="540300" y="2990425"/>
            <a:ext cx="8093700" cy="1672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defRPr/>
            </a:pPr>
            <a:r>
              <a:rPr lang="en"/>
              <a:t>Class Variable, Class Method and Static Method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75" name="Google Shape;275;p36"/>
          <p:cNvSpPr txBox="1"/>
          <p:nvPr>
            <p:ph type="title"/>
          </p:nvPr>
        </p:nvSpPr>
        <p:spPr bwMode="auto">
          <a:xfrm>
            <a:off x="311700" y="286500"/>
            <a:ext cx="8520600" cy="5727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defRPr/>
            </a:pPr>
            <a:r>
              <a:rPr lang="en"/>
              <a:t>Class Variable, Class Method and Static Method </a:t>
            </a:r>
            <a:endParaRPr/>
          </a:p>
        </p:txBody>
      </p:sp>
      <p:sp>
        <p:nvSpPr>
          <p:cNvPr id="276" name="Google Shape;276;p36"/>
          <p:cNvSpPr txBox="1"/>
          <p:nvPr>
            <p:ph type="body" idx="1"/>
          </p:nvPr>
        </p:nvSpPr>
        <p:spPr bwMode="auto">
          <a:xfrm>
            <a:off x="1689825" y="1000025"/>
            <a:ext cx="5014200" cy="3410400"/>
          </a:xfrm>
          <a:prstGeom prst="rect">
            <a:avLst/>
          </a:prstGeom>
        </p:spPr>
        <p:txBody>
          <a:bodyPr spcFirstLastPara="1" wrap="square" lIns="91425" tIns="91425" rIns="91425" bIns="91425" anchor="t" anchorCtr="0">
            <a:noAutofit/>
          </a:bodyPr>
          <a:lstStyle/>
          <a:p>
            <a:pPr marL="0" lvl="0" indent="0" algn="l">
              <a:lnSpc>
                <a:spcPct val="100000"/>
              </a:lnSpc>
              <a:spcBef>
                <a:spcPts val="0"/>
              </a:spcBef>
              <a:spcAft>
                <a:spcPts val="0"/>
              </a:spcAft>
              <a:buNone/>
              <a:defRPr/>
            </a:pPr>
            <a:r>
              <a:rPr lang="en" sz="1300">
                <a:solidFill>
                  <a:srgbClr val="0000FF"/>
                </a:solidFill>
                <a:highlight>
                  <a:srgbClr val="FFFFFE"/>
                </a:highlight>
                <a:latin typeface="Courier New"/>
                <a:ea typeface="Courier New"/>
                <a:cs typeface="Courier New"/>
              </a:rPr>
              <a:t>class</a:t>
            </a:r>
            <a:r>
              <a:rPr lang="en" sz="1300">
                <a:solidFill>
                  <a:schemeClr val="dk1"/>
                </a:solidFill>
                <a:highlight>
                  <a:srgbClr val="FFFFFE"/>
                </a:highlight>
                <a:latin typeface="Courier New"/>
                <a:ea typeface="Courier New"/>
                <a:cs typeface="Courier New"/>
              </a:rPr>
              <a:t> Rectangle:</a:t>
            </a:r>
            <a:endParaRPr sz="1300">
              <a:solidFill>
                <a:schemeClr val="dk1"/>
              </a:solidFill>
              <a:highlight>
                <a:srgbClr val="FFFFFE"/>
              </a:highlight>
              <a:latin typeface="Courier New"/>
              <a:ea typeface="Courier New"/>
              <a:cs typeface="Courier New"/>
            </a:endParaRPr>
          </a:p>
          <a:p>
            <a:pPr marL="0" lvl="0" indent="0" algn="l">
              <a:lnSpc>
                <a:spcPct val="100000"/>
              </a:lnSpc>
              <a:spcBef>
                <a:spcPts val="0"/>
              </a:spcBef>
              <a:spcAft>
                <a:spcPts val="0"/>
              </a:spcAft>
              <a:buClr>
                <a:schemeClr val="dk1"/>
              </a:buClr>
              <a:buSzPts val="1100"/>
              <a:buFont typeface="Arial"/>
              <a:buNone/>
              <a:defRPr/>
            </a:pPr>
            <a:endParaRPr sz="1300">
              <a:solidFill>
                <a:schemeClr val="dk1"/>
              </a:solidFill>
              <a:highlight>
                <a:srgbClr val="FFFFFE"/>
              </a:highlight>
              <a:latin typeface="Courier New"/>
              <a:ea typeface="Courier New"/>
              <a:cs typeface="Courier New"/>
            </a:endParaRPr>
          </a:p>
          <a:p>
            <a:pPr marL="0" lvl="0" indent="0" algn="l">
              <a:lnSpc>
                <a:spcPct val="100000"/>
              </a:lnSpc>
              <a:spcBef>
                <a:spcPts val="0"/>
              </a:spcBef>
              <a:spcAft>
                <a:spcPts val="0"/>
              </a:spcAft>
              <a:buClr>
                <a:schemeClr val="dk1"/>
              </a:buClr>
              <a:buSzPts val="1100"/>
              <a:buFont typeface="Arial"/>
              <a:buNone/>
              <a:defRPr/>
            </a:pPr>
            <a:r>
              <a:rPr lang="en" sz="1300">
                <a:solidFill>
                  <a:schemeClr val="dk1"/>
                </a:solidFill>
                <a:highlight>
                  <a:srgbClr val="FFFFFE"/>
                </a:highlight>
                <a:latin typeface="Courier New"/>
                <a:ea typeface="Courier New"/>
                <a:cs typeface="Courier New"/>
              </a:rPr>
              <a:t>   counter = </a:t>
            </a:r>
            <a:r>
              <a:rPr lang="en" sz="1300">
                <a:solidFill>
                  <a:srgbClr val="09885A"/>
                </a:solidFill>
                <a:highlight>
                  <a:srgbClr val="FFFFFE"/>
                </a:highlight>
                <a:latin typeface="Courier New"/>
                <a:ea typeface="Courier New"/>
                <a:cs typeface="Courier New"/>
              </a:rPr>
              <a:t>0</a:t>
            </a:r>
            <a:endParaRPr sz="1300">
              <a:solidFill>
                <a:srgbClr val="09885A"/>
              </a:solidFill>
              <a:highlight>
                <a:srgbClr val="FFFFFE"/>
              </a:highlight>
              <a:latin typeface="Courier New"/>
              <a:ea typeface="Courier New"/>
              <a:cs typeface="Courier New"/>
            </a:endParaRPr>
          </a:p>
          <a:p>
            <a:pPr marL="0" lvl="0" indent="0" algn="l">
              <a:lnSpc>
                <a:spcPct val="100000"/>
              </a:lnSpc>
              <a:spcBef>
                <a:spcPts val="0"/>
              </a:spcBef>
              <a:spcAft>
                <a:spcPts val="0"/>
              </a:spcAft>
              <a:buClr>
                <a:schemeClr val="dk1"/>
              </a:buClr>
              <a:buSzPts val="1100"/>
              <a:buFont typeface="Arial"/>
              <a:buNone/>
              <a:defRPr/>
            </a:pPr>
            <a:endParaRPr sz="1300">
              <a:solidFill>
                <a:schemeClr val="dk1"/>
              </a:solidFill>
              <a:highlight>
                <a:srgbClr val="FFFFFE"/>
              </a:highlight>
              <a:latin typeface="Courier New"/>
              <a:ea typeface="Courier New"/>
              <a:cs typeface="Courier New"/>
            </a:endParaRPr>
          </a:p>
          <a:p>
            <a:pPr marL="0" lvl="0" indent="0" algn="l">
              <a:lnSpc>
                <a:spcPct val="100000"/>
              </a:lnSpc>
              <a:spcBef>
                <a:spcPts val="0"/>
              </a:spcBef>
              <a:spcAft>
                <a:spcPts val="0"/>
              </a:spcAft>
              <a:buClr>
                <a:schemeClr val="dk1"/>
              </a:buClr>
              <a:buSzPts val="1100"/>
              <a:buFont typeface="Arial"/>
              <a:buNone/>
              <a:defRPr/>
            </a:pPr>
            <a:r>
              <a:rPr lang="en" sz="1300">
                <a:solidFill>
                  <a:schemeClr val="dk1"/>
                </a:solidFill>
                <a:highlight>
                  <a:srgbClr val="FFFFFE"/>
                </a:highlight>
                <a:latin typeface="Courier New"/>
                <a:ea typeface="Courier New"/>
                <a:cs typeface="Courier New"/>
              </a:rPr>
              <a:t>   </a:t>
            </a:r>
            <a:r>
              <a:rPr lang="en" sz="1300">
                <a:solidFill>
                  <a:srgbClr val="0000FF"/>
                </a:solidFill>
                <a:highlight>
                  <a:srgbClr val="FFFFFE"/>
                </a:highlight>
                <a:latin typeface="Courier New"/>
                <a:ea typeface="Courier New"/>
                <a:cs typeface="Courier New"/>
              </a:rPr>
              <a:t>def</a:t>
            </a:r>
            <a:r>
              <a:rPr lang="en" sz="1300">
                <a:solidFill>
                  <a:schemeClr val="dk1"/>
                </a:solidFill>
                <a:highlight>
                  <a:srgbClr val="FFFFFE"/>
                </a:highlight>
                <a:latin typeface="Courier New"/>
                <a:ea typeface="Courier New"/>
                <a:cs typeface="Courier New"/>
              </a:rPr>
              <a:t> </a:t>
            </a:r>
            <a:r>
              <a:rPr lang="en" sz="1300">
                <a:solidFill>
                  <a:srgbClr val="795E26"/>
                </a:solidFill>
                <a:highlight>
                  <a:srgbClr val="FFFFFE"/>
                </a:highlight>
                <a:latin typeface="Courier New"/>
                <a:ea typeface="Courier New"/>
                <a:cs typeface="Courier New"/>
              </a:rPr>
              <a:t>__init__</a:t>
            </a:r>
            <a:r>
              <a:rPr lang="en" sz="1300">
                <a:solidFill>
                  <a:schemeClr val="dk1"/>
                </a:solidFill>
                <a:highlight>
                  <a:srgbClr val="FFFFFE"/>
                </a:highlight>
                <a:latin typeface="Courier New"/>
                <a:ea typeface="Courier New"/>
                <a:cs typeface="Courier New"/>
              </a:rPr>
              <a:t>(</a:t>
            </a:r>
            <a:r>
              <a:rPr lang="en" sz="1300">
                <a:solidFill>
                  <a:srgbClr val="001080"/>
                </a:solidFill>
                <a:highlight>
                  <a:srgbClr val="FFFFFE"/>
                </a:highlight>
                <a:latin typeface="Courier New"/>
                <a:ea typeface="Courier New"/>
                <a:cs typeface="Courier New"/>
              </a:rPr>
              <a:t>self</a:t>
            </a:r>
            <a:r>
              <a:rPr lang="en" sz="1300">
                <a:solidFill>
                  <a:schemeClr val="dk1"/>
                </a:solidFill>
                <a:highlight>
                  <a:srgbClr val="FFFFFE"/>
                </a:highlight>
                <a:latin typeface="Courier New"/>
                <a:ea typeface="Courier New"/>
                <a:cs typeface="Courier New"/>
              </a:rPr>
              <a:t>, </a:t>
            </a:r>
            <a:r>
              <a:rPr lang="en" sz="1300">
                <a:solidFill>
                  <a:srgbClr val="001080"/>
                </a:solidFill>
                <a:highlight>
                  <a:srgbClr val="FFFFFE"/>
                </a:highlight>
                <a:latin typeface="Courier New"/>
                <a:ea typeface="Courier New"/>
                <a:cs typeface="Courier New"/>
              </a:rPr>
              <a:t>length</a:t>
            </a:r>
            <a:r>
              <a:rPr lang="en" sz="1300">
                <a:solidFill>
                  <a:schemeClr val="dk1"/>
                </a:solidFill>
                <a:highlight>
                  <a:srgbClr val="FFFFFE"/>
                </a:highlight>
                <a:latin typeface="Courier New"/>
                <a:ea typeface="Courier New"/>
                <a:cs typeface="Courier New"/>
              </a:rPr>
              <a:t>, </a:t>
            </a:r>
            <a:r>
              <a:rPr lang="en" sz="1300">
                <a:solidFill>
                  <a:srgbClr val="001080"/>
                </a:solidFill>
                <a:highlight>
                  <a:srgbClr val="FFFFFE"/>
                </a:highlight>
                <a:latin typeface="Courier New"/>
                <a:ea typeface="Courier New"/>
                <a:cs typeface="Courier New"/>
              </a:rPr>
              <a:t>breadth</a:t>
            </a:r>
            <a:r>
              <a:rPr lang="en" sz="1300">
                <a:solidFill>
                  <a:schemeClr val="dk1"/>
                </a:solidFill>
                <a:highlight>
                  <a:srgbClr val="FFFFFE"/>
                </a:highlight>
                <a:latin typeface="Courier New"/>
                <a:ea typeface="Courier New"/>
                <a:cs typeface="Courier New"/>
              </a:rPr>
              <a:t>):</a:t>
            </a:r>
            <a:endParaRPr sz="1300">
              <a:solidFill>
                <a:schemeClr val="dk1"/>
              </a:solidFill>
              <a:highlight>
                <a:srgbClr val="FFFFFE"/>
              </a:highlight>
              <a:latin typeface="Courier New"/>
              <a:ea typeface="Courier New"/>
              <a:cs typeface="Courier New"/>
            </a:endParaRPr>
          </a:p>
          <a:p>
            <a:pPr marL="0" lvl="0" indent="0" algn="l">
              <a:lnSpc>
                <a:spcPct val="100000"/>
              </a:lnSpc>
              <a:spcBef>
                <a:spcPts val="0"/>
              </a:spcBef>
              <a:spcAft>
                <a:spcPts val="0"/>
              </a:spcAft>
              <a:buClr>
                <a:schemeClr val="dk1"/>
              </a:buClr>
              <a:buSzPts val="1100"/>
              <a:buFont typeface="Arial"/>
              <a:buNone/>
              <a:defRPr/>
            </a:pPr>
            <a:r>
              <a:rPr lang="en" sz="1300">
                <a:solidFill>
                  <a:schemeClr val="dk1"/>
                </a:solidFill>
                <a:highlight>
                  <a:srgbClr val="FFFFFE"/>
                </a:highlight>
                <a:latin typeface="Courier New"/>
                <a:ea typeface="Courier New"/>
                <a:cs typeface="Courier New"/>
              </a:rPr>
              <a:t>       </a:t>
            </a:r>
            <a:r>
              <a:rPr lang="en" sz="1300">
                <a:solidFill>
                  <a:srgbClr val="001080"/>
                </a:solidFill>
                <a:highlight>
                  <a:srgbClr val="FFFFFE"/>
                </a:highlight>
                <a:latin typeface="Courier New"/>
                <a:ea typeface="Courier New"/>
                <a:cs typeface="Courier New"/>
              </a:rPr>
              <a:t>self</a:t>
            </a:r>
            <a:r>
              <a:rPr lang="en" sz="1300">
                <a:solidFill>
                  <a:schemeClr val="dk1"/>
                </a:solidFill>
                <a:highlight>
                  <a:srgbClr val="FFFFFE"/>
                </a:highlight>
                <a:latin typeface="Courier New"/>
                <a:ea typeface="Courier New"/>
                <a:cs typeface="Courier New"/>
              </a:rPr>
              <a:t>.length = length</a:t>
            </a:r>
            <a:endParaRPr sz="1300">
              <a:solidFill>
                <a:schemeClr val="dk1"/>
              </a:solidFill>
              <a:highlight>
                <a:srgbClr val="FFFFFE"/>
              </a:highlight>
              <a:latin typeface="Courier New"/>
              <a:ea typeface="Courier New"/>
              <a:cs typeface="Courier New"/>
            </a:endParaRPr>
          </a:p>
          <a:p>
            <a:pPr marL="0" lvl="0" indent="0" algn="l">
              <a:lnSpc>
                <a:spcPct val="100000"/>
              </a:lnSpc>
              <a:spcBef>
                <a:spcPts val="0"/>
              </a:spcBef>
              <a:spcAft>
                <a:spcPts val="0"/>
              </a:spcAft>
              <a:buClr>
                <a:schemeClr val="dk1"/>
              </a:buClr>
              <a:buSzPts val="1100"/>
              <a:buFont typeface="Arial"/>
              <a:buNone/>
              <a:defRPr/>
            </a:pPr>
            <a:r>
              <a:rPr lang="en" sz="1300">
                <a:solidFill>
                  <a:schemeClr val="dk1"/>
                </a:solidFill>
                <a:highlight>
                  <a:srgbClr val="FFFFFE"/>
                </a:highlight>
                <a:latin typeface="Courier New"/>
                <a:ea typeface="Courier New"/>
                <a:cs typeface="Courier New"/>
              </a:rPr>
              <a:t>       </a:t>
            </a:r>
            <a:r>
              <a:rPr lang="en" sz="1300">
                <a:solidFill>
                  <a:srgbClr val="001080"/>
                </a:solidFill>
                <a:highlight>
                  <a:srgbClr val="FFFFFE"/>
                </a:highlight>
                <a:latin typeface="Courier New"/>
                <a:ea typeface="Courier New"/>
                <a:cs typeface="Courier New"/>
              </a:rPr>
              <a:t>self</a:t>
            </a:r>
            <a:r>
              <a:rPr lang="en" sz="1300">
                <a:solidFill>
                  <a:schemeClr val="dk1"/>
                </a:solidFill>
                <a:highlight>
                  <a:srgbClr val="FFFFFE"/>
                </a:highlight>
                <a:latin typeface="Courier New"/>
                <a:ea typeface="Courier New"/>
                <a:cs typeface="Courier New"/>
              </a:rPr>
              <a:t>.breadth = breadth</a:t>
            </a:r>
            <a:endParaRPr sz="1300">
              <a:solidFill>
                <a:schemeClr val="dk1"/>
              </a:solidFill>
              <a:highlight>
                <a:srgbClr val="FFFFFE"/>
              </a:highlight>
              <a:latin typeface="Courier New"/>
              <a:ea typeface="Courier New"/>
              <a:cs typeface="Courier New"/>
            </a:endParaRPr>
          </a:p>
          <a:p>
            <a:pPr marL="0" lvl="0" indent="0" algn="l">
              <a:lnSpc>
                <a:spcPct val="100000"/>
              </a:lnSpc>
              <a:spcBef>
                <a:spcPts val="0"/>
              </a:spcBef>
              <a:spcAft>
                <a:spcPts val="0"/>
              </a:spcAft>
              <a:buClr>
                <a:schemeClr val="dk1"/>
              </a:buClr>
              <a:buSzPts val="1100"/>
              <a:buFont typeface="Arial"/>
              <a:buNone/>
              <a:defRPr/>
            </a:pPr>
            <a:r>
              <a:rPr lang="en" sz="1300">
                <a:solidFill>
                  <a:schemeClr val="dk1"/>
                </a:solidFill>
                <a:highlight>
                  <a:srgbClr val="FFFFFE"/>
                </a:highlight>
                <a:latin typeface="Courier New"/>
                <a:ea typeface="Courier New"/>
                <a:cs typeface="Courier New"/>
              </a:rPr>
              <a:t>       Rectangle.counter += </a:t>
            </a:r>
            <a:r>
              <a:rPr lang="en" sz="1300">
                <a:solidFill>
                  <a:srgbClr val="09885A"/>
                </a:solidFill>
                <a:highlight>
                  <a:srgbClr val="FFFFFE"/>
                </a:highlight>
                <a:latin typeface="Courier New"/>
                <a:ea typeface="Courier New"/>
                <a:cs typeface="Courier New"/>
              </a:rPr>
              <a:t>1</a:t>
            </a:r>
            <a:endParaRPr sz="1300">
              <a:solidFill>
                <a:srgbClr val="09885A"/>
              </a:solidFill>
              <a:highlight>
                <a:srgbClr val="FFFFFE"/>
              </a:highlight>
              <a:latin typeface="Courier New"/>
              <a:ea typeface="Courier New"/>
              <a:cs typeface="Courier New"/>
            </a:endParaRPr>
          </a:p>
          <a:p>
            <a:pPr marL="0" lvl="0" indent="0" algn="l">
              <a:lnSpc>
                <a:spcPct val="100000"/>
              </a:lnSpc>
              <a:spcBef>
                <a:spcPts val="0"/>
              </a:spcBef>
              <a:spcAft>
                <a:spcPts val="0"/>
              </a:spcAft>
              <a:buClr>
                <a:schemeClr val="dk1"/>
              </a:buClr>
              <a:buSzPts val="1100"/>
              <a:buFont typeface="Arial"/>
              <a:buNone/>
              <a:defRPr/>
            </a:pPr>
            <a:endParaRPr sz="1300">
              <a:solidFill>
                <a:srgbClr val="09885A"/>
              </a:solidFill>
              <a:highlight>
                <a:srgbClr val="FFFFFE"/>
              </a:highlight>
              <a:latin typeface="Courier New"/>
              <a:ea typeface="Courier New"/>
              <a:cs typeface="Courier New"/>
            </a:endParaRPr>
          </a:p>
          <a:p>
            <a:pPr marL="0" lvl="0" indent="0" algn="l">
              <a:lnSpc>
                <a:spcPct val="100000"/>
              </a:lnSpc>
              <a:spcBef>
                <a:spcPts val="0"/>
              </a:spcBef>
              <a:spcAft>
                <a:spcPts val="0"/>
              </a:spcAft>
              <a:buClr>
                <a:schemeClr val="dk1"/>
              </a:buClr>
              <a:buSzPts val="1100"/>
              <a:buFont typeface="Arial"/>
              <a:buNone/>
              <a:defRPr/>
            </a:pPr>
            <a:r>
              <a:rPr lang="en" sz="1300">
                <a:solidFill>
                  <a:schemeClr val="dk1"/>
                </a:solidFill>
                <a:highlight>
                  <a:srgbClr val="FFFFFE"/>
                </a:highlight>
                <a:latin typeface="Courier New"/>
                <a:ea typeface="Courier New"/>
                <a:cs typeface="Courier New"/>
              </a:rPr>
              <a:t>   </a:t>
            </a:r>
            <a:r>
              <a:rPr lang="en" sz="1300">
                <a:solidFill>
                  <a:srgbClr val="795E26"/>
                </a:solidFill>
                <a:highlight>
                  <a:srgbClr val="FFFFFE"/>
                </a:highlight>
                <a:latin typeface="Courier New"/>
                <a:ea typeface="Courier New"/>
                <a:cs typeface="Courier New"/>
              </a:rPr>
              <a:t>@classmethod</a:t>
            </a:r>
            <a:endParaRPr sz="1300">
              <a:solidFill>
                <a:srgbClr val="795E26"/>
              </a:solidFill>
              <a:highlight>
                <a:srgbClr val="FFFFFE"/>
              </a:highlight>
              <a:latin typeface="Courier New"/>
              <a:ea typeface="Courier New"/>
              <a:cs typeface="Courier New"/>
            </a:endParaRPr>
          </a:p>
          <a:p>
            <a:pPr marL="0" lvl="0" indent="0" algn="l">
              <a:lnSpc>
                <a:spcPct val="100000"/>
              </a:lnSpc>
              <a:spcBef>
                <a:spcPts val="0"/>
              </a:spcBef>
              <a:spcAft>
                <a:spcPts val="0"/>
              </a:spcAft>
              <a:buClr>
                <a:schemeClr val="dk1"/>
              </a:buClr>
              <a:buSzPts val="1100"/>
              <a:buFont typeface="Arial"/>
              <a:buNone/>
              <a:defRPr/>
            </a:pPr>
            <a:r>
              <a:rPr lang="en" sz="1300">
                <a:solidFill>
                  <a:schemeClr val="dk1"/>
                </a:solidFill>
                <a:highlight>
                  <a:srgbClr val="FFFFFE"/>
                </a:highlight>
                <a:latin typeface="Courier New"/>
                <a:ea typeface="Courier New"/>
                <a:cs typeface="Courier New"/>
              </a:rPr>
              <a:t>   </a:t>
            </a:r>
            <a:r>
              <a:rPr lang="en" sz="1300">
                <a:solidFill>
                  <a:srgbClr val="0000FF"/>
                </a:solidFill>
                <a:highlight>
                  <a:srgbClr val="FFFFFE"/>
                </a:highlight>
                <a:latin typeface="Courier New"/>
                <a:ea typeface="Courier New"/>
                <a:cs typeface="Courier New"/>
              </a:rPr>
              <a:t>def</a:t>
            </a:r>
            <a:r>
              <a:rPr lang="en" sz="1300">
                <a:solidFill>
                  <a:schemeClr val="dk1"/>
                </a:solidFill>
                <a:highlight>
                  <a:srgbClr val="FFFFFE"/>
                </a:highlight>
                <a:latin typeface="Courier New"/>
                <a:ea typeface="Courier New"/>
                <a:cs typeface="Courier New"/>
              </a:rPr>
              <a:t> </a:t>
            </a:r>
            <a:r>
              <a:rPr lang="en" sz="1300">
                <a:solidFill>
                  <a:srgbClr val="795E26"/>
                </a:solidFill>
                <a:highlight>
                  <a:srgbClr val="FFFFFE"/>
                </a:highlight>
                <a:latin typeface="Courier New"/>
                <a:ea typeface="Courier New"/>
                <a:cs typeface="Courier New"/>
              </a:rPr>
              <a:t>get_count</a:t>
            </a:r>
            <a:r>
              <a:rPr lang="en" sz="1300">
                <a:solidFill>
                  <a:schemeClr val="dk1"/>
                </a:solidFill>
                <a:highlight>
                  <a:srgbClr val="FFFFFE"/>
                </a:highlight>
                <a:latin typeface="Courier New"/>
                <a:ea typeface="Courier New"/>
                <a:cs typeface="Courier New"/>
              </a:rPr>
              <a:t>(</a:t>
            </a:r>
            <a:r>
              <a:rPr lang="en" sz="1300">
                <a:solidFill>
                  <a:srgbClr val="001080"/>
                </a:solidFill>
                <a:highlight>
                  <a:srgbClr val="FFFFFE"/>
                </a:highlight>
                <a:latin typeface="Courier New"/>
                <a:ea typeface="Courier New"/>
                <a:cs typeface="Courier New"/>
              </a:rPr>
              <a:t>cls</a:t>
            </a:r>
            <a:r>
              <a:rPr lang="en" sz="1300">
                <a:solidFill>
                  <a:schemeClr val="dk1"/>
                </a:solidFill>
                <a:highlight>
                  <a:srgbClr val="FFFFFE"/>
                </a:highlight>
                <a:latin typeface="Courier New"/>
                <a:ea typeface="Courier New"/>
                <a:cs typeface="Courier New"/>
              </a:rPr>
              <a:t>):</a:t>
            </a:r>
            <a:endParaRPr sz="1300">
              <a:solidFill>
                <a:schemeClr val="dk1"/>
              </a:solidFill>
              <a:highlight>
                <a:srgbClr val="FFFFFE"/>
              </a:highlight>
              <a:latin typeface="Courier New"/>
              <a:ea typeface="Courier New"/>
              <a:cs typeface="Courier New"/>
            </a:endParaRPr>
          </a:p>
          <a:p>
            <a:pPr marL="0" lvl="0" indent="0" algn="l">
              <a:lnSpc>
                <a:spcPct val="100000"/>
              </a:lnSpc>
              <a:spcBef>
                <a:spcPts val="0"/>
              </a:spcBef>
              <a:spcAft>
                <a:spcPts val="0"/>
              </a:spcAft>
              <a:buClr>
                <a:schemeClr val="dk1"/>
              </a:buClr>
              <a:buSzPts val="1100"/>
              <a:buFont typeface="Arial"/>
              <a:buNone/>
              <a:defRPr/>
            </a:pPr>
            <a:r>
              <a:rPr lang="en" sz="1300">
                <a:solidFill>
                  <a:schemeClr val="dk1"/>
                </a:solidFill>
                <a:highlight>
                  <a:srgbClr val="FFFFFE"/>
                </a:highlight>
                <a:latin typeface="Courier New"/>
                <a:ea typeface="Courier New"/>
                <a:cs typeface="Courier New"/>
              </a:rPr>
              <a:t>       </a:t>
            </a:r>
            <a:r>
              <a:rPr lang="en" sz="1300">
                <a:solidFill>
                  <a:srgbClr val="AF00DB"/>
                </a:solidFill>
                <a:highlight>
                  <a:srgbClr val="FFFFFE"/>
                </a:highlight>
                <a:latin typeface="Courier New"/>
                <a:ea typeface="Courier New"/>
                <a:cs typeface="Courier New"/>
              </a:rPr>
              <a:t>return</a:t>
            </a:r>
            <a:r>
              <a:rPr lang="en" sz="1300">
                <a:solidFill>
                  <a:schemeClr val="dk1"/>
                </a:solidFill>
                <a:highlight>
                  <a:srgbClr val="FFFFFE"/>
                </a:highlight>
                <a:latin typeface="Courier New"/>
                <a:ea typeface="Courier New"/>
                <a:cs typeface="Courier New"/>
              </a:rPr>
              <a:t> cls.counter</a:t>
            </a:r>
            <a:endParaRPr sz="1300">
              <a:solidFill>
                <a:schemeClr val="dk1"/>
              </a:solidFill>
              <a:highlight>
                <a:srgbClr val="FFFFFE"/>
              </a:highlight>
              <a:latin typeface="Courier New"/>
              <a:ea typeface="Courier New"/>
              <a:cs typeface="Courier New"/>
            </a:endParaRPr>
          </a:p>
          <a:p>
            <a:pPr marL="0" lvl="0" indent="0" algn="l">
              <a:lnSpc>
                <a:spcPct val="100000"/>
              </a:lnSpc>
              <a:spcBef>
                <a:spcPts val="0"/>
              </a:spcBef>
              <a:spcAft>
                <a:spcPts val="0"/>
              </a:spcAft>
              <a:buClr>
                <a:schemeClr val="dk1"/>
              </a:buClr>
              <a:buSzPts val="1100"/>
              <a:buFont typeface="Arial"/>
              <a:buNone/>
              <a:defRPr/>
            </a:pPr>
            <a:endParaRPr sz="1300">
              <a:solidFill>
                <a:schemeClr val="dk1"/>
              </a:solidFill>
              <a:highlight>
                <a:srgbClr val="FFFFFE"/>
              </a:highlight>
              <a:latin typeface="Courier New"/>
              <a:ea typeface="Courier New"/>
              <a:cs typeface="Courier New"/>
            </a:endParaRPr>
          </a:p>
          <a:p>
            <a:pPr marL="0" lvl="0" indent="0" algn="l">
              <a:lnSpc>
                <a:spcPct val="100000"/>
              </a:lnSpc>
              <a:spcBef>
                <a:spcPts val="0"/>
              </a:spcBef>
              <a:spcAft>
                <a:spcPts val="0"/>
              </a:spcAft>
              <a:buClr>
                <a:schemeClr val="dk1"/>
              </a:buClr>
              <a:buSzPts val="1100"/>
              <a:buFont typeface="Arial"/>
              <a:buNone/>
              <a:defRPr/>
            </a:pPr>
            <a:r>
              <a:rPr lang="en" sz="1300">
                <a:solidFill>
                  <a:schemeClr val="dk1"/>
                </a:solidFill>
                <a:highlight>
                  <a:srgbClr val="FFFFFE"/>
                </a:highlight>
                <a:latin typeface="Courier New"/>
                <a:ea typeface="Courier New"/>
                <a:cs typeface="Courier New"/>
              </a:rPr>
              <a:t>   </a:t>
            </a:r>
            <a:r>
              <a:rPr lang="en" sz="1300">
                <a:solidFill>
                  <a:srgbClr val="795E26"/>
                </a:solidFill>
                <a:highlight>
                  <a:srgbClr val="FFFFFE"/>
                </a:highlight>
                <a:latin typeface="Courier New"/>
                <a:ea typeface="Courier New"/>
                <a:cs typeface="Courier New"/>
              </a:rPr>
              <a:t>@staticmethod</a:t>
            </a:r>
            <a:endParaRPr sz="1300">
              <a:solidFill>
                <a:srgbClr val="795E26"/>
              </a:solidFill>
              <a:highlight>
                <a:srgbClr val="FFFFFE"/>
              </a:highlight>
              <a:latin typeface="Courier New"/>
              <a:ea typeface="Courier New"/>
              <a:cs typeface="Courier New"/>
            </a:endParaRPr>
          </a:p>
          <a:p>
            <a:pPr marL="0" lvl="0" indent="0" algn="l">
              <a:lnSpc>
                <a:spcPct val="100000"/>
              </a:lnSpc>
              <a:spcBef>
                <a:spcPts val="0"/>
              </a:spcBef>
              <a:spcAft>
                <a:spcPts val="0"/>
              </a:spcAft>
              <a:buClr>
                <a:schemeClr val="dk1"/>
              </a:buClr>
              <a:buSzPts val="1100"/>
              <a:buFont typeface="Arial"/>
              <a:buNone/>
              <a:defRPr/>
            </a:pPr>
            <a:r>
              <a:rPr lang="en" sz="1300">
                <a:solidFill>
                  <a:schemeClr val="dk1"/>
                </a:solidFill>
                <a:highlight>
                  <a:srgbClr val="FFFFFE"/>
                </a:highlight>
                <a:latin typeface="Courier New"/>
                <a:ea typeface="Courier New"/>
                <a:cs typeface="Courier New"/>
              </a:rPr>
              <a:t>   </a:t>
            </a:r>
            <a:r>
              <a:rPr lang="en" sz="1300">
                <a:solidFill>
                  <a:srgbClr val="0000FF"/>
                </a:solidFill>
                <a:highlight>
                  <a:srgbClr val="FFFFFE"/>
                </a:highlight>
                <a:latin typeface="Courier New"/>
                <a:ea typeface="Courier New"/>
                <a:cs typeface="Courier New"/>
              </a:rPr>
              <a:t>def</a:t>
            </a:r>
            <a:r>
              <a:rPr lang="en" sz="1300">
                <a:solidFill>
                  <a:schemeClr val="dk1"/>
                </a:solidFill>
                <a:highlight>
                  <a:srgbClr val="FFFFFE"/>
                </a:highlight>
                <a:latin typeface="Courier New"/>
                <a:ea typeface="Courier New"/>
                <a:cs typeface="Courier New"/>
              </a:rPr>
              <a:t> </a:t>
            </a:r>
            <a:r>
              <a:rPr lang="en" sz="1300">
                <a:solidFill>
                  <a:srgbClr val="795E26"/>
                </a:solidFill>
                <a:highlight>
                  <a:srgbClr val="FFFFFE"/>
                </a:highlight>
                <a:latin typeface="Courier New"/>
                <a:ea typeface="Courier New"/>
                <a:cs typeface="Courier New"/>
              </a:rPr>
              <a:t>calculate_perimeter</a:t>
            </a:r>
            <a:r>
              <a:rPr lang="en" sz="1300">
                <a:solidFill>
                  <a:schemeClr val="dk1"/>
                </a:solidFill>
                <a:highlight>
                  <a:srgbClr val="FFFFFE"/>
                </a:highlight>
                <a:latin typeface="Courier New"/>
                <a:ea typeface="Courier New"/>
                <a:cs typeface="Courier New"/>
              </a:rPr>
              <a:t>(</a:t>
            </a:r>
            <a:r>
              <a:rPr lang="en" sz="1300">
                <a:solidFill>
                  <a:srgbClr val="001080"/>
                </a:solidFill>
                <a:highlight>
                  <a:srgbClr val="FFFFFE"/>
                </a:highlight>
                <a:latin typeface="Courier New"/>
                <a:ea typeface="Courier New"/>
                <a:cs typeface="Courier New"/>
              </a:rPr>
              <a:t>length</a:t>
            </a:r>
            <a:r>
              <a:rPr lang="en" sz="1300">
                <a:solidFill>
                  <a:schemeClr val="dk1"/>
                </a:solidFill>
                <a:highlight>
                  <a:srgbClr val="FFFFFE"/>
                </a:highlight>
                <a:latin typeface="Courier New"/>
                <a:ea typeface="Courier New"/>
                <a:cs typeface="Courier New"/>
              </a:rPr>
              <a:t>, </a:t>
            </a:r>
            <a:r>
              <a:rPr lang="en" sz="1300">
                <a:solidFill>
                  <a:srgbClr val="001080"/>
                </a:solidFill>
                <a:highlight>
                  <a:srgbClr val="FFFFFE"/>
                </a:highlight>
                <a:latin typeface="Courier New"/>
                <a:ea typeface="Courier New"/>
                <a:cs typeface="Courier New"/>
              </a:rPr>
              <a:t>breadth</a:t>
            </a:r>
            <a:r>
              <a:rPr lang="en" sz="1300">
                <a:solidFill>
                  <a:schemeClr val="dk1"/>
                </a:solidFill>
                <a:highlight>
                  <a:srgbClr val="FFFFFE"/>
                </a:highlight>
                <a:latin typeface="Courier New"/>
                <a:ea typeface="Courier New"/>
                <a:cs typeface="Courier New"/>
              </a:rPr>
              <a:t>):</a:t>
            </a:r>
            <a:endParaRPr sz="1300">
              <a:solidFill>
                <a:schemeClr val="dk1"/>
              </a:solidFill>
              <a:highlight>
                <a:srgbClr val="FFFFFE"/>
              </a:highlight>
              <a:latin typeface="Courier New"/>
              <a:ea typeface="Courier New"/>
              <a:cs typeface="Courier New"/>
            </a:endParaRPr>
          </a:p>
          <a:p>
            <a:pPr marL="0" lvl="0" indent="0" algn="l">
              <a:lnSpc>
                <a:spcPct val="100000"/>
              </a:lnSpc>
              <a:spcBef>
                <a:spcPts val="0"/>
              </a:spcBef>
              <a:spcAft>
                <a:spcPts val="0"/>
              </a:spcAft>
              <a:buClr>
                <a:schemeClr val="dk1"/>
              </a:buClr>
              <a:buSzPts val="1100"/>
              <a:buFont typeface="Arial"/>
              <a:buNone/>
              <a:defRPr/>
            </a:pPr>
            <a:r>
              <a:rPr lang="en" sz="1300">
                <a:solidFill>
                  <a:schemeClr val="dk1"/>
                </a:solidFill>
                <a:highlight>
                  <a:srgbClr val="FFFFFE"/>
                </a:highlight>
                <a:latin typeface="Courier New"/>
                <a:ea typeface="Courier New"/>
                <a:cs typeface="Courier New"/>
              </a:rPr>
              <a:t>       </a:t>
            </a:r>
            <a:r>
              <a:rPr lang="en" sz="1300">
                <a:solidFill>
                  <a:srgbClr val="AF00DB"/>
                </a:solidFill>
                <a:highlight>
                  <a:srgbClr val="FFFFFE"/>
                </a:highlight>
                <a:latin typeface="Courier New"/>
                <a:ea typeface="Courier New"/>
                <a:cs typeface="Courier New"/>
              </a:rPr>
              <a:t>return</a:t>
            </a:r>
            <a:r>
              <a:rPr lang="en" sz="1300">
                <a:solidFill>
                  <a:schemeClr val="dk1"/>
                </a:solidFill>
                <a:highlight>
                  <a:srgbClr val="FFFFFE"/>
                </a:highlight>
                <a:latin typeface="Courier New"/>
                <a:ea typeface="Courier New"/>
                <a:cs typeface="Courier New"/>
              </a:rPr>
              <a:t> </a:t>
            </a:r>
            <a:r>
              <a:rPr lang="en" sz="1300">
                <a:solidFill>
                  <a:srgbClr val="09885A"/>
                </a:solidFill>
                <a:highlight>
                  <a:srgbClr val="FFFFFE"/>
                </a:highlight>
                <a:latin typeface="Courier New"/>
                <a:ea typeface="Courier New"/>
                <a:cs typeface="Courier New"/>
              </a:rPr>
              <a:t>2</a:t>
            </a:r>
            <a:r>
              <a:rPr lang="en" sz="1300">
                <a:solidFill>
                  <a:schemeClr val="dk1"/>
                </a:solidFill>
                <a:highlight>
                  <a:srgbClr val="FFFFFE"/>
                </a:highlight>
                <a:latin typeface="Courier New"/>
                <a:ea typeface="Courier New"/>
                <a:cs typeface="Courier New"/>
              </a:rPr>
              <a:t> * (length + breadth)</a:t>
            </a:r>
            <a:endParaRPr sz="1300">
              <a:solidFill>
                <a:schemeClr val="dk1"/>
              </a:solidFill>
              <a:highlight>
                <a:srgbClr val="FFFFFE"/>
              </a:highlight>
              <a:latin typeface="Courier New"/>
              <a:ea typeface="Courier New"/>
              <a:cs typeface="Courier New"/>
            </a:endParaRPr>
          </a:p>
          <a:p>
            <a:pPr marL="0" lvl="0" indent="0" algn="l">
              <a:lnSpc>
                <a:spcPct val="100000"/>
              </a:lnSpc>
              <a:spcBef>
                <a:spcPts val="0"/>
              </a:spcBef>
              <a:spcAft>
                <a:spcPts val="0"/>
              </a:spcAft>
              <a:buNone/>
              <a:defRPr/>
            </a:pPr>
            <a:endParaRPr sz="1300"/>
          </a:p>
        </p:txBody>
      </p:sp>
      <p:grpSp>
        <p:nvGrpSpPr>
          <p:cNvPr id="277" name="Google Shape;277;p36"/>
          <p:cNvGrpSpPr/>
          <p:nvPr/>
        </p:nvGrpSpPr>
        <p:grpSpPr bwMode="auto">
          <a:xfrm>
            <a:off x="1929850" y="2876195"/>
            <a:ext cx="7097700" cy="644100"/>
            <a:chOff x="1853650" y="2876195"/>
            <a:chExt cx="7097700" cy="644100"/>
          </a:xfrm>
        </p:grpSpPr>
        <p:sp>
          <p:nvSpPr>
            <p:cNvPr id="278" name="Google Shape;278;p36"/>
            <p:cNvSpPr/>
            <p:nvPr/>
          </p:nvSpPr>
          <p:spPr bwMode="auto">
            <a:xfrm>
              <a:off x="1853650" y="2876195"/>
              <a:ext cx="4347600" cy="644100"/>
            </a:xfrm>
            <a:prstGeom prst="rect">
              <a:avLst/>
            </a:prstGeom>
            <a:noFill/>
            <a:ln w="19050"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79" name="Google Shape;279;p36"/>
            <p:cNvSpPr txBox="1"/>
            <p:nvPr/>
          </p:nvSpPr>
          <p:spPr bwMode="auto">
            <a:xfrm>
              <a:off x="6266950" y="2876200"/>
              <a:ext cx="2684400" cy="522300"/>
            </a:xfrm>
            <a:prstGeom prst="rect">
              <a:avLst/>
            </a:prstGeom>
            <a:noFill/>
            <a:ln>
              <a:noFill/>
            </a:ln>
          </p:spPr>
          <p:txBody>
            <a:bodyPr spcFirstLastPara="1" wrap="square" lIns="91425" tIns="0" rIns="91425" bIns="91425" anchor="t" anchorCtr="0">
              <a:noAutofit/>
            </a:bodyPr>
            <a:lstStyle/>
            <a:p>
              <a:pPr marL="0" lvl="0" indent="0" algn="l">
                <a:spcBef>
                  <a:spcPts val="0"/>
                </a:spcBef>
                <a:spcAft>
                  <a:spcPts val="0"/>
                </a:spcAft>
                <a:buNone/>
                <a:defRPr/>
              </a:pPr>
              <a:r>
                <a:rPr lang="en" b="1">
                  <a:latin typeface="Montserrat"/>
                  <a:ea typeface="Montserrat"/>
                  <a:cs typeface="Montserrat"/>
                </a:rPr>
                <a:t>Class method</a:t>
              </a:r>
              <a:endParaRPr b="1">
                <a:latin typeface="Montserrat"/>
                <a:ea typeface="Montserrat"/>
                <a:cs typeface="Montserrat"/>
              </a:endParaRPr>
            </a:p>
            <a:p>
              <a:pPr marL="457200" lvl="0" indent="-311150" algn="l">
                <a:spcBef>
                  <a:spcPts val="0"/>
                </a:spcBef>
                <a:spcAft>
                  <a:spcPts val="0"/>
                </a:spcAft>
                <a:buClr>
                  <a:schemeClr val="dk1"/>
                </a:buClr>
                <a:buSzPts val="1300"/>
                <a:buFont typeface="Montserrat"/>
                <a:buChar char="-"/>
                <a:defRPr/>
              </a:pPr>
              <a:r>
                <a:rPr lang="en" sz="1300">
                  <a:solidFill>
                    <a:schemeClr val="dk1"/>
                  </a:solidFill>
                  <a:latin typeface="Montserrat"/>
                  <a:ea typeface="Montserrat"/>
                  <a:cs typeface="Montserrat"/>
                </a:rPr>
                <a:t>Bound to class only</a:t>
              </a:r>
              <a:endParaRPr sz="1300">
                <a:solidFill>
                  <a:schemeClr val="dk1"/>
                </a:solidFill>
                <a:latin typeface="Montserrat"/>
                <a:ea typeface="Montserrat"/>
                <a:cs typeface="Montserrat"/>
              </a:endParaRPr>
            </a:p>
            <a:p>
              <a:pPr marL="0" lvl="0" indent="0" algn="l">
                <a:spcBef>
                  <a:spcPts val="0"/>
                </a:spcBef>
                <a:spcAft>
                  <a:spcPts val="0"/>
                </a:spcAft>
                <a:buClr>
                  <a:schemeClr val="dk1"/>
                </a:buClr>
                <a:buSzPts val="1100"/>
                <a:buFont typeface="Arial"/>
                <a:buNone/>
                <a:defRPr/>
              </a:pPr>
              <a:endParaRPr>
                <a:solidFill>
                  <a:schemeClr val="dk1"/>
                </a:solidFill>
                <a:latin typeface="Montserrat"/>
                <a:ea typeface="Montserrat"/>
                <a:cs typeface="Montserrat"/>
              </a:endParaRPr>
            </a:p>
            <a:p>
              <a:pPr marL="0" lvl="0" indent="0" algn="l">
                <a:spcBef>
                  <a:spcPts val="0"/>
                </a:spcBef>
                <a:spcAft>
                  <a:spcPts val="0"/>
                </a:spcAft>
                <a:buNone/>
                <a:defRPr/>
              </a:pPr>
              <a:endParaRPr>
                <a:latin typeface="Montserrat"/>
                <a:ea typeface="Montserrat"/>
                <a:cs typeface="Montserrat"/>
              </a:endParaRPr>
            </a:p>
          </p:txBody>
        </p:sp>
      </p:grpSp>
      <p:grpSp>
        <p:nvGrpSpPr>
          <p:cNvPr id="280" name="Google Shape;280;p36"/>
          <p:cNvGrpSpPr/>
          <p:nvPr/>
        </p:nvGrpSpPr>
        <p:grpSpPr bwMode="auto">
          <a:xfrm>
            <a:off x="1929850" y="3676350"/>
            <a:ext cx="7041000" cy="644253"/>
            <a:chOff x="1853650" y="3676350"/>
            <a:chExt cx="7041000" cy="644253"/>
          </a:xfrm>
        </p:grpSpPr>
        <p:sp>
          <p:nvSpPr>
            <p:cNvPr id="281" name="Google Shape;281;p36"/>
            <p:cNvSpPr/>
            <p:nvPr/>
          </p:nvSpPr>
          <p:spPr bwMode="auto">
            <a:xfrm>
              <a:off x="1853650" y="3676503"/>
              <a:ext cx="4347600" cy="644100"/>
            </a:xfrm>
            <a:prstGeom prst="rect">
              <a:avLst/>
            </a:prstGeom>
            <a:noFill/>
            <a:ln w="19050"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82" name="Google Shape;282;p36"/>
            <p:cNvSpPr txBox="1"/>
            <p:nvPr/>
          </p:nvSpPr>
          <p:spPr bwMode="auto">
            <a:xfrm>
              <a:off x="6266950" y="3676350"/>
              <a:ext cx="2627699" cy="522300"/>
            </a:xfrm>
            <a:prstGeom prst="rect">
              <a:avLst/>
            </a:prstGeom>
            <a:noFill/>
            <a:ln>
              <a:noFill/>
            </a:ln>
          </p:spPr>
          <p:txBody>
            <a:bodyPr spcFirstLastPara="1" wrap="square" lIns="91425" tIns="0" rIns="91425" bIns="91425" anchor="t" anchorCtr="0">
              <a:noAutofit/>
            </a:bodyPr>
            <a:lstStyle/>
            <a:p>
              <a:pPr marL="0" lvl="0" indent="0" algn="l">
                <a:spcBef>
                  <a:spcPts val="0"/>
                </a:spcBef>
                <a:spcAft>
                  <a:spcPts val="0"/>
                </a:spcAft>
                <a:buNone/>
                <a:defRPr/>
              </a:pPr>
              <a:r>
                <a:rPr lang="en" b="1">
                  <a:latin typeface="Montserrat"/>
                  <a:ea typeface="Montserrat"/>
                  <a:cs typeface="Montserrat"/>
                </a:rPr>
                <a:t>Static</a:t>
              </a:r>
              <a:r>
                <a:rPr lang="en" b="1">
                  <a:latin typeface="Montserrat"/>
                  <a:ea typeface="Montserrat"/>
                  <a:cs typeface="Montserrat"/>
                </a:rPr>
                <a:t> method</a:t>
              </a:r>
              <a:endParaRPr b="1">
                <a:latin typeface="Montserrat"/>
                <a:ea typeface="Montserrat"/>
                <a:cs typeface="Montserrat"/>
              </a:endParaRPr>
            </a:p>
            <a:p>
              <a:pPr marL="457200" lvl="0" indent="-311150" algn="l">
                <a:spcBef>
                  <a:spcPts val="0"/>
                </a:spcBef>
                <a:spcAft>
                  <a:spcPts val="0"/>
                </a:spcAft>
                <a:buClr>
                  <a:schemeClr val="dk1"/>
                </a:buClr>
                <a:buSzPts val="1300"/>
                <a:buFont typeface="Montserrat"/>
                <a:buChar char="-"/>
                <a:defRPr/>
              </a:pPr>
              <a:r>
                <a:rPr lang="en" sz="1300">
                  <a:solidFill>
                    <a:schemeClr val="dk1"/>
                  </a:solidFill>
                  <a:latin typeface="Montserrat"/>
                  <a:ea typeface="Montserrat"/>
                  <a:cs typeface="Montserrat"/>
                </a:rPr>
                <a:t>Bound to neither class nor instances </a:t>
              </a:r>
              <a:endParaRPr sz="1300">
                <a:solidFill>
                  <a:schemeClr val="dk1"/>
                </a:solidFill>
                <a:latin typeface="Montserrat"/>
                <a:ea typeface="Montserrat"/>
                <a:cs typeface="Montserrat"/>
              </a:endParaRPr>
            </a:p>
            <a:p>
              <a:pPr marL="0" lvl="0" indent="0" algn="l">
                <a:spcBef>
                  <a:spcPts val="0"/>
                </a:spcBef>
                <a:spcAft>
                  <a:spcPts val="0"/>
                </a:spcAft>
                <a:buNone/>
                <a:defRPr/>
              </a:pPr>
              <a:endParaRPr>
                <a:latin typeface="Montserrat"/>
                <a:ea typeface="Montserrat"/>
                <a:cs typeface="Montserrat"/>
              </a:endParaRPr>
            </a:p>
          </p:txBody>
        </p:sp>
      </p:grpSp>
      <p:grpSp>
        <p:nvGrpSpPr>
          <p:cNvPr id="283" name="Google Shape;283;p36"/>
          <p:cNvGrpSpPr/>
          <p:nvPr/>
        </p:nvGrpSpPr>
        <p:grpSpPr bwMode="auto">
          <a:xfrm>
            <a:off x="1929850" y="1845550"/>
            <a:ext cx="6978600" cy="873000"/>
            <a:chOff x="1853650" y="1845550"/>
            <a:chExt cx="6978600" cy="873000"/>
          </a:xfrm>
        </p:grpSpPr>
        <p:sp>
          <p:nvSpPr>
            <p:cNvPr id="284" name="Google Shape;284;p36"/>
            <p:cNvSpPr/>
            <p:nvPr/>
          </p:nvSpPr>
          <p:spPr bwMode="auto">
            <a:xfrm>
              <a:off x="1853650" y="1860550"/>
              <a:ext cx="4347600" cy="858000"/>
            </a:xfrm>
            <a:prstGeom prst="rect">
              <a:avLst/>
            </a:prstGeom>
            <a:noFill/>
            <a:ln w="19050" cap="flat" cmpd="sng">
              <a:solidFill>
                <a:srgbClr val="93C47D"/>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85" name="Google Shape;285;p36"/>
            <p:cNvSpPr txBox="1"/>
            <p:nvPr/>
          </p:nvSpPr>
          <p:spPr bwMode="auto">
            <a:xfrm>
              <a:off x="6266950" y="1845550"/>
              <a:ext cx="2565300" cy="644100"/>
            </a:xfrm>
            <a:prstGeom prst="rect">
              <a:avLst/>
            </a:prstGeom>
            <a:noFill/>
            <a:ln>
              <a:noFill/>
            </a:ln>
          </p:spPr>
          <p:txBody>
            <a:bodyPr spcFirstLastPara="1" wrap="square" lIns="91425" tIns="0" rIns="91425" bIns="91425" anchor="t" anchorCtr="0">
              <a:noAutofit/>
            </a:bodyPr>
            <a:lstStyle/>
            <a:p>
              <a:pPr marL="0" lvl="0" indent="0" algn="l">
                <a:spcBef>
                  <a:spcPts val="0"/>
                </a:spcBef>
                <a:spcAft>
                  <a:spcPts val="0"/>
                </a:spcAft>
                <a:buNone/>
                <a:defRPr/>
              </a:pPr>
              <a:r>
                <a:rPr lang="en" b="1">
                  <a:latin typeface="Montserrat"/>
                  <a:ea typeface="Montserrat"/>
                  <a:cs typeface="Montserrat"/>
                </a:rPr>
                <a:t>Instance</a:t>
              </a:r>
              <a:r>
                <a:rPr lang="en">
                  <a:latin typeface="Montserrat"/>
                  <a:ea typeface="Montserrat"/>
                  <a:cs typeface="Montserrat"/>
                </a:rPr>
                <a:t> </a:t>
              </a:r>
              <a:r>
                <a:rPr lang="en" b="1">
                  <a:latin typeface="Montserrat"/>
                  <a:ea typeface="Montserrat"/>
                  <a:cs typeface="Montserrat"/>
                </a:rPr>
                <a:t>method</a:t>
              </a:r>
              <a:endParaRPr b="1">
                <a:latin typeface="Montserrat"/>
                <a:ea typeface="Montserrat"/>
                <a:cs typeface="Montserrat"/>
              </a:endParaRPr>
            </a:p>
            <a:p>
              <a:pPr marL="457200" lvl="0" indent="-311150" algn="l">
                <a:spcBef>
                  <a:spcPts val="0"/>
                </a:spcBef>
                <a:spcAft>
                  <a:spcPts val="0"/>
                </a:spcAft>
                <a:buSzPts val="1300"/>
                <a:buFont typeface="Montserrat"/>
                <a:buChar char="-"/>
                <a:defRPr/>
              </a:pPr>
              <a:r>
                <a:rPr lang="en" sz="1300">
                  <a:latin typeface="Montserrat"/>
                  <a:ea typeface="Montserrat"/>
                  <a:cs typeface="Montserrat"/>
                </a:rPr>
                <a:t>Bound to instance</a:t>
              </a:r>
              <a:endParaRPr sz="1300">
                <a:latin typeface="Montserrat"/>
                <a:ea typeface="Montserrat"/>
                <a:cs typeface="Montserrat"/>
              </a:endParaRPr>
            </a:p>
          </p:txBody>
        </p:sp>
      </p:grpSp>
      <p:grpSp>
        <p:nvGrpSpPr>
          <p:cNvPr id="286" name="Google Shape;286;p36"/>
          <p:cNvGrpSpPr/>
          <p:nvPr/>
        </p:nvGrpSpPr>
        <p:grpSpPr bwMode="auto">
          <a:xfrm>
            <a:off x="103303" y="1215251"/>
            <a:ext cx="2280809" cy="400103"/>
            <a:chOff x="611183" y="1351964"/>
            <a:chExt cx="1536105" cy="578100"/>
          </a:xfrm>
        </p:grpSpPr>
        <p:sp>
          <p:nvSpPr>
            <p:cNvPr id="287" name="Google Shape;287;p36"/>
            <p:cNvSpPr/>
            <p:nvPr/>
          </p:nvSpPr>
          <p:spPr bwMode="auto">
            <a:xfrm>
              <a:off x="1585501" y="1648970"/>
              <a:ext cx="561787" cy="176453"/>
            </a:xfrm>
            <a:custGeom>
              <a:avLst/>
              <a:gdLst/>
              <a:ahLst/>
              <a:cxnLst/>
              <a:rect l="l" t="t" r="r" b="b"/>
              <a:pathLst>
                <a:path w="29962" h="9488" fill="norm" stroke="1" extrusionOk="0">
                  <a:moveTo>
                    <a:pt x="0" y="0"/>
                  </a:moveTo>
                  <a:lnTo>
                    <a:pt x="29962" y="0"/>
                  </a:lnTo>
                  <a:lnTo>
                    <a:pt x="29962" y="9488"/>
                  </a:lnTo>
                </a:path>
              </a:pathLst>
            </a:custGeom>
            <a:noFill/>
            <a:ln w="19050" cap="flat" cmpd="sng">
              <a:solidFill>
                <a:schemeClr val="dk2"/>
              </a:solidFill>
              <a:prstDash val="solid"/>
              <a:round/>
              <a:headEnd type="none" w="med" len="med"/>
              <a:tailEnd type="oval" w="med" len="med"/>
            </a:ln>
          </p:spPr>
        </p:sp>
        <p:sp>
          <p:nvSpPr>
            <p:cNvPr id="288" name="Google Shape;288;p36"/>
            <p:cNvSpPr txBox="1"/>
            <p:nvPr/>
          </p:nvSpPr>
          <p:spPr bwMode="auto">
            <a:xfrm>
              <a:off x="611183" y="1351964"/>
              <a:ext cx="1015200" cy="578100"/>
            </a:xfrm>
            <a:prstGeom prst="rect">
              <a:avLst/>
            </a:prstGeom>
            <a:noFill/>
            <a:ln>
              <a:noFill/>
            </a:ln>
          </p:spPr>
          <p:txBody>
            <a:bodyPr spcFirstLastPara="1" wrap="square" lIns="91425" tIns="91425" rIns="91425" bIns="91425" anchor="t" anchorCtr="0">
              <a:spAutoFit/>
            </a:bodyPr>
            <a:lstStyle/>
            <a:p>
              <a:pPr marL="0" lvl="0" indent="0" algn="r">
                <a:spcBef>
                  <a:spcPts val="0"/>
                </a:spcBef>
                <a:spcAft>
                  <a:spcPts val="0"/>
                </a:spcAft>
                <a:buNone/>
                <a:defRPr/>
              </a:pPr>
              <a:r>
                <a:rPr lang="en">
                  <a:latin typeface="Montserrat"/>
                  <a:ea typeface="Montserrat"/>
                  <a:cs typeface="Montserrat"/>
                </a:rPr>
                <a:t>Class variable</a:t>
              </a:r>
              <a:endParaRPr>
                <a:latin typeface="Montserrat"/>
                <a:ea typeface="Montserrat"/>
                <a:cs typeface="Montserrat"/>
              </a:endParaRPr>
            </a:p>
          </p:txBody>
        </p:sp>
      </p:grpSp>
      <p:grpSp>
        <p:nvGrpSpPr>
          <p:cNvPr id="289" name="Google Shape;289;p36"/>
          <p:cNvGrpSpPr/>
          <p:nvPr/>
        </p:nvGrpSpPr>
        <p:grpSpPr bwMode="auto">
          <a:xfrm>
            <a:off x="103300" y="2597149"/>
            <a:ext cx="1955361" cy="572700"/>
            <a:chOff x="27100" y="2597149"/>
            <a:chExt cx="1955361" cy="572700"/>
          </a:xfrm>
        </p:grpSpPr>
        <p:cxnSp>
          <p:nvCxnSpPr>
            <p:cNvPr id="290" name="Google Shape;290;p36"/>
            <p:cNvCxnSpPr/>
            <p:nvPr/>
          </p:nvCxnSpPr>
          <p:spPr bwMode="auto">
            <a:xfrm rot="10800000">
              <a:off x="1212061" y="3000191"/>
              <a:ext cx="770400" cy="0"/>
            </a:xfrm>
            <a:prstGeom prst="straightConnector1">
              <a:avLst/>
            </a:prstGeom>
            <a:noFill/>
            <a:ln w="19050" cap="flat" cmpd="sng">
              <a:solidFill>
                <a:schemeClr val="dk2"/>
              </a:solidFill>
              <a:prstDash val="solid"/>
              <a:round/>
              <a:headEnd type="oval" w="med" len="med"/>
              <a:tailEnd type="none" w="med" len="med"/>
            </a:ln>
          </p:spPr>
        </p:cxnSp>
        <p:sp>
          <p:nvSpPr>
            <p:cNvPr id="291" name="Google Shape;291;p36"/>
            <p:cNvSpPr txBox="1"/>
            <p:nvPr/>
          </p:nvSpPr>
          <p:spPr bwMode="auto">
            <a:xfrm>
              <a:off x="27100" y="2597149"/>
              <a:ext cx="1258500" cy="572700"/>
            </a:xfrm>
            <a:prstGeom prst="rect">
              <a:avLst/>
            </a:prstGeom>
            <a:noFill/>
            <a:ln>
              <a:noFill/>
            </a:ln>
          </p:spPr>
          <p:txBody>
            <a:bodyPr spcFirstLastPara="1" wrap="square" lIns="91425" tIns="91425" rIns="91425" bIns="91425" anchor="ctr" anchorCtr="0">
              <a:noAutofit/>
            </a:bodyPr>
            <a:lstStyle/>
            <a:p>
              <a:pPr marL="0" lvl="0" indent="0" algn="r">
                <a:spcBef>
                  <a:spcPts val="0"/>
                </a:spcBef>
                <a:spcAft>
                  <a:spcPts val="0"/>
                </a:spcAft>
                <a:buNone/>
                <a:defRPr/>
              </a:pPr>
              <a:r>
                <a:rPr lang="en" sz="1200">
                  <a:latin typeface="Montserrat"/>
                  <a:ea typeface="Montserrat"/>
                  <a:cs typeface="Montserrat"/>
                </a:rPr>
                <a:t>Class method</a:t>
              </a:r>
              <a:endParaRPr sz="1200">
                <a:latin typeface="Montserrat"/>
                <a:ea typeface="Montserrat"/>
                <a:cs typeface="Montserrat"/>
              </a:endParaRPr>
            </a:p>
            <a:p>
              <a:pPr marL="0" lvl="0" indent="0" algn="r">
                <a:spcBef>
                  <a:spcPts val="0"/>
                </a:spcBef>
                <a:spcAft>
                  <a:spcPts val="0"/>
                </a:spcAft>
                <a:buNone/>
                <a:defRPr/>
              </a:pPr>
              <a:r>
                <a:rPr lang="en" sz="1200">
                  <a:latin typeface="Montserrat"/>
                  <a:ea typeface="Montserrat"/>
                  <a:cs typeface="Montserrat"/>
                </a:rPr>
                <a:t>decorator</a:t>
              </a:r>
              <a:endParaRPr sz="1200">
                <a:latin typeface="Montserrat"/>
                <a:ea typeface="Montserrat"/>
                <a:cs typeface="Montserrat"/>
              </a:endParaRPr>
            </a:p>
          </p:txBody>
        </p:sp>
      </p:grpSp>
      <p:grpSp>
        <p:nvGrpSpPr>
          <p:cNvPr id="292" name="Google Shape;292;p36"/>
          <p:cNvGrpSpPr/>
          <p:nvPr/>
        </p:nvGrpSpPr>
        <p:grpSpPr bwMode="auto">
          <a:xfrm>
            <a:off x="103298" y="3093400"/>
            <a:ext cx="3484407" cy="400200"/>
            <a:chOff x="27098" y="3093400"/>
            <a:chExt cx="3484407" cy="400200"/>
          </a:xfrm>
        </p:grpSpPr>
        <p:sp>
          <p:nvSpPr>
            <p:cNvPr id="293" name="Google Shape;293;p36"/>
            <p:cNvSpPr/>
            <p:nvPr/>
          </p:nvSpPr>
          <p:spPr bwMode="auto">
            <a:xfrm rot="5400000">
              <a:off x="2318557" y="2118521"/>
              <a:ext cx="83894" cy="2302002"/>
            </a:xfrm>
            <a:custGeom>
              <a:avLst/>
              <a:gdLst/>
              <a:ahLst/>
              <a:cxnLst/>
              <a:rect l="l" t="t" r="r" b="b"/>
              <a:pathLst>
                <a:path w="29962" h="9488" fill="norm" stroke="1" extrusionOk="0">
                  <a:moveTo>
                    <a:pt x="0" y="0"/>
                  </a:moveTo>
                  <a:lnTo>
                    <a:pt x="29962" y="0"/>
                  </a:lnTo>
                  <a:lnTo>
                    <a:pt x="29962" y="9488"/>
                  </a:lnTo>
                </a:path>
              </a:pathLst>
            </a:custGeom>
            <a:noFill/>
            <a:ln w="19050" cap="flat" cmpd="sng">
              <a:solidFill>
                <a:schemeClr val="dk2"/>
              </a:solidFill>
              <a:prstDash val="solid"/>
              <a:round/>
              <a:headEnd type="oval" w="med" len="med"/>
              <a:tailEnd type="none" w="med" len="med"/>
            </a:ln>
          </p:spPr>
        </p:sp>
        <p:sp>
          <p:nvSpPr>
            <p:cNvPr id="294" name="Google Shape;294;p36"/>
            <p:cNvSpPr txBox="1"/>
            <p:nvPr/>
          </p:nvSpPr>
          <p:spPr bwMode="auto">
            <a:xfrm>
              <a:off x="27098" y="3093400"/>
              <a:ext cx="1255800" cy="400200"/>
            </a:xfrm>
            <a:prstGeom prst="rect">
              <a:avLst/>
            </a:prstGeom>
            <a:noFill/>
            <a:ln>
              <a:noFill/>
            </a:ln>
          </p:spPr>
          <p:txBody>
            <a:bodyPr spcFirstLastPara="1" wrap="square" lIns="91425" tIns="91425" rIns="91425" bIns="91425" anchor="ctr" anchorCtr="0">
              <a:noAutofit/>
            </a:bodyPr>
            <a:lstStyle/>
            <a:p>
              <a:pPr marL="0" lvl="0" indent="0" algn="r">
                <a:spcBef>
                  <a:spcPts val="0"/>
                </a:spcBef>
                <a:spcAft>
                  <a:spcPts val="0"/>
                </a:spcAft>
                <a:buNone/>
                <a:defRPr/>
              </a:pPr>
              <a:r>
                <a:rPr lang="en" sz="1200">
                  <a:latin typeface="Montserrat"/>
                  <a:ea typeface="Montserrat"/>
                  <a:cs typeface="Montserrat"/>
                </a:rPr>
                <a:t>Class object</a:t>
              </a:r>
              <a:endParaRPr sz="1200">
                <a:latin typeface="Montserrat"/>
                <a:ea typeface="Montserrat"/>
                <a:cs typeface="Montserrat"/>
              </a:endParaRPr>
            </a:p>
          </p:txBody>
        </p:sp>
      </p:grpSp>
      <p:grpSp>
        <p:nvGrpSpPr>
          <p:cNvPr id="295" name="Google Shape;295;p36"/>
          <p:cNvGrpSpPr/>
          <p:nvPr/>
        </p:nvGrpSpPr>
        <p:grpSpPr bwMode="auto">
          <a:xfrm>
            <a:off x="26075" y="3521025"/>
            <a:ext cx="2032586" cy="572700"/>
            <a:chOff x="-50125" y="3521025"/>
            <a:chExt cx="2032586" cy="572700"/>
          </a:xfrm>
        </p:grpSpPr>
        <p:cxnSp>
          <p:nvCxnSpPr>
            <p:cNvPr id="296" name="Google Shape;296;p36"/>
            <p:cNvCxnSpPr/>
            <p:nvPr/>
          </p:nvCxnSpPr>
          <p:spPr bwMode="auto">
            <a:xfrm rot="10800000">
              <a:off x="1212061" y="3800501"/>
              <a:ext cx="770400" cy="0"/>
            </a:xfrm>
            <a:prstGeom prst="straightConnector1">
              <a:avLst/>
            </a:prstGeom>
            <a:noFill/>
            <a:ln w="19050" cap="flat" cmpd="sng">
              <a:solidFill>
                <a:schemeClr val="dk2"/>
              </a:solidFill>
              <a:prstDash val="solid"/>
              <a:round/>
              <a:headEnd type="oval" w="med" len="med"/>
              <a:tailEnd type="none" w="med" len="med"/>
            </a:ln>
          </p:spPr>
        </p:cxnSp>
        <p:sp>
          <p:nvSpPr>
            <p:cNvPr id="297" name="Google Shape;297;p36"/>
            <p:cNvSpPr txBox="1"/>
            <p:nvPr/>
          </p:nvSpPr>
          <p:spPr bwMode="auto">
            <a:xfrm>
              <a:off x="-50125" y="3521025"/>
              <a:ext cx="1335600" cy="572700"/>
            </a:xfrm>
            <a:prstGeom prst="rect">
              <a:avLst/>
            </a:prstGeom>
            <a:noFill/>
            <a:ln>
              <a:noFill/>
            </a:ln>
          </p:spPr>
          <p:txBody>
            <a:bodyPr spcFirstLastPara="1" wrap="square" lIns="91425" tIns="91425" rIns="91425" bIns="91425" anchor="ctr" anchorCtr="0">
              <a:noAutofit/>
            </a:bodyPr>
            <a:lstStyle/>
            <a:p>
              <a:pPr marL="0" lvl="0" indent="0" algn="r">
                <a:spcBef>
                  <a:spcPts val="0"/>
                </a:spcBef>
                <a:spcAft>
                  <a:spcPts val="0"/>
                </a:spcAft>
                <a:buNone/>
                <a:defRPr/>
              </a:pPr>
              <a:r>
                <a:rPr lang="en" sz="1200">
                  <a:latin typeface="Montserrat"/>
                  <a:ea typeface="Montserrat"/>
                  <a:cs typeface="Montserrat"/>
                </a:rPr>
                <a:t>Static</a:t>
              </a:r>
              <a:r>
                <a:rPr lang="en" sz="1200">
                  <a:latin typeface="Montserrat"/>
                  <a:ea typeface="Montserrat"/>
                  <a:cs typeface="Montserrat"/>
                </a:rPr>
                <a:t> method</a:t>
              </a:r>
              <a:endParaRPr sz="1200">
                <a:latin typeface="Montserrat"/>
                <a:ea typeface="Montserrat"/>
                <a:cs typeface="Montserrat"/>
              </a:endParaRPr>
            </a:p>
            <a:p>
              <a:pPr marL="0" lvl="0" indent="0" algn="r">
                <a:spcBef>
                  <a:spcPts val="0"/>
                </a:spcBef>
                <a:spcAft>
                  <a:spcPts val="0"/>
                </a:spcAft>
                <a:buNone/>
                <a:defRPr/>
              </a:pPr>
              <a:r>
                <a:rPr lang="en" sz="1200">
                  <a:latin typeface="Montserrat"/>
                  <a:ea typeface="Montserrat"/>
                  <a:cs typeface="Montserrat"/>
                </a:rPr>
                <a:t>decorator</a:t>
              </a:r>
              <a:endParaRPr sz="1200">
                <a:latin typeface="Montserrat"/>
                <a:ea typeface="Montserrat"/>
                <a:cs typeface="Montserrat"/>
              </a:endParaRPr>
            </a:p>
          </p:txBody>
        </p:sp>
      </p:grpSp>
      <p:grpSp>
        <p:nvGrpSpPr>
          <p:cNvPr id="298" name="Google Shape;298;p36"/>
          <p:cNvGrpSpPr/>
          <p:nvPr/>
        </p:nvGrpSpPr>
        <p:grpSpPr bwMode="auto">
          <a:xfrm>
            <a:off x="4417600" y="3890201"/>
            <a:ext cx="4599924" cy="996676"/>
            <a:chOff x="4341400" y="3890201"/>
            <a:chExt cx="4599924" cy="996676"/>
          </a:xfrm>
        </p:grpSpPr>
        <p:sp>
          <p:nvSpPr>
            <p:cNvPr id="299" name="Google Shape;299;p36"/>
            <p:cNvSpPr/>
            <p:nvPr/>
          </p:nvSpPr>
          <p:spPr bwMode="auto">
            <a:xfrm>
              <a:off x="4341400" y="3890201"/>
              <a:ext cx="1564200" cy="213600"/>
            </a:xfrm>
            <a:prstGeom prst="rect">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nvGrpSpPr>
            <p:cNvPr id="300" name="Google Shape;300;p36"/>
            <p:cNvGrpSpPr/>
            <p:nvPr/>
          </p:nvGrpSpPr>
          <p:grpSpPr bwMode="auto">
            <a:xfrm>
              <a:off x="5494425" y="4103800"/>
              <a:ext cx="3446899" cy="783078"/>
              <a:chOff x="5494425" y="4103800"/>
              <a:chExt cx="3446899" cy="783078"/>
            </a:xfrm>
          </p:grpSpPr>
          <p:sp>
            <p:nvSpPr>
              <p:cNvPr id="301" name="Google Shape;301;p36"/>
              <p:cNvSpPr txBox="1"/>
              <p:nvPr/>
            </p:nvSpPr>
            <p:spPr bwMode="auto">
              <a:xfrm>
                <a:off x="6464824" y="4486678"/>
                <a:ext cx="2476500" cy="400200"/>
              </a:xfrm>
              <a:prstGeom prst="rect">
                <a:avLst/>
              </a:prstGeom>
              <a:noFill/>
              <a:ln>
                <a:noFill/>
              </a:ln>
            </p:spPr>
            <p:txBody>
              <a:bodyPr spcFirstLastPara="1" wrap="square" lIns="91425" tIns="91425" rIns="91425" bIns="91425" anchor="ctr" anchorCtr="0">
                <a:noAutofit/>
              </a:bodyPr>
              <a:lstStyle/>
              <a:p>
                <a:pPr marL="0" lvl="0" indent="0" algn="l">
                  <a:spcBef>
                    <a:spcPts val="0"/>
                  </a:spcBef>
                  <a:spcAft>
                    <a:spcPts val="0"/>
                  </a:spcAft>
                  <a:buNone/>
                  <a:defRPr/>
                </a:pPr>
                <a:r>
                  <a:rPr lang="en" sz="1200">
                    <a:latin typeface="Montserrat"/>
                    <a:ea typeface="Montserrat"/>
                    <a:cs typeface="Montserrat"/>
                  </a:rPr>
                  <a:t>Neither class object nor instance object as parameter</a:t>
                </a:r>
                <a:endParaRPr sz="1200">
                  <a:latin typeface="Montserrat"/>
                  <a:ea typeface="Montserrat"/>
                  <a:cs typeface="Montserrat"/>
                </a:endParaRPr>
              </a:p>
            </p:txBody>
          </p:sp>
          <p:sp>
            <p:nvSpPr>
              <p:cNvPr id="302" name="Google Shape;302;p36"/>
              <p:cNvSpPr/>
              <p:nvPr/>
            </p:nvSpPr>
            <p:spPr bwMode="auto">
              <a:xfrm>
                <a:off x="5494425" y="4103800"/>
                <a:ext cx="1032700" cy="494294"/>
              </a:xfrm>
              <a:custGeom>
                <a:avLst/>
                <a:gdLst/>
                <a:ahLst/>
                <a:cxnLst/>
                <a:rect l="l" t="t" r="r" b="b"/>
                <a:pathLst>
                  <a:path w="41308" h="16042" fill="norm" stroke="1" extrusionOk="0">
                    <a:moveTo>
                      <a:pt x="0" y="0"/>
                    </a:moveTo>
                    <a:lnTo>
                      <a:pt x="0" y="16042"/>
                    </a:lnTo>
                    <a:lnTo>
                      <a:pt x="41308" y="16042"/>
                    </a:lnTo>
                  </a:path>
                </a:pathLst>
              </a:custGeom>
              <a:noFill/>
              <a:ln w="19050" cap="flat" cmpd="sng">
                <a:solidFill>
                  <a:schemeClr val="dk2"/>
                </a:solidFill>
                <a:prstDash val="solid"/>
                <a:round/>
                <a:headEnd type="oval" w="med" len="med"/>
                <a:tailEnd type="none" w="med" len="med"/>
              </a:ln>
            </p:spPr>
          </p:sp>
        </p:gr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dur="indefinite" restart="never" nodeType="tmRoot">
          <p:childTnLst>
            <p:seq concurrent="1" nextAc="seek">
              <p:cTn id="2" dur="indefinite" nodeType="mainSeq">
                <p:childTnLst>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286"/>
                                        </p:tgtEl>
                                        <p:attrNameLst>
                                          <p:attrName>style.visibility</p:attrName>
                                        </p:attrNameLst>
                                      </p:cBhvr>
                                      <p:to>
                                        <p:strVal val="visible"/>
                                      </p:to>
                                    </p:set>
                                    <p:animEffect transition="in" filter="fade">
                                      <p:cBhvr>
                                        <p:cTn dur="500"/>
                                        <p:tgtEl>
                                          <p:spTgt spid="286"/>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283"/>
                                        </p:tgtEl>
                                        <p:attrNameLst>
                                          <p:attrName>style.visibility</p:attrName>
                                        </p:attrNameLst>
                                      </p:cBhvr>
                                      <p:to>
                                        <p:strVal val="visible"/>
                                      </p:to>
                                    </p:set>
                                    <p:animEffect transition="in" filter="fade">
                                      <p:cBhvr>
                                        <p:cTn dur="500"/>
                                        <p:tgtEl>
                                          <p:spTgt spid="283"/>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277"/>
                                        </p:tgtEl>
                                        <p:attrNameLst>
                                          <p:attrName>style.visibility</p:attrName>
                                        </p:attrNameLst>
                                      </p:cBhvr>
                                      <p:to>
                                        <p:strVal val="visible"/>
                                      </p:to>
                                    </p:set>
                                    <p:animEffect transition="in" filter="fade">
                                      <p:cBhvr>
                                        <p:cTn dur="500"/>
                                        <p:tgtEl>
                                          <p:spTgt spid="277"/>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289"/>
                                        </p:tgtEl>
                                        <p:attrNameLst>
                                          <p:attrName>style.visibility</p:attrName>
                                        </p:attrNameLst>
                                      </p:cBhvr>
                                      <p:to>
                                        <p:strVal val="visible"/>
                                      </p:to>
                                    </p:set>
                                    <p:animEffect transition="in" filter="fade">
                                      <p:cBhvr>
                                        <p:cTn dur="500"/>
                                        <p:tgtEl>
                                          <p:spTgt spid="289"/>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292"/>
                                        </p:tgtEl>
                                        <p:attrNameLst>
                                          <p:attrName>style.visibility</p:attrName>
                                        </p:attrNameLst>
                                      </p:cBhvr>
                                      <p:to>
                                        <p:strVal val="visible"/>
                                      </p:to>
                                    </p:set>
                                    <p:animEffect transition="in" filter="fade">
                                      <p:cBhvr>
                                        <p:cTn dur="500"/>
                                        <p:tgtEl>
                                          <p:spTgt spid="292"/>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280"/>
                                        </p:tgtEl>
                                        <p:attrNameLst>
                                          <p:attrName>style.visibility</p:attrName>
                                        </p:attrNameLst>
                                      </p:cBhvr>
                                      <p:to>
                                        <p:strVal val="visible"/>
                                      </p:to>
                                    </p:set>
                                    <p:animEffect transition="in" filter="fade">
                                      <p:cBhvr>
                                        <p:cTn dur="500"/>
                                        <p:tgtEl>
                                          <p:spTgt spid="280"/>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295"/>
                                        </p:tgtEl>
                                        <p:attrNameLst>
                                          <p:attrName>style.visibility</p:attrName>
                                        </p:attrNameLst>
                                      </p:cBhvr>
                                      <p:to>
                                        <p:strVal val="visible"/>
                                      </p:to>
                                    </p:set>
                                    <p:animEffect transition="in" filter="fade">
                                      <p:cBhvr>
                                        <p:cTn dur="500"/>
                                        <p:tgtEl>
                                          <p:spTgt spid="295"/>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298"/>
                                        </p:tgtEl>
                                        <p:attrNameLst>
                                          <p:attrName>style.visibility</p:attrName>
                                        </p:attrNameLst>
                                      </p:cBhvr>
                                      <p:to>
                                        <p:strVal val="visible"/>
                                      </p:to>
                                    </p:set>
                                    <p:animEffect transition="in" filter="fade">
                                      <p:cBhvr>
                                        <p:cTn dur="500"/>
                                        <p:tgtEl>
                                          <p:spTgt spid="2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07" name="Google Shape;307;p37"/>
          <p:cNvSpPr txBox="1"/>
          <p:nvPr/>
        </p:nvSpPr>
        <p:spPr bwMode="auto">
          <a:xfrm>
            <a:off x="0" y="1770300"/>
            <a:ext cx="9144000" cy="1602900"/>
          </a:xfrm>
          <a:prstGeom prst="rect">
            <a:avLst/>
          </a:prstGeom>
          <a:solidFill>
            <a:srgbClr val="0B5394"/>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a:lnSpc>
                <a:spcPct val="114999"/>
              </a:lnSpc>
              <a:spcBef>
                <a:spcPts val="0"/>
              </a:spcBef>
              <a:spcAft>
                <a:spcPts val="0"/>
              </a:spcAft>
              <a:buNone/>
              <a:defRPr/>
            </a:pPr>
            <a:r>
              <a:rPr lang="en" sz="3500">
                <a:solidFill>
                  <a:srgbClr val="FFFFFF"/>
                </a:solidFill>
                <a:latin typeface="Montserrat"/>
                <a:ea typeface="Montserrat"/>
                <a:cs typeface="Montserrat"/>
              </a:rPr>
              <a:t>Code Demo</a:t>
            </a:r>
            <a:endParaRPr sz="3500">
              <a:solidFill>
                <a:srgbClr val="FFFFFF"/>
              </a:solidFill>
              <a:latin typeface="Montserrat"/>
              <a:ea typeface="Montserrat"/>
              <a:cs typeface="Montserrat"/>
            </a:endParaRPr>
          </a:p>
          <a:p>
            <a:pPr marL="0" lvl="0" indent="0" algn="r">
              <a:spcBef>
                <a:spcPts val="0"/>
              </a:spcBef>
              <a:spcAft>
                <a:spcPts val="0"/>
              </a:spcAft>
              <a:buNone/>
              <a:defRPr/>
            </a:pPr>
            <a:r>
              <a:rPr lang="en" sz="2800">
                <a:solidFill>
                  <a:schemeClr val="lt1"/>
                </a:solidFill>
                <a:latin typeface="Montserrat"/>
                <a:ea typeface="Montserrat"/>
                <a:cs typeface="Montserrat"/>
              </a:rPr>
              <a:t>Class Variable, Class Method and Static Method </a:t>
            </a:r>
            <a:endParaRPr sz="3500">
              <a:solidFill>
                <a:srgbClr val="FFFFFF"/>
              </a:solidFill>
              <a:latin typeface="Montserrat"/>
              <a:ea typeface="Montserrat"/>
              <a:cs typeface="Montserra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12" name="Google Shape;312;p38"/>
          <p:cNvSpPr txBox="1"/>
          <p:nvPr>
            <p:ph type="title"/>
          </p:nvPr>
        </p:nvSpPr>
        <p:spPr bwMode="auto">
          <a:xfrm>
            <a:off x="540300" y="2990425"/>
            <a:ext cx="8093700" cy="1672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defRPr/>
            </a:pPr>
            <a:r>
              <a:rPr lang="en"/>
              <a:t>Inheritance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17" name="Google Shape;317;p39"/>
          <p:cNvSpPr txBox="1"/>
          <p:nvPr>
            <p:ph type="title"/>
          </p:nvPr>
        </p:nvSpPr>
        <p:spPr bwMode="auto">
          <a:xfrm>
            <a:off x="311700" y="286500"/>
            <a:ext cx="8520600" cy="5727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defRPr/>
            </a:pPr>
            <a:r>
              <a:rPr lang="en" b="1"/>
              <a:t>Example</a:t>
            </a:r>
            <a:r>
              <a:rPr lang="en"/>
              <a:t> of </a:t>
            </a:r>
            <a:r>
              <a:rPr lang="en" b="1"/>
              <a:t>Inheritance</a:t>
            </a:r>
            <a:r>
              <a:rPr lang="en"/>
              <a:t>: Parent to Offspring</a:t>
            </a:r>
            <a:endParaRPr/>
          </a:p>
        </p:txBody>
      </p:sp>
      <p:pic>
        <p:nvPicPr>
          <p:cNvPr id="318" name="Google Shape;318;p39"/>
          <p:cNvPicPr/>
          <p:nvPr/>
        </p:nvPicPr>
        <p:blipFill>
          <a:blip r:embed="rId3">
            <a:alphaModFix/>
          </a:blip>
          <a:stretch/>
        </p:blipFill>
        <p:spPr bwMode="auto">
          <a:xfrm flipH="1">
            <a:off x="4043649" y="938298"/>
            <a:ext cx="5100351" cy="3777300"/>
          </a:xfrm>
          <a:prstGeom prst="rect">
            <a:avLst/>
          </a:prstGeom>
          <a:noFill/>
          <a:ln>
            <a:noFill/>
          </a:ln>
        </p:spPr>
      </p:pic>
      <p:sp>
        <p:nvSpPr>
          <p:cNvPr id="319" name="Google Shape;319;p39"/>
          <p:cNvSpPr txBox="1"/>
          <p:nvPr/>
        </p:nvSpPr>
        <p:spPr bwMode="auto">
          <a:xfrm>
            <a:off x="342900" y="1192824"/>
            <a:ext cx="3218100" cy="1761000"/>
          </a:xfrm>
          <a:prstGeom prst="rect">
            <a:avLst/>
          </a:prstGeom>
          <a:noFill/>
          <a:ln>
            <a:noFill/>
          </a:ln>
        </p:spPr>
        <p:txBody>
          <a:bodyPr spcFirstLastPara="1" wrap="square" lIns="91425" tIns="91425" rIns="91425" bIns="91425" anchor="t" anchorCtr="0">
            <a:spAutoFit/>
          </a:bodyPr>
          <a:lstStyle/>
          <a:p>
            <a:pPr marL="0" lvl="0" indent="0" algn="l">
              <a:lnSpc>
                <a:spcPct val="150000"/>
              </a:lnSpc>
              <a:spcBef>
                <a:spcPts val="0"/>
              </a:spcBef>
              <a:spcAft>
                <a:spcPts val="0"/>
              </a:spcAft>
              <a:buNone/>
              <a:defRPr/>
            </a:pPr>
            <a:r>
              <a:rPr lang="en" sz="1600" b="1">
                <a:latin typeface="Montserrat"/>
                <a:ea typeface="Montserrat"/>
                <a:cs typeface="Montserrat"/>
              </a:rPr>
              <a:t>Some inherited properties:</a:t>
            </a:r>
            <a:endParaRPr sz="1600" b="1">
              <a:latin typeface="Montserrat"/>
              <a:ea typeface="Montserrat"/>
              <a:cs typeface="Montserrat"/>
            </a:endParaRPr>
          </a:p>
          <a:p>
            <a:pPr marL="457200" lvl="0" indent="-330200" algn="l">
              <a:lnSpc>
                <a:spcPct val="130000"/>
              </a:lnSpc>
              <a:spcBef>
                <a:spcPts val="0"/>
              </a:spcBef>
              <a:spcAft>
                <a:spcPts val="0"/>
              </a:spcAft>
              <a:buSzPts val="1600"/>
              <a:buFont typeface="Montserrat"/>
              <a:buChar char="●"/>
              <a:defRPr/>
            </a:pPr>
            <a:r>
              <a:rPr lang="en" sz="1600">
                <a:latin typeface="Montserrat"/>
                <a:ea typeface="Montserrat"/>
                <a:cs typeface="Montserrat"/>
              </a:rPr>
              <a:t>Genetic qualities</a:t>
            </a:r>
            <a:endParaRPr sz="1600">
              <a:latin typeface="Montserrat"/>
              <a:ea typeface="Montserrat"/>
              <a:cs typeface="Montserrat"/>
            </a:endParaRPr>
          </a:p>
          <a:p>
            <a:pPr marL="457200" lvl="0" indent="-330200" algn="l">
              <a:lnSpc>
                <a:spcPct val="130000"/>
              </a:lnSpc>
              <a:spcBef>
                <a:spcPts val="0"/>
              </a:spcBef>
              <a:spcAft>
                <a:spcPts val="0"/>
              </a:spcAft>
              <a:buSzPts val="1600"/>
              <a:buFont typeface="Montserrat"/>
              <a:buChar char="●"/>
              <a:defRPr/>
            </a:pPr>
            <a:r>
              <a:rPr lang="en" sz="1600">
                <a:latin typeface="Montserrat"/>
                <a:ea typeface="Montserrat"/>
                <a:cs typeface="Montserrat"/>
              </a:rPr>
              <a:t>Traits, behaviour</a:t>
            </a:r>
            <a:endParaRPr sz="1600">
              <a:latin typeface="Montserrat"/>
              <a:ea typeface="Montserrat"/>
              <a:cs typeface="Montserrat"/>
            </a:endParaRPr>
          </a:p>
          <a:p>
            <a:pPr marL="457200" lvl="0" indent="-330200" algn="l">
              <a:lnSpc>
                <a:spcPct val="130000"/>
              </a:lnSpc>
              <a:spcBef>
                <a:spcPts val="0"/>
              </a:spcBef>
              <a:spcAft>
                <a:spcPts val="0"/>
              </a:spcAft>
              <a:buSzPts val="1600"/>
              <a:buFont typeface="Montserrat"/>
              <a:buChar char="●"/>
              <a:defRPr/>
            </a:pPr>
            <a:r>
              <a:rPr lang="en" sz="1600">
                <a:latin typeface="Montserrat"/>
                <a:ea typeface="Montserrat"/>
                <a:cs typeface="Montserrat"/>
              </a:rPr>
              <a:t>Surname</a:t>
            </a:r>
            <a:endParaRPr sz="1600">
              <a:latin typeface="Montserrat"/>
              <a:ea typeface="Montserrat"/>
              <a:cs typeface="Montserrat"/>
            </a:endParaRPr>
          </a:p>
          <a:p>
            <a:pPr marL="457200" lvl="0" indent="-330200" algn="l">
              <a:lnSpc>
                <a:spcPct val="130000"/>
              </a:lnSpc>
              <a:spcBef>
                <a:spcPts val="0"/>
              </a:spcBef>
              <a:spcAft>
                <a:spcPts val="0"/>
              </a:spcAft>
              <a:buSzPts val="1600"/>
              <a:buFont typeface="Montserrat"/>
              <a:buChar char="●"/>
              <a:defRPr/>
            </a:pPr>
            <a:r>
              <a:rPr lang="en" sz="1600">
                <a:latin typeface="Montserrat"/>
                <a:ea typeface="Montserrat"/>
                <a:cs typeface="Montserrat"/>
              </a:rPr>
              <a:t>Possessions</a:t>
            </a:r>
            <a:endParaRPr sz="1600">
              <a:latin typeface="Montserrat"/>
              <a:ea typeface="Montserrat"/>
              <a:cs typeface="Montserrat"/>
            </a:endParaRPr>
          </a:p>
        </p:txBody>
      </p:sp>
      <p:sp>
        <p:nvSpPr>
          <p:cNvPr id="320" name="Google Shape;320;p39"/>
          <p:cNvSpPr txBox="1"/>
          <p:nvPr/>
        </p:nvSpPr>
        <p:spPr bwMode="auto">
          <a:xfrm>
            <a:off x="474775" y="3279538"/>
            <a:ext cx="3218100" cy="1345200"/>
          </a:xfrm>
          <a:prstGeom prst="rect">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a:lnSpc>
                <a:spcPct val="120000"/>
              </a:lnSpc>
              <a:spcBef>
                <a:spcPts val="0"/>
              </a:spcBef>
              <a:spcAft>
                <a:spcPts val="0"/>
              </a:spcAft>
              <a:buNone/>
              <a:defRPr/>
            </a:pPr>
            <a:r>
              <a:rPr lang="en" sz="1600" b="1">
                <a:latin typeface="Montserrat"/>
                <a:ea typeface="Montserrat"/>
                <a:cs typeface="Montserrat"/>
              </a:rPr>
              <a:t>Inheritance in  OOP </a:t>
            </a:r>
            <a:endParaRPr sz="1600" b="1">
              <a:latin typeface="Montserrat"/>
              <a:ea typeface="Montserrat"/>
              <a:cs typeface="Montserrat"/>
            </a:endParaRPr>
          </a:p>
          <a:p>
            <a:pPr marL="0" lvl="0" indent="0" algn="l">
              <a:lnSpc>
                <a:spcPct val="150000"/>
              </a:lnSpc>
              <a:spcBef>
                <a:spcPts val="0"/>
              </a:spcBef>
              <a:spcAft>
                <a:spcPts val="0"/>
              </a:spcAft>
              <a:buNone/>
              <a:defRPr/>
            </a:pPr>
            <a:r>
              <a:rPr lang="en" sz="1600" b="1">
                <a:latin typeface="Montserrat"/>
                <a:ea typeface="Montserrat"/>
                <a:cs typeface="Montserrat"/>
              </a:rPr>
              <a:t>(from parent class to child):</a:t>
            </a:r>
            <a:endParaRPr sz="1600" b="1">
              <a:latin typeface="Montserrat"/>
              <a:ea typeface="Montserrat"/>
              <a:cs typeface="Montserrat"/>
            </a:endParaRPr>
          </a:p>
          <a:p>
            <a:pPr marL="457200" lvl="0" indent="-317500" algn="l">
              <a:lnSpc>
                <a:spcPct val="130000"/>
              </a:lnSpc>
              <a:spcBef>
                <a:spcPts val="0"/>
              </a:spcBef>
              <a:spcAft>
                <a:spcPts val="0"/>
              </a:spcAft>
              <a:buSzPts val="1400"/>
              <a:buFont typeface="Montserrat"/>
              <a:buChar char="●"/>
              <a:defRPr/>
            </a:pPr>
            <a:r>
              <a:rPr lang="en">
                <a:latin typeface="Montserrat"/>
                <a:ea typeface="Montserrat"/>
                <a:cs typeface="Montserrat"/>
              </a:rPr>
              <a:t>Attributes</a:t>
            </a:r>
            <a:endParaRPr>
              <a:latin typeface="Montserrat"/>
              <a:ea typeface="Montserrat"/>
              <a:cs typeface="Montserrat"/>
            </a:endParaRPr>
          </a:p>
          <a:p>
            <a:pPr marL="457200" lvl="0" indent="-317500" algn="l">
              <a:lnSpc>
                <a:spcPct val="130000"/>
              </a:lnSpc>
              <a:spcBef>
                <a:spcPts val="0"/>
              </a:spcBef>
              <a:spcAft>
                <a:spcPts val="0"/>
              </a:spcAft>
              <a:buSzPts val="1400"/>
              <a:buFont typeface="Montserrat"/>
              <a:buChar char="●"/>
              <a:defRPr/>
            </a:pPr>
            <a:r>
              <a:rPr lang="en">
                <a:latin typeface="Montserrat"/>
                <a:ea typeface="Montserrat"/>
                <a:cs typeface="Montserrat"/>
              </a:rPr>
              <a:t>Behavior (methods)</a:t>
            </a:r>
            <a:endParaRPr>
              <a:latin typeface="Montserrat"/>
              <a:ea typeface="Montserrat"/>
              <a:cs typeface="Montserra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dur="indefinite" restart="never" nodeType="tmRoot">
          <p:childTnLst>
            <p:seq concurrent="1" nextAc="seek">
              <p:cTn id="2" dur="indefinite" nodeType="mainSeq">
                <p:childTnLst>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320"/>
                                        </p:tgtEl>
                                        <p:attrNameLst>
                                          <p:attrName>style.visibility</p:attrName>
                                        </p:attrNameLst>
                                      </p:cBhvr>
                                      <p:to>
                                        <p:strVal val="visible"/>
                                      </p:to>
                                    </p:set>
                                    <p:animEffect transition="in" filter="fade">
                                      <p:cBhvr>
                                        <p:cTn dur="500"/>
                                        <p:tgtEl>
                                          <p:spTgt spid="3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325" name="Google Shape;325;p40"/>
          <p:cNvGrpSpPr/>
          <p:nvPr/>
        </p:nvGrpSpPr>
        <p:grpSpPr bwMode="auto">
          <a:xfrm>
            <a:off x="5403750" y="2938525"/>
            <a:ext cx="3394675" cy="1750972"/>
            <a:chOff x="5403750" y="2938525"/>
            <a:chExt cx="3394675" cy="1750972"/>
          </a:xfrm>
        </p:grpSpPr>
        <p:grpSp>
          <p:nvGrpSpPr>
            <p:cNvPr id="326" name="Google Shape;326;p40"/>
            <p:cNvGrpSpPr/>
            <p:nvPr/>
          </p:nvGrpSpPr>
          <p:grpSpPr bwMode="auto">
            <a:xfrm>
              <a:off x="5403750" y="2938525"/>
              <a:ext cx="1689300" cy="1750972"/>
              <a:chOff x="5216175" y="2938525"/>
              <a:chExt cx="1689300" cy="1750972"/>
            </a:xfrm>
          </p:grpSpPr>
          <p:sp>
            <p:nvSpPr>
              <p:cNvPr id="327" name="Google Shape;327;p40"/>
              <p:cNvSpPr/>
              <p:nvPr/>
            </p:nvSpPr>
            <p:spPr bwMode="auto">
              <a:xfrm>
                <a:off x="5216175" y="3222775"/>
                <a:ext cx="1689300" cy="992400"/>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lnSpc>
                    <a:spcPct val="125000"/>
                  </a:lnSpc>
                  <a:spcBef>
                    <a:spcPts val="0"/>
                  </a:spcBef>
                  <a:spcAft>
                    <a:spcPts val="0"/>
                  </a:spcAft>
                  <a:buNone/>
                  <a:defRPr/>
                </a:pPr>
                <a:r>
                  <a:rPr lang="en" sz="1000">
                    <a:latin typeface="Montserrat"/>
                    <a:ea typeface="Montserrat"/>
                    <a:cs typeface="Montserrat"/>
                  </a:rPr>
                  <a:t>Name =  ‘Ishan’</a:t>
                </a:r>
                <a:endParaRPr sz="1000">
                  <a:latin typeface="Montserrat"/>
                  <a:ea typeface="Montserrat"/>
                  <a:cs typeface="Montserrat"/>
                </a:endParaRPr>
              </a:p>
              <a:p>
                <a:pPr marL="0" lvl="0" indent="0" algn="l">
                  <a:lnSpc>
                    <a:spcPct val="125000"/>
                  </a:lnSpc>
                  <a:spcBef>
                    <a:spcPts val="0"/>
                  </a:spcBef>
                  <a:spcAft>
                    <a:spcPts val="0"/>
                  </a:spcAft>
                  <a:buNone/>
                  <a:defRPr/>
                </a:pPr>
                <a:r>
                  <a:rPr lang="en" sz="1000">
                    <a:latin typeface="Montserrat"/>
                    <a:ea typeface="Montserrat"/>
                    <a:cs typeface="Montserrat"/>
                  </a:rPr>
                  <a:t>Age = 23</a:t>
                </a:r>
                <a:endParaRPr sz="1000">
                  <a:latin typeface="Montserrat"/>
                  <a:ea typeface="Montserrat"/>
                  <a:cs typeface="Montserrat"/>
                </a:endParaRPr>
              </a:p>
              <a:p>
                <a:pPr marL="0" lvl="0" indent="0" algn="l">
                  <a:lnSpc>
                    <a:spcPct val="125000"/>
                  </a:lnSpc>
                  <a:spcBef>
                    <a:spcPts val="0"/>
                  </a:spcBef>
                  <a:spcAft>
                    <a:spcPts val="0"/>
                  </a:spcAft>
                  <a:buNone/>
                  <a:defRPr/>
                </a:pPr>
                <a:r>
                  <a:rPr lang="en" sz="1000">
                    <a:latin typeface="Montserrat"/>
                    <a:ea typeface="Montserrat"/>
                    <a:cs typeface="Montserrat"/>
                  </a:rPr>
                  <a:t>Id = 1806001</a:t>
                </a:r>
                <a:endParaRPr sz="1000">
                  <a:latin typeface="Montserrat"/>
                  <a:ea typeface="Montserrat"/>
                  <a:cs typeface="Montserrat"/>
                </a:endParaRPr>
              </a:p>
              <a:p>
                <a:pPr marL="0" lvl="0" indent="0" algn="l">
                  <a:lnSpc>
                    <a:spcPct val="125000"/>
                  </a:lnSpc>
                  <a:spcBef>
                    <a:spcPts val="0"/>
                  </a:spcBef>
                  <a:spcAft>
                    <a:spcPts val="0"/>
                  </a:spcAft>
                  <a:buNone/>
                  <a:defRPr/>
                </a:pPr>
                <a:r>
                  <a:rPr lang="en" sz="1000">
                    <a:latin typeface="Montserrat"/>
                    <a:ea typeface="Montserrat"/>
                    <a:cs typeface="Montserrat"/>
                  </a:rPr>
                  <a:t>Faculty = ‘Comp Eng’</a:t>
                </a:r>
                <a:endParaRPr sz="1000">
                  <a:latin typeface="Montserrat"/>
                  <a:ea typeface="Montserrat"/>
                  <a:cs typeface="Montserrat"/>
                </a:endParaRPr>
              </a:p>
              <a:p>
                <a:pPr marL="0" lvl="0" indent="0" algn="l">
                  <a:lnSpc>
                    <a:spcPct val="125000"/>
                  </a:lnSpc>
                  <a:spcBef>
                    <a:spcPts val="0"/>
                  </a:spcBef>
                  <a:spcAft>
                    <a:spcPts val="0"/>
                  </a:spcAft>
                  <a:buNone/>
                  <a:defRPr/>
                </a:pPr>
                <a:r>
                  <a:rPr lang="en" sz="1000">
                    <a:latin typeface="Montserrat"/>
                    <a:ea typeface="Montserrat"/>
                    <a:cs typeface="Montserrat"/>
                  </a:rPr>
                  <a:t>Graduation year = 2023</a:t>
                </a:r>
                <a:endParaRPr sz="1000">
                  <a:latin typeface="Montserrat"/>
                  <a:ea typeface="Montserrat"/>
                  <a:cs typeface="Montserrat"/>
                </a:endParaRPr>
              </a:p>
            </p:txBody>
          </p:sp>
          <p:sp>
            <p:nvSpPr>
              <p:cNvPr id="328" name="Google Shape;328;p40"/>
              <p:cNvSpPr/>
              <p:nvPr/>
            </p:nvSpPr>
            <p:spPr bwMode="auto">
              <a:xfrm>
                <a:off x="5216175" y="4213997"/>
                <a:ext cx="1689300" cy="475500"/>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r>
                  <a:rPr lang="en" sz="1000">
                    <a:latin typeface="Montserrat"/>
                    <a:ea typeface="Montserrat"/>
                    <a:cs typeface="Montserrat"/>
                  </a:rPr>
                  <a:t>Greet</a:t>
                </a:r>
                <a:endParaRPr sz="1000">
                  <a:latin typeface="Montserrat"/>
                  <a:ea typeface="Montserrat"/>
                  <a:cs typeface="Montserrat"/>
                </a:endParaRPr>
              </a:p>
              <a:p>
                <a:pPr marL="0" lvl="0" indent="0" algn="l">
                  <a:spcBef>
                    <a:spcPts val="0"/>
                  </a:spcBef>
                  <a:spcAft>
                    <a:spcPts val="0"/>
                  </a:spcAft>
                  <a:buNone/>
                  <a:defRPr/>
                </a:pPr>
                <a:r>
                  <a:rPr lang="en" sz="1000">
                    <a:latin typeface="Montserrat"/>
                    <a:ea typeface="Montserrat"/>
                    <a:cs typeface="Montserrat"/>
                  </a:rPr>
                  <a:t>Study</a:t>
                </a:r>
                <a:endParaRPr sz="1000">
                  <a:latin typeface="Montserrat"/>
                  <a:ea typeface="Montserrat"/>
                  <a:cs typeface="Montserrat"/>
                </a:endParaRPr>
              </a:p>
            </p:txBody>
          </p:sp>
          <p:sp>
            <p:nvSpPr>
              <p:cNvPr id="329" name="Google Shape;329;p40"/>
              <p:cNvSpPr/>
              <p:nvPr/>
            </p:nvSpPr>
            <p:spPr bwMode="auto">
              <a:xfrm>
                <a:off x="5216175" y="2938525"/>
                <a:ext cx="1689300" cy="284400"/>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a:spcBef>
                    <a:spcPts val="0"/>
                  </a:spcBef>
                  <a:spcAft>
                    <a:spcPts val="0"/>
                  </a:spcAft>
                  <a:buNone/>
                  <a:defRPr/>
                </a:pPr>
                <a:r>
                  <a:rPr lang="en" sz="1200">
                    <a:solidFill>
                      <a:schemeClr val="dk1"/>
                    </a:solidFill>
                    <a:latin typeface="Montserrat"/>
                    <a:ea typeface="Montserrat"/>
                    <a:cs typeface="Montserrat"/>
                  </a:rPr>
                  <a:t>std</a:t>
                </a:r>
                <a:r>
                  <a:rPr lang="en" sz="1200">
                    <a:solidFill>
                      <a:schemeClr val="dk1"/>
                    </a:solidFill>
                    <a:latin typeface="Montserrat"/>
                    <a:ea typeface="Montserrat"/>
                    <a:cs typeface="Montserrat"/>
                  </a:rPr>
                  <a:t>1 : Student</a:t>
                </a:r>
                <a:endParaRPr sz="1300"/>
              </a:p>
            </p:txBody>
          </p:sp>
        </p:grpSp>
        <p:sp>
          <p:nvSpPr>
            <p:cNvPr id="330" name="Google Shape;330;p40"/>
            <p:cNvSpPr txBox="1"/>
            <p:nvPr/>
          </p:nvSpPr>
          <p:spPr bwMode="auto">
            <a:xfrm>
              <a:off x="7144525" y="3425497"/>
              <a:ext cx="1653900" cy="585000"/>
            </a:xfrm>
            <a:prstGeom prst="rect">
              <a:avLst/>
            </a:prstGeom>
            <a:noFill/>
            <a:ln>
              <a:noFill/>
            </a:ln>
          </p:spPr>
          <p:txBody>
            <a:bodyPr spcFirstLastPara="1" wrap="square" lIns="91425" tIns="91425" rIns="91425" bIns="91425" anchor="t" anchorCtr="0">
              <a:spAutoFit/>
            </a:bodyPr>
            <a:lstStyle/>
            <a:p>
              <a:pPr marL="0" lvl="0" indent="0" algn="l">
                <a:spcBef>
                  <a:spcPts val="0"/>
                </a:spcBef>
                <a:spcAft>
                  <a:spcPts val="0"/>
                </a:spcAft>
                <a:buNone/>
                <a:defRPr/>
              </a:pPr>
              <a:r>
                <a:rPr lang="en" sz="1300">
                  <a:latin typeface="Montserrat"/>
                  <a:ea typeface="Montserrat"/>
                  <a:cs typeface="Montserrat"/>
                </a:rPr>
                <a:t>Instance of </a:t>
              </a:r>
              <a:r>
                <a:rPr lang="en" sz="1300" b="1">
                  <a:latin typeface="Montserrat"/>
                  <a:ea typeface="Montserrat"/>
                  <a:cs typeface="Montserrat"/>
                </a:rPr>
                <a:t>Student</a:t>
              </a:r>
              <a:r>
                <a:rPr lang="en" sz="1300">
                  <a:latin typeface="Montserrat"/>
                  <a:ea typeface="Montserrat"/>
                  <a:cs typeface="Montserrat"/>
                </a:rPr>
                <a:t> class</a:t>
              </a:r>
              <a:endParaRPr sz="1300">
                <a:latin typeface="Montserrat"/>
                <a:ea typeface="Montserrat"/>
                <a:cs typeface="Montserrat"/>
              </a:endParaRPr>
            </a:p>
          </p:txBody>
        </p:sp>
      </p:grpSp>
      <p:sp>
        <p:nvSpPr>
          <p:cNvPr id="331" name="Google Shape;331;p40"/>
          <p:cNvSpPr txBox="1"/>
          <p:nvPr>
            <p:ph type="title"/>
          </p:nvPr>
        </p:nvSpPr>
        <p:spPr bwMode="auto">
          <a:xfrm>
            <a:off x="311700" y="286500"/>
            <a:ext cx="8520600" cy="5727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defRPr/>
            </a:pPr>
            <a:r>
              <a:rPr lang="en"/>
              <a:t>Inheritance Example</a:t>
            </a:r>
            <a:endParaRPr/>
          </a:p>
        </p:txBody>
      </p:sp>
      <p:grpSp>
        <p:nvGrpSpPr>
          <p:cNvPr id="332" name="Google Shape;332;p40"/>
          <p:cNvGrpSpPr/>
          <p:nvPr/>
        </p:nvGrpSpPr>
        <p:grpSpPr bwMode="auto">
          <a:xfrm>
            <a:off x="2355750" y="957325"/>
            <a:ext cx="1689300" cy="1505749"/>
            <a:chOff x="2472975" y="957325"/>
            <a:chExt cx="1689300" cy="1505749"/>
          </a:xfrm>
        </p:grpSpPr>
        <p:sp>
          <p:nvSpPr>
            <p:cNvPr id="333" name="Google Shape;333;p40"/>
            <p:cNvSpPr/>
            <p:nvPr/>
          </p:nvSpPr>
          <p:spPr bwMode="auto">
            <a:xfrm>
              <a:off x="2472975" y="1241575"/>
              <a:ext cx="1689300" cy="610799"/>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lnSpc>
                  <a:spcPct val="114999"/>
                </a:lnSpc>
                <a:spcBef>
                  <a:spcPts val="0"/>
                </a:spcBef>
                <a:spcAft>
                  <a:spcPts val="0"/>
                </a:spcAft>
                <a:buNone/>
                <a:defRPr/>
              </a:pPr>
              <a:r>
                <a:rPr lang="en" sz="1100">
                  <a:latin typeface="Montserrat"/>
                  <a:ea typeface="Montserrat"/>
                  <a:cs typeface="Montserrat"/>
                </a:rPr>
                <a:t>Name </a:t>
              </a:r>
              <a:endParaRPr sz="1100">
                <a:latin typeface="Montserrat"/>
                <a:ea typeface="Montserrat"/>
                <a:cs typeface="Montserrat"/>
              </a:endParaRPr>
            </a:p>
            <a:p>
              <a:pPr marL="0" lvl="0" indent="0" algn="l">
                <a:spcBef>
                  <a:spcPts val="0"/>
                </a:spcBef>
                <a:spcAft>
                  <a:spcPts val="0"/>
                </a:spcAft>
                <a:buNone/>
                <a:defRPr/>
              </a:pPr>
              <a:r>
                <a:rPr lang="en" sz="1100">
                  <a:latin typeface="Montserrat"/>
                  <a:ea typeface="Montserrat"/>
                  <a:cs typeface="Montserrat"/>
                </a:rPr>
                <a:t>Age</a:t>
              </a:r>
              <a:endParaRPr sz="1100">
                <a:latin typeface="Montserrat"/>
                <a:ea typeface="Montserrat"/>
                <a:cs typeface="Montserrat"/>
              </a:endParaRPr>
            </a:p>
          </p:txBody>
        </p:sp>
        <p:sp>
          <p:nvSpPr>
            <p:cNvPr id="334" name="Google Shape;334;p40"/>
            <p:cNvSpPr/>
            <p:nvPr/>
          </p:nvSpPr>
          <p:spPr bwMode="auto">
            <a:xfrm>
              <a:off x="2472975" y="1852274"/>
              <a:ext cx="1689300" cy="610799"/>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r>
                <a:rPr lang="en" sz="1100">
                  <a:latin typeface="Montserrat"/>
                  <a:ea typeface="Montserrat"/>
                  <a:cs typeface="Montserrat"/>
                </a:rPr>
                <a:t>Greet</a:t>
              </a:r>
              <a:endParaRPr sz="1100">
                <a:latin typeface="Montserrat"/>
                <a:ea typeface="Montserrat"/>
                <a:cs typeface="Montserrat"/>
              </a:endParaRPr>
            </a:p>
          </p:txBody>
        </p:sp>
        <p:sp>
          <p:nvSpPr>
            <p:cNvPr id="335" name="Google Shape;335;p40"/>
            <p:cNvSpPr/>
            <p:nvPr/>
          </p:nvSpPr>
          <p:spPr bwMode="auto">
            <a:xfrm>
              <a:off x="2472975" y="957325"/>
              <a:ext cx="1689300" cy="284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a:spcBef>
                  <a:spcPts val="0"/>
                </a:spcBef>
                <a:spcAft>
                  <a:spcPts val="0"/>
                </a:spcAft>
                <a:buNone/>
                <a:defRPr/>
              </a:pPr>
              <a:r>
                <a:rPr lang="en" sz="1200">
                  <a:solidFill>
                    <a:schemeClr val="dk1"/>
                  </a:solidFill>
                  <a:latin typeface="Montserrat"/>
                  <a:ea typeface="Montserrat"/>
                  <a:cs typeface="Montserrat"/>
                </a:rPr>
                <a:t>Person</a:t>
              </a:r>
              <a:endParaRPr sz="1300"/>
            </a:p>
          </p:txBody>
        </p:sp>
      </p:grpSp>
      <p:grpSp>
        <p:nvGrpSpPr>
          <p:cNvPr id="336" name="Google Shape;336;p40"/>
          <p:cNvGrpSpPr/>
          <p:nvPr/>
        </p:nvGrpSpPr>
        <p:grpSpPr bwMode="auto">
          <a:xfrm>
            <a:off x="2355750" y="2463025"/>
            <a:ext cx="1689300" cy="2064749"/>
            <a:chOff x="2355750" y="2463025"/>
            <a:chExt cx="1689300" cy="2064749"/>
          </a:xfrm>
        </p:grpSpPr>
        <p:grpSp>
          <p:nvGrpSpPr>
            <p:cNvPr id="337" name="Google Shape;337;p40"/>
            <p:cNvGrpSpPr/>
            <p:nvPr/>
          </p:nvGrpSpPr>
          <p:grpSpPr bwMode="auto">
            <a:xfrm>
              <a:off x="2355750" y="2938525"/>
              <a:ext cx="1689300" cy="1589249"/>
              <a:chOff x="2472975" y="2938525"/>
              <a:chExt cx="1689300" cy="1589249"/>
            </a:xfrm>
          </p:grpSpPr>
          <p:sp>
            <p:nvSpPr>
              <p:cNvPr id="338" name="Google Shape;338;p40"/>
              <p:cNvSpPr/>
              <p:nvPr/>
            </p:nvSpPr>
            <p:spPr bwMode="auto">
              <a:xfrm>
                <a:off x="2472975" y="3222776"/>
                <a:ext cx="1689300" cy="652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lnSpc>
                    <a:spcPct val="114999"/>
                  </a:lnSpc>
                  <a:spcBef>
                    <a:spcPts val="0"/>
                  </a:spcBef>
                  <a:spcAft>
                    <a:spcPts val="0"/>
                  </a:spcAft>
                  <a:buNone/>
                  <a:defRPr/>
                </a:pPr>
                <a:r>
                  <a:rPr lang="en" sz="1100">
                    <a:latin typeface="Montserrat"/>
                    <a:ea typeface="Montserrat"/>
                    <a:cs typeface="Montserrat"/>
                  </a:rPr>
                  <a:t>Id</a:t>
                </a:r>
                <a:endParaRPr sz="1100">
                  <a:latin typeface="Montserrat"/>
                  <a:ea typeface="Montserrat"/>
                  <a:cs typeface="Montserrat"/>
                </a:endParaRPr>
              </a:p>
              <a:p>
                <a:pPr marL="0" lvl="0" indent="0" algn="l">
                  <a:lnSpc>
                    <a:spcPct val="114999"/>
                  </a:lnSpc>
                  <a:spcBef>
                    <a:spcPts val="0"/>
                  </a:spcBef>
                  <a:spcAft>
                    <a:spcPts val="0"/>
                  </a:spcAft>
                  <a:buNone/>
                  <a:defRPr/>
                </a:pPr>
                <a:r>
                  <a:rPr lang="en" sz="1100">
                    <a:latin typeface="Montserrat"/>
                    <a:ea typeface="Montserrat"/>
                    <a:cs typeface="Montserrat"/>
                  </a:rPr>
                  <a:t>Faculty</a:t>
                </a:r>
                <a:r>
                  <a:rPr lang="en" sz="1100">
                    <a:latin typeface="Montserrat"/>
                    <a:ea typeface="Montserrat"/>
                    <a:cs typeface="Montserrat"/>
                  </a:rPr>
                  <a:t> </a:t>
                </a:r>
                <a:endParaRPr sz="1100">
                  <a:latin typeface="Montserrat"/>
                  <a:ea typeface="Montserrat"/>
                  <a:cs typeface="Montserrat"/>
                </a:endParaRPr>
              </a:p>
              <a:p>
                <a:pPr marL="0" lvl="0" indent="0" algn="l">
                  <a:spcBef>
                    <a:spcPts val="0"/>
                  </a:spcBef>
                  <a:spcAft>
                    <a:spcPts val="0"/>
                  </a:spcAft>
                  <a:buNone/>
                  <a:defRPr/>
                </a:pPr>
                <a:r>
                  <a:rPr lang="en" sz="1100">
                    <a:latin typeface="Montserrat"/>
                    <a:ea typeface="Montserrat"/>
                    <a:cs typeface="Montserrat"/>
                  </a:rPr>
                  <a:t>Graduation year</a:t>
                </a:r>
                <a:endParaRPr sz="1100">
                  <a:latin typeface="Montserrat"/>
                  <a:ea typeface="Montserrat"/>
                  <a:cs typeface="Montserrat"/>
                </a:endParaRPr>
              </a:p>
            </p:txBody>
          </p:sp>
          <p:sp>
            <p:nvSpPr>
              <p:cNvPr id="339" name="Google Shape;339;p40"/>
              <p:cNvSpPr/>
              <p:nvPr/>
            </p:nvSpPr>
            <p:spPr bwMode="auto">
              <a:xfrm>
                <a:off x="2472975" y="3875275"/>
                <a:ext cx="1689300" cy="652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r>
                  <a:rPr lang="en" sz="1100">
                    <a:latin typeface="Montserrat"/>
                    <a:ea typeface="Montserrat"/>
                    <a:cs typeface="Montserrat"/>
                  </a:rPr>
                  <a:t>Study</a:t>
                </a:r>
                <a:endParaRPr sz="1100">
                  <a:latin typeface="Montserrat"/>
                  <a:ea typeface="Montserrat"/>
                  <a:cs typeface="Montserrat"/>
                </a:endParaRPr>
              </a:p>
            </p:txBody>
          </p:sp>
          <p:sp>
            <p:nvSpPr>
              <p:cNvPr id="340" name="Google Shape;340;p40"/>
              <p:cNvSpPr/>
              <p:nvPr/>
            </p:nvSpPr>
            <p:spPr bwMode="auto">
              <a:xfrm>
                <a:off x="2472975" y="2938525"/>
                <a:ext cx="1689300" cy="284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a:spcBef>
                    <a:spcPts val="0"/>
                  </a:spcBef>
                  <a:spcAft>
                    <a:spcPts val="0"/>
                  </a:spcAft>
                  <a:buNone/>
                  <a:defRPr/>
                </a:pPr>
                <a:r>
                  <a:rPr lang="en" sz="1200">
                    <a:solidFill>
                      <a:schemeClr val="dk1"/>
                    </a:solidFill>
                    <a:latin typeface="Montserrat"/>
                    <a:ea typeface="Montserrat"/>
                    <a:cs typeface="Montserrat"/>
                  </a:rPr>
                  <a:t>Student</a:t>
                </a:r>
                <a:endParaRPr sz="1300"/>
              </a:p>
            </p:txBody>
          </p:sp>
        </p:grpSp>
        <p:cxnSp>
          <p:nvCxnSpPr>
            <p:cNvPr id="341" name="Google Shape;341;p40"/>
            <p:cNvCxnSpPr>
              <a:stCxn id="340" idx="0"/>
              <a:endCxn id="334" idx="2"/>
            </p:cNvCxnSpPr>
            <p:nvPr/>
          </p:nvCxnSpPr>
          <p:spPr bwMode="auto">
            <a:xfrm rot="10800000">
              <a:off x="3200400" y="2463025"/>
              <a:ext cx="0" cy="475500"/>
            </a:xfrm>
            <a:prstGeom prst="straightConnector1">
              <a:avLst/>
            </a:prstGeom>
            <a:noFill/>
            <a:ln w="19050" cap="flat" cmpd="sng">
              <a:solidFill>
                <a:schemeClr val="dk2"/>
              </a:solidFill>
              <a:prstDash val="solid"/>
              <a:round/>
              <a:headEnd type="none" w="med" len="med"/>
              <a:tailEnd type="triangle" w="med" len="med"/>
            </a:ln>
          </p:spPr>
        </p:cxnSp>
      </p:grpSp>
      <p:grpSp>
        <p:nvGrpSpPr>
          <p:cNvPr id="342" name="Google Shape;342;p40"/>
          <p:cNvGrpSpPr/>
          <p:nvPr/>
        </p:nvGrpSpPr>
        <p:grpSpPr bwMode="auto">
          <a:xfrm>
            <a:off x="3751696" y="1576477"/>
            <a:ext cx="2775426" cy="2013673"/>
            <a:chOff x="3690675" y="1576469"/>
            <a:chExt cx="2411108" cy="2013673"/>
          </a:xfrm>
        </p:grpSpPr>
        <p:sp>
          <p:nvSpPr>
            <p:cNvPr id="343" name="Google Shape;343;p40"/>
            <p:cNvSpPr/>
            <p:nvPr/>
          </p:nvSpPr>
          <p:spPr bwMode="auto">
            <a:xfrm>
              <a:off x="5158883" y="3249041"/>
              <a:ext cx="942900" cy="341100"/>
            </a:xfrm>
            <a:prstGeom prst="roundRect">
              <a:avLst>
                <a:gd name="adj" fmla="val 16667"/>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44" name="Google Shape;344;p40"/>
            <p:cNvSpPr/>
            <p:nvPr/>
          </p:nvSpPr>
          <p:spPr bwMode="auto">
            <a:xfrm>
              <a:off x="3690675" y="1576469"/>
              <a:ext cx="1449275" cy="1824100"/>
            </a:xfrm>
            <a:custGeom>
              <a:avLst/>
              <a:gdLst/>
              <a:ahLst/>
              <a:cxnLst/>
              <a:rect l="l" t="t" r="r" b="b"/>
              <a:pathLst>
                <a:path w="57971" h="72964" fill="norm" stroke="1" extrusionOk="0">
                  <a:moveTo>
                    <a:pt x="57971" y="72964"/>
                  </a:moveTo>
                  <a:cubicBezTo>
                    <a:pt x="54119" y="70438"/>
                    <a:pt x="39405" y="68923"/>
                    <a:pt x="34858" y="57809"/>
                  </a:cubicBezTo>
                  <a:cubicBezTo>
                    <a:pt x="30311" y="46695"/>
                    <a:pt x="36500" y="15878"/>
                    <a:pt x="30690" y="6279"/>
                  </a:cubicBezTo>
                  <a:cubicBezTo>
                    <a:pt x="24880" y="-3320"/>
                    <a:pt x="5115" y="1227"/>
                    <a:pt x="0" y="216"/>
                  </a:cubicBezTo>
                </a:path>
              </a:pathLst>
            </a:custGeom>
            <a:noFill/>
            <a:ln w="19050" cap="flat" cmpd="sng">
              <a:solidFill>
                <a:schemeClr val="dk2"/>
              </a:solidFill>
              <a:prstDash val="dash"/>
              <a:round/>
              <a:headEnd type="none" w="med" len="med"/>
              <a:tailEnd type="oval" w="med" len="med"/>
            </a:ln>
          </p:spPr>
        </p:sp>
      </p:grpSp>
      <p:grpSp>
        <p:nvGrpSpPr>
          <p:cNvPr id="345" name="Google Shape;345;p40"/>
          <p:cNvGrpSpPr/>
          <p:nvPr/>
        </p:nvGrpSpPr>
        <p:grpSpPr bwMode="auto">
          <a:xfrm>
            <a:off x="3799975" y="3549325"/>
            <a:ext cx="3198533" cy="618475"/>
            <a:chOff x="3732617" y="3549316"/>
            <a:chExt cx="2778675" cy="618475"/>
          </a:xfrm>
        </p:grpSpPr>
        <p:sp>
          <p:nvSpPr>
            <p:cNvPr id="346" name="Google Shape;346;p40"/>
            <p:cNvSpPr/>
            <p:nvPr/>
          </p:nvSpPr>
          <p:spPr bwMode="auto">
            <a:xfrm>
              <a:off x="5167592" y="3639491"/>
              <a:ext cx="1343700" cy="5283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47" name="Google Shape;347;p40"/>
            <p:cNvSpPr/>
            <p:nvPr/>
          </p:nvSpPr>
          <p:spPr bwMode="auto">
            <a:xfrm>
              <a:off x="3732617" y="3549316"/>
              <a:ext cx="1435725" cy="362774"/>
            </a:xfrm>
            <a:custGeom>
              <a:avLst/>
              <a:gdLst/>
              <a:ahLst/>
              <a:cxnLst/>
              <a:rect l="l" t="t" r="r" b="b"/>
              <a:pathLst>
                <a:path w="57429" h="14511" fill="norm" stroke="1" extrusionOk="0">
                  <a:moveTo>
                    <a:pt x="57429" y="14511"/>
                  </a:moveTo>
                  <a:cubicBezTo>
                    <a:pt x="52567" y="13311"/>
                    <a:pt x="37828" y="9731"/>
                    <a:pt x="28256" y="7312"/>
                  </a:cubicBezTo>
                  <a:cubicBezTo>
                    <a:pt x="18685" y="4894"/>
                    <a:pt x="4709" y="1219"/>
                    <a:pt x="0" y="0"/>
                  </a:cubicBezTo>
                </a:path>
              </a:pathLst>
            </a:custGeom>
            <a:noFill/>
            <a:ln w="19050" cap="flat" cmpd="sng">
              <a:solidFill>
                <a:schemeClr val="dk2"/>
              </a:solidFill>
              <a:prstDash val="dash"/>
              <a:round/>
              <a:headEnd type="none" w="med" len="med"/>
              <a:tailEnd type="oval" w="med" len="med"/>
            </a:ln>
          </p:spPr>
        </p:sp>
      </p:grpSp>
      <p:sp>
        <p:nvSpPr>
          <p:cNvPr id="348" name="Google Shape;348;p40"/>
          <p:cNvSpPr txBox="1"/>
          <p:nvPr/>
        </p:nvSpPr>
        <p:spPr bwMode="auto">
          <a:xfrm>
            <a:off x="451100" y="1503950"/>
            <a:ext cx="1828500" cy="585000"/>
          </a:xfrm>
          <a:prstGeom prst="rect">
            <a:avLst/>
          </a:prstGeom>
          <a:noFill/>
          <a:ln>
            <a:noFill/>
          </a:ln>
        </p:spPr>
        <p:txBody>
          <a:bodyPr spcFirstLastPara="1" wrap="square" lIns="91425" tIns="91425" rIns="91425" bIns="91425" anchor="t" anchorCtr="0">
            <a:spAutoFit/>
          </a:bodyPr>
          <a:lstStyle/>
          <a:p>
            <a:pPr marL="0" lvl="0" indent="0" algn="r">
              <a:spcBef>
                <a:spcPts val="0"/>
              </a:spcBef>
              <a:spcAft>
                <a:spcPts val="0"/>
              </a:spcAft>
              <a:buNone/>
              <a:defRPr/>
            </a:pPr>
            <a:r>
              <a:rPr lang="en" sz="1300" b="1">
                <a:latin typeface="Montserrat"/>
                <a:ea typeface="Montserrat"/>
                <a:cs typeface="Montserrat"/>
              </a:rPr>
              <a:t>Parent</a:t>
            </a:r>
            <a:r>
              <a:rPr lang="en" sz="1300">
                <a:latin typeface="Montserrat"/>
                <a:ea typeface="Montserrat"/>
                <a:cs typeface="Montserrat"/>
              </a:rPr>
              <a:t> or </a:t>
            </a:r>
            <a:r>
              <a:rPr lang="en" sz="1300" b="1">
                <a:latin typeface="Montserrat"/>
                <a:ea typeface="Montserrat"/>
                <a:cs typeface="Montserrat"/>
              </a:rPr>
              <a:t>Base</a:t>
            </a:r>
            <a:r>
              <a:rPr lang="en" sz="1300">
                <a:latin typeface="Montserrat"/>
                <a:ea typeface="Montserrat"/>
                <a:cs typeface="Montserrat"/>
              </a:rPr>
              <a:t> Class</a:t>
            </a:r>
            <a:endParaRPr sz="1300">
              <a:latin typeface="Montserrat"/>
              <a:ea typeface="Montserrat"/>
              <a:cs typeface="Montserrat"/>
            </a:endParaRPr>
          </a:p>
        </p:txBody>
      </p:sp>
      <p:sp>
        <p:nvSpPr>
          <p:cNvPr id="349" name="Google Shape;349;p40"/>
          <p:cNvSpPr txBox="1"/>
          <p:nvPr/>
        </p:nvSpPr>
        <p:spPr bwMode="auto">
          <a:xfrm>
            <a:off x="451175" y="3637550"/>
            <a:ext cx="1828500" cy="585000"/>
          </a:xfrm>
          <a:prstGeom prst="rect">
            <a:avLst/>
          </a:prstGeom>
          <a:noFill/>
          <a:ln>
            <a:noFill/>
          </a:ln>
        </p:spPr>
        <p:txBody>
          <a:bodyPr spcFirstLastPara="1" wrap="square" lIns="91425" tIns="91425" rIns="91425" bIns="91425" anchor="t" anchorCtr="0">
            <a:spAutoFit/>
          </a:bodyPr>
          <a:lstStyle/>
          <a:p>
            <a:pPr marL="0" lvl="0" indent="0" algn="r">
              <a:spcBef>
                <a:spcPts val="0"/>
              </a:spcBef>
              <a:spcAft>
                <a:spcPts val="0"/>
              </a:spcAft>
              <a:buNone/>
              <a:defRPr/>
            </a:pPr>
            <a:r>
              <a:rPr lang="en" sz="1300" b="1">
                <a:latin typeface="Montserrat"/>
                <a:ea typeface="Montserrat"/>
                <a:cs typeface="Montserrat"/>
              </a:rPr>
              <a:t>Child</a:t>
            </a:r>
            <a:r>
              <a:rPr lang="en" sz="1300">
                <a:latin typeface="Montserrat"/>
                <a:ea typeface="Montserrat"/>
                <a:cs typeface="Montserrat"/>
              </a:rPr>
              <a:t> or </a:t>
            </a:r>
            <a:r>
              <a:rPr lang="en" sz="1300" b="1">
                <a:latin typeface="Montserrat"/>
                <a:ea typeface="Montserrat"/>
                <a:cs typeface="Montserrat"/>
              </a:rPr>
              <a:t>Derived</a:t>
            </a:r>
            <a:r>
              <a:rPr lang="en" sz="1300">
                <a:latin typeface="Montserrat"/>
                <a:ea typeface="Montserrat"/>
                <a:cs typeface="Montserrat"/>
              </a:rPr>
              <a:t> Class</a:t>
            </a:r>
            <a:endParaRPr sz="1300">
              <a:latin typeface="Montserrat"/>
              <a:ea typeface="Montserrat"/>
              <a:cs typeface="Montserrat"/>
            </a:endParaRPr>
          </a:p>
        </p:txBody>
      </p:sp>
      <p:grpSp>
        <p:nvGrpSpPr>
          <p:cNvPr id="350" name="Google Shape;350;p40"/>
          <p:cNvGrpSpPr/>
          <p:nvPr/>
        </p:nvGrpSpPr>
        <p:grpSpPr bwMode="auto">
          <a:xfrm>
            <a:off x="5403750" y="957325"/>
            <a:ext cx="3394675" cy="1505750"/>
            <a:chOff x="5403750" y="957325"/>
            <a:chExt cx="3394675" cy="1505750"/>
          </a:xfrm>
        </p:grpSpPr>
        <p:grpSp>
          <p:nvGrpSpPr>
            <p:cNvPr id="351" name="Google Shape;351;p40"/>
            <p:cNvGrpSpPr/>
            <p:nvPr/>
          </p:nvGrpSpPr>
          <p:grpSpPr bwMode="auto">
            <a:xfrm>
              <a:off x="5403750" y="957325"/>
              <a:ext cx="1689300" cy="1505750"/>
              <a:chOff x="5216175" y="957325"/>
              <a:chExt cx="1689300" cy="1505750"/>
            </a:xfrm>
          </p:grpSpPr>
          <p:sp>
            <p:nvSpPr>
              <p:cNvPr id="352" name="Google Shape;352;p40"/>
              <p:cNvSpPr/>
              <p:nvPr/>
            </p:nvSpPr>
            <p:spPr bwMode="auto">
              <a:xfrm>
                <a:off x="5216175" y="1241575"/>
                <a:ext cx="1689300" cy="610799"/>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lnSpc>
                    <a:spcPct val="114999"/>
                  </a:lnSpc>
                  <a:spcBef>
                    <a:spcPts val="0"/>
                  </a:spcBef>
                  <a:spcAft>
                    <a:spcPts val="0"/>
                  </a:spcAft>
                  <a:buNone/>
                  <a:defRPr/>
                </a:pPr>
                <a:r>
                  <a:rPr lang="en" sz="1100">
                    <a:latin typeface="Montserrat"/>
                    <a:ea typeface="Montserrat"/>
                    <a:cs typeface="Montserrat"/>
                  </a:rPr>
                  <a:t>Name =  ‘Elon’</a:t>
                </a:r>
                <a:endParaRPr sz="1100">
                  <a:latin typeface="Montserrat"/>
                  <a:ea typeface="Montserrat"/>
                  <a:cs typeface="Montserrat"/>
                </a:endParaRPr>
              </a:p>
              <a:p>
                <a:pPr marL="0" lvl="0" indent="0" algn="l">
                  <a:spcBef>
                    <a:spcPts val="0"/>
                  </a:spcBef>
                  <a:spcAft>
                    <a:spcPts val="0"/>
                  </a:spcAft>
                  <a:buNone/>
                  <a:defRPr/>
                </a:pPr>
                <a:r>
                  <a:rPr lang="en" sz="1100">
                    <a:latin typeface="Montserrat"/>
                    <a:ea typeface="Montserrat"/>
                    <a:cs typeface="Montserrat"/>
                  </a:rPr>
                  <a:t>Age = 49</a:t>
                </a:r>
                <a:endParaRPr sz="1100">
                  <a:latin typeface="Montserrat"/>
                  <a:ea typeface="Montserrat"/>
                  <a:cs typeface="Montserrat"/>
                </a:endParaRPr>
              </a:p>
            </p:txBody>
          </p:sp>
          <p:sp>
            <p:nvSpPr>
              <p:cNvPr id="353" name="Google Shape;353;p40"/>
              <p:cNvSpPr/>
              <p:nvPr/>
            </p:nvSpPr>
            <p:spPr bwMode="auto">
              <a:xfrm>
                <a:off x="5216175" y="1852275"/>
                <a:ext cx="1689300" cy="610799"/>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r>
                  <a:rPr lang="en" sz="1100">
                    <a:latin typeface="Montserrat"/>
                    <a:ea typeface="Montserrat"/>
                    <a:cs typeface="Montserrat"/>
                  </a:rPr>
                  <a:t>Greet</a:t>
                </a:r>
                <a:endParaRPr sz="1100">
                  <a:latin typeface="Montserrat"/>
                  <a:ea typeface="Montserrat"/>
                  <a:cs typeface="Montserrat"/>
                </a:endParaRPr>
              </a:p>
            </p:txBody>
          </p:sp>
          <p:sp>
            <p:nvSpPr>
              <p:cNvPr id="354" name="Google Shape;354;p40"/>
              <p:cNvSpPr/>
              <p:nvPr/>
            </p:nvSpPr>
            <p:spPr bwMode="auto">
              <a:xfrm>
                <a:off x="5216175" y="957325"/>
                <a:ext cx="1689300" cy="284400"/>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a:spcBef>
                    <a:spcPts val="0"/>
                  </a:spcBef>
                  <a:spcAft>
                    <a:spcPts val="0"/>
                  </a:spcAft>
                  <a:buNone/>
                  <a:defRPr/>
                </a:pPr>
                <a:r>
                  <a:rPr lang="en" sz="1200">
                    <a:solidFill>
                      <a:schemeClr val="dk1"/>
                    </a:solidFill>
                    <a:latin typeface="Montserrat"/>
                    <a:ea typeface="Montserrat"/>
                    <a:cs typeface="Montserrat"/>
                  </a:rPr>
                  <a:t>per1 : </a:t>
                </a:r>
                <a:r>
                  <a:rPr lang="en" sz="1200">
                    <a:solidFill>
                      <a:schemeClr val="dk1"/>
                    </a:solidFill>
                    <a:latin typeface="Montserrat"/>
                    <a:ea typeface="Montserrat"/>
                    <a:cs typeface="Montserrat"/>
                  </a:rPr>
                  <a:t>Person</a:t>
                </a:r>
                <a:endParaRPr sz="1300"/>
              </a:p>
            </p:txBody>
          </p:sp>
        </p:grpSp>
        <p:sp>
          <p:nvSpPr>
            <p:cNvPr id="355" name="Google Shape;355;p40"/>
            <p:cNvSpPr txBox="1"/>
            <p:nvPr/>
          </p:nvSpPr>
          <p:spPr bwMode="auto">
            <a:xfrm>
              <a:off x="7144525" y="1351550"/>
              <a:ext cx="1653900" cy="585000"/>
            </a:xfrm>
            <a:prstGeom prst="rect">
              <a:avLst/>
            </a:prstGeom>
            <a:noFill/>
            <a:ln>
              <a:noFill/>
            </a:ln>
          </p:spPr>
          <p:txBody>
            <a:bodyPr spcFirstLastPara="1" wrap="square" lIns="91425" tIns="91425" rIns="91425" bIns="91425" anchor="t" anchorCtr="0">
              <a:spAutoFit/>
            </a:bodyPr>
            <a:lstStyle/>
            <a:p>
              <a:pPr marL="0" lvl="0" indent="0" algn="l">
                <a:spcBef>
                  <a:spcPts val="0"/>
                </a:spcBef>
                <a:spcAft>
                  <a:spcPts val="0"/>
                </a:spcAft>
                <a:buNone/>
                <a:defRPr/>
              </a:pPr>
              <a:r>
                <a:rPr lang="en" sz="1300">
                  <a:latin typeface="Montserrat"/>
                  <a:ea typeface="Montserrat"/>
                  <a:cs typeface="Montserrat"/>
                </a:rPr>
                <a:t>Instance of </a:t>
              </a:r>
              <a:r>
                <a:rPr lang="en" sz="1300" b="1">
                  <a:latin typeface="Montserrat"/>
                  <a:ea typeface="Montserrat"/>
                  <a:cs typeface="Montserrat"/>
                </a:rPr>
                <a:t>Person</a:t>
              </a:r>
              <a:r>
                <a:rPr lang="en" sz="1300">
                  <a:latin typeface="Montserrat"/>
                  <a:ea typeface="Montserrat"/>
                  <a:cs typeface="Montserrat"/>
                </a:rPr>
                <a:t> class</a:t>
              </a:r>
              <a:endParaRPr sz="1300">
                <a:latin typeface="Montserrat"/>
                <a:ea typeface="Montserrat"/>
                <a:cs typeface="Montserrat"/>
              </a:endParaRPr>
            </a:p>
          </p:txBody>
        </p:sp>
      </p:grpSp>
      <p:grpSp>
        <p:nvGrpSpPr>
          <p:cNvPr id="356" name="Google Shape;356;p40"/>
          <p:cNvGrpSpPr/>
          <p:nvPr/>
        </p:nvGrpSpPr>
        <p:grpSpPr bwMode="auto">
          <a:xfrm>
            <a:off x="172925" y="2373913"/>
            <a:ext cx="3176888" cy="618600"/>
            <a:chOff x="172925" y="2373913"/>
            <a:chExt cx="3176888" cy="618600"/>
          </a:xfrm>
        </p:grpSpPr>
        <p:sp>
          <p:nvSpPr>
            <p:cNvPr id="357" name="Google Shape;357;p40"/>
            <p:cNvSpPr/>
            <p:nvPr/>
          </p:nvSpPr>
          <p:spPr bwMode="auto">
            <a:xfrm>
              <a:off x="3059713" y="2373913"/>
              <a:ext cx="290100" cy="618600"/>
            </a:xfrm>
            <a:prstGeom prst="roundRect">
              <a:avLst>
                <a:gd name="adj" fmla="val 16667"/>
              </a:avLst>
            </a:prstGeom>
            <a:noFill/>
            <a:ln w="28575" cap="flat" cmpd="sng">
              <a:solidFill>
                <a:schemeClr val="accent2"/>
              </a:solidFill>
              <a:prstDash val="dash"/>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58" name="Google Shape;358;p40"/>
            <p:cNvSpPr txBox="1"/>
            <p:nvPr/>
          </p:nvSpPr>
          <p:spPr bwMode="auto">
            <a:xfrm>
              <a:off x="172925" y="2483125"/>
              <a:ext cx="1279200" cy="400200"/>
            </a:xfrm>
            <a:prstGeom prst="rect">
              <a:avLst/>
            </a:prstGeom>
            <a:noFill/>
            <a:ln>
              <a:noFill/>
            </a:ln>
          </p:spPr>
          <p:txBody>
            <a:bodyPr spcFirstLastPara="1" wrap="square" lIns="91425" tIns="91425" rIns="91425" bIns="91425" anchor="t" anchorCtr="0">
              <a:spAutoFit/>
            </a:bodyPr>
            <a:lstStyle/>
            <a:p>
              <a:pPr marL="0" lvl="0" indent="0" algn="l">
                <a:spcBef>
                  <a:spcPts val="0"/>
                </a:spcBef>
                <a:spcAft>
                  <a:spcPts val="0"/>
                </a:spcAft>
                <a:buNone/>
                <a:defRPr/>
              </a:pPr>
              <a:r>
                <a:rPr lang="en" b="1">
                  <a:solidFill>
                    <a:schemeClr val="accent2"/>
                  </a:solidFill>
                  <a:latin typeface="Montserrat"/>
                  <a:ea typeface="Montserrat"/>
                  <a:cs typeface="Montserrat"/>
                </a:rPr>
                <a:t>Inheritance</a:t>
              </a:r>
              <a:endParaRPr b="1">
                <a:solidFill>
                  <a:schemeClr val="accent2"/>
                </a:solidFill>
                <a:latin typeface="Montserrat"/>
                <a:ea typeface="Montserrat"/>
                <a:cs typeface="Montserrat"/>
              </a:endParaRPr>
            </a:p>
          </p:txBody>
        </p:sp>
        <p:cxnSp>
          <p:nvCxnSpPr>
            <p:cNvPr id="359" name="Google Shape;359;p40"/>
            <p:cNvCxnSpPr>
              <a:stCxn id="358" idx="3"/>
              <a:endCxn id="357" idx="1"/>
            </p:cNvCxnSpPr>
            <p:nvPr/>
          </p:nvCxnSpPr>
          <p:spPr bwMode="auto">
            <a:xfrm>
              <a:off x="1452125" y="2683225"/>
              <a:ext cx="1607700" cy="0"/>
            </a:xfrm>
            <a:prstGeom prst="straightConnector1">
              <a:avLst/>
            </a:prstGeom>
            <a:noFill/>
            <a:ln w="28575" cap="flat" cmpd="sng">
              <a:solidFill>
                <a:schemeClr val="accent2"/>
              </a:solidFill>
              <a:prstDash val="dash"/>
              <a:round/>
              <a:headEnd type="none" w="med" len="med"/>
              <a:tailEnd type="stealth" w="med" len="med"/>
            </a:ln>
          </p:spPr>
        </p:cxn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dur="indefinite" restart="never" nodeType="tmRoot">
          <p:childTnLst>
            <p:seq concurrent="1" nextAc="seek">
              <p:cTn id="2" dur="indefinite" nodeType="mainSeq">
                <p:childTnLst>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336"/>
                                        </p:tgtEl>
                                        <p:attrNameLst>
                                          <p:attrName>style.visibility</p:attrName>
                                        </p:attrNameLst>
                                      </p:cBhvr>
                                      <p:to>
                                        <p:strVal val="visible"/>
                                      </p:to>
                                    </p:set>
                                    <p:animEffect transition="in" filter="fade">
                                      <p:cBhvr>
                                        <p:cTn dur="500"/>
                                        <p:tgtEl>
                                          <p:spTgt spid="336"/>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356"/>
                                        </p:tgtEl>
                                        <p:attrNameLst>
                                          <p:attrName>style.visibility</p:attrName>
                                        </p:attrNameLst>
                                      </p:cBhvr>
                                      <p:to>
                                        <p:strVal val="visible"/>
                                      </p:to>
                                    </p:set>
                                    <p:animEffect transition="in" filter="fade">
                                      <p:cBhvr>
                                        <p:cTn dur="1000"/>
                                        <p:tgtEl>
                                          <p:spTgt spid="356"/>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348"/>
                                        </p:tgtEl>
                                        <p:attrNameLst>
                                          <p:attrName>style.visibility</p:attrName>
                                        </p:attrNameLst>
                                      </p:cBhvr>
                                      <p:to>
                                        <p:strVal val="visible"/>
                                      </p:to>
                                    </p:set>
                                    <p:animEffect transition="in" filter="fade">
                                      <p:cBhvr>
                                        <p:cTn dur="500"/>
                                        <p:tgtEl>
                                          <p:spTgt spid="348"/>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349"/>
                                        </p:tgtEl>
                                        <p:attrNameLst>
                                          <p:attrName>style.visibility</p:attrName>
                                        </p:attrNameLst>
                                      </p:cBhvr>
                                      <p:to>
                                        <p:strVal val="visible"/>
                                      </p:to>
                                    </p:set>
                                    <p:animEffect transition="in" filter="fade">
                                      <p:cBhvr>
                                        <p:cTn dur="500"/>
                                        <p:tgtEl>
                                          <p:spTgt spid="349"/>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350"/>
                                        </p:tgtEl>
                                        <p:attrNameLst>
                                          <p:attrName>style.visibility</p:attrName>
                                        </p:attrNameLst>
                                      </p:cBhvr>
                                      <p:to>
                                        <p:strVal val="visible"/>
                                      </p:to>
                                    </p:set>
                                    <p:animEffect transition="in" filter="fade">
                                      <p:cBhvr>
                                        <p:cTn dur="500"/>
                                        <p:tgtEl>
                                          <p:spTgt spid="350"/>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325"/>
                                        </p:tgtEl>
                                        <p:attrNameLst>
                                          <p:attrName>style.visibility</p:attrName>
                                        </p:attrNameLst>
                                      </p:cBhvr>
                                      <p:to>
                                        <p:strVal val="visible"/>
                                      </p:to>
                                    </p:set>
                                    <p:animEffect transition="in" filter="fade">
                                      <p:cBhvr>
                                        <p:cTn dur="500"/>
                                        <p:tgtEl>
                                          <p:spTgt spid="325"/>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342"/>
                                        </p:tgtEl>
                                        <p:attrNameLst>
                                          <p:attrName>style.visibility</p:attrName>
                                        </p:attrNameLst>
                                      </p:cBhvr>
                                      <p:to>
                                        <p:strVal val="visible"/>
                                      </p:to>
                                    </p:set>
                                    <p:animEffect transition="in" filter="fade">
                                      <p:cBhvr>
                                        <p:cTn dur="500"/>
                                        <p:tgtEl>
                                          <p:spTgt spid="342"/>
                                        </p:tgtEl>
                                      </p:cBhvr>
                                    </p:animEffect>
                                  </p:childTnLst>
                                </p:cTn>
                              </p:par>
                            </p:childTnLst>
                          </p:cTn>
                        </p:par>
                      </p:childTnLst>
                    </p:cTn>
                  </p:par>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345"/>
                                        </p:tgtEl>
                                        <p:attrNameLst>
                                          <p:attrName>style.visibility</p:attrName>
                                        </p:attrNameLst>
                                      </p:cBhvr>
                                      <p:to>
                                        <p:strVal val="visible"/>
                                      </p:to>
                                    </p:set>
                                    <p:animEffect transition="in" filter="fade">
                                      <p:cBhvr>
                                        <p:cTn dur="500"/>
                                        <p:tgtEl>
                                          <p:spTgt spid="3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64" name="Google Shape;364;p41"/>
          <p:cNvSpPr txBox="1"/>
          <p:nvPr>
            <p:ph type="title"/>
          </p:nvPr>
        </p:nvSpPr>
        <p:spPr bwMode="auto">
          <a:xfrm>
            <a:off x="311700" y="286500"/>
            <a:ext cx="8520600" cy="5727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defRPr/>
            </a:pPr>
            <a:r>
              <a:rPr lang="en"/>
              <a:t>Inheritance Example</a:t>
            </a:r>
            <a:endParaRPr/>
          </a:p>
        </p:txBody>
      </p:sp>
      <p:grpSp>
        <p:nvGrpSpPr>
          <p:cNvPr id="365" name="Google Shape;365;p41"/>
          <p:cNvGrpSpPr/>
          <p:nvPr/>
        </p:nvGrpSpPr>
        <p:grpSpPr bwMode="auto">
          <a:xfrm>
            <a:off x="2355750" y="957325"/>
            <a:ext cx="1689300" cy="1505749"/>
            <a:chOff x="2472975" y="957325"/>
            <a:chExt cx="1689300" cy="1505749"/>
          </a:xfrm>
        </p:grpSpPr>
        <p:sp>
          <p:nvSpPr>
            <p:cNvPr id="366" name="Google Shape;366;p41"/>
            <p:cNvSpPr/>
            <p:nvPr/>
          </p:nvSpPr>
          <p:spPr bwMode="auto">
            <a:xfrm>
              <a:off x="2472975" y="1241575"/>
              <a:ext cx="1689300" cy="610799"/>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lnSpc>
                  <a:spcPct val="114999"/>
                </a:lnSpc>
                <a:spcBef>
                  <a:spcPts val="0"/>
                </a:spcBef>
                <a:spcAft>
                  <a:spcPts val="0"/>
                </a:spcAft>
                <a:buNone/>
                <a:defRPr/>
              </a:pPr>
              <a:r>
                <a:rPr lang="en" sz="1100">
                  <a:latin typeface="Montserrat"/>
                  <a:ea typeface="Montserrat"/>
                  <a:cs typeface="Montserrat"/>
                </a:rPr>
                <a:t>Name </a:t>
              </a:r>
              <a:endParaRPr sz="1100">
                <a:latin typeface="Montserrat"/>
                <a:ea typeface="Montserrat"/>
                <a:cs typeface="Montserrat"/>
              </a:endParaRPr>
            </a:p>
            <a:p>
              <a:pPr marL="0" lvl="0" indent="0" algn="l">
                <a:spcBef>
                  <a:spcPts val="0"/>
                </a:spcBef>
                <a:spcAft>
                  <a:spcPts val="0"/>
                </a:spcAft>
                <a:buNone/>
                <a:defRPr/>
              </a:pPr>
              <a:r>
                <a:rPr lang="en" sz="1100">
                  <a:latin typeface="Montserrat"/>
                  <a:ea typeface="Montserrat"/>
                  <a:cs typeface="Montserrat"/>
                </a:rPr>
                <a:t>Age</a:t>
              </a:r>
              <a:endParaRPr sz="1100">
                <a:latin typeface="Montserrat"/>
                <a:ea typeface="Montserrat"/>
                <a:cs typeface="Montserrat"/>
              </a:endParaRPr>
            </a:p>
          </p:txBody>
        </p:sp>
        <p:sp>
          <p:nvSpPr>
            <p:cNvPr id="367" name="Google Shape;367;p41"/>
            <p:cNvSpPr/>
            <p:nvPr/>
          </p:nvSpPr>
          <p:spPr bwMode="auto">
            <a:xfrm>
              <a:off x="2472975" y="1852274"/>
              <a:ext cx="1689300" cy="610799"/>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r>
                <a:rPr lang="en" sz="1100">
                  <a:latin typeface="Montserrat"/>
                  <a:ea typeface="Montserrat"/>
                  <a:cs typeface="Montserrat"/>
                </a:rPr>
                <a:t>Greet</a:t>
              </a:r>
              <a:endParaRPr sz="1100">
                <a:latin typeface="Montserrat"/>
                <a:ea typeface="Montserrat"/>
                <a:cs typeface="Montserrat"/>
              </a:endParaRPr>
            </a:p>
          </p:txBody>
        </p:sp>
        <p:sp>
          <p:nvSpPr>
            <p:cNvPr id="368" name="Google Shape;368;p41"/>
            <p:cNvSpPr/>
            <p:nvPr/>
          </p:nvSpPr>
          <p:spPr bwMode="auto">
            <a:xfrm>
              <a:off x="2472975" y="957325"/>
              <a:ext cx="1689300" cy="284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a:spcBef>
                  <a:spcPts val="0"/>
                </a:spcBef>
                <a:spcAft>
                  <a:spcPts val="0"/>
                </a:spcAft>
                <a:buNone/>
                <a:defRPr/>
              </a:pPr>
              <a:r>
                <a:rPr lang="en" sz="1200">
                  <a:solidFill>
                    <a:schemeClr val="dk1"/>
                  </a:solidFill>
                  <a:latin typeface="Montserrat"/>
                  <a:ea typeface="Montserrat"/>
                  <a:cs typeface="Montserrat"/>
                </a:rPr>
                <a:t>Person</a:t>
              </a:r>
              <a:endParaRPr sz="1300"/>
            </a:p>
          </p:txBody>
        </p:sp>
      </p:grpSp>
      <p:grpSp>
        <p:nvGrpSpPr>
          <p:cNvPr id="369" name="Google Shape;369;p41"/>
          <p:cNvGrpSpPr/>
          <p:nvPr/>
        </p:nvGrpSpPr>
        <p:grpSpPr bwMode="auto">
          <a:xfrm>
            <a:off x="2355750" y="2463025"/>
            <a:ext cx="1689300" cy="2064749"/>
            <a:chOff x="2355750" y="2463025"/>
            <a:chExt cx="1689300" cy="2064749"/>
          </a:xfrm>
        </p:grpSpPr>
        <p:grpSp>
          <p:nvGrpSpPr>
            <p:cNvPr id="370" name="Google Shape;370;p41"/>
            <p:cNvGrpSpPr/>
            <p:nvPr/>
          </p:nvGrpSpPr>
          <p:grpSpPr bwMode="auto">
            <a:xfrm>
              <a:off x="2355750" y="2938525"/>
              <a:ext cx="1689300" cy="1589249"/>
              <a:chOff x="2472975" y="2938525"/>
              <a:chExt cx="1689300" cy="1589249"/>
            </a:xfrm>
          </p:grpSpPr>
          <p:sp>
            <p:nvSpPr>
              <p:cNvPr id="371" name="Google Shape;371;p41"/>
              <p:cNvSpPr/>
              <p:nvPr/>
            </p:nvSpPr>
            <p:spPr bwMode="auto">
              <a:xfrm>
                <a:off x="2472975" y="3222776"/>
                <a:ext cx="1689300" cy="652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lnSpc>
                    <a:spcPct val="114999"/>
                  </a:lnSpc>
                  <a:spcBef>
                    <a:spcPts val="0"/>
                  </a:spcBef>
                  <a:spcAft>
                    <a:spcPts val="0"/>
                  </a:spcAft>
                  <a:buNone/>
                  <a:defRPr/>
                </a:pPr>
                <a:r>
                  <a:rPr lang="en" sz="1100">
                    <a:latin typeface="Montserrat"/>
                    <a:ea typeface="Montserrat"/>
                    <a:cs typeface="Montserrat"/>
                  </a:rPr>
                  <a:t>Id</a:t>
                </a:r>
                <a:endParaRPr sz="1100">
                  <a:latin typeface="Montserrat"/>
                  <a:ea typeface="Montserrat"/>
                  <a:cs typeface="Montserrat"/>
                </a:endParaRPr>
              </a:p>
              <a:p>
                <a:pPr marL="0" lvl="0" indent="0" algn="l">
                  <a:lnSpc>
                    <a:spcPct val="114999"/>
                  </a:lnSpc>
                  <a:spcBef>
                    <a:spcPts val="0"/>
                  </a:spcBef>
                  <a:spcAft>
                    <a:spcPts val="0"/>
                  </a:spcAft>
                  <a:buNone/>
                  <a:defRPr/>
                </a:pPr>
                <a:r>
                  <a:rPr lang="en" sz="1100">
                    <a:latin typeface="Montserrat"/>
                    <a:ea typeface="Montserrat"/>
                    <a:cs typeface="Montserrat"/>
                  </a:rPr>
                  <a:t>Faculty </a:t>
                </a:r>
                <a:endParaRPr sz="1100">
                  <a:latin typeface="Montserrat"/>
                  <a:ea typeface="Montserrat"/>
                  <a:cs typeface="Montserrat"/>
                </a:endParaRPr>
              </a:p>
              <a:p>
                <a:pPr marL="0" lvl="0" indent="0" algn="l">
                  <a:spcBef>
                    <a:spcPts val="0"/>
                  </a:spcBef>
                  <a:spcAft>
                    <a:spcPts val="0"/>
                  </a:spcAft>
                  <a:buNone/>
                  <a:defRPr/>
                </a:pPr>
                <a:r>
                  <a:rPr lang="en" sz="1100">
                    <a:latin typeface="Montserrat"/>
                    <a:ea typeface="Montserrat"/>
                    <a:cs typeface="Montserrat"/>
                  </a:rPr>
                  <a:t>Graduation year</a:t>
                </a:r>
                <a:endParaRPr sz="1100">
                  <a:latin typeface="Montserrat"/>
                  <a:ea typeface="Montserrat"/>
                  <a:cs typeface="Montserrat"/>
                </a:endParaRPr>
              </a:p>
            </p:txBody>
          </p:sp>
          <p:sp>
            <p:nvSpPr>
              <p:cNvPr id="372" name="Google Shape;372;p41"/>
              <p:cNvSpPr/>
              <p:nvPr/>
            </p:nvSpPr>
            <p:spPr bwMode="auto">
              <a:xfrm>
                <a:off x="2472975" y="3875275"/>
                <a:ext cx="1689300" cy="652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r>
                  <a:rPr lang="en" sz="1100">
                    <a:latin typeface="Montserrat"/>
                    <a:ea typeface="Montserrat"/>
                    <a:cs typeface="Montserrat"/>
                  </a:rPr>
                  <a:t>Study</a:t>
                </a:r>
                <a:endParaRPr sz="1100">
                  <a:latin typeface="Montserrat"/>
                  <a:ea typeface="Montserrat"/>
                  <a:cs typeface="Montserrat"/>
                </a:endParaRPr>
              </a:p>
            </p:txBody>
          </p:sp>
          <p:sp>
            <p:nvSpPr>
              <p:cNvPr id="373" name="Google Shape;373;p41"/>
              <p:cNvSpPr/>
              <p:nvPr/>
            </p:nvSpPr>
            <p:spPr bwMode="auto">
              <a:xfrm>
                <a:off x="2472975" y="2938525"/>
                <a:ext cx="1689300" cy="284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a:spcBef>
                    <a:spcPts val="0"/>
                  </a:spcBef>
                  <a:spcAft>
                    <a:spcPts val="0"/>
                  </a:spcAft>
                  <a:buNone/>
                  <a:defRPr/>
                </a:pPr>
                <a:r>
                  <a:rPr lang="en" sz="1200">
                    <a:solidFill>
                      <a:schemeClr val="dk1"/>
                    </a:solidFill>
                    <a:latin typeface="Montserrat"/>
                    <a:ea typeface="Montserrat"/>
                    <a:cs typeface="Montserrat"/>
                  </a:rPr>
                  <a:t>Student</a:t>
                </a:r>
                <a:endParaRPr sz="1300"/>
              </a:p>
            </p:txBody>
          </p:sp>
        </p:grpSp>
        <p:cxnSp>
          <p:nvCxnSpPr>
            <p:cNvPr id="374" name="Google Shape;374;p41"/>
            <p:cNvCxnSpPr>
              <a:stCxn id="373" idx="0"/>
              <a:endCxn id="367" idx="2"/>
            </p:cNvCxnSpPr>
            <p:nvPr/>
          </p:nvCxnSpPr>
          <p:spPr bwMode="auto">
            <a:xfrm rot="10800000">
              <a:off x="3200400" y="2463025"/>
              <a:ext cx="0" cy="475500"/>
            </a:xfrm>
            <a:prstGeom prst="straightConnector1">
              <a:avLst/>
            </a:prstGeom>
            <a:noFill/>
            <a:ln w="19050" cap="flat" cmpd="sng">
              <a:solidFill>
                <a:schemeClr val="dk2"/>
              </a:solidFill>
              <a:prstDash val="solid"/>
              <a:round/>
              <a:headEnd type="none" w="med" len="med"/>
              <a:tailEnd type="triangle" w="med" len="med"/>
            </a:ln>
          </p:spPr>
        </p:cxnSp>
      </p:grpSp>
      <p:sp>
        <p:nvSpPr>
          <p:cNvPr id="375" name="Google Shape;375;p41"/>
          <p:cNvSpPr txBox="1"/>
          <p:nvPr/>
        </p:nvSpPr>
        <p:spPr bwMode="auto">
          <a:xfrm>
            <a:off x="4890825" y="703221"/>
            <a:ext cx="2458500" cy="3915000"/>
          </a:xfrm>
          <a:prstGeom prst="rect">
            <a:avLst/>
          </a:prstGeom>
          <a:noFill/>
          <a:ln>
            <a:noFill/>
          </a:ln>
        </p:spPr>
        <p:txBody>
          <a:bodyPr spcFirstLastPara="1" wrap="square" lIns="91425" tIns="91425" rIns="91425" bIns="91425" anchor="t" anchorCtr="0">
            <a:spAutoFit/>
          </a:bodyPr>
          <a:lstStyle/>
          <a:p>
            <a:pPr marL="0" lvl="0" indent="0" algn="l">
              <a:lnSpc>
                <a:spcPct val="135714"/>
              </a:lnSpc>
              <a:spcBef>
                <a:spcPts val="0"/>
              </a:spcBef>
              <a:spcAft>
                <a:spcPts val="0"/>
              </a:spcAft>
              <a:buNone/>
              <a:defRPr/>
            </a:pPr>
            <a:r>
              <a:rPr lang="en" sz="1300">
                <a:solidFill>
                  <a:srgbClr val="0000FF"/>
                </a:solidFill>
                <a:highlight>
                  <a:srgbClr val="FFFFFE"/>
                </a:highlight>
                <a:latin typeface="Courier New"/>
                <a:ea typeface="Courier New"/>
                <a:cs typeface="Courier New"/>
              </a:rPr>
              <a:t>class</a:t>
            </a:r>
            <a:r>
              <a:rPr lang="en" sz="1300">
                <a:solidFill>
                  <a:schemeClr val="dk1"/>
                </a:solidFill>
                <a:highlight>
                  <a:srgbClr val="FFFFFE"/>
                </a:highlight>
                <a:latin typeface="Courier New"/>
                <a:ea typeface="Courier New"/>
                <a:cs typeface="Courier New"/>
              </a:rPr>
              <a:t> Person:</a:t>
            </a:r>
            <a:r>
              <a:rPr lang="en" sz="1300">
                <a:solidFill>
                  <a:schemeClr val="dk1"/>
                </a:solidFill>
                <a:highlight>
                  <a:srgbClr val="FFFFFE"/>
                </a:highlight>
                <a:latin typeface="Courier New"/>
                <a:ea typeface="Courier New"/>
                <a:cs typeface="Courier New"/>
              </a:rPr>
              <a:t>    </a:t>
            </a:r>
            <a:endParaRPr sz="1300">
              <a:solidFill>
                <a:schemeClr val="dk1"/>
              </a:solidFill>
              <a:highlight>
                <a:srgbClr val="FFFFFE"/>
              </a:highlight>
              <a:latin typeface="Courier New"/>
              <a:ea typeface="Courier New"/>
              <a:cs typeface="Courier New"/>
            </a:endParaRPr>
          </a:p>
          <a:p>
            <a:pPr marL="0" lvl="0" indent="0" algn="l">
              <a:lnSpc>
                <a:spcPct val="135714"/>
              </a:lnSpc>
              <a:spcBef>
                <a:spcPts val="0"/>
              </a:spcBef>
              <a:spcAft>
                <a:spcPts val="0"/>
              </a:spcAft>
              <a:buNone/>
              <a:defRPr/>
            </a:pPr>
            <a:r>
              <a:rPr lang="en" sz="1300">
                <a:solidFill>
                  <a:schemeClr val="dk1"/>
                </a:solidFill>
                <a:highlight>
                  <a:srgbClr val="FFFFFE"/>
                </a:highlight>
                <a:latin typeface="Courier New"/>
                <a:ea typeface="Courier New"/>
                <a:cs typeface="Courier New"/>
              </a:rPr>
              <a:t>    &lt;statement 1&gt;</a:t>
            </a:r>
            <a:endParaRPr sz="1300">
              <a:solidFill>
                <a:schemeClr val="dk1"/>
              </a:solidFill>
              <a:highlight>
                <a:srgbClr val="FFFFFE"/>
              </a:highlight>
              <a:latin typeface="Courier New"/>
              <a:ea typeface="Courier New"/>
              <a:cs typeface="Courier New"/>
            </a:endParaRPr>
          </a:p>
          <a:p>
            <a:pPr marL="0" lvl="0" indent="0" algn="l">
              <a:lnSpc>
                <a:spcPct val="135714"/>
              </a:lnSpc>
              <a:spcBef>
                <a:spcPts val="0"/>
              </a:spcBef>
              <a:spcAft>
                <a:spcPts val="0"/>
              </a:spcAft>
              <a:buNone/>
              <a:defRPr/>
            </a:pPr>
            <a:r>
              <a:rPr lang="en" sz="1300">
                <a:solidFill>
                  <a:schemeClr val="dk1"/>
                </a:solidFill>
                <a:highlight>
                  <a:srgbClr val="FFFFFE"/>
                </a:highlight>
                <a:latin typeface="Courier New"/>
                <a:ea typeface="Courier New"/>
                <a:cs typeface="Courier New"/>
              </a:rPr>
              <a:t>    &lt;statement 1&gt;</a:t>
            </a:r>
            <a:endParaRPr sz="1300">
              <a:solidFill>
                <a:schemeClr val="dk1"/>
              </a:solidFill>
              <a:highlight>
                <a:srgbClr val="FFFFFE"/>
              </a:highlight>
              <a:latin typeface="Courier New"/>
              <a:ea typeface="Courier New"/>
              <a:cs typeface="Courier New"/>
            </a:endParaRPr>
          </a:p>
          <a:p>
            <a:pPr marL="0" lvl="0" indent="0" algn="l">
              <a:lnSpc>
                <a:spcPct val="135714"/>
              </a:lnSpc>
              <a:spcBef>
                <a:spcPts val="0"/>
              </a:spcBef>
              <a:spcAft>
                <a:spcPts val="0"/>
              </a:spcAft>
              <a:buNone/>
              <a:defRPr/>
            </a:pPr>
            <a:r>
              <a:rPr lang="en" sz="1300">
                <a:solidFill>
                  <a:schemeClr val="dk1"/>
                </a:solidFill>
                <a:highlight>
                  <a:srgbClr val="FFFFFE"/>
                </a:highlight>
                <a:latin typeface="Courier New"/>
                <a:ea typeface="Courier New"/>
                <a:cs typeface="Courier New"/>
              </a:rPr>
              <a:t>		⋮</a:t>
            </a:r>
            <a:endParaRPr sz="1300">
              <a:solidFill>
                <a:schemeClr val="dk1"/>
              </a:solidFill>
              <a:highlight>
                <a:srgbClr val="FFFFFE"/>
              </a:highlight>
              <a:latin typeface="Courier New"/>
              <a:ea typeface="Courier New"/>
              <a:cs typeface="Courier New"/>
            </a:endParaRPr>
          </a:p>
          <a:p>
            <a:pPr marL="0" lvl="0" indent="0" algn="l">
              <a:lnSpc>
                <a:spcPct val="135714"/>
              </a:lnSpc>
              <a:spcBef>
                <a:spcPts val="0"/>
              </a:spcBef>
              <a:spcAft>
                <a:spcPts val="0"/>
              </a:spcAft>
              <a:buNone/>
              <a:defRPr/>
            </a:pPr>
            <a:r>
              <a:rPr lang="en" sz="1300">
                <a:solidFill>
                  <a:schemeClr val="dk1"/>
                </a:solidFill>
                <a:highlight>
                  <a:srgbClr val="FFFFFE"/>
                </a:highlight>
                <a:latin typeface="Courier New"/>
                <a:ea typeface="Courier New"/>
                <a:cs typeface="Courier New"/>
              </a:rPr>
              <a:t>    &lt;statement M&gt;</a:t>
            </a:r>
            <a:endParaRPr sz="1300">
              <a:solidFill>
                <a:schemeClr val="dk1"/>
              </a:solidFill>
              <a:highlight>
                <a:srgbClr val="FFFFFE"/>
              </a:highlight>
              <a:latin typeface="Courier New"/>
              <a:ea typeface="Courier New"/>
              <a:cs typeface="Courier New"/>
            </a:endParaRPr>
          </a:p>
          <a:p>
            <a:pPr marL="0" lvl="0" indent="0" algn="l">
              <a:lnSpc>
                <a:spcPct val="135714"/>
              </a:lnSpc>
              <a:spcBef>
                <a:spcPts val="0"/>
              </a:spcBef>
              <a:spcAft>
                <a:spcPts val="0"/>
              </a:spcAft>
              <a:buNone/>
              <a:defRPr/>
            </a:pPr>
            <a:endParaRPr sz="1300">
              <a:solidFill>
                <a:schemeClr val="dk1"/>
              </a:solidFill>
              <a:highlight>
                <a:srgbClr val="FFFFFE"/>
              </a:highlight>
              <a:latin typeface="Courier New"/>
              <a:ea typeface="Courier New"/>
              <a:cs typeface="Courier New"/>
            </a:endParaRPr>
          </a:p>
          <a:p>
            <a:pPr marL="0" lvl="0" indent="0" algn="l">
              <a:lnSpc>
                <a:spcPct val="135714"/>
              </a:lnSpc>
              <a:spcBef>
                <a:spcPts val="0"/>
              </a:spcBef>
              <a:spcAft>
                <a:spcPts val="0"/>
              </a:spcAft>
              <a:buNone/>
              <a:defRPr/>
            </a:pPr>
            <a:endParaRPr sz="1300">
              <a:solidFill>
                <a:schemeClr val="dk1"/>
              </a:solidFill>
              <a:highlight>
                <a:srgbClr val="FFFFFE"/>
              </a:highlight>
              <a:latin typeface="Courier New"/>
              <a:ea typeface="Courier New"/>
              <a:cs typeface="Courier New"/>
            </a:endParaRPr>
          </a:p>
          <a:p>
            <a:pPr marL="0" lvl="0" indent="0" algn="l">
              <a:lnSpc>
                <a:spcPct val="135714"/>
              </a:lnSpc>
              <a:spcBef>
                <a:spcPts val="0"/>
              </a:spcBef>
              <a:spcAft>
                <a:spcPts val="0"/>
              </a:spcAft>
              <a:buNone/>
              <a:defRPr/>
            </a:pPr>
            <a:endParaRPr sz="1300">
              <a:solidFill>
                <a:schemeClr val="dk1"/>
              </a:solidFill>
              <a:highlight>
                <a:srgbClr val="FFFFFE"/>
              </a:highlight>
              <a:latin typeface="Courier New"/>
              <a:ea typeface="Courier New"/>
              <a:cs typeface="Courier New"/>
            </a:endParaRPr>
          </a:p>
          <a:p>
            <a:pPr marL="0" lvl="0" indent="0" algn="l">
              <a:lnSpc>
                <a:spcPct val="135714"/>
              </a:lnSpc>
              <a:spcBef>
                <a:spcPts val="0"/>
              </a:spcBef>
              <a:spcAft>
                <a:spcPts val="0"/>
              </a:spcAft>
              <a:buNone/>
              <a:defRPr/>
            </a:pPr>
            <a:endParaRPr sz="1300">
              <a:solidFill>
                <a:schemeClr val="dk1"/>
              </a:solidFill>
              <a:highlight>
                <a:srgbClr val="FFFFFE"/>
              </a:highlight>
              <a:latin typeface="Courier New"/>
              <a:ea typeface="Courier New"/>
              <a:cs typeface="Courier New"/>
            </a:endParaRPr>
          </a:p>
          <a:p>
            <a:pPr marL="0" lvl="0" indent="0" algn="l">
              <a:lnSpc>
                <a:spcPct val="135714"/>
              </a:lnSpc>
              <a:spcBef>
                <a:spcPts val="0"/>
              </a:spcBef>
              <a:spcAft>
                <a:spcPts val="0"/>
              </a:spcAft>
              <a:buNone/>
              <a:defRPr/>
            </a:pPr>
            <a:r>
              <a:rPr lang="en" sz="1300">
                <a:solidFill>
                  <a:srgbClr val="0000FF"/>
                </a:solidFill>
                <a:highlight>
                  <a:srgbClr val="FFFFFE"/>
                </a:highlight>
                <a:latin typeface="Courier New"/>
                <a:ea typeface="Courier New"/>
                <a:cs typeface="Courier New"/>
              </a:rPr>
              <a:t>class</a:t>
            </a:r>
            <a:r>
              <a:rPr lang="en" sz="1300">
                <a:solidFill>
                  <a:schemeClr val="dk1"/>
                </a:solidFill>
                <a:highlight>
                  <a:srgbClr val="FFFFFE"/>
                </a:highlight>
                <a:latin typeface="Courier New"/>
                <a:ea typeface="Courier New"/>
                <a:cs typeface="Courier New"/>
              </a:rPr>
              <a:t> </a:t>
            </a:r>
            <a:r>
              <a:rPr lang="en" sz="1300">
                <a:solidFill>
                  <a:srgbClr val="267F99"/>
                </a:solidFill>
                <a:highlight>
                  <a:srgbClr val="FFFFFE"/>
                </a:highlight>
                <a:latin typeface="Courier New"/>
                <a:ea typeface="Courier New"/>
                <a:cs typeface="Courier New"/>
              </a:rPr>
              <a:t>Student</a:t>
            </a:r>
            <a:r>
              <a:rPr lang="en" sz="1300">
                <a:solidFill>
                  <a:schemeClr val="dk1"/>
                </a:solidFill>
                <a:highlight>
                  <a:srgbClr val="FFFFFE"/>
                </a:highlight>
                <a:latin typeface="Courier New"/>
                <a:ea typeface="Courier New"/>
                <a:cs typeface="Courier New"/>
              </a:rPr>
              <a:t>(</a:t>
            </a:r>
            <a:r>
              <a:rPr lang="en" sz="1300">
                <a:solidFill>
                  <a:srgbClr val="267F99"/>
                </a:solidFill>
                <a:highlight>
                  <a:srgbClr val="FFFFFE"/>
                </a:highlight>
                <a:latin typeface="Courier New"/>
                <a:ea typeface="Courier New"/>
                <a:cs typeface="Courier New"/>
              </a:rPr>
              <a:t>Person</a:t>
            </a:r>
            <a:r>
              <a:rPr lang="en" sz="1300">
                <a:solidFill>
                  <a:schemeClr val="dk1"/>
                </a:solidFill>
                <a:highlight>
                  <a:srgbClr val="FFFFFE"/>
                </a:highlight>
                <a:latin typeface="Courier New"/>
                <a:ea typeface="Courier New"/>
                <a:cs typeface="Courier New"/>
              </a:rPr>
              <a:t>):</a:t>
            </a:r>
            <a:endParaRPr sz="1300">
              <a:solidFill>
                <a:schemeClr val="dk1"/>
              </a:solidFill>
              <a:highlight>
                <a:srgbClr val="FFFFFE"/>
              </a:highlight>
              <a:latin typeface="Courier New"/>
              <a:ea typeface="Courier New"/>
              <a:cs typeface="Courier New"/>
            </a:endParaRPr>
          </a:p>
          <a:p>
            <a:pPr marL="0" lvl="0" indent="0" algn="l">
              <a:lnSpc>
                <a:spcPct val="135714"/>
              </a:lnSpc>
              <a:spcBef>
                <a:spcPts val="0"/>
              </a:spcBef>
              <a:spcAft>
                <a:spcPts val="0"/>
              </a:spcAft>
              <a:buNone/>
              <a:defRPr/>
            </a:pPr>
            <a:r>
              <a:rPr lang="en" sz="1300">
                <a:solidFill>
                  <a:schemeClr val="dk1"/>
                </a:solidFill>
                <a:highlight>
                  <a:srgbClr val="FFFFFE"/>
                </a:highlight>
                <a:latin typeface="Courier New"/>
                <a:ea typeface="Courier New"/>
                <a:cs typeface="Courier New"/>
              </a:rPr>
              <a:t>    &lt;statement 1&gt;</a:t>
            </a:r>
            <a:endParaRPr sz="1300">
              <a:solidFill>
                <a:schemeClr val="dk1"/>
              </a:solidFill>
              <a:highlight>
                <a:srgbClr val="FFFFFE"/>
              </a:highlight>
              <a:latin typeface="Courier New"/>
              <a:ea typeface="Courier New"/>
              <a:cs typeface="Courier New"/>
            </a:endParaRPr>
          </a:p>
          <a:p>
            <a:pPr marL="0" lvl="0" indent="0" algn="l">
              <a:lnSpc>
                <a:spcPct val="135714"/>
              </a:lnSpc>
              <a:spcBef>
                <a:spcPts val="0"/>
              </a:spcBef>
              <a:spcAft>
                <a:spcPts val="0"/>
              </a:spcAft>
              <a:buNone/>
              <a:defRPr/>
            </a:pPr>
            <a:r>
              <a:rPr lang="en" sz="1300">
                <a:solidFill>
                  <a:schemeClr val="dk1"/>
                </a:solidFill>
                <a:highlight>
                  <a:srgbClr val="FFFFFE"/>
                </a:highlight>
                <a:latin typeface="Courier New"/>
                <a:ea typeface="Courier New"/>
                <a:cs typeface="Courier New"/>
              </a:rPr>
              <a:t>    &lt;statement 1&gt;</a:t>
            </a:r>
            <a:endParaRPr sz="1300">
              <a:solidFill>
                <a:schemeClr val="dk1"/>
              </a:solidFill>
              <a:highlight>
                <a:srgbClr val="FFFFFE"/>
              </a:highlight>
              <a:latin typeface="Courier New"/>
              <a:ea typeface="Courier New"/>
              <a:cs typeface="Courier New"/>
            </a:endParaRPr>
          </a:p>
          <a:p>
            <a:pPr marL="0" lvl="0" indent="0" algn="l">
              <a:lnSpc>
                <a:spcPct val="135714"/>
              </a:lnSpc>
              <a:spcBef>
                <a:spcPts val="0"/>
              </a:spcBef>
              <a:spcAft>
                <a:spcPts val="0"/>
              </a:spcAft>
              <a:buNone/>
              <a:defRPr/>
            </a:pPr>
            <a:r>
              <a:rPr lang="en" sz="1300">
                <a:solidFill>
                  <a:schemeClr val="dk1"/>
                </a:solidFill>
                <a:highlight>
                  <a:srgbClr val="FFFFFE"/>
                </a:highlight>
                <a:latin typeface="Courier New"/>
                <a:ea typeface="Courier New"/>
                <a:cs typeface="Courier New"/>
              </a:rPr>
              <a:t>		⋮</a:t>
            </a:r>
            <a:endParaRPr sz="1300">
              <a:solidFill>
                <a:schemeClr val="dk1"/>
              </a:solidFill>
              <a:highlight>
                <a:srgbClr val="FFFFFE"/>
              </a:highlight>
              <a:latin typeface="Courier New"/>
              <a:ea typeface="Courier New"/>
              <a:cs typeface="Courier New"/>
            </a:endParaRPr>
          </a:p>
          <a:p>
            <a:pPr marL="0" lvl="0" indent="0" algn="l">
              <a:lnSpc>
                <a:spcPct val="135714"/>
              </a:lnSpc>
              <a:spcBef>
                <a:spcPts val="0"/>
              </a:spcBef>
              <a:spcAft>
                <a:spcPts val="0"/>
              </a:spcAft>
              <a:buNone/>
              <a:defRPr/>
            </a:pPr>
            <a:r>
              <a:rPr lang="en" sz="1300">
                <a:solidFill>
                  <a:schemeClr val="dk1"/>
                </a:solidFill>
                <a:highlight>
                  <a:srgbClr val="FFFFFE"/>
                </a:highlight>
                <a:latin typeface="Courier New"/>
                <a:ea typeface="Courier New"/>
                <a:cs typeface="Courier New"/>
              </a:rPr>
              <a:t>    &lt;statement N&gt;	</a:t>
            </a:r>
            <a:endParaRPr sz="1300">
              <a:latin typeface="Montserrat"/>
              <a:ea typeface="Montserrat"/>
              <a:cs typeface="Montserrat"/>
            </a:endParaRPr>
          </a:p>
        </p:txBody>
      </p:sp>
      <p:sp>
        <p:nvSpPr>
          <p:cNvPr id="376" name="Google Shape;376;p41"/>
          <p:cNvSpPr/>
          <p:nvPr/>
        </p:nvSpPr>
        <p:spPr bwMode="auto">
          <a:xfrm>
            <a:off x="5544550" y="3146250"/>
            <a:ext cx="1533900" cy="290700"/>
          </a:xfrm>
          <a:prstGeom prst="roundRect">
            <a:avLst>
              <a:gd name="adj" fmla="val 16667"/>
            </a:avLst>
          </a:prstGeom>
          <a:noFill/>
          <a:ln w="9525"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77" name="Google Shape;377;p41"/>
          <p:cNvSpPr/>
          <p:nvPr/>
        </p:nvSpPr>
        <p:spPr bwMode="auto">
          <a:xfrm>
            <a:off x="3363050" y="2703625"/>
            <a:ext cx="2835525" cy="422050"/>
          </a:xfrm>
          <a:custGeom>
            <a:avLst/>
            <a:gdLst/>
            <a:ahLst/>
            <a:cxnLst/>
            <a:rect l="l" t="t" r="r" b="b"/>
            <a:pathLst>
              <a:path w="113421" h="16882" fill="norm" stroke="1" extrusionOk="0">
                <a:moveTo>
                  <a:pt x="113421" y="16882"/>
                </a:moveTo>
                <a:cubicBezTo>
                  <a:pt x="111487" y="14684"/>
                  <a:pt x="113069" y="5452"/>
                  <a:pt x="101815" y="3693"/>
                </a:cubicBezTo>
                <a:cubicBezTo>
                  <a:pt x="90561" y="1935"/>
                  <a:pt x="62865" y="6947"/>
                  <a:pt x="45896" y="6331"/>
                </a:cubicBezTo>
                <a:cubicBezTo>
                  <a:pt x="28927" y="5716"/>
                  <a:pt x="7649" y="1055"/>
                  <a:pt x="0" y="0"/>
                </a:cubicBezTo>
              </a:path>
            </a:pathLst>
          </a:custGeom>
          <a:noFill/>
          <a:ln w="19050" cap="flat" cmpd="sng">
            <a:solidFill>
              <a:schemeClr val="dk2"/>
            </a:solidFill>
            <a:prstDash val="dash"/>
            <a:round/>
            <a:headEnd type="none" w="med" len="med"/>
            <a:tailEnd type="stealth" w="med" len="med"/>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82" name="Google Shape;382;p42"/>
          <p:cNvSpPr txBox="1"/>
          <p:nvPr/>
        </p:nvSpPr>
        <p:spPr bwMode="auto">
          <a:xfrm>
            <a:off x="0" y="1770300"/>
            <a:ext cx="9144000" cy="1602900"/>
          </a:xfrm>
          <a:prstGeom prst="rect">
            <a:avLst/>
          </a:prstGeom>
          <a:solidFill>
            <a:srgbClr val="0B5394"/>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a:lnSpc>
                <a:spcPct val="114999"/>
              </a:lnSpc>
              <a:spcBef>
                <a:spcPts val="0"/>
              </a:spcBef>
              <a:spcAft>
                <a:spcPts val="0"/>
              </a:spcAft>
              <a:buNone/>
              <a:defRPr/>
            </a:pPr>
            <a:r>
              <a:rPr lang="en" sz="3500">
                <a:solidFill>
                  <a:srgbClr val="FFFFFF"/>
                </a:solidFill>
                <a:latin typeface="Montserrat"/>
                <a:ea typeface="Montserrat"/>
                <a:cs typeface="Montserrat"/>
              </a:rPr>
              <a:t>Code Demo</a:t>
            </a:r>
            <a:endParaRPr sz="3500">
              <a:solidFill>
                <a:srgbClr val="FFFFFF"/>
              </a:solidFill>
              <a:latin typeface="Montserrat"/>
              <a:ea typeface="Montserrat"/>
              <a:cs typeface="Montserrat"/>
            </a:endParaRPr>
          </a:p>
          <a:p>
            <a:pPr marL="0" lvl="0" indent="0" algn="r">
              <a:spcBef>
                <a:spcPts val="0"/>
              </a:spcBef>
              <a:spcAft>
                <a:spcPts val="0"/>
              </a:spcAft>
              <a:buNone/>
              <a:defRPr/>
            </a:pPr>
            <a:r>
              <a:rPr lang="en" sz="2800">
                <a:solidFill>
                  <a:schemeClr val="lt1"/>
                </a:solidFill>
                <a:latin typeface="Montserrat"/>
                <a:ea typeface="Montserrat"/>
                <a:cs typeface="Montserrat"/>
              </a:rPr>
              <a:t>Inheritance</a:t>
            </a:r>
            <a:endParaRPr sz="3500">
              <a:solidFill>
                <a:srgbClr val="FFFFFF"/>
              </a:solidFill>
              <a:latin typeface="Montserrat"/>
              <a:ea typeface="Montserrat"/>
              <a:cs typeface="Montserra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87" name="Google Shape;387;p43"/>
          <p:cNvSpPr txBox="1"/>
          <p:nvPr>
            <p:ph type="title"/>
          </p:nvPr>
        </p:nvSpPr>
        <p:spPr bwMode="auto">
          <a:xfrm>
            <a:off x="311700" y="286500"/>
            <a:ext cx="8520600" cy="5727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defRPr/>
            </a:pPr>
            <a:r>
              <a:rPr lang="en"/>
              <a:t>Inheritance Example</a:t>
            </a:r>
            <a:endParaRPr/>
          </a:p>
        </p:txBody>
      </p:sp>
      <p:grpSp>
        <p:nvGrpSpPr>
          <p:cNvPr id="388" name="Google Shape;388;p43"/>
          <p:cNvGrpSpPr/>
          <p:nvPr/>
        </p:nvGrpSpPr>
        <p:grpSpPr bwMode="auto">
          <a:xfrm>
            <a:off x="3738755" y="935400"/>
            <a:ext cx="1666494" cy="1505749"/>
            <a:chOff x="1553325" y="966775"/>
            <a:chExt cx="1620000" cy="1505749"/>
          </a:xfrm>
        </p:grpSpPr>
        <p:sp>
          <p:nvSpPr>
            <p:cNvPr id="389" name="Google Shape;389;p43"/>
            <p:cNvSpPr/>
            <p:nvPr/>
          </p:nvSpPr>
          <p:spPr bwMode="auto">
            <a:xfrm>
              <a:off x="1553325" y="1251025"/>
              <a:ext cx="1620000" cy="610799"/>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lnSpc>
                  <a:spcPct val="114999"/>
                </a:lnSpc>
                <a:spcBef>
                  <a:spcPts val="0"/>
                </a:spcBef>
                <a:spcAft>
                  <a:spcPts val="0"/>
                </a:spcAft>
                <a:buNone/>
                <a:defRPr/>
              </a:pPr>
              <a:r>
                <a:rPr lang="en" sz="1100">
                  <a:latin typeface="Montserrat"/>
                  <a:ea typeface="Montserrat"/>
                  <a:cs typeface="Montserrat"/>
                </a:rPr>
                <a:t>Name </a:t>
              </a:r>
              <a:endParaRPr sz="1100">
                <a:latin typeface="Montserrat"/>
                <a:ea typeface="Montserrat"/>
                <a:cs typeface="Montserrat"/>
              </a:endParaRPr>
            </a:p>
            <a:p>
              <a:pPr marL="0" lvl="0" indent="0" algn="l">
                <a:spcBef>
                  <a:spcPts val="0"/>
                </a:spcBef>
                <a:spcAft>
                  <a:spcPts val="0"/>
                </a:spcAft>
                <a:buNone/>
                <a:defRPr/>
              </a:pPr>
              <a:r>
                <a:rPr lang="en" sz="1100">
                  <a:latin typeface="Montserrat"/>
                  <a:ea typeface="Montserrat"/>
                  <a:cs typeface="Montserrat"/>
                </a:rPr>
                <a:t>Age</a:t>
              </a:r>
              <a:endParaRPr sz="1100">
                <a:latin typeface="Montserrat"/>
                <a:ea typeface="Montserrat"/>
                <a:cs typeface="Montserrat"/>
              </a:endParaRPr>
            </a:p>
          </p:txBody>
        </p:sp>
        <p:sp>
          <p:nvSpPr>
            <p:cNvPr id="390" name="Google Shape;390;p43"/>
            <p:cNvSpPr/>
            <p:nvPr/>
          </p:nvSpPr>
          <p:spPr bwMode="auto">
            <a:xfrm>
              <a:off x="1553325" y="1861724"/>
              <a:ext cx="1620000" cy="610799"/>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r>
                <a:rPr lang="en" sz="1100">
                  <a:latin typeface="Montserrat"/>
                  <a:ea typeface="Montserrat"/>
                  <a:cs typeface="Montserrat"/>
                </a:rPr>
                <a:t>Greet</a:t>
              </a:r>
              <a:endParaRPr sz="1100">
                <a:latin typeface="Montserrat"/>
                <a:ea typeface="Montserrat"/>
                <a:cs typeface="Montserrat"/>
              </a:endParaRPr>
            </a:p>
          </p:txBody>
        </p:sp>
        <p:sp>
          <p:nvSpPr>
            <p:cNvPr id="391" name="Google Shape;391;p43"/>
            <p:cNvSpPr/>
            <p:nvPr/>
          </p:nvSpPr>
          <p:spPr bwMode="auto">
            <a:xfrm>
              <a:off x="1553325" y="966775"/>
              <a:ext cx="1620000" cy="284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a:spcBef>
                  <a:spcPts val="0"/>
                </a:spcBef>
                <a:spcAft>
                  <a:spcPts val="0"/>
                </a:spcAft>
                <a:buNone/>
                <a:defRPr/>
              </a:pPr>
              <a:r>
                <a:rPr lang="en" sz="1200">
                  <a:solidFill>
                    <a:schemeClr val="dk1"/>
                  </a:solidFill>
                  <a:latin typeface="Montserrat"/>
                  <a:ea typeface="Montserrat"/>
                  <a:cs typeface="Montserrat"/>
                </a:rPr>
                <a:t>Person</a:t>
              </a:r>
              <a:endParaRPr sz="1300"/>
            </a:p>
          </p:txBody>
        </p:sp>
      </p:grpSp>
      <p:grpSp>
        <p:nvGrpSpPr>
          <p:cNvPr id="392" name="Google Shape;392;p43"/>
          <p:cNvGrpSpPr/>
          <p:nvPr/>
        </p:nvGrpSpPr>
        <p:grpSpPr bwMode="auto">
          <a:xfrm>
            <a:off x="2445367" y="2984500"/>
            <a:ext cx="1666494" cy="1589249"/>
            <a:chOff x="1553325" y="2947975"/>
            <a:chExt cx="1620000" cy="1589249"/>
          </a:xfrm>
        </p:grpSpPr>
        <p:sp>
          <p:nvSpPr>
            <p:cNvPr id="393" name="Google Shape;393;p43"/>
            <p:cNvSpPr/>
            <p:nvPr/>
          </p:nvSpPr>
          <p:spPr bwMode="auto">
            <a:xfrm>
              <a:off x="1553325" y="3232225"/>
              <a:ext cx="1620000" cy="652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lnSpc>
                  <a:spcPct val="114999"/>
                </a:lnSpc>
                <a:spcBef>
                  <a:spcPts val="0"/>
                </a:spcBef>
                <a:spcAft>
                  <a:spcPts val="0"/>
                </a:spcAft>
                <a:buNone/>
                <a:defRPr/>
              </a:pPr>
              <a:r>
                <a:rPr lang="en" sz="1100">
                  <a:latin typeface="Montserrat"/>
                  <a:ea typeface="Montserrat"/>
                  <a:cs typeface="Montserrat"/>
                </a:rPr>
                <a:t>Id</a:t>
              </a:r>
              <a:endParaRPr sz="1100">
                <a:latin typeface="Montserrat"/>
                <a:ea typeface="Montserrat"/>
                <a:cs typeface="Montserrat"/>
              </a:endParaRPr>
            </a:p>
            <a:p>
              <a:pPr marL="0" lvl="0" indent="0" algn="l">
                <a:lnSpc>
                  <a:spcPct val="114999"/>
                </a:lnSpc>
                <a:spcBef>
                  <a:spcPts val="0"/>
                </a:spcBef>
                <a:spcAft>
                  <a:spcPts val="0"/>
                </a:spcAft>
                <a:buNone/>
                <a:defRPr/>
              </a:pPr>
              <a:r>
                <a:rPr lang="en" sz="1100">
                  <a:latin typeface="Montserrat"/>
                  <a:ea typeface="Montserrat"/>
                  <a:cs typeface="Montserrat"/>
                </a:rPr>
                <a:t>Faculty </a:t>
              </a:r>
              <a:endParaRPr sz="1100">
                <a:latin typeface="Montserrat"/>
                <a:ea typeface="Montserrat"/>
                <a:cs typeface="Montserrat"/>
              </a:endParaRPr>
            </a:p>
            <a:p>
              <a:pPr marL="0" lvl="0" indent="0" algn="l">
                <a:spcBef>
                  <a:spcPts val="0"/>
                </a:spcBef>
                <a:spcAft>
                  <a:spcPts val="0"/>
                </a:spcAft>
                <a:buNone/>
                <a:defRPr/>
              </a:pPr>
              <a:r>
                <a:rPr lang="en" sz="1100">
                  <a:latin typeface="Montserrat"/>
                  <a:ea typeface="Montserrat"/>
                  <a:cs typeface="Montserrat"/>
                </a:rPr>
                <a:t>Graduation year</a:t>
              </a:r>
              <a:endParaRPr sz="1100">
                <a:latin typeface="Montserrat"/>
                <a:ea typeface="Montserrat"/>
                <a:cs typeface="Montserrat"/>
              </a:endParaRPr>
            </a:p>
          </p:txBody>
        </p:sp>
        <p:sp>
          <p:nvSpPr>
            <p:cNvPr id="394" name="Google Shape;394;p43"/>
            <p:cNvSpPr/>
            <p:nvPr/>
          </p:nvSpPr>
          <p:spPr bwMode="auto">
            <a:xfrm>
              <a:off x="1553325" y="3884724"/>
              <a:ext cx="1620000" cy="652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r>
                <a:rPr lang="en" sz="1100">
                  <a:latin typeface="Montserrat"/>
                  <a:ea typeface="Montserrat"/>
                  <a:cs typeface="Montserrat"/>
                </a:rPr>
                <a:t>Study</a:t>
              </a:r>
              <a:endParaRPr sz="1100">
                <a:latin typeface="Montserrat"/>
                <a:ea typeface="Montserrat"/>
                <a:cs typeface="Montserrat"/>
              </a:endParaRPr>
            </a:p>
          </p:txBody>
        </p:sp>
        <p:sp>
          <p:nvSpPr>
            <p:cNvPr id="395" name="Google Shape;395;p43"/>
            <p:cNvSpPr/>
            <p:nvPr/>
          </p:nvSpPr>
          <p:spPr bwMode="auto">
            <a:xfrm>
              <a:off x="1553325" y="2947975"/>
              <a:ext cx="1620000" cy="284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a:spcBef>
                  <a:spcPts val="0"/>
                </a:spcBef>
                <a:spcAft>
                  <a:spcPts val="0"/>
                </a:spcAft>
                <a:buNone/>
                <a:defRPr/>
              </a:pPr>
              <a:r>
                <a:rPr lang="en" sz="1200">
                  <a:solidFill>
                    <a:schemeClr val="dk1"/>
                  </a:solidFill>
                  <a:latin typeface="Montserrat"/>
                  <a:ea typeface="Montserrat"/>
                  <a:cs typeface="Montserrat"/>
                </a:rPr>
                <a:t>Student</a:t>
              </a:r>
              <a:endParaRPr sz="1300"/>
            </a:p>
          </p:txBody>
        </p:sp>
      </p:grpSp>
      <p:cxnSp>
        <p:nvCxnSpPr>
          <p:cNvPr id="396" name="Google Shape;396;p43"/>
          <p:cNvCxnSpPr>
            <a:stCxn id="395" idx="0"/>
            <a:endCxn id="390" idx="2"/>
          </p:cNvCxnSpPr>
          <p:nvPr/>
        </p:nvCxnSpPr>
        <p:spPr bwMode="auto">
          <a:xfrm rot="10800000" flipH="1">
            <a:off x="3278614" y="2441200"/>
            <a:ext cx="1293300" cy="543300"/>
          </a:xfrm>
          <a:prstGeom prst="straightConnector1">
            <a:avLst/>
          </a:prstGeom>
          <a:noFill/>
          <a:ln w="19050" cap="flat" cmpd="sng">
            <a:solidFill>
              <a:schemeClr val="dk2"/>
            </a:solidFill>
            <a:prstDash val="solid"/>
            <a:round/>
            <a:headEnd type="none" w="med" len="med"/>
            <a:tailEnd type="triangle" w="med" len="med"/>
          </a:ln>
        </p:spPr>
      </p:cxnSp>
      <p:grpSp>
        <p:nvGrpSpPr>
          <p:cNvPr id="397" name="Google Shape;397;p43"/>
          <p:cNvGrpSpPr/>
          <p:nvPr/>
        </p:nvGrpSpPr>
        <p:grpSpPr bwMode="auto">
          <a:xfrm>
            <a:off x="5032135" y="2984500"/>
            <a:ext cx="1666494" cy="1589249"/>
            <a:chOff x="4067925" y="2947975"/>
            <a:chExt cx="1620000" cy="1589249"/>
          </a:xfrm>
        </p:grpSpPr>
        <p:sp>
          <p:nvSpPr>
            <p:cNvPr id="398" name="Google Shape;398;p43"/>
            <p:cNvSpPr/>
            <p:nvPr/>
          </p:nvSpPr>
          <p:spPr bwMode="auto">
            <a:xfrm>
              <a:off x="4067925" y="3232225"/>
              <a:ext cx="1620000" cy="652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lnSpc>
                  <a:spcPct val="114999"/>
                </a:lnSpc>
                <a:spcBef>
                  <a:spcPts val="0"/>
                </a:spcBef>
                <a:spcAft>
                  <a:spcPts val="0"/>
                </a:spcAft>
                <a:buNone/>
                <a:defRPr/>
              </a:pPr>
              <a:r>
                <a:rPr lang="en" sz="1100">
                  <a:latin typeface="Montserrat"/>
                  <a:ea typeface="Montserrat"/>
                  <a:cs typeface="Montserrat"/>
                </a:rPr>
                <a:t>Department</a:t>
              </a:r>
              <a:endParaRPr sz="1100">
                <a:latin typeface="Montserrat"/>
                <a:ea typeface="Montserrat"/>
                <a:cs typeface="Montserrat"/>
              </a:endParaRPr>
            </a:p>
            <a:p>
              <a:pPr marL="0" lvl="0" indent="0" algn="l">
                <a:spcBef>
                  <a:spcPts val="0"/>
                </a:spcBef>
                <a:spcAft>
                  <a:spcPts val="0"/>
                </a:spcAft>
                <a:buNone/>
                <a:defRPr/>
              </a:pPr>
              <a:r>
                <a:rPr lang="en" sz="1100">
                  <a:latin typeface="Montserrat"/>
                  <a:ea typeface="Montserrat"/>
                  <a:cs typeface="Montserrat"/>
                </a:rPr>
                <a:t>Salary</a:t>
              </a:r>
              <a:endParaRPr sz="1100">
                <a:latin typeface="Montserrat"/>
                <a:ea typeface="Montserrat"/>
                <a:cs typeface="Montserrat"/>
              </a:endParaRPr>
            </a:p>
          </p:txBody>
        </p:sp>
        <p:sp>
          <p:nvSpPr>
            <p:cNvPr id="399" name="Google Shape;399;p43"/>
            <p:cNvSpPr/>
            <p:nvPr/>
          </p:nvSpPr>
          <p:spPr bwMode="auto">
            <a:xfrm>
              <a:off x="4067925" y="3884724"/>
              <a:ext cx="1620000" cy="652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r>
                <a:rPr lang="en" sz="1100">
                  <a:latin typeface="Montserrat"/>
                  <a:ea typeface="Montserrat"/>
                  <a:cs typeface="Montserrat"/>
                </a:rPr>
                <a:t>Work</a:t>
              </a:r>
              <a:endParaRPr sz="1100">
                <a:latin typeface="Montserrat"/>
                <a:ea typeface="Montserrat"/>
                <a:cs typeface="Montserrat"/>
              </a:endParaRPr>
            </a:p>
          </p:txBody>
        </p:sp>
        <p:sp>
          <p:nvSpPr>
            <p:cNvPr id="400" name="Google Shape;400;p43"/>
            <p:cNvSpPr/>
            <p:nvPr/>
          </p:nvSpPr>
          <p:spPr bwMode="auto">
            <a:xfrm>
              <a:off x="4067925" y="2947975"/>
              <a:ext cx="1620000" cy="284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a:spcBef>
                  <a:spcPts val="0"/>
                </a:spcBef>
                <a:spcAft>
                  <a:spcPts val="0"/>
                </a:spcAft>
                <a:buNone/>
                <a:defRPr/>
              </a:pPr>
              <a:r>
                <a:rPr lang="en" sz="1200">
                  <a:solidFill>
                    <a:schemeClr val="dk1"/>
                  </a:solidFill>
                  <a:latin typeface="Montserrat"/>
                  <a:ea typeface="Montserrat"/>
                  <a:cs typeface="Montserrat"/>
                </a:rPr>
                <a:t>Employee</a:t>
              </a:r>
              <a:endParaRPr sz="1300"/>
            </a:p>
          </p:txBody>
        </p:sp>
      </p:grpSp>
      <p:cxnSp>
        <p:nvCxnSpPr>
          <p:cNvPr id="401" name="Google Shape;401;p43"/>
          <p:cNvCxnSpPr>
            <a:stCxn id="400" idx="0"/>
            <a:endCxn id="390" idx="2"/>
          </p:cNvCxnSpPr>
          <p:nvPr/>
        </p:nvCxnSpPr>
        <p:spPr bwMode="auto">
          <a:xfrm rot="10800000">
            <a:off x="4572083" y="2441200"/>
            <a:ext cx="1293300" cy="543300"/>
          </a:xfrm>
          <a:prstGeom prst="straightConnector1">
            <a:avLst/>
          </a:prstGeom>
          <a:noFill/>
          <a:ln w="19050" cap="flat" cmpd="sng">
            <a:solidFill>
              <a:schemeClr val="dk2"/>
            </a:solidFill>
            <a:prstDash val="solid"/>
            <a:round/>
            <a:headEnd type="none" w="med" len="med"/>
            <a:tailEnd type="triangle" w="med" len="med"/>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06" name="Google Shape;406;p44"/>
          <p:cNvSpPr txBox="1"/>
          <p:nvPr>
            <p:ph type="title"/>
          </p:nvPr>
        </p:nvSpPr>
        <p:spPr bwMode="auto">
          <a:xfrm>
            <a:off x="311700" y="286500"/>
            <a:ext cx="8520600" cy="5727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defRPr/>
            </a:pPr>
            <a:r>
              <a:rPr lang="en"/>
              <a:t>Inheritance Types</a:t>
            </a:r>
            <a:endParaRPr/>
          </a:p>
        </p:txBody>
      </p:sp>
      <p:pic>
        <p:nvPicPr>
          <p:cNvPr id="407" name="Google Shape;407;p44"/>
          <p:cNvPicPr/>
          <p:nvPr/>
        </p:nvPicPr>
        <p:blipFill>
          <a:blip r:embed="rId3">
            <a:alphaModFix/>
          </a:blip>
          <a:srcRect l="0" t="0" r="0" b="12793"/>
          <a:stretch/>
        </p:blipFill>
        <p:spPr bwMode="auto">
          <a:xfrm>
            <a:off x="76200" y="1297800"/>
            <a:ext cx="8839199" cy="2393375"/>
          </a:xfrm>
          <a:prstGeom prst="rect">
            <a:avLst/>
          </a:prstGeom>
          <a:noFill/>
          <a:ln>
            <a:noFill/>
          </a:ln>
        </p:spPr>
      </p:pic>
      <p:sp>
        <p:nvSpPr>
          <p:cNvPr id="408" name="Google Shape;408;p44"/>
          <p:cNvSpPr txBox="1"/>
          <p:nvPr/>
        </p:nvSpPr>
        <p:spPr bwMode="auto">
          <a:xfrm>
            <a:off x="-70858" y="3691175"/>
            <a:ext cx="2097000" cy="400200"/>
          </a:xfrm>
          <a:prstGeom prst="rect">
            <a:avLst/>
          </a:prstGeom>
          <a:noFill/>
          <a:ln>
            <a:noFill/>
          </a:ln>
        </p:spPr>
        <p:txBody>
          <a:bodyPr spcFirstLastPara="1" wrap="square" lIns="91425" tIns="91425" rIns="91425" bIns="91425" anchor="t" anchorCtr="0">
            <a:spAutoFit/>
          </a:bodyPr>
          <a:lstStyle/>
          <a:p>
            <a:pPr marL="0" lvl="0" indent="0" algn="l">
              <a:spcBef>
                <a:spcPts val="0"/>
              </a:spcBef>
              <a:spcAft>
                <a:spcPts val="0"/>
              </a:spcAft>
              <a:buNone/>
              <a:defRPr/>
            </a:pPr>
            <a:r>
              <a:rPr lang="en">
                <a:latin typeface="Montserrat"/>
                <a:ea typeface="Montserrat"/>
                <a:cs typeface="Montserrat"/>
              </a:rPr>
              <a:t>(a) Single Inheritance</a:t>
            </a:r>
            <a:endParaRPr>
              <a:latin typeface="Montserrat"/>
              <a:ea typeface="Montserrat"/>
              <a:cs typeface="Montserrat"/>
            </a:endParaRPr>
          </a:p>
        </p:txBody>
      </p:sp>
      <p:sp>
        <p:nvSpPr>
          <p:cNvPr id="409" name="Google Shape;409;p44"/>
          <p:cNvSpPr txBox="1"/>
          <p:nvPr/>
        </p:nvSpPr>
        <p:spPr bwMode="auto">
          <a:xfrm>
            <a:off x="2061396" y="3691175"/>
            <a:ext cx="2940300" cy="400200"/>
          </a:xfrm>
          <a:prstGeom prst="rect">
            <a:avLst/>
          </a:prstGeom>
          <a:noFill/>
          <a:ln>
            <a:noFill/>
          </a:ln>
        </p:spPr>
        <p:txBody>
          <a:bodyPr spcFirstLastPara="1" wrap="square" lIns="91425" tIns="91425" rIns="91425" bIns="91425" anchor="t" anchorCtr="0">
            <a:spAutoFit/>
          </a:bodyPr>
          <a:lstStyle/>
          <a:p>
            <a:pPr marL="0" lvl="0" indent="0" algn="l">
              <a:spcBef>
                <a:spcPts val="0"/>
              </a:spcBef>
              <a:spcAft>
                <a:spcPts val="0"/>
              </a:spcAft>
              <a:buNone/>
              <a:defRPr/>
            </a:pPr>
            <a:r>
              <a:rPr lang="en">
                <a:latin typeface="Montserrat"/>
                <a:ea typeface="Montserrat"/>
                <a:cs typeface="Montserrat"/>
              </a:rPr>
              <a:t>(b) Hierarchical Inheritance</a:t>
            </a:r>
            <a:endParaRPr>
              <a:latin typeface="Montserrat"/>
              <a:ea typeface="Montserrat"/>
              <a:cs typeface="Montserrat"/>
            </a:endParaRPr>
          </a:p>
        </p:txBody>
      </p:sp>
      <p:sp>
        <p:nvSpPr>
          <p:cNvPr id="410" name="Google Shape;410;p44"/>
          <p:cNvSpPr txBox="1"/>
          <p:nvPr/>
        </p:nvSpPr>
        <p:spPr bwMode="auto">
          <a:xfrm>
            <a:off x="5110733" y="3691175"/>
            <a:ext cx="1329300" cy="615600"/>
          </a:xfrm>
          <a:prstGeom prst="rect">
            <a:avLst/>
          </a:prstGeom>
          <a:noFill/>
          <a:ln>
            <a:noFill/>
          </a:ln>
        </p:spPr>
        <p:txBody>
          <a:bodyPr spcFirstLastPara="1" wrap="square" lIns="91425" tIns="91425" rIns="91425" bIns="91425" anchor="t" anchorCtr="0">
            <a:spAutoFit/>
          </a:bodyPr>
          <a:lstStyle/>
          <a:p>
            <a:pPr marL="0" lvl="0" indent="0" algn="l">
              <a:spcBef>
                <a:spcPts val="0"/>
              </a:spcBef>
              <a:spcAft>
                <a:spcPts val="0"/>
              </a:spcAft>
              <a:buNone/>
              <a:defRPr/>
            </a:pPr>
            <a:r>
              <a:rPr lang="en">
                <a:latin typeface="Montserrat"/>
                <a:ea typeface="Montserrat"/>
                <a:cs typeface="Montserrat"/>
              </a:rPr>
              <a:t>(c)</a:t>
            </a:r>
            <a:r>
              <a:rPr lang="en">
                <a:latin typeface="Montserrat"/>
                <a:ea typeface="Montserrat"/>
                <a:cs typeface="Montserrat"/>
              </a:rPr>
              <a:t> Multilevel Inheritance</a:t>
            </a:r>
            <a:endParaRPr>
              <a:latin typeface="Montserrat"/>
              <a:ea typeface="Montserrat"/>
              <a:cs typeface="Montserrat"/>
            </a:endParaRPr>
          </a:p>
        </p:txBody>
      </p:sp>
      <p:sp>
        <p:nvSpPr>
          <p:cNvPr id="411" name="Google Shape;411;p44"/>
          <p:cNvSpPr txBox="1"/>
          <p:nvPr/>
        </p:nvSpPr>
        <p:spPr bwMode="auto">
          <a:xfrm>
            <a:off x="6941917" y="3691175"/>
            <a:ext cx="2397900" cy="400200"/>
          </a:xfrm>
          <a:prstGeom prst="rect">
            <a:avLst/>
          </a:prstGeom>
          <a:noFill/>
          <a:ln>
            <a:noFill/>
          </a:ln>
        </p:spPr>
        <p:txBody>
          <a:bodyPr spcFirstLastPara="1" wrap="square" lIns="91425" tIns="91425" rIns="91425" bIns="91425" anchor="t" anchorCtr="0">
            <a:spAutoFit/>
          </a:bodyPr>
          <a:lstStyle/>
          <a:p>
            <a:pPr marL="0" lvl="0" indent="0" algn="l">
              <a:spcBef>
                <a:spcPts val="0"/>
              </a:spcBef>
              <a:spcAft>
                <a:spcPts val="0"/>
              </a:spcAft>
              <a:buNone/>
              <a:defRPr/>
            </a:pPr>
            <a:r>
              <a:rPr lang="en">
                <a:latin typeface="Montserrat"/>
                <a:ea typeface="Montserrat"/>
                <a:cs typeface="Montserrat"/>
              </a:rPr>
              <a:t>(d) Multiple Inheritance</a:t>
            </a:r>
            <a:endParaRPr>
              <a:latin typeface="Montserrat"/>
              <a:ea typeface="Montserrat"/>
              <a:cs typeface="Montserra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16" name="Google Shape;416;p45"/>
          <p:cNvSpPr txBox="1"/>
          <p:nvPr>
            <p:ph type="title"/>
          </p:nvPr>
        </p:nvSpPr>
        <p:spPr bwMode="auto">
          <a:xfrm>
            <a:off x="311700" y="286500"/>
            <a:ext cx="3951000" cy="5727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defRPr/>
            </a:pPr>
            <a:r>
              <a:rPr lang="en"/>
              <a:t>Inheritance Example</a:t>
            </a:r>
            <a:endParaRPr/>
          </a:p>
        </p:txBody>
      </p:sp>
      <p:grpSp>
        <p:nvGrpSpPr>
          <p:cNvPr id="417" name="Google Shape;417;p45"/>
          <p:cNvGrpSpPr/>
          <p:nvPr/>
        </p:nvGrpSpPr>
        <p:grpSpPr bwMode="auto">
          <a:xfrm>
            <a:off x="4576963" y="487656"/>
            <a:ext cx="1666506" cy="1015830"/>
            <a:chOff x="1553325" y="966775"/>
            <a:chExt cx="1620011" cy="1269946"/>
          </a:xfrm>
        </p:grpSpPr>
        <p:sp>
          <p:nvSpPr>
            <p:cNvPr id="418" name="Google Shape;418;p45"/>
            <p:cNvSpPr/>
            <p:nvPr/>
          </p:nvSpPr>
          <p:spPr bwMode="auto">
            <a:xfrm>
              <a:off x="1553325" y="1251025"/>
              <a:ext cx="1620000" cy="610799"/>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lnSpc>
                  <a:spcPct val="114999"/>
                </a:lnSpc>
                <a:spcBef>
                  <a:spcPts val="0"/>
                </a:spcBef>
                <a:spcAft>
                  <a:spcPts val="0"/>
                </a:spcAft>
                <a:buNone/>
                <a:defRPr/>
              </a:pPr>
              <a:r>
                <a:rPr lang="en" sz="1100">
                  <a:latin typeface="Montserrat"/>
                  <a:ea typeface="Montserrat"/>
                  <a:cs typeface="Montserrat"/>
                </a:rPr>
                <a:t>Name </a:t>
              </a:r>
              <a:endParaRPr sz="1100">
                <a:latin typeface="Montserrat"/>
                <a:ea typeface="Montserrat"/>
                <a:cs typeface="Montserrat"/>
              </a:endParaRPr>
            </a:p>
            <a:p>
              <a:pPr marL="0" lvl="0" indent="0" algn="l">
                <a:spcBef>
                  <a:spcPts val="0"/>
                </a:spcBef>
                <a:spcAft>
                  <a:spcPts val="0"/>
                </a:spcAft>
                <a:buNone/>
                <a:defRPr/>
              </a:pPr>
              <a:r>
                <a:rPr lang="en" sz="1100">
                  <a:latin typeface="Montserrat"/>
                  <a:ea typeface="Montserrat"/>
                  <a:cs typeface="Montserrat"/>
                </a:rPr>
                <a:t>Age</a:t>
              </a:r>
              <a:endParaRPr sz="1100">
                <a:latin typeface="Montserrat"/>
                <a:ea typeface="Montserrat"/>
                <a:cs typeface="Montserrat"/>
              </a:endParaRPr>
            </a:p>
          </p:txBody>
        </p:sp>
        <p:sp>
          <p:nvSpPr>
            <p:cNvPr id="419" name="Google Shape;419;p45"/>
            <p:cNvSpPr/>
            <p:nvPr/>
          </p:nvSpPr>
          <p:spPr bwMode="auto">
            <a:xfrm>
              <a:off x="1553336" y="1861721"/>
              <a:ext cx="1620000" cy="375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r>
                <a:rPr lang="en" sz="1100">
                  <a:latin typeface="Montserrat"/>
                  <a:ea typeface="Montserrat"/>
                  <a:cs typeface="Montserrat"/>
                </a:rPr>
                <a:t>Greet</a:t>
              </a:r>
              <a:endParaRPr sz="1100">
                <a:latin typeface="Montserrat"/>
                <a:ea typeface="Montserrat"/>
                <a:cs typeface="Montserrat"/>
              </a:endParaRPr>
            </a:p>
          </p:txBody>
        </p:sp>
        <p:sp>
          <p:nvSpPr>
            <p:cNvPr id="420" name="Google Shape;420;p45"/>
            <p:cNvSpPr/>
            <p:nvPr/>
          </p:nvSpPr>
          <p:spPr bwMode="auto">
            <a:xfrm>
              <a:off x="1553325" y="966775"/>
              <a:ext cx="1620000" cy="284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a:spcBef>
                  <a:spcPts val="0"/>
                </a:spcBef>
                <a:spcAft>
                  <a:spcPts val="0"/>
                </a:spcAft>
                <a:buNone/>
                <a:defRPr/>
              </a:pPr>
              <a:r>
                <a:rPr lang="en" sz="1200">
                  <a:solidFill>
                    <a:schemeClr val="dk1"/>
                  </a:solidFill>
                  <a:latin typeface="Montserrat"/>
                  <a:ea typeface="Montserrat"/>
                  <a:cs typeface="Montserrat"/>
                </a:rPr>
                <a:t>Person</a:t>
              </a:r>
              <a:endParaRPr sz="1300"/>
            </a:p>
          </p:txBody>
        </p:sp>
      </p:grpSp>
      <p:grpSp>
        <p:nvGrpSpPr>
          <p:cNvPr id="421" name="Google Shape;421;p45"/>
          <p:cNvGrpSpPr/>
          <p:nvPr/>
        </p:nvGrpSpPr>
        <p:grpSpPr bwMode="auto">
          <a:xfrm>
            <a:off x="3283574" y="2298077"/>
            <a:ext cx="1666499" cy="1072240"/>
            <a:chOff x="1553320" y="2947975"/>
            <a:chExt cx="1620005" cy="1340467"/>
          </a:xfrm>
        </p:grpSpPr>
        <p:sp>
          <p:nvSpPr>
            <p:cNvPr id="422" name="Google Shape;422;p45"/>
            <p:cNvSpPr/>
            <p:nvPr/>
          </p:nvSpPr>
          <p:spPr bwMode="auto">
            <a:xfrm>
              <a:off x="1553320" y="3232216"/>
              <a:ext cx="1620000" cy="716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lnSpc>
                  <a:spcPct val="114999"/>
                </a:lnSpc>
                <a:spcBef>
                  <a:spcPts val="0"/>
                </a:spcBef>
                <a:spcAft>
                  <a:spcPts val="0"/>
                </a:spcAft>
                <a:buNone/>
                <a:defRPr/>
              </a:pPr>
              <a:r>
                <a:rPr lang="en" sz="1100">
                  <a:latin typeface="Montserrat"/>
                  <a:ea typeface="Montserrat"/>
                  <a:cs typeface="Montserrat"/>
                </a:rPr>
                <a:t>Id</a:t>
              </a:r>
              <a:endParaRPr sz="1100">
                <a:latin typeface="Montserrat"/>
                <a:ea typeface="Montserrat"/>
                <a:cs typeface="Montserrat"/>
              </a:endParaRPr>
            </a:p>
            <a:p>
              <a:pPr marL="0" lvl="0" indent="0" algn="l">
                <a:lnSpc>
                  <a:spcPct val="114999"/>
                </a:lnSpc>
                <a:spcBef>
                  <a:spcPts val="0"/>
                </a:spcBef>
                <a:spcAft>
                  <a:spcPts val="0"/>
                </a:spcAft>
                <a:buNone/>
                <a:defRPr/>
              </a:pPr>
              <a:r>
                <a:rPr lang="en" sz="1100">
                  <a:latin typeface="Montserrat"/>
                  <a:ea typeface="Montserrat"/>
                  <a:cs typeface="Montserrat"/>
                </a:rPr>
                <a:t>Faculty </a:t>
              </a:r>
              <a:endParaRPr sz="1100">
                <a:latin typeface="Montserrat"/>
                <a:ea typeface="Montserrat"/>
                <a:cs typeface="Montserrat"/>
              </a:endParaRPr>
            </a:p>
            <a:p>
              <a:pPr marL="0" lvl="0" indent="0" algn="l">
                <a:spcBef>
                  <a:spcPts val="0"/>
                </a:spcBef>
                <a:spcAft>
                  <a:spcPts val="0"/>
                </a:spcAft>
                <a:buNone/>
                <a:defRPr/>
              </a:pPr>
              <a:r>
                <a:rPr lang="en" sz="1100">
                  <a:latin typeface="Montserrat"/>
                  <a:ea typeface="Montserrat"/>
                  <a:cs typeface="Montserrat"/>
                </a:rPr>
                <a:t>Graduation year</a:t>
              </a:r>
              <a:endParaRPr sz="1100">
                <a:latin typeface="Montserrat"/>
                <a:ea typeface="Montserrat"/>
                <a:cs typeface="Montserrat"/>
              </a:endParaRPr>
            </a:p>
          </p:txBody>
        </p:sp>
        <p:sp>
          <p:nvSpPr>
            <p:cNvPr id="423" name="Google Shape;423;p45"/>
            <p:cNvSpPr/>
            <p:nvPr/>
          </p:nvSpPr>
          <p:spPr bwMode="auto">
            <a:xfrm>
              <a:off x="1553320" y="3945242"/>
              <a:ext cx="1620000" cy="343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r>
                <a:rPr lang="en" sz="1100">
                  <a:latin typeface="Montserrat"/>
                  <a:ea typeface="Montserrat"/>
                  <a:cs typeface="Montserrat"/>
                </a:rPr>
                <a:t>Study</a:t>
              </a:r>
              <a:endParaRPr sz="1100">
                <a:latin typeface="Montserrat"/>
                <a:ea typeface="Montserrat"/>
                <a:cs typeface="Montserrat"/>
              </a:endParaRPr>
            </a:p>
          </p:txBody>
        </p:sp>
        <p:sp>
          <p:nvSpPr>
            <p:cNvPr id="424" name="Google Shape;424;p45"/>
            <p:cNvSpPr/>
            <p:nvPr/>
          </p:nvSpPr>
          <p:spPr bwMode="auto">
            <a:xfrm>
              <a:off x="1553325" y="2947975"/>
              <a:ext cx="1620000" cy="284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a:spcBef>
                  <a:spcPts val="0"/>
                </a:spcBef>
                <a:spcAft>
                  <a:spcPts val="0"/>
                </a:spcAft>
                <a:buNone/>
                <a:defRPr/>
              </a:pPr>
              <a:r>
                <a:rPr lang="en" sz="1200">
                  <a:solidFill>
                    <a:schemeClr val="dk1"/>
                  </a:solidFill>
                  <a:latin typeface="Montserrat"/>
                  <a:ea typeface="Montserrat"/>
                  <a:cs typeface="Montserrat"/>
                </a:rPr>
                <a:t>Student</a:t>
              </a:r>
              <a:endParaRPr sz="1300"/>
            </a:p>
          </p:txBody>
        </p:sp>
      </p:grpSp>
      <p:cxnSp>
        <p:nvCxnSpPr>
          <p:cNvPr id="425" name="Google Shape;425;p45"/>
          <p:cNvCxnSpPr>
            <a:stCxn id="424" idx="0"/>
            <a:endCxn id="419" idx="2"/>
          </p:cNvCxnSpPr>
          <p:nvPr/>
        </p:nvCxnSpPr>
        <p:spPr bwMode="auto">
          <a:xfrm rot="10800000" flipH="1">
            <a:off x="4116827" y="1503377"/>
            <a:ext cx="1293300" cy="794700"/>
          </a:xfrm>
          <a:prstGeom prst="straightConnector1">
            <a:avLst/>
          </a:prstGeom>
          <a:noFill/>
          <a:ln w="19050" cap="flat" cmpd="sng">
            <a:solidFill>
              <a:schemeClr val="dk2"/>
            </a:solidFill>
            <a:prstDash val="solid"/>
            <a:round/>
            <a:headEnd type="none" w="med" len="med"/>
            <a:tailEnd type="triangle" w="med" len="med"/>
          </a:ln>
        </p:spPr>
      </p:cxnSp>
      <p:grpSp>
        <p:nvGrpSpPr>
          <p:cNvPr id="426" name="Google Shape;426;p45"/>
          <p:cNvGrpSpPr/>
          <p:nvPr/>
        </p:nvGrpSpPr>
        <p:grpSpPr bwMode="auto">
          <a:xfrm>
            <a:off x="5870349" y="2298077"/>
            <a:ext cx="1666495" cy="1015681"/>
            <a:chOff x="4067925" y="2947975"/>
            <a:chExt cx="1620001" cy="1269760"/>
          </a:xfrm>
        </p:grpSpPr>
        <p:sp>
          <p:nvSpPr>
            <p:cNvPr id="427" name="Google Shape;427;p45"/>
            <p:cNvSpPr/>
            <p:nvPr/>
          </p:nvSpPr>
          <p:spPr bwMode="auto">
            <a:xfrm>
              <a:off x="4067925" y="3232225"/>
              <a:ext cx="1620000" cy="652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lnSpc>
                  <a:spcPct val="114999"/>
                </a:lnSpc>
                <a:spcBef>
                  <a:spcPts val="0"/>
                </a:spcBef>
                <a:spcAft>
                  <a:spcPts val="0"/>
                </a:spcAft>
                <a:buNone/>
                <a:defRPr/>
              </a:pPr>
              <a:r>
                <a:rPr lang="en" sz="1100">
                  <a:latin typeface="Montserrat"/>
                  <a:ea typeface="Montserrat"/>
                  <a:cs typeface="Montserrat"/>
                </a:rPr>
                <a:t>Department</a:t>
              </a:r>
              <a:endParaRPr sz="1100">
                <a:latin typeface="Montserrat"/>
                <a:ea typeface="Montserrat"/>
                <a:cs typeface="Montserrat"/>
              </a:endParaRPr>
            </a:p>
            <a:p>
              <a:pPr marL="0" lvl="0" indent="0" algn="l">
                <a:spcBef>
                  <a:spcPts val="0"/>
                </a:spcBef>
                <a:spcAft>
                  <a:spcPts val="0"/>
                </a:spcAft>
                <a:buNone/>
                <a:defRPr/>
              </a:pPr>
              <a:r>
                <a:rPr lang="en" sz="1100">
                  <a:latin typeface="Montserrat"/>
                  <a:ea typeface="Montserrat"/>
                  <a:cs typeface="Montserrat"/>
                </a:rPr>
                <a:t>Salary</a:t>
              </a:r>
              <a:endParaRPr sz="1100">
                <a:latin typeface="Montserrat"/>
                <a:ea typeface="Montserrat"/>
                <a:cs typeface="Montserrat"/>
              </a:endParaRPr>
            </a:p>
          </p:txBody>
        </p:sp>
        <p:sp>
          <p:nvSpPr>
            <p:cNvPr id="428" name="Google Shape;428;p45"/>
            <p:cNvSpPr/>
            <p:nvPr/>
          </p:nvSpPr>
          <p:spPr bwMode="auto">
            <a:xfrm>
              <a:off x="4067926" y="3884735"/>
              <a:ext cx="1620000" cy="333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r>
                <a:rPr lang="en" sz="1100">
                  <a:latin typeface="Montserrat"/>
                  <a:ea typeface="Montserrat"/>
                  <a:cs typeface="Montserrat"/>
                </a:rPr>
                <a:t>Work</a:t>
              </a:r>
              <a:endParaRPr sz="1100">
                <a:latin typeface="Montserrat"/>
                <a:ea typeface="Montserrat"/>
                <a:cs typeface="Montserrat"/>
              </a:endParaRPr>
            </a:p>
          </p:txBody>
        </p:sp>
        <p:sp>
          <p:nvSpPr>
            <p:cNvPr id="429" name="Google Shape;429;p45"/>
            <p:cNvSpPr/>
            <p:nvPr/>
          </p:nvSpPr>
          <p:spPr bwMode="auto">
            <a:xfrm>
              <a:off x="4067925" y="2947975"/>
              <a:ext cx="1620000" cy="284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a:spcBef>
                  <a:spcPts val="0"/>
                </a:spcBef>
                <a:spcAft>
                  <a:spcPts val="0"/>
                </a:spcAft>
                <a:buNone/>
                <a:defRPr/>
              </a:pPr>
              <a:r>
                <a:rPr lang="en" sz="1200">
                  <a:solidFill>
                    <a:schemeClr val="dk1"/>
                  </a:solidFill>
                  <a:latin typeface="Montserrat"/>
                  <a:ea typeface="Montserrat"/>
                  <a:cs typeface="Montserrat"/>
                </a:rPr>
                <a:t>Employee</a:t>
              </a:r>
              <a:endParaRPr sz="1300"/>
            </a:p>
          </p:txBody>
        </p:sp>
      </p:grpSp>
      <p:cxnSp>
        <p:nvCxnSpPr>
          <p:cNvPr id="430" name="Google Shape;430;p45"/>
          <p:cNvCxnSpPr>
            <a:stCxn id="429" idx="0"/>
            <a:endCxn id="419" idx="2"/>
          </p:cNvCxnSpPr>
          <p:nvPr/>
        </p:nvCxnSpPr>
        <p:spPr bwMode="auto">
          <a:xfrm rot="10800000">
            <a:off x="5410296" y="1503377"/>
            <a:ext cx="1293300" cy="794700"/>
          </a:xfrm>
          <a:prstGeom prst="straightConnector1">
            <a:avLst/>
          </a:prstGeom>
          <a:noFill/>
          <a:ln w="19050" cap="flat" cmpd="sng">
            <a:solidFill>
              <a:schemeClr val="dk2"/>
            </a:solidFill>
            <a:prstDash val="solid"/>
            <a:round/>
            <a:headEnd type="none" w="med" len="med"/>
            <a:tailEnd type="triangle" w="med" len="med"/>
          </a:ln>
        </p:spPr>
      </p:cxnSp>
      <p:grpSp>
        <p:nvGrpSpPr>
          <p:cNvPr id="431" name="Google Shape;431;p45"/>
          <p:cNvGrpSpPr/>
          <p:nvPr/>
        </p:nvGrpSpPr>
        <p:grpSpPr bwMode="auto">
          <a:xfrm>
            <a:off x="4576950" y="4098460"/>
            <a:ext cx="1666499" cy="891423"/>
            <a:chOff x="1553320" y="2947975"/>
            <a:chExt cx="1620005" cy="1114418"/>
          </a:xfrm>
        </p:grpSpPr>
        <p:sp>
          <p:nvSpPr>
            <p:cNvPr id="432" name="Google Shape;432;p45"/>
            <p:cNvSpPr/>
            <p:nvPr/>
          </p:nvSpPr>
          <p:spPr bwMode="auto">
            <a:xfrm>
              <a:off x="1553320" y="3232216"/>
              <a:ext cx="1620000" cy="478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r>
                <a:rPr lang="en" sz="1100">
                  <a:latin typeface="Montserrat"/>
                  <a:ea typeface="Montserrat"/>
                  <a:cs typeface="Montserrat"/>
                </a:rPr>
                <a:t>lab</a:t>
              </a:r>
              <a:endParaRPr sz="1100">
                <a:latin typeface="Montserrat"/>
                <a:ea typeface="Montserrat"/>
                <a:cs typeface="Montserrat"/>
              </a:endParaRPr>
            </a:p>
          </p:txBody>
        </p:sp>
        <p:sp>
          <p:nvSpPr>
            <p:cNvPr id="433" name="Google Shape;433;p45"/>
            <p:cNvSpPr/>
            <p:nvPr/>
          </p:nvSpPr>
          <p:spPr bwMode="auto">
            <a:xfrm>
              <a:off x="1553320" y="3719193"/>
              <a:ext cx="1620000" cy="343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r>
                <a:rPr lang="en" sz="1100">
                  <a:latin typeface="Montserrat"/>
                  <a:ea typeface="Montserrat"/>
                  <a:cs typeface="Montserrat"/>
                </a:rPr>
                <a:t>Research</a:t>
              </a:r>
              <a:endParaRPr sz="1100">
                <a:latin typeface="Montserrat"/>
                <a:ea typeface="Montserrat"/>
                <a:cs typeface="Montserrat"/>
              </a:endParaRPr>
            </a:p>
          </p:txBody>
        </p:sp>
        <p:sp>
          <p:nvSpPr>
            <p:cNvPr id="434" name="Google Shape;434;p45"/>
            <p:cNvSpPr/>
            <p:nvPr/>
          </p:nvSpPr>
          <p:spPr bwMode="auto">
            <a:xfrm>
              <a:off x="1553325" y="2947975"/>
              <a:ext cx="1620000" cy="284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a:spcBef>
                  <a:spcPts val="0"/>
                </a:spcBef>
                <a:spcAft>
                  <a:spcPts val="0"/>
                </a:spcAft>
                <a:buNone/>
                <a:defRPr/>
              </a:pPr>
              <a:r>
                <a:rPr lang="en" sz="1200">
                  <a:solidFill>
                    <a:schemeClr val="dk1"/>
                  </a:solidFill>
                  <a:latin typeface="Montserrat"/>
                  <a:ea typeface="Montserrat"/>
                  <a:cs typeface="Montserrat"/>
                </a:rPr>
                <a:t>Researcher</a:t>
              </a:r>
              <a:endParaRPr sz="1300"/>
            </a:p>
          </p:txBody>
        </p:sp>
      </p:grpSp>
      <p:cxnSp>
        <p:nvCxnSpPr>
          <p:cNvPr id="435" name="Google Shape;435;p45"/>
          <p:cNvCxnSpPr>
            <a:stCxn id="434" idx="0"/>
            <a:endCxn id="423" idx="2"/>
          </p:cNvCxnSpPr>
          <p:nvPr/>
        </p:nvCxnSpPr>
        <p:spPr bwMode="auto">
          <a:xfrm rot="10800000">
            <a:off x="4116901" y="3370360"/>
            <a:ext cx="1293300" cy="728100"/>
          </a:xfrm>
          <a:prstGeom prst="straightConnector1">
            <a:avLst/>
          </a:prstGeom>
          <a:noFill/>
          <a:ln w="19050" cap="flat" cmpd="sng">
            <a:solidFill>
              <a:schemeClr val="dk2"/>
            </a:solidFill>
            <a:prstDash val="solid"/>
            <a:round/>
            <a:headEnd type="none" w="med" len="med"/>
            <a:tailEnd type="triangle" w="med" len="med"/>
          </a:ln>
        </p:spPr>
      </p:cxnSp>
      <p:cxnSp>
        <p:nvCxnSpPr>
          <p:cNvPr id="436" name="Google Shape;436;p45"/>
          <p:cNvCxnSpPr>
            <a:stCxn id="434" idx="0"/>
            <a:endCxn id="428" idx="2"/>
          </p:cNvCxnSpPr>
          <p:nvPr/>
        </p:nvCxnSpPr>
        <p:spPr bwMode="auto">
          <a:xfrm rot="10800000" flipH="1">
            <a:off x="5410202" y="3313660"/>
            <a:ext cx="1293300" cy="784800"/>
          </a:xfrm>
          <a:prstGeom prst="straightConnector1">
            <a:avLst/>
          </a:prstGeom>
          <a:noFill/>
          <a:ln w="19050" cap="flat" cmpd="sng">
            <a:solidFill>
              <a:schemeClr val="dk2"/>
            </a:solidFill>
            <a:prstDash val="solid"/>
            <a:round/>
            <a:headEnd type="none" w="med" len="med"/>
            <a:tailEnd type="triangle" w="med" len="med"/>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41" name="Google Shape;441;p46"/>
          <p:cNvSpPr txBox="1"/>
          <p:nvPr/>
        </p:nvSpPr>
        <p:spPr bwMode="auto">
          <a:xfrm>
            <a:off x="0" y="1770300"/>
            <a:ext cx="9144000" cy="1602900"/>
          </a:xfrm>
          <a:prstGeom prst="rect">
            <a:avLst/>
          </a:prstGeom>
          <a:solidFill>
            <a:srgbClr val="0B5394"/>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a:lnSpc>
                <a:spcPct val="114999"/>
              </a:lnSpc>
              <a:spcBef>
                <a:spcPts val="0"/>
              </a:spcBef>
              <a:spcAft>
                <a:spcPts val="0"/>
              </a:spcAft>
              <a:buNone/>
              <a:defRPr/>
            </a:pPr>
            <a:r>
              <a:rPr lang="en" sz="3500">
                <a:solidFill>
                  <a:srgbClr val="FFFFFF"/>
                </a:solidFill>
                <a:latin typeface="Montserrat"/>
                <a:ea typeface="Montserrat"/>
                <a:cs typeface="Montserrat"/>
              </a:rPr>
              <a:t>Code Demo</a:t>
            </a:r>
            <a:endParaRPr sz="3500">
              <a:solidFill>
                <a:srgbClr val="FFFFFF"/>
              </a:solidFill>
              <a:latin typeface="Montserrat"/>
              <a:ea typeface="Montserrat"/>
              <a:cs typeface="Montserrat"/>
            </a:endParaRPr>
          </a:p>
          <a:p>
            <a:pPr marL="0" lvl="0" indent="0" algn="r">
              <a:spcBef>
                <a:spcPts val="0"/>
              </a:spcBef>
              <a:spcAft>
                <a:spcPts val="0"/>
              </a:spcAft>
              <a:buNone/>
              <a:defRPr/>
            </a:pPr>
            <a:r>
              <a:rPr lang="en" sz="2800">
                <a:solidFill>
                  <a:schemeClr val="lt1"/>
                </a:solidFill>
                <a:latin typeface="Montserrat"/>
                <a:ea typeface="Montserrat"/>
                <a:cs typeface="Montserrat"/>
              </a:rPr>
              <a:t>Multi-</a:t>
            </a:r>
            <a:r>
              <a:rPr lang="en" sz="2800">
                <a:solidFill>
                  <a:schemeClr val="lt1"/>
                </a:solidFill>
                <a:latin typeface="Montserrat"/>
                <a:ea typeface="Montserrat"/>
                <a:cs typeface="Montserrat"/>
              </a:rPr>
              <a:t>Inheritance</a:t>
            </a:r>
            <a:endParaRPr sz="3500">
              <a:solidFill>
                <a:srgbClr val="FFFFFF"/>
              </a:solidFill>
              <a:latin typeface="Montserrat"/>
              <a:ea typeface="Montserrat"/>
              <a:cs typeface="Montserra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46" name="Google Shape;446;p47"/>
          <p:cNvSpPr txBox="1"/>
          <p:nvPr>
            <p:ph type="title"/>
          </p:nvPr>
        </p:nvSpPr>
        <p:spPr bwMode="auto">
          <a:xfrm>
            <a:off x="540300" y="2990425"/>
            <a:ext cx="8093700" cy="1672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defRPr/>
            </a:pPr>
            <a:r>
              <a:rPr lang="en"/>
              <a:t>Method Overriding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51" name="Google Shape;451;p48"/>
          <p:cNvSpPr txBox="1"/>
          <p:nvPr/>
        </p:nvSpPr>
        <p:spPr bwMode="auto">
          <a:xfrm>
            <a:off x="0" y="1770300"/>
            <a:ext cx="9144000" cy="1602900"/>
          </a:xfrm>
          <a:prstGeom prst="rect">
            <a:avLst/>
          </a:prstGeom>
          <a:solidFill>
            <a:srgbClr val="0B5394"/>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a:lnSpc>
                <a:spcPct val="114999"/>
              </a:lnSpc>
              <a:spcBef>
                <a:spcPts val="0"/>
              </a:spcBef>
              <a:spcAft>
                <a:spcPts val="0"/>
              </a:spcAft>
              <a:buNone/>
              <a:defRPr/>
            </a:pPr>
            <a:r>
              <a:rPr lang="en" sz="3500">
                <a:solidFill>
                  <a:srgbClr val="FFFFFF"/>
                </a:solidFill>
                <a:latin typeface="Montserrat"/>
                <a:ea typeface="Montserrat"/>
                <a:cs typeface="Montserrat"/>
              </a:rPr>
              <a:t>Code Demo</a:t>
            </a:r>
            <a:endParaRPr sz="3500">
              <a:solidFill>
                <a:srgbClr val="FFFFFF"/>
              </a:solidFill>
              <a:latin typeface="Montserrat"/>
              <a:ea typeface="Montserrat"/>
              <a:cs typeface="Montserrat"/>
            </a:endParaRPr>
          </a:p>
          <a:p>
            <a:pPr marL="0" lvl="0" indent="0" algn="r">
              <a:spcBef>
                <a:spcPts val="0"/>
              </a:spcBef>
              <a:spcAft>
                <a:spcPts val="0"/>
              </a:spcAft>
              <a:buClr>
                <a:schemeClr val="dk1"/>
              </a:buClr>
              <a:buSzPts val="1100"/>
              <a:buFont typeface="Arial"/>
              <a:buNone/>
              <a:defRPr/>
            </a:pPr>
            <a:r>
              <a:rPr lang="en" sz="2800">
                <a:solidFill>
                  <a:schemeClr val="lt1"/>
                </a:solidFill>
                <a:latin typeface="Montserrat"/>
                <a:ea typeface="Montserrat"/>
                <a:cs typeface="Montserrat"/>
              </a:rPr>
              <a:t>Method Overriding</a:t>
            </a:r>
            <a:endParaRPr sz="3500">
              <a:solidFill>
                <a:srgbClr val="FFFFFF"/>
              </a:solidFill>
              <a:latin typeface="Montserrat"/>
              <a:ea typeface="Montserrat"/>
              <a:cs typeface="Montserra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56" name="Google Shape;456;p49"/>
          <p:cNvSpPr txBox="1"/>
          <p:nvPr>
            <p:ph type="title"/>
          </p:nvPr>
        </p:nvSpPr>
        <p:spPr bwMode="auto">
          <a:xfrm>
            <a:off x="540300" y="2990425"/>
            <a:ext cx="8093700" cy="1672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defRPr/>
            </a:pPr>
            <a:r>
              <a:rPr lang="en"/>
              <a:t>Operator Overloading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61" name="Google Shape;461;p50"/>
          <p:cNvSpPr txBox="1"/>
          <p:nvPr/>
        </p:nvSpPr>
        <p:spPr bwMode="auto">
          <a:xfrm>
            <a:off x="0" y="1770300"/>
            <a:ext cx="9144000" cy="1602900"/>
          </a:xfrm>
          <a:prstGeom prst="rect">
            <a:avLst/>
          </a:prstGeom>
          <a:solidFill>
            <a:srgbClr val="0B5394"/>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a:lnSpc>
                <a:spcPct val="114999"/>
              </a:lnSpc>
              <a:spcBef>
                <a:spcPts val="0"/>
              </a:spcBef>
              <a:spcAft>
                <a:spcPts val="0"/>
              </a:spcAft>
              <a:buNone/>
              <a:defRPr/>
            </a:pPr>
            <a:r>
              <a:rPr lang="en" sz="3500">
                <a:solidFill>
                  <a:srgbClr val="FFFFFF"/>
                </a:solidFill>
                <a:latin typeface="Montserrat"/>
                <a:ea typeface="Montserrat"/>
                <a:cs typeface="Montserrat"/>
              </a:rPr>
              <a:t>Code Demo</a:t>
            </a:r>
            <a:endParaRPr sz="3500">
              <a:solidFill>
                <a:srgbClr val="FFFFFF"/>
              </a:solidFill>
              <a:latin typeface="Montserrat"/>
              <a:ea typeface="Montserrat"/>
              <a:cs typeface="Montserrat"/>
            </a:endParaRPr>
          </a:p>
          <a:p>
            <a:pPr marL="0" lvl="0" indent="0" algn="r">
              <a:spcBef>
                <a:spcPts val="0"/>
              </a:spcBef>
              <a:spcAft>
                <a:spcPts val="0"/>
              </a:spcAft>
              <a:buNone/>
              <a:defRPr/>
            </a:pPr>
            <a:r>
              <a:rPr lang="en" sz="2800">
                <a:solidFill>
                  <a:schemeClr val="lt1"/>
                </a:solidFill>
                <a:latin typeface="Montserrat"/>
                <a:ea typeface="Montserrat"/>
                <a:cs typeface="Montserrat"/>
              </a:rPr>
              <a:t>Operator Overloading</a:t>
            </a:r>
            <a:endParaRPr sz="3500">
              <a:solidFill>
                <a:srgbClr val="FFFFFF"/>
              </a:solidFill>
              <a:latin typeface="Montserrat"/>
              <a:ea typeface="Montserrat"/>
              <a:cs typeface="Montserra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66" name="Google Shape;466;p51"/>
          <p:cNvSpPr txBox="1"/>
          <p:nvPr>
            <p:ph type="title"/>
          </p:nvPr>
        </p:nvSpPr>
        <p:spPr bwMode="auto">
          <a:xfrm>
            <a:off x="311700" y="216425"/>
            <a:ext cx="8520600" cy="934799"/>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defRPr/>
            </a:pPr>
            <a:r>
              <a:rPr lang="en"/>
              <a:t>Some operators and the corresponding functions to be overloaded.</a:t>
            </a:r>
            <a:endParaRPr/>
          </a:p>
        </p:txBody>
      </p:sp>
      <p:graphicFrame>
        <p:nvGraphicFramePr>
          <p:cNvPr id="467" name="Google Shape;467;p51"/>
          <p:cNvGraphicFramePr>
            <a:graphicFrameLocks xmlns:a="http://schemas.openxmlformats.org/drawingml/2006/main"/>
          </p:cNvGraphicFramePr>
          <p:nvPr/>
        </p:nvGraphicFramePr>
        <p:xfrm>
          <a:off x="271075" y="1360453"/>
          <a:ext cx="3000000" cy="3000000"/>
        </p:xfrm>
        <a:graphic>
          <a:graphicData uri="http://schemas.openxmlformats.org/drawingml/2006/table">
            <a:tbl>
              <a:tblPr firstRow="0" firstCol="0" lastRow="0" lastCol="0" bandRow="0" bandCol="0">
                <a:tableStyleId>{23B4C97F-715E-44B8-A5F5-295629336B74}</a:tableStyleId>
                <a:solidFill>
                  <a:srgbClr val="FFFFFF"/>
                </a:solidFill>
              </a:tblPr>
              <a:tblGrid>
                <a:gridCol w="946575"/>
                <a:gridCol w="2661375"/>
              </a:tblGrid>
              <a:tr h="281950">
                <a:tc gridSpan="2">
                  <a:txBody>
                    <a:bodyPr/>
                    <a:p>
                      <a:pPr marL="0" lvl="0" indent="0" algn="ctr">
                        <a:spcBef>
                          <a:spcPts val="0"/>
                        </a:spcBef>
                        <a:spcAft>
                          <a:spcPts val="0"/>
                        </a:spcAft>
                        <a:buNone/>
                        <a:defRPr/>
                      </a:pPr>
                      <a:r>
                        <a:rPr lang="en" sz="1300" b="1">
                          <a:latin typeface="Montserrat"/>
                          <a:ea typeface="Montserrat"/>
                          <a:cs typeface="Montserrat"/>
                        </a:rPr>
                        <a:t>Arithmetic Operators</a:t>
                      </a:r>
                      <a:endParaRPr sz="1300" b="1">
                        <a:latin typeface="Montserrat"/>
                        <a:ea typeface="Montserrat"/>
                        <a:cs typeface="Montserrat"/>
                      </a:endParaRPr>
                    </a:p>
                  </a:txBody>
                  <a:tcPr marL="57150" marR="57150" marT="57150" marB="57150" anchor="ctr">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tc hMerge="1">
                  <a:txBody>
                    <a:bodyPr/>
                    <a:p>
                      <a:endParaRPr/>
                    </a:p>
                  </a:txBody>
                </a:tc>
              </a:tr>
              <a:tr h="281950">
                <a:tc>
                  <a:txBody>
                    <a:bodyPr/>
                    <a:p>
                      <a:pPr marL="0" lvl="0" indent="0" algn="l">
                        <a:spcBef>
                          <a:spcPts val="0"/>
                        </a:spcBef>
                        <a:spcAft>
                          <a:spcPts val="0"/>
                        </a:spcAft>
                        <a:buNone/>
                        <a:defRPr/>
                      </a:pPr>
                      <a:r>
                        <a:rPr lang="en" sz="1300" b="1">
                          <a:solidFill>
                            <a:srgbClr val="FFFFFF"/>
                          </a:solidFill>
                          <a:highlight>
                            <a:srgbClr val="3D85C6"/>
                          </a:highlight>
                          <a:latin typeface="Montserrat"/>
                          <a:ea typeface="Montserrat"/>
                          <a:cs typeface="Montserrat"/>
                        </a:rPr>
                        <a:t>Operator</a:t>
                      </a:r>
                      <a:endParaRPr sz="1300" b="1">
                        <a:solidFill>
                          <a:srgbClr val="FFFFFF"/>
                        </a:solidFill>
                        <a:highlight>
                          <a:srgbClr val="3D85C6"/>
                        </a:highlight>
                        <a:latin typeface="Montserrat"/>
                        <a:ea typeface="Montserrat"/>
                        <a:cs typeface="Montserrat"/>
                      </a:endParaRPr>
                    </a:p>
                  </a:txBody>
                  <a:tcPr marL="57150" marR="57150" marT="57150" marB="57150" anchor="ctr">
                    <a:lnL w="9525" algn="ctr">
                      <a:solidFill>
                        <a:srgbClr val="9E9E9E"/>
                      </a:solidFill>
                    </a:lnL>
                    <a:lnR w="9525" algn="ctr">
                      <a:solidFill>
                        <a:srgbClr val="9E9E9E"/>
                      </a:solidFill>
                    </a:lnR>
                    <a:lnT w="9525" algn="ctr">
                      <a:solidFill>
                        <a:srgbClr val="9E9E9E">
                          <a:alpha val="0"/>
                        </a:srgbClr>
                      </a:solidFill>
                    </a:lnT>
                    <a:lnB w="9525" algn="ctr">
                      <a:solidFill>
                        <a:srgbClr val="9E9E9E"/>
                      </a:solidFill>
                    </a:lnB>
                    <a:solidFill>
                      <a:srgbClr val="3D85C6"/>
                    </a:solidFill>
                  </a:tcPr>
                </a:tc>
                <a:tc>
                  <a:txBody>
                    <a:bodyPr/>
                    <a:p>
                      <a:pPr marL="0" lvl="0" indent="0" algn="l">
                        <a:spcBef>
                          <a:spcPts val="0"/>
                        </a:spcBef>
                        <a:spcAft>
                          <a:spcPts val="0"/>
                        </a:spcAft>
                        <a:buNone/>
                        <a:defRPr/>
                      </a:pPr>
                      <a:r>
                        <a:rPr lang="en" sz="1300" b="1">
                          <a:solidFill>
                            <a:srgbClr val="FFFFFF"/>
                          </a:solidFill>
                          <a:highlight>
                            <a:srgbClr val="3D85C6"/>
                          </a:highlight>
                          <a:latin typeface="Montserrat"/>
                          <a:ea typeface="Montserrat"/>
                          <a:cs typeface="Montserrat"/>
                        </a:rPr>
                        <a:t>Operator Function</a:t>
                      </a:r>
                      <a:endParaRPr sz="1300" b="1">
                        <a:solidFill>
                          <a:srgbClr val="FFFFFF"/>
                        </a:solidFill>
                        <a:highlight>
                          <a:srgbClr val="3D85C6"/>
                        </a:highlight>
                        <a:latin typeface="Montserrat"/>
                        <a:ea typeface="Montserrat"/>
                        <a:cs typeface="Montserrat"/>
                      </a:endParaRPr>
                    </a:p>
                  </a:txBody>
                  <a:tcPr marL="57150" marR="57150" marT="57150" marB="57150" anchor="ctr">
                    <a:lnL w="9525" algn="ctr">
                      <a:solidFill>
                        <a:srgbClr val="9E9E9E"/>
                      </a:solidFill>
                    </a:lnL>
                    <a:lnR w="9525" algn="ctr">
                      <a:solidFill>
                        <a:srgbClr val="9E9E9E"/>
                      </a:solidFill>
                    </a:lnR>
                    <a:lnT w="9525" algn="ctr">
                      <a:solidFill>
                        <a:srgbClr val="9E9E9E">
                          <a:alpha val="0"/>
                        </a:srgbClr>
                      </a:solidFill>
                    </a:lnT>
                    <a:lnB w="9525" algn="ctr">
                      <a:solidFill>
                        <a:srgbClr val="9E9E9E"/>
                      </a:solidFill>
                    </a:lnB>
                    <a:solidFill>
                      <a:srgbClr val="3D85C6"/>
                    </a:solidFill>
                  </a:tcPr>
                </a:tc>
              </a:tr>
              <a:tr h="219075">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__add__(self, other)</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r>
              <a:tr h="219075">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__sub__(self, other)</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r>
              <a:tr h="219075">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__mul__(self, other)</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r>
              <a:tr h="219075">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__truediv__(self, other)</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r>
              <a:tr h="219075">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__floordiv__(self, other)</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r>
              <a:tr h="219075">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__mod__(self, other)</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r>
              <a:tr h="219075">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__pow__(self, other)</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r>
            </a:tbl>
          </a:graphicData>
        </a:graphic>
      </p:graphicFrame>
      <p:graphicFrame>
        <p:nvGraphicFramePr>
          <p:cNvPr id="468" name="Google Shape;468;p51"/>
          <p:cNvGraphicFramePr>
            <a:graphicFrameLocks xmlns:a="http://schemas.openxmlformats.org/drawingml/2006/main"/>
          </p:cNvGraphicFramePr>
          <p:nvPr/>
        </p:nvGraphicFramePr>
        <p:xfrm>
          <a:off x="5147875" y="1512853"/>
          <a:ext cx="3000000" cy="3000000"/>
        </p:xfrm>
        <a:graphic>
          <a:graphicData uri="http://schemas.openxmlformats.org/drawingml/2006/table">
            <a:tbl>
              <a:tblPr firstRow="0" firstCol="0" lastRow="0" lastCol="0" bandRow="0" bandCol="0">
                <a:tableStyleId>{23B4C97F-715E-44B8-A5F5-295629336B74}</a:tableStyleId>
                <a:solidFill>
                  <a:srgbClr val="FFFFFF"/>
                </a:solidFill>
              </a:tblPr>
              <a:tblGrid>
                <a:gridCol w="946575"/>
                <a:gridCol w="2661375"/>
              </a:tblGrid>
              <a:tr h="281950">
                <a:tc gridSpan="2">
                  <a:txBody>
                    <a:bodyPr/>
                    <a:p>
                      <a:pPr marL="0" lvl="0" indent="0" algn="ctr">
                        <a:spcBef>
                          <a:spcPts val="0"/>
                        </a:spcBef>
                        <a:spcAft>
                          <a:spcPts val="0"/>
                        </a:spcAft>
                        <a:buNone/>
                        <a:defRPr/>
                      </a:pPr>
                      <a:r>
                        <a:rPr lang="en" sz="1300" b="1">
                          <a:latin typeface="Montserrat"/>
                          <a:ea typeface="Montserrat"/>
                          <a:cs typeface="Montserrat"/>
                        </a:rPr>
                        <a:t>Comparison</a:t>
                      </a:r>
                      <a:r>
                        <a:rPr lang="en" sz="1300" b="1">
                          <a:latin typeface="Montserrat"/>
                          <a:ea typeface="Montserrat"/>
                          <a:cs typeface="Montserrat"/>
                        </a:rPr>
                        <a:t> Operators</a:t>
                      </a:r>
                      <a:endParaRPr sz="1300" b="1">
                        <a:latin typeface="Montserrat"/>
                        <a:ea typeface="Montserrat"/>
                        <a:cs typeface="Montserrat"/>
                      </a:endParaRPr>
                    </a:p>
                  </a:txBody>
                  <a:tcPr marL="57150" marR="57150" marT="57150" marB="57150" anchor="ctr">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tc hMerge="1">
                  <a:txBody>
                    <a:bodyPr/>
                    <a:p>
                      <a:endParaRPr/>
                    </a:p>
                  </a:txBody>
                </a:tc>
              </a:tr>
              <a:tr h="281950">
                <a:tc>
                  <a:txBody>
                    <a:bodyPr/>
                    <a:p>
                      <a:pPr marL="0" lvl="0" indent="0" algn="l">
                        <a:spcBef>
                          <a:spcPts val="0"/>
                        </a:spcBef>
                        <a:spcAft>
                          <a:spcPts val="0"/>
                        </a:spcAft>
                        <a:buNone/>
                        <a:defRPr/>
                      </a:pPr>
                      <a:r>
                        <a:rPr lang="en" sz="1300" b="1">
                          <a:solidFill>
                            <a:srgbClr val="FFFFFF"/>
                          </a:solidFill>
                          <a:highlight>
                            <a:srgbClr val="3D85C6"/>
                          </a:highlight>
                          <a:latin typeface="Montserrat"/>
                          <a:ea typeface="Montserrat"/>
                          <a:cs typeface="Montserrat"/>
                        </a:rPr>
                        <a:t>Operator</a:t>
                      </a:r>
                      <a:endParaRPr sz="1300" b="1">
                        <a:solidFill>
                          <a:srgbClr val="FFFFFF"/>
                        </a:solidFill>
                        <a:highlight>
                          <a:srgbClr val="3D85C6"/>
                        </a:highlight>
                        <a:latin typeface="Montserrat"/>
                        <a:ea typeface="Montserrat"/>
                        <a:cs typeface="Montserrat"/>
                      </a:endParaRPr>
                    </a:p>
                  </a:txBody>
                  <a:tcPr marL="57150" marR="57150" marT="57150" marB="57150" anchor="ctr">
                    <a:lnL w="9525" algn="ctr">
                      <a:solidFill>
                        <a:srgbClr val="9E9E9E"/>
                      </a:solidFill>
                    </a:lnL>
                    <a:lnR w="9525" algn="ctr">
                      <a:solidFill>
                        <a:srgbClr val="9E9E9E"/>
                      </a:solidFill>
                    </a:lnR>
                    <a:lnT w="9525" algn="ctr">
                      <a:solidFill>
                        <a:srgbClr val="9E9E9E">
                          <a:alpha val="0"/>
                        </a:srgbClr>
                      </a:solidFill>
                    </a:lnT>
                    <a:lnB w="9525" algn="ctr">
                      <a:solidFill>
                        <a:srgbClr val="9E9E9E"/>
                      </a:solidFill>
                    </a:lnB>
                    <a:solidFill>
                      <a:srgbClr val="3D85C6"/>
                    </a:solidFill>
                  </a:tcPr>
                </a:tc>
                <a:tc>
                  <a:txBody>
                    <a:bodyPr/>
                    <a:p>
                      <a:pPr marL="0" lvl="0" indent="0" algn="l">
                        <a:spcBef>
                          <a:spcPts val="0"/>
                        </a:spcBef>
                        <a:spcAft>
                          <a:spcPts val="0"/>
                        </a:spcAft>
                        <a:buNone/>
                        <a:defRPr/>
                      </a:pPr>
                      <a:r>
                        <a:rPr lang="en" sz="1300" b="1">
                          <a:solidFill>
                            <a:srgbClr val="FFFFFF"/>
                          </a:solidFill>
                          <a:highlight>
                            <a:srgbClr val="3D85C6"/>
                          </a:highlight>
                          <a:latin typeface="Montserrat"/>
                          <a:ea typeface="Montserrat"/>
                          <a:cs typeface="Montserrat"/>
                        </a:rPr>
                        <a:t>Operator Function</a:t>
                      </a:r>
                      <a:endParaRPr sz="1300" b="1">
                        <a:solidFill>
                          <a:srgbClr val="FFFFFF"/>
                        </a:solidFill>
                        <a:highlight>
                          <a:srgbClr val="3D85C6"/>
                        </a:highlight>
                        <a:latin typeface="Montserrat"/>
                        <a:ea typeface="Montserrat"/>
                        <a:cs typeface="Montserrat"/>
                      </a:endParaRPr>
                    </a:p>
                  </a:txBody>
                  <a:tcPr marL="57150" marR="57150" marT="57150" marB="57150" anchor="ctr">
                    <a:lnL w="9525" algn="ctr">
                      <a:solidFill>
                        <a:srgbClr val="9E9E9E"/>
                      </a:solidFill>
                    </a:lnL>
                    <a:lnR w="9525" algn="ctr">
                      <a:solidFill>
                        <a:srgbClr val="9E9E9E"/>
                      </a:solidFill>
                    </a:lnR>
                    <a:lnT w="9525" algn="ctr">
                      <a:solidFill>
                        <a:srgbClr val="9E9E9E">
                          <a:alpha val="0"/>
                        </a:srgbClr>
                      </a:solidFill>
                    </a:lnT>
                    <a:lnB w="9525" algn="ctr">
                      <a:solidFill>
                        <a:srgbClr val="9E9E9E"/>
                      </a:solidFill>
                    </a:lnB>
                    <a:solidFill>
                      <a:srgbClr val="3D85C6"/>
                    </a:solidFill>
                  </a:tcPr>
                </a:tc>
              </a:tr>
              <a:tr h="219075">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&lt;</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__lt__(self, other)</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r>
              <a:tr h="219075">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&gt;</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__gt__(self, other)</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r>
              <a:tr h="219075">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&lt;=</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__le__(self, other)</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r>
              <a:tr h="219075">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&gt;=</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__ge__(self, other)</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r>
              <a:tr h="219075">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__eq__(self, other)</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r>
              <a:tr h="219075">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c>
                  <a:txBody>
                    <a:bodyPr/>
                    <a:p>
                      <a:pPr marL="0" lvl="0" indent="0" algn="l">
                        <a:spcBef>
                          <a:spcPts val="0"/>
                        </a:spcBef>
                        <a:spcAft>
                          <a:spcPts val="0"/>
                        </a:spcAft>
                        <a:buNone/>
                        <a:defRPr/>
                      </a:pPr>
                      <a:r>
                        <a:rPr lang="en" sz="1300">
                          <a:solidFill>
                            <a:srgbClr val="212121"/>
                          </a:solidFill>
                          <a:highlight>
                            <a:srgbClr val="EFEFEF"/>
                          </a:highlight>
                          <a:latin typeface="Courier New"/>
                          <a:ea typeface="Courier New"/>
                          <a:cs typeface="Courier New"/>
                        </a:rPr>
                        <a:t>__ne__(self, other)</a:t>
                      </a:r>
                      <a:endParaRPr sz="1300">
                        <a:solidFill>
                          <a:srgbClr val="212121"/>
                        </a:solidFill>
                        <a:highlight>
                          <a:srgbClr val="EFEFEF"/>
                        </a:highlight>
                        <a:latin typeface="Courier New"/>
                        <a:ea typeface="Courier New"/>
                        <a:cs typeface="Courier New"/>
                      </a:endParaRPr>
                    </a:p>
                  </a:txBody>
                  <a:tcPr marL="57150" marR="57150" marT="57150" marB="57150" anchor="ctr">
                    <a:lnL w="9525" algn="ctr">
                      <a:solidFill>
                        <a:srgbClr val="9E9E9E"/>
                      </a:solidFill>
                    </a:lnL>
                    <a:lnR w="9525" algn="ctr">
                      <a:solidFill>
                        <a:srgbClr val="9E9E9E"/>
                      </a:solidFill>
                    </a:lnR>
                    <a:lnT w="9525" algn="ctr">
                      <a:solidFill>
                        <a:srgbClr val="9E9E9E"/>
                      </a:solidFill>
                    </a:lnT>
                    <a:lnB w="9525" algn="ctr">
                      <a:solidFill>
                        <a:srgbClr val="9E9E9E"/>
                      </a:solidFill>
                    </a:lnB>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Simple Light">
  <a:themeElements>
    <a:clrScheme name="Simple Light">
      <a:dk1>
        <a:srgbClr val="000000"/>
      </a:dk1>
      <a:lt1>
        <a:srgbClr val="FFFFFF"/>
      </a:lt1>
      <a:dk2>
        <a:srgbClr val="3A3A3A"/>
      </a:dk2>
      <a:lt2>
        <a:srgbClr val="4E4F50"/>
      </a:lt2>
      <a:accent1>
        <a:srgbClr val="2074B9"/>
      </a:accent1>
      <a:accent2>
        <a:srgbClr val="58A4E2"/>
      </a:accent2>
      <a:accent3>
        <a:srgbClr val="2EBFCA"/>
      </a:accent3>
      <a:accent4>
        <a:srgbClr val="FDBA4D"/>
      </a:accent4>
      <a:accent5>
        <a:srgbClr val="8BB762"/>
      </a:accent5>
      <a:accent6>
        <a:srgbClr val="E85B5B"/>
      </a:accent6>
      <a:hlink>
        <a:srgbClr val="2071B9"/>
      </a:hlink>
      <a:folHlink>
        <a:srgbClr val="0097A7"/>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ONLYOFFICE/8.3.2.19</Application>
  <PresentationFormat>On-screen Show (4:3)</PresentationFormat>
  <Paragraphs>0</Paragraphs>
  <Slides>28</Slides>
  <Notes>28</Notes>
  <HiddenSlides>0</HiddenSlides>
  <MMClips>2</MMClips>
  <ScaleCrop>0</ScaleCrop>
  <HeadingPairs>
    <vt:vector size="4" baseType="variant">
      <vt:variant>
        <vt:lpstr>Theme</vt:lpstr>
      </vt:variant>
      <vt:variant>
        <vt:i4>1</vt:i4>
      </vt:variant>
      <vt:variant>
        <vt:lpstr>Slide Titles</vt:lpstr>
      </vt:variant>
      <vt:variant>
        <vt:i4>28</vt:i4>
      </vt:variant>
    </vt:vector>
  </HeadingPairs>
  <TitlesOfParts>
    <vt:vector size="29"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coreProperties>
</file>